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12161520" cy="2560320"/>
          </a:xfrm>
          <a:prstGeom prst="rect">
            <a:avLst/>
          </a:prstGeom>
          <a:solidFill>
            <a:srgbClr val="1620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次课教材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UART 驱动、输出子系统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与系统调用 sys_write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配套实验指导书 · 生活化图解版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本课路线图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为什么要专门讲“打印”这件小事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MMIO：CPU 如何跟硬件说话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从一个字符到“输出子系统”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16550 风格轮询发送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设备抽象：struct uart_device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从函数调用到系统调用 sys_write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小结与配套自测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 节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为什么要专门讲“打印”这件小事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6596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3911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应用层：printk("hello\n")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EEF1F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999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输出子系统层：uart_puts → uart_putc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95935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硬件访问层：往固定地址写一个字节（MMIO）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84632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EEF1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491947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真实硬件：UART 芯片把字节变成电平信号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2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0 节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本课要做的两件事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10312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把裸写地址整理成一个像样的“输出子系统”（分层、加 volatile、处理换行）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把子系统包装成一个“系统调用” sys_write(fd, buf, len)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22452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7091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开一家小饭馆：第一天老板自己配菜、端盘子、收银（裸写地址）。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本课要做的：① 理顺后厨分工（输出子系统分层）；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设一个统一点餐窗口，顾客不用跑进后厨点名要谁做菜（系统调用）。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3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1.1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MMIO：CPU 如何跟硬件说话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外设寄存器被映射到 CPU 地址空间的某些地址上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读写这些地址，在指令层面和读写内存完全一样（ld / st）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但效果是跟硬件对话，而不是访问 RAM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881360" cy="2103120"/>
          </a:xfrm>
          <a:prstGeom prst="roundRect">
            <a:avLst>
              <a:gd name="adj" fmla="val 5217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4074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8920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地址空间像一整栋公寓楼：大部分门牌号后面住的是普通住户（RAM）；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少数门牌号其实是“传达室”（UART 寄存器）——塞一张纸条进去，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效果不是“存起来”，而是传达室立刻把内容广播出去。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4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1.1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一次 MMIO 写在代码里的样子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011680"/>
            <a:ext cx="10881360" cy="3017520"/>
          </a:xfrm>
          <a:prstGeom prst="roundRect">
            <a:avLst>
              <a:gd name="adj" fmla="val 2424"/>
            </a:avLst>
          </a:prstGeom>
          <a:solidFill>
            <a:srgbClr val="F2F4F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286000"/>
            <a:ext cx="10149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volatile unsigned char *uart =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(volatile unsigned char *)UART0_BASE;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*uart = 'A';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语法：给一个地址赋值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效果：让 UART 发送字符 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UART0_BASE 的具体数值以课程头文件 include/uart.h 为准，不得凭空编造。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5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1.2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为什么必须加 volatile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编译器默认假设：连续两次写同一地址、中间没人读，第一次是多余的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对普通内存这个假设成立，对 MMIO 地址是致命错误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每一次写，硬件那头都会真实响应一次（比如发送一个字符）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10881360" cy="2103120"/>
          </a:xfrm>
          <a:prstGeom prst="roundRect">
            <a:avLst>
              <a:gd name="adj" fmla="val 5217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4074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8920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编译器像一个精打细算的秘书：让他给张三发两份相同文件，他会想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“反正结果一样，发一次就够了”。但如果这两次动作其实是“按门铃”，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该响的门铃就没响。volatile 就是告诉秘书：这个动作每次都必须真做。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6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1.3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写操作在汇编层面的样子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10312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F2F4F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377440"/>
            <a:ext cx="10149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$a0 = 待发送字符, $t0 = uart 基址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st.b    $a0, $t0, 0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   $ra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3891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st.b 把 $a0 低 8 位写到 [$t0 + 0]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$t0 指向 UART 寄存器而非普通 RAM，这一条指令即“让 UART 发一个字节”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7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节 · 2.1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从一个字符到“输出子系统”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011680"/>
            <a:ext cx="10881360" cy="731520"/>
          </a:xfrm>
          <a:prstGeom prst="roundRect">
            <a:avLst>
              <a:gd name="adj" fmla="val 12500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6654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printk(s)  —— 格式化 / 业务层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10881360" cy="731520"/>
          </a:xfrm>
          <a:prstGeom prst="roundRect">
            <a:avLst>
              <a:gd name="adj" fmla="val 12500"/>
            </a:avLst>
          </a:prstGeom>
          <a:solidFill>
            <a:srgbClr val="CADC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9352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uart_puts(s)  —— 逐字符遍历 + 换行处理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10881360" cy="731520"/>
          </a:xfrm>
          <a:prstGeom prst="roundRect">
            <a:avLst>
              <a:gd name="adj" fmla="val 12500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8039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uart_putc(c)  —— 单字节 MMIO 写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663440"/>
            <a:ext cx="10881360" cy="1645920"/>
          </a:xfrm>
          <a:prstGeom prst="roundRect">
            <a:avLst>
              <a:gd name="adj" fmla="val 6667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8646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53492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像写信—送信的分工：你写内容，分拣员整理规则，投递员塞进具体信箱。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换了小区信箱样式（换开发板），只需投递员换动作，其余流程不受影响。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8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节 · 2.2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 \n 要补一个 \r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\n（Line Feed）：光标垂直下移一行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\r（Carriage Return）：光标回到本行行首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只发 \n，串口终端只会往下移一行，不会回到行首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023360"/>
            <a:ext cx="5984748" cy="2194560"/>
          </a:xfrm>
          <a:prstGeom prst="roundRect">
            <a:avLst>
              <a:gd name="adj" fmla="val 3333"/>
            </a:avLst>
          </a:prstGeom>
          <a:solidFill>
            <a:srgbClr val="F2F4F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4297680"/>
            <a:ext cx="52532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(ch == '\n')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uart_putc('\r');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uart_putc(ch);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951269" y="4023360"/>
            <a:ext cx="4570171" cy="2194560"/>
          </a:xfrm>
          <a:prstGeom prst="roundRect">
            <a:avLst>
              <a:gd name="adj" fmla="val 5000"/>
            </a:avLst>
          </a:prstGeom>
          <a:solidFill>
            <a:srgbClr val="CADC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71309" y="4224528"/>
            <a:ext cx="39300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271309" y="4709160"/>
            <a:ext cx="3930091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老式打字机：换行只转纸卷，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不回车就会越打越偏。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9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节 · 3.1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16550 风格 UART：为什么不能无脑硬写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内部有很小的发送缓冲区（FIFO）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写数据的速度远快于串口线实际移出字节的速度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缓冲区满了还硬写，数据会丢失或产生未定义行为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正确做法：先看状态寄存器 LSR，空闲才写，不空闲就等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5720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77316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2578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发送像只能放一件快递的前台货架：不看货架就一直摞包裹，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多出来的要么摔坏、要么盖住旧的。正确做法是先看一眼货架空不空。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10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节 · 3.2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轮询发送的骨架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20240"/>
            <a:ext cx="10881360" cy="3291840"/>
          </a:xfrm>
          <a:prstGeom prst="roundRect">
            <a:avLst>
              <a:gd name="adj" fmla="val 2222"/>
            </a:avLst>
          </a:prstGeom>
          <a:solidFill>
            <a:srgbClr val="F2F4F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194560"/>
            <a:ext cx="10149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wait_tx: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$t1, $t0, LSR_OFF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$t1, $t1, TX_EMPTY_MASK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$t1, wait_tx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st.b   $a0, $t0, THR_OFF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  $ra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位掩码（逻辑运算） · ld.bu / st.b 字节访存 · beqz 循环等待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11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节 · 3.3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轮询 vs 中断驱动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011680"/>
            <a:ext cx="5166360" cy="2286000"/>
          </a:xfrm>
          <a:prstGeom prst="roundRect">
            <a:avLst>
              <a:gd name="adj" fmla="val 4800"/>
            </a:avLst>
          </a:prstGeom>
          <a:solidFill>
            <a:srgbClr val="EEF1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轮询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88920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站着不停问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“到了吗到了吗”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占用 CPU 傻等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355080" y="2011680"/>
            <a:ext cx="5166360" cy="2286000"/>
          </a:xfrm>
          <a:prstGeom prst="roundRect">
            <a:avLst>
              <a:gd name="adj" fmla="val 4800"/>
            </a:avLst>
          </a:prstGeom>
          <a:solidFill>
            <a:srgbClr val="CADCF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629400" y="219456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中断驱动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788920"/>
            <a:ext cx="4617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干别的事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硬件准备好了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主动打断通知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10881360" cy="1691640"/>
          </a:xfrm>
          <a:prstGeom prst="roundRect">
            <a:avLst>
              <a:gd name="adj" fmla="val 6486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60120" y="477316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52578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轮询＝柜台前不停问“到了吗”；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中断＝留电话回家，到了通知你。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12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设备抽象：struct uart_device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01168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F2F4F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28600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uart_device {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long base;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(*putc)(struct uart_device*, char);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976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平台相关（base、init、寄存器偏移）与平台无关逻辑分层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换板子只需换一份 uart_device 实例，上层代码不用改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13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节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设备抽象的比喻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103120"/>
            <a:ext cx="10881360" cy="3291840"/>
          </a:xfrm>
          <a:prstGeom prst="roundRect">
            <a:avLst>
              <a:gd name="adj" fmla="val 3333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30428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8892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手机充电器的“万能转换头”思路：不同国家插座标准是平台相关的东西，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被收进转换头里；手机只认统一充电口。到了不同国家换个转换头插上，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手机内部充电逻辑完全不用改。struct uart_device 扮演的正是“转换头”。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14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节 · 5.1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从函数调用到系统调用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普通函数调用：调用者要知道函数确切地址 / 符号名，编译时绑死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系统调用：内核提供统一、编号化的入口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编号 + 参数放进约定寄存器，触发一次“陷入”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5720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77316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25780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普通函数调用像直接闯进朋友家翻抽屉；系统调用像打政务热线 12345：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你不用知道具体科室，只需报“办哪项业务”和材料，热线负责转接。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15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节 · 5.2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为什么要“统一入口”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每个服务各开一个裸地址：地址会变、没有校验点、难以扩展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统一入口 + 编号分发：校验逻辑集中在 syscall_dispatch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新增服务只需加一个编号和一个分支，接口本身不变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66344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8646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349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写字楼每个部门各开侧门，保安无法统一管控；改成“都走前台大堂、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刷卡登记”，安检就能集中在一处完成——大堂就是 syscall_dispatch。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16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节 · 6.1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sys_write 逐行精读（上）：签名与校验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20240"/>
            <a:ext cx="10881360" cy="3017520"/>
          </a:xfrm>
          <a:prstGeom prst="roundRect">
            <a:avLst>
              <a:gd name="adj" fmla="val 2424"/>
            </a:avLst>
          </a:prstGeom>
          <a:solidFill>
            <a:srgbClr val="F2F4F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194560"/>
            <a:ext cx="101498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sys_write(int fd, const char *buf,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size_t len)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(fd != 1 &amp;&amp; fd != 2)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-1;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17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节 · 6.1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sys_write 逐行精读（下）：循环与返回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20240"/>
            <a:ext cx="10881360" cy="3931920"/>
          </a:xfrm>
          <a:prstGeom prst="roundRect">
            <a:avLst>
              <a:gd name="adj" fmla="val 1860"/>
            </a:avLst>
          </a:prstGeom>
          <a:solidFill>
            <a:srgbClr val="F2F4F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194560"/>
            <a:ext cx="10149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 i = 0; i &lt; len; i++) {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(buf[i] == '\n')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uart_putc('\r');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uart_putc(buf[i]);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(long)len;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18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节 · 6.1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sys_write 的三个关键动作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只接受 fd = 1（stdout）或 2（stderr），其余一律非法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参数校验放在最前面：跨越信任边界的输入必须先查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复用 uart_putc，成功返回长度、失败返回 -1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66344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86460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3492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sys_write 像快递收件窗口：先核对面单（fd 校验），不对直接退回；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核对通过后，打包装车（uart_putc）仍交给熟悉的流程去做。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19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节 · 6.2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printk 与 sys_write 的关系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19456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CADC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317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printk(s)  ≈  sys_write(1, s, strlen(s))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66160"/>
            <a:ext cx="10881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printk：内核内部直接调用的普通函数，不经过编号分发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sys_write：通过 syscall_dispatch 编号调用的“正式对外服务”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本课教学阶段两者都在内核内部直接调用，尚未打通用户态陷入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20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节 · 7.1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分发器 syscall_dispatch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783080"/>
            <a:ext cx="10881360" cy="4160520"/>
          </a:xfrm>
          <a:prstGeom prst="roundRect">
            <a:avLst>
              <a:gd name="adj" fmla="val 1758"/>
            </a:avLst>
          </a:prstGeom>
          <a:solidFill>
            <a:srgbClr val="F2F4FA"/>
          </a:solidFill>
          <a:ln w="19050">
            <a:solidFill>
              <a:srgbClr val="CADC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57400"/>
            <a:ext cx="101498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syscall_dispatch(long nr, long a0,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long a1, long a2)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(nr == SYS_WRITE)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sys_write((int)a0,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(const char*)a1, (size_t)a2);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-1;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21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节 · 7.2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参数与返回值的寄存器约定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21031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EEF1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176272"/>
            <a:ext cx="48966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系统调用号 nr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863133" y="2176272"/>
            <a:ext cx="5440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A46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$a7（课程约定寄存器）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EEF1F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3136392"/>
            <a:ext cx="48966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参数 1 / 2 / 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863133" y="3136392"/>
            <a:ext cx="5440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A46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 / $a1 / $a2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EEF1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4096512"/>
            <a:ext cx="48966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返回值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5863133" y="4096512"/>
            <a:ext cx="5440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A46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5029200"/>
            <a:ext cx="10881360" cy="1143000"/>
          </a:xfrm>
          <a:prstGeom prst="roundRect">
            <a:avLst>
              <a:gd name="adj" fmla="val 9600"/>
            </a:avLst>
          </a:prstGeom>
          <a:solidFill>
            <a:srgbClr val="CADC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523036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5715000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像政务表格的固定填写栏：第一栏永远填“事项编号”，其余栏填材料信息。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22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节 · 7.2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教学阶段的简化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允许先在内核内部直接调用 syscall_dispatch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跳过了“用户态触发陷入、CPU 切换到内核态”的完整机制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重点：先把“稳定的编号和参数槽位”这套约定立住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真正的用户态 / 内核态隔离留待后续课程补齐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23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节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与 Linux write() 的类比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都是 fd + buf + len 三元组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都是成功返回写入字节数，失败返回负的错误码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都要先做参数校验（Linux 还要校验用户态指针合法性）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448056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468172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生活化类比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663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像小朋友学骑带辅助轮的儿童车：车架结构和真车一样，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只是少了“完全靠自己保持平衡”的难度，练熟了摘掉辅助轮即可。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24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节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小结：本课新增的心智模型（上）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103120"/>
            <a:ext cx="10881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MMIO：地址不再只是内存，读写它就是在跟硬件对话，必须 volatile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分层驱动：putc → puts → printk，越往上越与具体硬件无关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轮询等待：写硬件前先看“忙不忙”，最基础的硬件同步方式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25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9 节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小结：本课新增的心智模型（下）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103120"/>
            <a:ext cx="10881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设备抽象：把平台相关的量收拢进结构体 + 函数指针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系统调用本质：编号 + 固定寄存器槽位，换来接口稳定性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sys_write 只是薄封装，真正逻辑仍来自输出子系统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26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A46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配套自测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对照实验指导书思考题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280160" cy="54864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10881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两个执行流同时 printk 会发生什么？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轮询驱动与中断驱动分别适合什么场景？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为什么要“编号化统一入口”而不是裸函数地址？</a:t>
            </a:r>
            <a:endParaRPr lang="en-US" sz="24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为什么系统调用必须严格校验用户态指针？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 · UART 驱动与 sys_write 系统调用  |  27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先建立概念，再做 Task1–Task7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566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配合《第 8 次课实验指导书》使用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2026-09-08T05:16:58Z</dcterms:created>
  <dcterms:modified xsi:type="dcterms:W3CDTF">2026-09-08T05:16:58Z</dcterms:modified>
</cp:coreProperties>
</file>