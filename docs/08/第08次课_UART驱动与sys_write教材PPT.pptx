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5" r:id="rId3"/>
    <p:sldId id="257" r:id="rId4"/>
    <p:sldId id="258" r:id="rId5"/>
    <p:sldId id="259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60" r:id="rId18"/>
    <p:sldId id="261" r:id="rId19"/>
    <p:sldId id="297" r:id="rId20"/>
    <p:sldId id="298" r:id="rId21"/>
    <p:sldId id="299" r:id="rId22"/>
    <p:sldId id="327" r:id="rId23"/>
    <p:sldId id="300" r:id="rId24"/>
    <p:sldId id="326" r:id="rId25"/>
    <p:sldId id="328" r:id="rId26"/>
    <p:sldId id="329" r:id="rId27"/>
    <p:sldId id="330" r:id="rId28"/>
    <p:sldId id="302" r:id="rId29"/>
    <p:sldId id="303" r:id="rId30"/>
    <p:sldId id="332" r:id="rId31"/>
    <p:sldId id="333" r:id="rId32"/>
    <p:sldId id="334" r:id="rId33"/>
    <p:sldId id="335" r:id="rId34"/>
    <p:sldId id="336" r:id="rId35"/>
    <p:sldId id="307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2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61520" cy="25603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次课教材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驱动、输出子系统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与系统调用 sys_write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1 节 · MMIO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1.1 什么是 MMIO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CPU 如何“跟硬件说话”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I/O: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把硬件寄存器映射进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CPU 的地址空间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MMIO:内存映射 I/O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把外设(UART、定时器、中断控制器……)的控制/数据寄存器映射到 CPU 的地址空间里。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89608" y="2788920"/>
            <a:ext cx="8412480" cy="868680"/>
          </a:xfrm>
          <a:prstGeom prst="roundRect">
            <a:avLst>
              <a:gd name="adj" fmla="val 15789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163928" y="2788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读写指令层面和读写内存完全一样(ld / st)，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但效果是跟硬件对话，而不是访问 RAM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3643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86200"/>
            <a:ext cx="47242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访问的是 RAM,写了就是存起来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8728" y="3794760"/>
            <a:ext cx="5364328" cy="1691640"/>
          </a:xfrm>
          <a:prstGeom prst="roundRect">
            <a:avLst>
              <a:gd name="adj" fmla="val 5405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3886200"/>
            <a:ext cx="47242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MMIO 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访问的是硬件寄存器,写一次就真实响应一次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UART0_BASE 等具体地址由芯片/平台手册(或课程给定的 include/uart.h)决定,不能凭空编造,必须以代码为准。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代码示例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一次 MMIO 写操作长什么样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509199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unsigned char *uart =
    (volatile unsigned char *)UART0_BASE;
*uart = 'A';  // 语法上是“给一个地址赋值”
              // 效果上是“让 UART 发送字符 A”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汇编层面:st.b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把一个字节写到内存地址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目标是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UART 寄存器而不是普通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RAM,效果就是“让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UART 发一个字节”。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5468112"/>
            <a:ext cx="105091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    $a0, $t0, 0  # 写到 [$t0+0]
jr      $ra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公寓楼里的“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传达室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把地址空间想象成一整栋公寓楼的门牌号。CPU 并不知道也不关心门牌号背后是普通住户还是传达室,它只会做同一个动作:往这个地址写。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18608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普通住户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对应:RAM 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你敲门 / 写信只是单纯的信息存取,东西放进去就在那儿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971800"/>
            <a:ext cx="5318608" cy="3200400"/>
          </a:xfrm>
          <a:prstGeom prst="roundRect">
            <a:avLst>
              <a:gd name="adj" fmla="val 4286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4448" y="324612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传达室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24448" y="384048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对应:UART 寄存器(MMIO)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690208" y="452628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往信箱塞一张纸条,效果不是“存起来了”,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而是“立刻广播出去”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1 节 · MMIO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1.2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</a:t>
            </a:r>
            <a:r>
              <a:rPr kumimoji="0" lang="en-US" altLang="zh-CN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中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必须加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volatile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编译器的“精打细算”,对 MMIO 是致命的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承接 1.1 节:地址会跟硬件对话,但编译器并不知道这件事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编译器的一个“合理”假设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348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编译器优化时会假设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连续两次给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同一个变量赋值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,中间没人读它,那第一次赋值就是没用的,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可以删掉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06728" y="3153135"/>
            <a:ext cx="8778240" cy="1097280"/>
          </a:xfrm>
          <a:prstGeom prst="roundRect">
            <a:avLst>
              <a:gd name="adj" fmla="val 15789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981048" y="3153135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对普通内存这个假设成立,但对 MMIO 地址是致命错误: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每一次写,硬件那头都会真实响应一次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619260"/>
            <a:ext cx="536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710700"/>
            <a:ext cx="4724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普通局部变量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优化器可能把它一直放寄存器里,没问题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8728" y="4619260"/>
            <a:ext cx="5364328" cy="1600200"/>
          </a:xfrm>
          <a:prstGeom prst="roundRect">
            <a:avLst>
              <a:gd name="adj" fmla="val 5714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4710700"/>
            <a:ext cx="4724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MMIO 寄存器地址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优化器可能把“重复写同一地址”直接删掉,硬件收不到指令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volatile 到底告诉编译器什么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3180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这块内存内容可能被“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程序看不见的外部因素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”改变,或者每次访问本身就有副作用,因此每一次读写都必须真实发生,不能被优化、合并、重排、缓存进寄存器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622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1012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普通局部变量 int x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67588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优化器可能把它一直放寄存器里,没问题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27939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3891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MMIO 寄存器地址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重复写同一地址可能被直接删掉,硬件收不到指令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622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468112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中断处理程序会改的全局变量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83387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主循环读到的可能是寄存器里的旧值缓存,永远等不到变化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精打细算的秘书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编译器优化就像一个“精打细算”的秘书。同一件事让秘书做两遍,秘书会想办法只做一遍——这在大多数场合是好事,但不是所有场合。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18608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发同一份文件两次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普通内存场景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反正张三收到的最终内容一样,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秘书只发一次得了——没问题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971800"/>
            <a:ext cx="5318608" cy="3291840"/>
          </a:xfrm>
          <a:prstGeom prst="roundRect">
            <a:avLst>
              <a:gd name="adj" fmla="val 4167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4448" y="324612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按两次门铃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24448" y="384048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MMIO 场景(volatile)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690208" y="45262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每按一次,门铃都真的响一声,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秘书不许自作主张省掉一次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1 节 · MMIO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2124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1.3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一次写操作在汇编层面长什么样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 C 的 *uart = 'A' 落到一条真实指令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两条指令,完成一次发送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1965960"/>
          </a:xfrm>
          <a:prstGeom prst="roundRect">
            <a:avLst>
              <a:gd name="adj" fmla="val 5581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509199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10000"/>
              </a:lnSpc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$a0 = 待发送字符, $t0 = uart 基址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    $a0, $t0, 0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把 $a0 低 8 位写到 [$t0+0]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altLang="zh-CN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zh-CN" sz="26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</a:t>
            </a:r>
            <a:r>
              <a:rPr lang="en-US" altLang="zh-CN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</a:t>
            </a:r>
            <a:r>
              <a:rPr lang="en-US" altLang="zh-CN" sz="26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478628" cy="1234440"/>
          </a:xfrm>
          <a:prstGeom prst="roundRect">
            <a:avLst>
              <a:gd name="adj" fmla="val 7407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97680"/>
            <a:ext cx="49299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把一个字节写到内存地址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64428" y="4160520"/>
            <a:ext cx="5478628" cy="1234440"/>
          </a:xfrm>
          <a:prstGeom prst="roundRect">
            <a:avLst>
              <a:gd name="adj" fmla="val 7407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38748" y="4297680"/>
            <a:ext cx="49299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$ra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返回调用者,一次写操作到此结束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$t0 指向的是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寄存器,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不是普通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RAM,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这一条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st.b 的效果就是“让 UART 发一个字节”。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落地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792" y="1244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 语言层面的一次赋值,落到汇编层面就是一条 store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4572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指令本身和写普通内存完全一样,区别只在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目标地址是谁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15468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 语言层面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*uart = 'A';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看起来是“给一个地址赋值”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30632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15468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汇编层面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st.b $a0, $t0, 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效果是“让 UART 发送一个字节”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2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从“能打印一个字符”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到“输出子系统”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三层分工 ·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换行的坑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2.1 分层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三层职责划分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从一次打印调用,到真正的硬件写操作,中间隔着三层,每一层只管自己的事。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printk(s)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62495" y="2606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格式化 / 业务层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32644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逐字符遍历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4845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uart_puts(s)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162495" y="36484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遍历 + 换行处理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430682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单字节写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9087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B1E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9087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uart_putc(c)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162495" y="46908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 MMIO 寄存器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好处:换一块开发板、串口控制器不一样,理论上只需要改 uart_putc 这一层,printk / uart_puts 完全不用动。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写信—送信的分工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这三层很像“写信—送信”的分工:分工越清楚,换一个环节的代价就越小。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1576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 —— 写信人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1363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只管把内容写好,不关心信怎么送到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13048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22776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uart_puts —— 分拣员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按规则整理信件,比如“翻页”要同时做“换页 + 回到页首”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129784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uart_putc —— 投递员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55040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把信塞进具体某一个信箱;信箱样式换了,只需要投递员换个动作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2.2 换行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 \n 要补一个 \r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终端上“另起一行”其实是两个独立动作,串口设备并不会替你把两件事一起做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\n  (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换行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光标垂直下移一行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269748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788920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\r  Carriage Return(回车)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光标回到本行行首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23848" y="4251960"/>
            <a:ext cx="9144000" cy="1051560"/>
          </a:xfrm>
          <a:prstGeom prst="roundRect">
            <a:avLst>
              <a:gd name="adj" fmla="val 13043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798168" y="425196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物理串口只发 \n 只会往下移一行,不会回到行首,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屏幕上就会出现“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阶梯状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”错位输出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Unix 文本文件只用 \n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表示换行,是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“文件格式”层面的约定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,不是终端的规矩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先补 \r,再发 \n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1737360"/>
          </a:xfrm>
          <a:prstGeom prst="roundRect">
            <a:avLst>
              <a:gd name="adj" fmla="val 6316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39112"/>
            <a:ext cx="10509199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(ch ==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'\n'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uart_putc(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'\r'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uart_putc(ch);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这是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驱动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层为了适配“哑终端”语义做的补丁,属于串口编程的老传统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Windows 文本文件里 \r\n 混用的历史根源也在这里。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4415" cy="1417320"/>
          </a:xfrm>
          <a:prstGeom prst="roundRect">
            <a:avLst>
              <a:gd name="adj" fmla="val 9677"/>
            </a:avLst>
          </a:prstGeom>
          <a:solidFill>
            <a:srgbClr val="0A4A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5184648"/>
            <a:ext cx="1045433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类比:老式打字机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“换行”只是把纸卷往上转一格,打字头还停在原来那一列;不“回车”把打字头拨回最左边,下一行的字就会越打越往右偏,跟楼梯台阶一样。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2.3 取舍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先跑通,再讲严谨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当前的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uart_putc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直接写数据寄存器,没有检查硬件是否“准备好接收下一个字节”——这是本课刻意的简化。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154680"/>
            <a:ext cx="4724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本课版本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直接写寄存器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先让大家看到“MMIO 能工作”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306324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154680"/>
            <a:ext cx="4724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严谨版本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小节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讲)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轮询等待硬件就绪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选做任务里再实现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3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16550 风格 UART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的轮询发送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先看状态位,空了才写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承接第 2 节:从能发一个字符,到一个真正稳妥的发送流程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3.1 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为什么不能“无脑硬写”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39" y="1706538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 硬件内部只有一个很小的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发送缓冲区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(FIFO)。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CPU 写数据的速度,远快于串口线上按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波特率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实际“移出”一个字节的速度。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40968" y="3063240"/>
            <a:ext cx="9509760" cy="1005840"/>
          </a:xfrm>
          <a:prstGeom prst="roundRect">
            <a:avLst>
              <a:gd name="adj" fmla="val 13636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15288" y="30632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缓冲区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满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了还继续写,多出来的数据会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丢失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B878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或者产生未定义行为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434840"/>
            <a:ext cx="10454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工业通用做法(源自 16550 兼容芯片的编程模型)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写数据前先看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状态寄存器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(LSR)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里“</a:t>
            </a:r>
            <a:r>
              <a:rPr kumimoji="0" lang="en-US" sz="32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发送保持寄存器是否为空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”这一位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空了才写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,不空就原地等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只能放一件快递的货架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 发送就像往一个只能放一件快递的小前台货架上放包裹,快递员(串口硬件)以固定速度把货架上的包裹取走送出去。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622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91256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不管货架,一股脑硬放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6301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多出来的包裹要么掉地上摔坏,要么直接盖住旧包裹——“数据丢失”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608576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正确做法:先看一眼货架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0474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空的吗?空了我才放下一件,没空就在旁边等一会儿再看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轮询(Polling)的通用套路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6339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读取状态寄存器 LSR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162495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忙等待的起点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26883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检查目标位(发送看 THRE,接收看 DR)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0A4A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63824"/>
            <a:ext cx="6339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目标位就绪了吗?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162495" y="31638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没就绪 → 跳回①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就绪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07408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0A4A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407408"/>
            <a:ext cx="6339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执行收发操作(写 THR / 读 RBR)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162495" y="44074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真正的读写只有这一步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如果②判断为“否”,就跳回①继续读取,直到状态就绪——这个反复读、反复判断的过程就是“轮询”,也叫“忙等待”。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3.2 代码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轮询发送的骨架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3154680"/>
          </a:xfrm>
          <a:prstGeom prst="roundRect">
            <a:avLst>
              <a:gd name="adj" fmla="val 3478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$t0 = uart 基址;偏移量与掩码由手册给定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wait_tx: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 $t1, $t0, LSR_OFF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读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状态寄存器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  $t1, $t1, TX_EMPTY_MASK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只看空闲位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  $t1, wait_tx   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，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未空闲,继续等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st.b    $a0, $t0, THR_OFF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空闲,写寄存器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   $ra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11225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具体的偏移量 LSR_OFF / THR_OFF 及掩码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TX_EMPTY_MASK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属于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芯片/平台细节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,必须以课程代码或平台手册为准,不能编造数值直接用到实验里。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轮询方式实现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UART 输入与输出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发送与接收,是同一个套路的两个方向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配套 UART 驱动与 sys_write 系统调用课程,补充一个完整的收发例子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uart_putc:轮询发送一个字符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3931920"/>
          </a:xfrm>
          <a:prstGeom prst="roundRect">
            <a:avLst>
              <a:gd name="adj" fmla="val 2791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9384"/>
            <a:ext cx="10509199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$t0, UART_BASE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  $t1, $t0, LSR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$t1, $t1, THRE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$t1, 1b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忙则等待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st.b  $a0, $t0, THR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 $ra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897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循环反复读 LSR 的 THRE 位,为 0(发送寄存器忙)就跳回 1: 继续等;THRE 为 1 才把待发字节(a0)写入 THR,真正发送出去。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uart_getc:轮询接收一个字符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3931920"/>
          </a:xfrm>
          <a:prstGeom prst="roundRect">
            <a:avLst>
              <a:gd name="adj" fmla="val 2791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9384"/>
            <a:ext cx="10509199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uart_getc: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li.d  $t0, UART_BASE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  $t1, $t0, LSR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$t1, $t1, DR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 $t1, 1b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无数据则等待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ld.b  $a0, $t0, RBR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 $ra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897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结构和 uart_putc 完全对称:这次轮询的是 DR(接收就绪)位,就绪后从 RBR 读出收到的字节,通过 a0 返回给调用者。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综合例子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echo 回显循环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2286000"/>
          </a:xfrm>
          <a:prstGeom prst="roundRect">
            <a:avLst>
              <a:gd name="adj" fmla="val 4800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echo_loop: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uart_getc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阻塞等待,直到收到一个字符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 $a0, $v0 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把收到的字符作为参数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uart_putc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原样发送回去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echo_loop    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无限循环,持续回显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0B1E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434840"/>
            <a:ext cx="10454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uart_getc 和 uart_putc 内部各自已经封装好了一层轮询,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echo_loop 本身完全不用关心 THRE、DR 这些细节,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只管"收一个、发一个"——这正是分层封装的意义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457200"/>
            <a:ext cx="3828151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4218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l">
              <a:spcBef>
                <a:spcPts val="2625"/>
              </a:spcBef>
              <a:spcAft>
                <a:spcPts val="750"/>
              </a:spcAft>
              <a:buNone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r>
              <a:rPr lang="zh-CN" altLang="zh-CN" sz="2800" b="1" i="0" spc="15" dirty="0">
                <a:solidFill>
                  <a:srgbClr val="2B2B2F"/>
                </a:solidFill>
                <a:effectLst/>
                <a:latin typeface="-apple-system"/>
              </a:rPr>
              <a:t>轮询 vs 中断驱动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轮询 vs 中断驱动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轮询发送简单</a:t>
            </a:r>
            <a:r>
              <a:rPr lang="zh-CN" altLang="en-US" sz="2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但会“占用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CPU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傻等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工程上常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中断驱动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——写完就去干别的事,硬件准备好了再主动打断 CPU。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4036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495040"/>
            <a:ext cx="47242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轮询(polling)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站在柜台前不停问“到了吗”,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什么别的事也不干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34036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0A4A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495040"/>
            <a:ext cx="47242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中断驱动(interrupt)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留下手机号,回家该干嘛干嘛,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到货了驿站主动打电话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55524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中断/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异常处理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是后续课程内容,本课先建立“为什么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需要检查状态位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”这个概念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4 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设备抽象:为什么要有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 struct uart_device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接口稳定,实现可替换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uart_putc 里写死了 UART0_BASE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3383280"/>
          </a:xfrm>
          <a:prstGeom prst="roundRect">
            <a:avLst>
              <a:gd name="adj" fmla="val 3243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UART0_BASE  0x1fe001e0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uart_putc(char c) {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(!(*(volatile u8*)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UART0_BASE+LSR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&amp; THRE));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*(volatile u8*)(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UART0_BASE+THR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c;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UART0_BASE 这个地址,直接被写死在函数体内部——这份代码天生只认识“板子上的这一个串口”。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现在要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再支持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一个串口,怎么办?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3840480"/>
          </a:xfrm>
          <a:prstGeom prst="roundRect">
            <a:avLst>
              <a:gd name="adj" fmla="val 2857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uart_putc(char c) { 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串口 0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里面用的是 UART0_BASE ...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uart_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putc2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(char c) { 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串口 1,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整段复制粘贴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里面用的是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UART1_BASE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715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唯一能做的就是复制一份函数、手动改地址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板子再多一个口,就再复制一份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——迟早会有一处忘了改。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抽象①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把会变的东西收进结构体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uart_device {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long base;             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每口不同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(*putc)(uart_device*, char);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方式也不同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地址不再是代码里的一个字面量,而是结构体里的一个字段——一个串口对应一个 uart_device 实例。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585216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7FD9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接口稳定:调用方只关心“有一个 uart_device”,不关心它具体是哪个地址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抽象②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函数不再认死一个地址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2926080"/>
          </a:xfrm>
          <a:prstGeom prst="roundRect">
            <a:avLst>
              <a:gd name="adj" fmla="val 3750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uart_putc(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uart_device *dev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char c) {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(!(*(volatile u8*)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dev-&gt;base+LSR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&amp; THRE));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*(volatile u8*)(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dev-&gt;base+THR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c;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所有出现 UART0_BASE 的地方,都换成 dev-&gt;base;地址从“写死在代码里”变成“调用时传进来”。这一份函数,对哪个串口都适用。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调用侧:同一个函数,不同的设备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2468880"/>
          </a:xfrm>
          <a:prstGeom prst="roundRect">
            <a:avLst>
              <a:gd name="adj" fmla="val 4444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10509199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uart_device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UART0_BASE };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uart_device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UART1_BASE };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uart_putc(&amp;uart0, 'A');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操作串口 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uart_putc(&amp;uart1, 'A');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操作串口 1,函数完全没变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536432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663440"/>
            <a:ext cx="47242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硬编码时代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想操作第二个串口,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只能再写一份 uart_putc2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8728" y="4572000"/>
            <a:ext cx="5364328" cy="2103120"/>
          </a:xfrm>
          <a:prstGeom prst="roundRect">
            <a:avLst>
              <a:gd name="adj" fmla="val 4348"/>
            </a:avLst>
          </a:prstGeom>
          <a:solidFill>
            <a:srgbClr val="0B1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98768" y="4663440"/>
            <a:ext cx="47242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抽象之后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函数只有一份,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2C5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换个 dev 就换串口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手机充电器的“万能接口”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不同品牌的插座、不同国家的电压标准是“平台相关”的东西,被收进一个个“转换头”里。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94415" cy="1600200"/>
          </a:xfrm>
          <a:prstGeom prst="roundRect">
            <a:avLst>
              <a:gd name="adj" fmla="val 8571"/>
            </a:avLst>
          </a:prstGeom>
          <a:solidFill>
            <a:srgbClr val="0A4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62656"/>
            <a:ext cx="1045433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你的手机只认准一个统一的充电口(putc 这个接口),到了不同国家换个转换头插上去就能用,手机内部的充电逻辑完全不用改。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 uart_device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干的就是“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转换头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”这个角色——把“这块板子具体怎么发信号”的细节封装起来,上层只管调用统一接口。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1770</Words>
  <Application>Microsoft Office PowerPoint</Application>
  <PresentationFormat>宽屏</PresentationFormat>
  <Paragraphs>285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-apple-system</vt:lpstr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13</cp:revision>
  <dcterms:created xsi:type="dcterms:W3CDTF">2026-09-08T05:16:58Z</dcterms:created>
  <dcterms:modified xsi:type="dcterms:W3CDTF">2026-10-07T14:22:26Z</dcterms:modified>
</cp:coreProperties>
</file>