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85" r:id="rId3"/>
    <p:sldId id="257" r:id="rId4"/>
    <p:sldId id="258" r:id="rId5"/>
    <p:sldId id="259" r:id="rId6"/>
    <p:sldId id="286" r:id="rId7"/>
    <p:sldId id="287" r:id="rId8"/>
    <p:sldId id="288" r:id="rId9"/>
    <p:sldId id="289" r:id="rId10"/>
    <p:sldId id="290" r:id="rId11"/>
    <p:sldId id="291" r:id="rId12"/>
    <p:sldId id="292" r:id="rId13"/>
    <p:sldId id="293" r:id="rId14"/>
    <p:sldId id="294" r:id="rId15"/>
    <p:sldId id="295" r:id="rId16"/>
    <p:sldId id="296" r:id="rId17"/>
    <p:sldId id="260" r:id="rId18"/>
    <p:sldId id="261" r:id="rId19"/>
    <p:sldId id="297" r:id="rId20"/>
    <p:sldId id="298" r:id="rId21"/>
    <p:sldId id="299" r:id="rId22"/>
    <p:sldId id="300" r:id="rId23"/>
    <p:sldId id="302" r:id="rId24"/>
    <p:sldId id="303" r:id="rId25"/>
    <p:sldId id="304" r:id="rId26"/>
    <p:sldId id="305" r:id="rId27"/>
    <p:sldId id="306" r:id="rId28"/>
    <p:sldId id="307" r:id="rId29"/>
    <p:sldId id="308" r:id="rId30"/>
    <p:sldId id="309" r:id="rId31"/>
    <p:sldId id="310" r:id="rId32"/>
    <p:sldId id="311" r:id="rId33"/>
    <p:sldId id="312" r:id="rId34"/>
    <p:sldId id="313" r:id="rId35"/>
    <p:sldId id="314" r:id="rId36"/>
    <p:sldId id="315" r:id="rId37"/>
    <p:sldId id="317" r:id="rId38"/>
    <p:sldId id="318" r:id="rId39"/>
    <p:sldId id="319" r:id="rId40"/>
    <p:sldId id="320" r:id="rId41"/>
    <p:sldId id="321" r:id="rId42"/>
    <p:sldId id="322" r:id="rId43"/>
    <p:sldId id="323" r:id="rId44"/>
    <p:sldId id="324" r:id="rId45"/>
    <p:sldId id="325" r:id="rId46"/>
    <p:sldId id="284" r:id="rId4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59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77256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97680"/>
            <a:ext cx="12161520" cy="2560320"/>
          </a:xfrm>
          <a:prstGeom prst="rect">
            <a:avLst/>
          </a:prstGeom>
          <a:solidFill>
            <a:srgbClr val="16204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8 次课教材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37744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UART 驱动、输出子系统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与系统调用 sys_write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MMIO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2103120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1.1 什么是 MMIO</a:t>
            </a:r>
            <a:endParaRPr kumimoji="0" 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38328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CPU 如何“跟硬件说话”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31520" y="4663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Memory-Mapped I/O: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把硬件寄存器映射进</a:t>
            </a: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CPU 的地址空间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MMIO:内存映射 I/O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把外设(UART、定时器、中断控制器……)的控制/数据寄存器映射到 CPU 的地址空间里。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889608" y="2788920"/>
            <a:ext cx="8412480" cy="868680"/>
          </a:xfrm>
          <a:prstGeom prst="roundRect">
            <a:avLst>
              <a:gd name="adj" fmla="val 15789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2163928" y="278892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读写指令层面和读写内存完全一样(ld / st)，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但效果是跟硬件对话，而不是访问 RAM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5364328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3886200"/>
            <a:ext cx="47242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访问的是 RAM,写了就是存起来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3794760"/>
            <a:ext cx="5364328" cy="1691640"/>
          </a:xfrm>
          <a:prstGeom prst="roundRect">
            <a:avLst>
              <a:gd name="adj" fmla="val 5405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3886200"/>
            <a:ext cx="4724248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访问的是硬件寄存器,写一次就真实响应一次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5715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UART0_BASE 等具体地址由芯片/平台手册(或课程给定的 include/uart.h)决定,不能凭空编造,必须以代码为准。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代码示例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一次 MMIO 写操作长什么样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39112"/>
            <a:ext cx="10509199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volatile unsigned char *uart =
    (volatile unsigned char *)UART0_BASE;
*uart = 'A';  // 语法上是“给一个地址赋值”
              // 效果上是“让 UART 发送字符 A”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06908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汇编层面:st.b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把一个字节写到内存地址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目标是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UART 寄存器而不是普通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RAM,效果就是“让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UART 发一个字节”。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5303520"/>
            <a:ext cx="11094415" cy="1234440"/>
          </a:xfrm>
          <a:prstGeom prst="roundRect">
            <a:avLst>
              <a:gd name="adj" fmla="val 8889"/>
            </a:avLst>
          </a:prstGeom>
          <a:solidFill>
            <a:srgbClr val="16222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41248" y="5468112"/>
            <a:ext cx="10509199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    $a0, $t0, 0  # 写到 [$t0+0]
jr     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公寓楼里的“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传达室</a:t>
            </a: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把地址空间想象成一整栋公寓楼的门牌号。CPU 并不知道也不关心门牌号背后是普通住户还是传达室,它只会做同一个动作:往这个地址写。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5318608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普通住户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对应:RAM 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你敲门 / 写信只是单纯的信息存取,东西放进去就在那儿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971800"/>
            <a:ext cx="5318608" cy="3200400"/>
          </a:xfrm>
          <a:prstGeom prst="roundRect">
            <a:avLst>
              <a:gd name="adj" fmla="val 4286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24448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传达室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324448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对应:UART 寄存器(MMIO)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690208" y="4526280"/>
            <a:ext cx="45870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往信箱塞一张纸条,效果不是“存起来了”,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而是“立刻广播出去”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MMIO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201168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1.2 为什么必须加 volatile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2918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编译器的“精打细算”,对 MMIO 是致命的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 1.1 节:地址会跟硬件对话,但编译器并不知道这件事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编译器的一个“合理”假设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34883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编译器优化时会假设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连续两次给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同一个变量赋值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,中间没人读它,那第一次赋值就是没用的,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可以删掉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706728" y="3153135"/>
            <a:ext cx="8778240" cy="1097280"/>
          </a:xfrm>
          <a:prstGeom prst="roundRect">
            <a:avLst>
              <a:gd name="adj" fmla="val 15789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981048" y="3153135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对普通内存这个假设成立,但对 MMIO 地址是致命错误: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每一次写,硬件那头都会真实响应一次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619260"/>
            <a:ext cx="5364328" cy="160020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710700"/>
            <a:ext cx="4724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普通局部变量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优化器可能把它一直放寄存器里,没问题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4619260"/>
            <a:ext cx="5364328" cy="1600200"/>
          </a:xfrm>
          <a:prstGeom prst="roundRect">
            <a:avLst>
              <a:gd name="adj" fmla="val 5714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4710700"/>
            <a:ext cx="472424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寄存器地址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优化器可能把“重复写同一地址”直接删掉,硬件收不到指令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volatile 到底告诉编译器什么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3180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这块内存内容可能被“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程序看不见的外部因素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”改变,或者每次访问本身就有副作用,因此每一次读写都必须真实发生,不能被优化、合并、重排、缓存进寄存器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20040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31012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普通局部变量 int x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675888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优化器可能把它一直放寄存器里,没问题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4279392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38912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寄存器地址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7548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重复写同一地址可能被直接删掉,硬件收不到指令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58384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1622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468112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中断处理程序会改的全局变量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833872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主循环读到的可能是寄存器里的旧值缓存,永远等不到变化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精打细算的秘书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编译器优化就像一个“精打细算”的秘书。同一件事让秘书做两遍,秘书会想办法只做一遍——这在大多数场合是好事,但不是所有场合。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5318608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发同一份文件两次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普通内存场景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914400" y="45262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反正张三收到的最终内容一样,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秘书只发一次得了——没问题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324448" y="2971800"/>
            <a:ext cx="5318608" cy="3291840"/>
          </a:xfrm>
          <a:prstGeom prst="roundRect">
            <a:avLst>
              <a:gd name="adj" fmla="val 4167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24448" y="3246120"/>
            <a:ext cx="5318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按两次门铃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324448" y="3840480"/>
            <a:ext cx="5318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MMIO 场景(volatile)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6690208" y="4526280"/>
            <a:ext cx="458708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每按一次,门铃都真的响一声,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秘书不许自作主张省掉一次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25603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1 节 · MMIO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12124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1.3 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一次写操作在汇编层面长什么样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从 C 的 *uart = 'A' 落到一条真实指令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两条指令,完成一次发送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965960"/>
          </a:xfrm>
          <a:prstGeom prst="roundRect">
            <a:avLst>
              <a:gd name="adj" fmla="val 5581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39112"/>
            <a:ext cx="10509199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lvl="0">
              <a:lnSpc>
                <a:spcPct val="110000"/>
              </a:lnSpc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$a0 = 待发送字符, $t0 = uart 基址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    $a0, $t0, 0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把 $a0 低 8 位写到 [$t0+0]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en-US" altLang="zh-CN" sz="2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altLang="zh-CN" sz="260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</a:t>
            </a:r>
            <a:r>
              <a:rPr lang="en-US" altLang="zh-CN" sz="26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$</a:t>
            </a:r>
            <a:r>
              <a:rPr lang="en-US" altLang="zh-CN" sz="2600" dirty="0" err="1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48640" y="4160520"/>
            <a:ext cx="5478628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4297680"/>
            <a:ext cx="49299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st.b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把一个字节写到内存地址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6164428" y="4160520"/>
            <a:ext cx="5478628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38748" y="4297680"/>
            <a:ext cx="49299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返回调用者,一次写操作到此结束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48640" y="562356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$t0 指向的是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寄存器,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不是普通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RAM,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这一条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st.b 的效果就是“让 UART 发一个字节”。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落地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792" y="12446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57200" marR="0" lvl="0" indent="-45720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语言层面的一次赋值,落到汇编层面就是一条 store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指令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457200" marR="0" lvl="0" indent="-45720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指令本身和写普通内存完全一样,区别只在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目标地址是谁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15468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 语言层面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*uart = 'A';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看起来是“给一个地址赋值”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15468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汇编层面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st.b $a0, $t0, 0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效果是“让 UART 发送一个字节”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从“能打印一个字符”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到“输出子系统”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三层分工 · </a:t>
            </a:r>
            <a:r>
              <a:rPr kumimoji="0" lang="en-US" sz="3200" b="0" i="0" u="none" strike="noStrike" kern="1200" cap="none" spc="0" normalizeH="0" baseline="0" noProof="0" dirty="0" err="1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换行的坑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2.1 分层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三层职责划分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从一次打印调用,到真正的硬件写操作,中间隔着三层,每一层只管自己的事。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2606040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printk(s)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162495" y="260604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格式化 / 业务层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32644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逐字符遍历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648456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648456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uart_puts(s)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162495" y="364845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遍历 + 换行处理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48640" y="430682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单字节写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469087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B1E3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690872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uart_putc(c)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162495" y="469087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 MMIO 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4415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好处:换一块开发板、串口控制器不一样,理论上只需要改 uart_putc 这一层,printk / uart_puts 完全不用动。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写信—送信的分工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这三层很像“写信—送信”的分工:分工越清楚,换一个环节的代价就越小。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71576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 —— 写信人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13639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只管把内容写好,不关心信怎么送到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813048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392277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uart_puts —— 分拣员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34340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按规则整理信件,比如“翻页”要同时做“换页 + 回到页首”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020056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129784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uart_putc —— 投递员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55040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把信塞进具体某一个信箱;信箱样式换了,只需要投递员换个动作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2.2 换行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 \n 要补一个 \r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终端上“另起一行”其实是两个独立动作,串口设备并不会替你把两件事一起做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5364328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788920"/>
            <a:ext cx="47242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\n  (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换行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：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光标垂直下移一行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2697480"/>
            <a:ext cx="5364328" cy="1371600"/>
          </a:xfrm>
          <a:prstGeom prst="roundRect">
            <a:avLst>
              <a:gd name="adj" fmla="val 6667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788920"/>
            <a:ext cx="47242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\r  Carriage Return(回车)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光标回到本行行首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1523848" y="4251960"/>
            <a:ext cx="9144000" cy="1051560"/>
          </a:xfrm>
          <a:prstGeom prst="roundRect">
            <a:avLst>
              <a:gd name="adj" fmla="val 13043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1798168" y="4251960"/>
            <a:ext cx="8595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物理串口只发 \n 只会往下移一行,不会回到行首,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屏幕上就会出现“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阶梯状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”错位输出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5577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Unix 文本文件只用 \n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表示换行,是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0000C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“文件格式”层面的约定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,不是终端的规矩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先补 \r,再发 \n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737360"/>
          </a:xfrm>
          <a:prstGeom prst="roundRect">
            <a:avLst>
              <a:gd name="adj" fmla="val 6316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39112"/>
            <a:ext cx="10509199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(ch ==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'\n'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uart_putc(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'\r'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uart_putc(ch);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84048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这是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驱动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层为了适配“哑终端”语义做的补丁,属于串口编程的老传统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Windows 文本文件里 \r\n 混用的历史根源也在这里。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5074920"/>
            <a:ext cx="11094415" cy="1417320"/>
          </a:xfrm>
          <a:prstGeom prst="roundRect">
            <a:avLst>
              <a:gd name="adj" fmla="val 9677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5184648"/>
            <a:ext cx="10454335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类比:老式打字机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“换行”只是把纸卷往上转一格,打字头还停在原来那一列;不“回车”把打字头拨回最左边,下一行的字就会越打越往右偏,跟楼梯台阶一样。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2.3 取舍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先跑通,再讲严谨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当前的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uart_putc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直接写数据寄存器,没有检查硬件是否“准备好接收下一个字节”——这是本课刻意的简化。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5364328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68680" y="315468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本课版本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直接写寄存器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先让大家看到“MMIO 能工作”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364328" cy="2011680"/>
          </a:xfrm>
          <a:prstGeom prst="roundRect">
            <a:avLst>
              <a:gd name="adj" fmla="val 4545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154680"/>
            <a:ext cx="47242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严谨版本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kumimoji="0" lang="zh-CN" alt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</a:t>
            </a:r>
            <a:r>
              <a:rPr kumimoji="0" lang="en-US" altLang="zh-CN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kumimoji="0" lang="zh-CN" altLang="en-US" sz="2600" b="0" i="0" u="none" strike="noStrike" kern="1200" cap="none" spc="0" normalizeH="0" baseline="0" noProof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小节</a:t>
            </a:r>
            <a:r>
              <a:rPr kumimoji="0" lang="en-US" sz="2600" b="0" i="0" u="none" strike="noStrike" kern="1200" cap="none" spc="0" normalizeH="0" baseline="0" noProof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讲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轮询等待硬件就绪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选做任务里再实现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16550 风格 UART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的轮询发送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先看状态位,空了才写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2 节:从能发一个字符,到一个真正稳妥的发送流程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3.1 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为什么不能“无脑硬写”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39" y="1706538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硬件内部只有一个很小的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发送缓冲区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(FIFO)。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CPU 写数据的速度,远快于串口线上按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波特率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实际“移出”一个字节的速度。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40968" y="3063240"/>
            <a:ext cx="9509760" cy="1005840"/>
          </a:xfrm>
          <a:prstGeom prst="roundRect">
            <a:avLst>
              <a:gd name="adj" fmla="val 13636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15288" y="306324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缓冲区满了还继续写,多出来的数据会丢失,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或者产生未定义行为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434840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工业通用做法(源自 16550 兼容芯片的编程模型)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写数据前先看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状态寄存器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(LSR)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里“发送保持寄存器是否为空”这一位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空了才写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,不空就原地等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只能放一件快递的货架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 发送就像往一个只能放一件快递的小前台货架上放包裹,快递员(串口硬件)以固定速度把货架上的包裹取走送出去。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06324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319125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不管货架,一股脑硬放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63016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多出来的包裹要么掉地上摔坏,要么直接盖住旧包裹——“数据丢失”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448056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60857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正确做法:先看一眼货架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50474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空的吗?空了我才放下一件,没空就在旁边等一会儿再看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3.2 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轮询发送的骨架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154680"/>
          </a:xfrm>
          <a:prstGeom prst="roundRect">
            <a:avLst>
              <a:gd name="adj" fmla="val 3478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862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$t0 = uart 基址;偏移量与掩码由手册给定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wait_tx: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$t1, $t0, LSR_OFF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读状态寄存器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$t1, $t1, TX_EMPTY_MASK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# 只看空闲位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$t1, wait_tx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未空闲,继续等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  $a0, $t0, THR_OFF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空闲,写寄存器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jr      $ra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212080"/>
            <a:ext cx="1122554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具体的偏移量 LSR_OFF / THR_OFF 及掩码 TX_EMPTY_MASK 属于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芯片/平台细节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,必须以课程代码或平台手册为准,不能编造数值直接用到实验里。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39" y="457200"/>
            <a:ext cx="3828151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68680" y="457200"/>
            <a:ext cx="421857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algn="l">
              <a:spcBef>
                <a:spcPts val="2625"/>
              </a:spcBef>
              <a:spcAft>
                <a:spcPts val="750"/>
              </a:spcAft>
              <a:buNone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3.3</a:t>
            </a:r>
            <a:r>
              <a:rPr lang="zh-CN" altLang="zh-CN" sz="2800" b="1" i="0" spc="15" dirty="0">
                <a:solidFill>
                  <a:srgbClr val="2B2B2F"/>
                </a:solidFill>
                <a:effectLst/>
                <a:latin typeface="-apple-system"/>
              </a:rPr>
              <a:t>轮询 vs 中断驱动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轮询 vs 中断驱动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轮询发送简单但会“占用 CPU 傻等”;工程上更常见的是中断驱动——写完就去干别的事,硬件准备好了再主动打断 CPU。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01752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轮询(polling)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站在柜台前不停问“到了吗”,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什么别的事也不干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2926080"/>
            <a:ext cx="5364328" cy="1920240"/>
          </a:xfrm>
          <a:prstGeom prst="roundRect">
            <a:avLst>
              <a:gd name="adj" fmla="val 4762"/>
            </a:avLst>
          </a:prstGeom>
          <a:solidFill>
            <a:srgbClr val="0A4A6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017520"/>
            <a:ext cx="472424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中断驱动(interrupt)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留下手机号,回家该干嘛干嘛,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到货了驿站主动打电话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48640" y="507492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中断/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异常处理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是后续课程内容,本课先建立“为什么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需要检查状态位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”这个概念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设备抽象:为什么要有</a:t>
            </a: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  struct uart_device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接口稳定,实现可替换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4.1 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当前实现的问题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现在 uart_putc 里硬编码了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UART0_BASE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2660904"/>
            <a:ext cx="10509199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uart_putc(char c)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*(volatile u8*)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UART0_BASE = c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写死了地址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1340968" y="3886200"/>
            <a:ext cx="9509760" cy="1417320"/>
          </a:xfrm>
          <a:prstGeom prst="roundRect">
            <a:avLst>
              <a:gd name="adj" fmla="val 9677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1615288" y="388620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一旦要支持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第二块板子</a:t>
            </a: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、或者同一块板子上有多个串口,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代码就得到处复制粘贴、改地址,极易出错且难以维护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4.2 抽象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把平台相关的东西收拢起来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2514600"/>
          </a:xfrm>
          <a:prstGeom prst="roundRect">
            <a:avLst>
              <a:gd name="adj" fmla="val 4364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221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 uart_device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unsigned long base;  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基址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(*putc)(uart_device*, char);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发送方式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本课只讨论这个思路,不要求实现;重点是理解“为什么要这样分层”,为第 12 次课的板级迁移做铺垫。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分工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平台相关 vs 平台无关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把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变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的东西收进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结构体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驱动实现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,把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不变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的东西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75000"/>
                  </a:schemeClr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留在上层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,通过函数指针间接调用下层。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8036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平台相关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(收进 uart_device)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基址、初始化流程、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寄存器偏移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278892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8768" y="288036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平台无关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(留在上层)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 的格式化逻辑、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uart_puts 的遍历、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\n→\r\n 的转换规则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手机充电器的“万能接口”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不同品牌的插座、不同国家的电压标准是“平台相关”的东西,被收进一个个“转换头”里。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834640"/>
            <a:ext cx="11094415" cy="1600200"/>
          </a:xfrm>
          <a:prstGeom prst="roundRect">
            <a:avLst>
              <a:gd name="adj" fmla="val 8571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962656"/>
            <a:ext cx="10454335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你的手机只认准一个统一的充电口(putc 这个接口),到了不同国家换个转换头插上去就能用,手机内部的充电逻辑完全不用改。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470916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struct uart_device 干的就是“转换头”这个角色——把“这块板子具体怎么发信号”的细节封装起来,上层只管调用统一接口。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5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从“打印函数”到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“系统调用”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为什么要多这一层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1~4 节:从能发字符、会等待,走向真正对外的服务接口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5.1 问题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普通函数调用够用吗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到目前为止,printk 是“谁想调用就直接调用”的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(bl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跳转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),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调用者需要知道函数的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确切地址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,编译时就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绑死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了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1340968" y="3063240"/>
            <a:ext cx="9509760" cy="1371600"/>
          </a:xfrm>
          <a:prstGeom prst="roundRect">
            <a:avLst>
              <a:gd name="adj" fmla="val 10000"/>
            </a:avLst>
          </a:prstGeom>
          <a:solidFill>
            <a:srgbClr val="FBE9CF"/>
          </a:solidFill>
          <a:ln w="19050">
            <a:solidFill>
              <a:srgbClr val="F2A541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1615288" y="306324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内核要对用户态提供服务时,不能让用户态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B8781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知道内核函数的具体地址——既不安全,也不稳定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11094415" cy="1234440"/>
          </a:xfrm>
          <a:prstGeom prst="roundRect">
            <a:avLst>
              <a:gd name="adj" fmla="val 7407"/>
            </a:avLst>
          </a:prstGeom>
          <a:solidFill>
            <a:srgbClr val="0B1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68680" y="4800600"/>
            <a:ext cx="104543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内核提供一个统一、编号化的入口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接口的稳定性 &gt; 直接碰到具体实现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流程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统一编号化的入口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381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1965960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用户态:编号放寄存器,参数放寄存器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162495" y="1965960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我要哪个服务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262432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触发“陷入”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008376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A4A6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08376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内核态:按编号查表/分支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162495" y="300837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找到对应服务函数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48640" y="366674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↓ 执行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548640" y="40507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0A4A6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" y="4050792"/>
            <a:ext cx="6339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结果放回约定寄存器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162495" y="4050792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返回给用户态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48640" y="53492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调用者只需要记住“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编号 + 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参数槽位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”这套稳定的接口约定,不需知道内核内部函数叫什么、在哪里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翻抽屉 vs 服务热线 12345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64328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11680"/>
            <a:ext cx="47242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普通函数调用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直接闯进朋友家里翻抽屉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——前提是你俩关系够铁、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你知道抽屉在哪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6278728" y="1920240"/>
            <a:ext cx="5364328" cy="3291840"/>
          </a:xfrm>
          <a:prstGeom prst="roundRect">
            <a:avLst>
              <a:gd name="adj" fmla="val 2778"/>
            </a:avLst>
          </a:prstGeom>
          <a:solidFill>
            <a:srgbClr val="0B1E3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011680"/>
            <a:ext cx="47242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系统调用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打政务大厅服务热线 12345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不需要知道哪个科室,拨通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号码、说清楚要办什么就行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548640" y="539496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就算大厅重新装修、换了办公室位置(内核代码更新、地址变化),你拨打的号码和说话方式完全不用变。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031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5.2 为什么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不给每个服务一个裸地址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每个内核服务都直接暴露一个固定地址让用户态跳过去调用,会有几个问题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地址会变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822960" y="3273552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内核一改、一重新编译,函数地址就变了,用户态程序全部失效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3950208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22960" y="4059936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没有校验点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22960" y="4480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任何人跳到任意内核地址执行,内核没机会做权限/参数检查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157216"/>
            <a:ext cx="11094415" cy="1051560"/>
          </a:xfrm>
          <a:prstGeom prst="roundRect">
            <a:avLst>
              <a:gd name="adj" fmla="val 8696"/>
            </a:avLst>
          </a:prstGeom>
          <a:solidFill>
            <a:srgbClr val="16222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266944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难以扩展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22960" y="5687568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新增、废弃服务都会牵一发动全身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6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sys_write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逐行精读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校验在前,复用在后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5 节:把“统一入口”这个概念落到一段具体的函数上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6.1 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3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MINIOS</a:t>
            </a:r>
            <a:r>
              <a:rPr kumimoji="0" lang="en-US" sz="3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函数签名与语义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94415" cy="4663440"/>
          </a:xfrm>
          <a:prstGeom prst="roundRect">
            <a:avLst>
              <a:gd name="adj" fmla="val 2353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29384"/>
            <a:ext cx="10509199" cy="4370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sys_write(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fd, const char *buf, size_t len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(fd != 1 &amp;&amp; fd != 2)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只认 stdout/stderr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-1;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(size_t i = 0; i &lt; len; i++)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(buf[i] == '\n')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uart_putc('\r');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uart_putc(buf[i]);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(long)len;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拆解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四个关键点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7452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fd 只认 1 / 2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212080" y="1874520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stdout / stderr,照搬 Unix 约定,其余一律非法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035808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035808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校验在最前面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212080" y="3035808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任何跨越信任边界的输入都要先校验,不合法直接拒绝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97096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复用 uart_putc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212080" y="4197096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没有重复实现 MMIO 写,只是包了一层“接口壳”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5358384"/>
            <a:ext cx="11094415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2960" y="5358384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成功返回长度,失败返回 -1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5212080" y="5358384"/>
            <a:ext cx="61566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Unix 系统调用的通用惯例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6.2 关系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printk 与 sys_write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1249528" y="1920240"/>
            <a:ext cx="9692640" cy="914400"/>
          </a:xfrm>
          <a:prstGeom prst="roundRect">
            <a:avLst>
              <a:gd name="adj" fmla="val 1500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249528" y="192024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printk(s)  ≈  sys_write(1, s, strlen(s))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 可以理解为“永远往 fd=1 写、自动计算长度”的 sys_write 便民封装。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794760"/>
            <a:ext cx="5364328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88620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printk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内核内部直接调用的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普通函数,不经过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“编号分发”这一层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78728" y="3794760"/>
            <a:ext cx="5364328" cy="2377440"/>
          </a:xfrm>
          <a:prstGeom prst="roundRect">
            <a:avLst>
              <a:gd name="adj" fmla="val 3846"/>
            </a:avLst>
          </a:prstGeom>
          <a:solidFill>
            <a:srgbClr val="0B1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98768" y="3886200"/>
            <a:ext cx="47242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sys_write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通过 syscall_dispatch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编号调用的“正式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对外服务”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7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分发器 syscall_dispatch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与寄存器约定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表格填对栏位,不用管窗口内部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85216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承接第 5、6 节:统一入口的具体实现,与用户侧怎么配合它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7.1 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分发逻辑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94415" cy="3200400"/>
          </a:xfrm>
          <a:prstGeom prst="roundRect">
            <a:avLst>
              <a:gd name="adj" fmla="val 3429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975104"/>
            <a:ext cx="10509199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syscall_dispatch(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nr, long a0,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a1, long a2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{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(nr == SYS_WRITE)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sys_write((int)a0,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(const char*)a1, (size_t)a2);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-1;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未知编号,拒绝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10944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nr(number,系统调用号)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决定要执行哪个服务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;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本课只登记了一个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SYS_WRITE,遇到未知编号统一返回 -1。</a:t>
            </a: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真实内核里通常是一个跳转表,随系统调用数量增多而扩展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7.2 约定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参数与返回值的寄存器约定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965960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系统调用号 nr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212080" y="1965960"/>
            <a:ext cx="6156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$a7(或课程约定的寄存器)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081528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081528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参数 1 / 2 / 3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5212080" y="3081528"/>
            <a:ext cx="6156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/ $a1 / $a2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197096"/>
            <a:ext cx="11094415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97096"/>
            <a:ext cx="4206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返回值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5212080" y="4197096"/>
            <a:ext cx="615665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7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</a:t>
            </a:r>
            <a:endParaRPr kumimoji="0" lang="en-US" sz="27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48640" y="53492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这几个寄存器就像政务大厅表格上“固定填写栏”:第一栏永远填办理事项编号,第二到第四栏永远填申请人信息、材料。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代码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用户侧准备参数的示意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2880360"/>
          </a:xfrm>
          <a:prstGeom prst="roundRect">
            <a:avLst>
              <a:gd name="adj" fmla="val 3810"/>
            </a:avLst>
          </a:prstGeom>
          <a:solidFill>
            <a:srgbClr val="1622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2020824"/>
            <a:ext cx="10509199" cy="2587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li.d      $a0, 1 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fd = 1(stdout)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la.global $a1, msg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buf = 字符串地址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li.d      $a2, 13    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len = 13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li.d $a7, SYS_WRITE         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调用号放约定寄存器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syscall 或 bl 到内核封装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具体陷入方式按课堂方案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498348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教学阶段为了降低难度,允许先在内核内部直接调用 syscall_dispatch,跳过“用户态触发陷入、CPU 切换到内核态”这一整套机制;真正的隔离机制会在后续课程补齐。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固定表格栏位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不管你今天办的是身份证还是营业执照,表格格式不变,工作人员一看就知道该往哪个栏位找什么信息。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880360"/>
            <a:ext cx="11094415" cy="1828800"/>
          </a:xfrm>
          <a:prstGeom prst="roundRect">
            <a:avLst>
              <a:gd name="adj" fmla="val 5000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971800"/>
            <a:ext cx="1045433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本课先把“表格格式”(寄存器约定)定下来,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“是否要真的排队安检”(用户态陷入内核态的完整机制)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留到后面课再补——接口稳定 &gt; 一次上完整用户态隔离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457200"/>
            <a:ext cx="164592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572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8 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332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与 Linux write( )</a:t>
            </a:r>
            <a:r>
              <a:rPr kumimoji="0" lang="en-US" sz="4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的类比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帮助理解,非考察内容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“形状”几乎一模一样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真实 Linux 的 write(int fd, const void *buf, size_t count) 和本课的 sys_write 在“形状”上几乎一致。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0B1E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283464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相同的骨架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fd + buf + len 三元组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成功返回字节数,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失败返回负的错误码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7FD9C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都要先做参数校验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278728" y="2743200"/>
            <a:ext cx="5364328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98768" y="2834640"/>
            <a:ext cx="472424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本课的简化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只支持两个 fd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没有真正的用户态隔离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没有用户指针校验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F2A5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548640" y="10058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带辅助轮的儿童车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48640" y="1874520"/>
            <a:ext cx="110944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这就像小朋友学骑自行车先用带辅助轮的儿童车——车架、龙头、脚踏板的基本结构和真正的自行车完全一样,只是暂时少了“完全靠自己保持平衡”这一部分难度。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3566160"/>
            <a:ext cx="11094415" cy="1600200"/>
          </a:xfrm>
          <a:prstGeom prst="roundRect">
            <a:avLst>
              <a:gd name="adj" fmla="val 5714"/>
            </a:avLst>
          </a:prstGeom>
          <a:solidFill>
            <a:srgbClr val="0A4A6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68680" y="3657600"/>
            <a:ext cx="104543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对应“用户态隔离”和“指针校验”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等基本骨架的操作练熟了,摘掉辅助轮,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2C57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就能直接骑上真正的“整车”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48640" y="539496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本课的实现是极度简化的教学版本,但接口设计的骨架和真实系统是一致的,理解了这一套,再看真实内核代码会觉得眼熟很多。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7432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先建立概念，再做 Task1–Task7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5661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配合《第 8 次课实验指导书》使用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1973</Words>
  <Application>Microsoft Office PowerPoint</Application>
  <PresentationFormat>宽屏</PresentationFormat>
  <Paragraphs>394</Paragraphs>
  <Slides>46</Slides>
  <Notes>46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46</vt:i4>
      </vt:variant>
    </vt:vector>
  </HeadingPairs>
  <TitlesOfParts>
    <vt:vector size="53" baseType="lpstr">
      <vt:lpstr>-apple-system</vt:lpstr>
      <vt:lpstr>等线</vt:lpstr>
      <vt:lpstr>Arial</vt:lpstr>
      <vt:lpstr>Calibri</vt:lpstr>
      <vt:lpstr>Cambria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10</cp:revision>
  <dcterms:created xsi:type="dcterms:W3CDTF">2026-09-08T05:16:58Z</dcterms:created>
  <dcterms:modified xsi:type="dcterms:W3CDTF">2026-09-28T03:50:04Z</dcterms:modified>
</cp:coreProperties>
</file>