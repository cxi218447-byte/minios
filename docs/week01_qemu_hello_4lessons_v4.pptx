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202328"/>
                </a:solidFill>
                <a:latin typeface="Microsoft YaHei"/>
              </a:rPr>
              <a:t>第 1 周：从 C 语言走进 LoongArch 汇编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F539E"/>
                </a:solidFill>
                <a:latin typeface="Microsoft YaHei"/>
              </a:rPr>
              <a:t>4 节课导入 + QEMU Hello miniOS 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02328"/>
                </a:solidFill>
                <a:latin typeface="Microsoft YaHei"/>
              </a:rPr>
              <a:t>对象：只系统学完 C 语言的大二计算机学生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7044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8606C"/>
                </a:solidFill>
                <a:latin typeface="Microsoft YaHei"/>
              </a:rPr>
              <a:t>参考：教材读书笔记《汇编语言编程基础 基于 LoongArch》；实验以本仓库 miniOS 代码为准。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四节课安排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第一周不追求掌握全部指令，而是建立正确的底层执行模型。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第 1 节：为什么学习汇编，机器语言、汇编语言、C 语言是什么关系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第 2 节：LoongArch 最小知识包：寄存器、指令、寻址、分支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第 3 节：从 C 到可执行文件：预处理、编译、汇编、链接、ELF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第 4 节：读 miniOS 第 1 周代码，在 QEMU 中看到 Hello 输出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39E"/>
                </a:solidFill>
                <a:latin typeface="Microsoft YaHei"/>
              </a:rPr>
              <a:t>第 1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2328"/>
                </a:solidFill>
                <a:latin typeface="Microsoft YaHei"/>
              </a:rPr>
              <a:t>为什么学习汇编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58606C"/>
                </a:solidFill>
                <a:latin typeface="Microsoft YaHei"/>
              </a:rPr>
              <a:t>把学生熟悉的 C 语言，连接到 CPU 真正执行的指令。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8606C"/>
                </a:solidFill>
                <a:latin typeface="Microsoft YaHei"/>
              </a:rPr>
              <a:t>本节结束时，学生要能用自己的话解释核心概念。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1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第一节学习目标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能说清 C 语言、汇编语言、机器语言的层次关系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知道指令集是软件和硬件之间的接口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理解汇编语言和具体 CPU 架构绑定，不能随意跨架构运行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知道本课程第一阶段只在 QEMU 中做 LoongArch64 实验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1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从 C 代码到 CPU 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教材笔记强调：指令系统是软硬件之间的接口。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7D4D"/>
                </a:solidFill>
                <a:latin typeface="Microsoft YaHei"/>
              </a:rPr>
              <a:t>C 语言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接近人的表达
变量、函数、循环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539E"/>
                </a:solidFill>
                <a:latin typeface="Microsoft YaHei"/>
              </a:rPr>
              <a:t>汇编语言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接近 CPU 指令
寄存器、跳转、访存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C6423"/>
                </a:solidFill>
                <a:latin typeface="Microsoft YaHei"/>
              </a:rPr>
              <a:t>机器指令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二进制编码
CPU 直接取指执行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7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180"/>
                </a:solidFill>
                <a:latin typeface="Microsoft YaHei"/>
              </a:rPr>
              <a:t>硬件行为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7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运算、读写内存
访问外设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26060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06C"/>
                </a:solidFill>
                <a:latin typeface="Microsoft YaHe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0056" y="26060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06C"/>
                </a:solidFill>
                <a:latin typeface="Microsoft YaHe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336" y="26060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06C"/>
                </a:solidFill>
                <a:latin typeface="Microsoft YaHei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1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用 C 语言经验理解汇编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C 里的变量：很多时候会临时放在寄存器或内存里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C 里的 if / while：底层会变成比较和跳转指令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C 里的函数调用：底层涉及参数寄存器、返回地址和栈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C 里的指针：底层就是地址，访存指令按地址读写数据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1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第 1 节课堂活动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让学生写一个最简单的 C 函数：int add(int a, int b)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提问：CPU 真的认识变量名 a 和 b 吗？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提问：return a + b 最终需要哪些底层动作？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结论：汇编课不是背指令，而是看清 C 程序如何落到机器执行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39E"/>
                </a:solidFill>
                <a:latin typeface="Microsoft YaHei"/>
              </a:rPr>
              <a:t>第 2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2328"/>
                </a:solidFill>
                <a:latin typeface="Microsoft YaHei"/>
              </a:rPr>
              <a:t>LoongArch 最小知识包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58606C"/>
                </a:solidFill>
                <a:latin typeface="Microsoft YaHei"/>
              </a:rPr>
              <a:t>只讲读懂第 1 周代码需要的寄存器、指令和寻址方式。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8606C"/>
                </a:solidFill>
                <a:latin typeface="Microsoft YaHei"/>
              </a:rPr>
              <a:t>本节结束时，学生要能用自己的话解释核心概念。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2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第二节学习目标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知道 LoongArch 指令长度固定为 32 位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先认识通用寄存器编号 r0~r31，再认识 ABI 别名 zero、ra、sp、a0、t0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理解三类基础指令：算术运算、访存、转移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能读懂 boot/start.S 中的主路径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2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寄存器：先记 r 编号，再记 ABI 别名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r0 / zero：常量寄存器，值永远是 0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r1 / ra：函数返回地址，bl 调用函数时会写入返回地址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r3 / sp：栈指针，C 函数运行前必须准备好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r4~r11 / a0~a7：参数寄存器，其中 r4~r5 也可作返回值 v0~v1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r12~r20 / t0~t8：临时寄存器，适合短期计算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2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LoongArch 通用寄存器 ABI 别名表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第 1 周先看懂别名体系，后续讲函数调用时再深入保存规则。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45920"/>
          <a:ext cx="10835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011680"/>
                <a:gridCol w="2148840"/>
                <a:gridCol w="5440680"/>
              </a:tblGrid>
              <a:tr h="39901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>
                    <a:solidFill>
                      <a:srgbClr val="1F53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ABI 别名</a:t>
                      </a:r>
                    </a:p>
                  </a:txBody>
                  <a:tcPr>
                    <a:solidFill>
                      <a:srgbClr val="1F53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主要用途</a:t>
                      </a:r>
                    </a:p>
                  </a:txBody>
                  <a:tcPr>
                    <a:solidFill>
                      <a:srgbClr val="1F53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课堂说明</a:t>
                      </a:r>
                    </a:p>
                  </a:txBody>
                  <a:tcPr>
                    <a:solidFill>
                      <a:srgbClr val="1F539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常量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328"/>
                          </a:solidFill>
                          <a:latin typeface="Microsoft YaHei"/>
                        </a:rPr>
                        <a:t>硬件恒为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返回地址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328"/>
                          </a:solidFill>
                          <a:latin typeface="Microsoft YaHei"/>
                        </a:rPr>
                        <a:t>bl 调用函数时写入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线程指针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328"/>
                          </a:solidFill>
                          <a:latin typeface="Microsoft YaHei"/>
                        </a:rPr>
                        <a:t>TLS 相关，本周只认识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栈指针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328"/>
                          </a:solidFill>
                          <a:latin typeface="Microsoft YaHei"/>
                        </a:rPr>
                        <a:t>进入 C 函数前必须设置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r4-r5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a0-a1 / v0-v1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参数 / 返回值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328"/>
                          </a:solidFill>
                          <a:latin typeface="Microsoft YaHei"/>
                        </a:rPr>
                        <a:t>前两个参数，也可放返回值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r6-r11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a2-a7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328"/>
                          </a:solidFill>
                          <a:latin typeface="Microsoft YaHei"/>
                        </a:rPr>
                        <a:t>第 3 到第 8 个整型参数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r12-r20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t0-t8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临时寄存器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328"/>
                          </a:solidFill>
                          <a:latin typeface="Microsoft YaHei"/>
                        </a:rPr>
                        <a:t>调用者保存，短期计算常用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r21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保留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平台保留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328"/>
                          </a:solidFill>
                          <a:latin typeface="Microsoft YaHei"/>
                        </a:rPr>
                        <a:t>普通程序不要随意使用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r22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fp / s9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帧指针 / 保存寄存器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328"/>
                          </a:solidFill>
                          <a:latin typeface="Microsoft YaHei"/>
                        </a:rPr>
                        <a:t>需要帧指针时作 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r23-r31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s0-s8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328"/>
                          </a:solidFill>
                          <a:latin typeface="Microsoft YaHei"/>
                        </a:rPr>
                        <a:t>保存寄存器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328"/>
                          </a:solidFill>
                          <a:latin typeface="Microsoft YaHei"/>
                        </a:rPr>
                        <a:t>被调用者保存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614476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06C"/>
                </a:solidFill>
                <a:latin typeface="Microsoft YaHei"/>
              </a:rPr>
              <a:t>记忆方式：先背 r0、r1、r3、r4-r11、r12-r20；r22-r31 到函数调用与栈帧实验再重点讲。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2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教材笔记风格的基础指令例子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课堂先用 r0~r31 讲清楚，再补充 zero/ra/sp 等 ABI 别名。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500" b="0">
                <a:solidFill>
                  <a:srgbClr val="EEF1F6"/>
                </a:solidFill>
                <a:latin typeface="Consolas"/>
              </a:rPr>
              <a:t>addi.d  r3, r3, -32       # 64 位加法：sp = sp - 32
st.d    r1, r3, 24        # 把 ra 保存到 sp + 24
ld.d    r1, r3, 24        # 从 sp + 24 恢复 ra
addi.w  r8, r1, 16        # 32 位加法，立即数参与运算
bne     r12, r0, L        # r12 != 0 时跳转到 L
bl      func              # 调用 func，返回地址写入 r1/ra
jirl    r0, r1, 0         # 跳回 r1/ra 指向的位置
# 教材笔记还提醒：move 是宏指令，可由 or rd,rj,r0 表达。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2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本仓库代码里的写法和教材写法如何对应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这页专门避免学生误以为课件和教材是两套汇编。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500" b="0">
                <a:solidFill>
                  <a:srgbClr val="EEF1F6"/>
                </a:solidFill>
                <a:latin typeface="Consolas"/>
              </a:rPr>
              <a:t># 教材/反汇编里常见：
addi.d  r3, r3, -32
st.d    r1, r3, 24
jirl    r0, r1, 0
# GNU 汇编器也接受 ABI 别名：
addi.d  $sp, $sp, -32     # $sp 就是 r3
st.d    $ra, $sp, 24      # $ra 就是 r1
jirl    $zero, $ra, 0     # $zero 就是 r0
# la.global 这类用于装入符号地址，按伪指令/宏指令讲，
# 不把它当作 LoongArch 基础整数指令本体。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2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寻址方式用一句话理解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教材笔记把寻址方式作为理解访存和跳转的关键入口。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寄存器寻址：如 addi.d r3, r3, -32，操作数来自寄存器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立即数寻址：如 addi.w r8, r1, 16，常数 16 写在指令中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基址 + 偏移寻址：如 ld.d r1, r3, 24，访问 r3 + 24 指向的内存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PC 相对转移：如 bl、bne，跳转目标由当前指令位置和偏移计算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2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第二节练习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指出 addi.d、ld.d、st.d、bne 分别属于哪类指令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把 bne r12, r0, L 解释成 C 语言里的 if 条件跳转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解释 bl 为什么会影响 r1/ra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解释为什么设置 r3/sp 后才能放心进入 C 函数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39E"/>
                </a:solidFill>
                <a:latin typeface="Microsoft YaHei"/>
              </a:rPr>
              <a:t>第 3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2328"/>
                </a:solidFill>
                <a:latin typeface="Microsoft YaHei"/>
              </a:rPr>
              <a:t>从 C 到可执行文件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58606C"/>
                </a:solidFill>
                <a:latin typeface="Microsoft YaHei"/>
              </a:rPr>
              <a:t>让学生知道 Makefile 背后发生了什么。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8606C"/>
                </a:solidFill>
                <a:latin typeface="Microsoft YaHei"/>
              </a:rPr>
              <a:t>本节结束时，学生要能用自己的话解释核心概念。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3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第三节学习目标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理解 .c、.S、.o、.elf 文件各自是什么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知道编译流程大致包括预处理、编译、汇编、链接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知道 .S 文件会先经过 C 预处理器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理解链接脚本负责规定入口和内存布局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3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教材笔记中的编译流程，用到本实验里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第 1 周学生只需要能说出每一步的作用。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7D4D"/>
                </a:solidFill>
                <a:latin typeface="Microsoft YaHei"/>
              </a:rPr>
              <a:t>.c/.S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源代码
C 和汇编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539E"/>
                </a:solidFill>
                <a:latin typeface="Microsoft YaHei"/>
              </a:rPr>
              <a:t>预处理/编译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生成汇编
处理 include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C6423"/>
                </a:solidFill>
                <a:latin typeface="Microsoft YaHei"/>
              </a:rPr>
              <a:t>汇编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生成 .o
机器指令片段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7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180"/>
                </a:solidFill>
                <a:latin typeface="Microsoft YaHei"/>
              </a:rPr>
              <a:t>链接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7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合成 .elf
确定地址和入口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93807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443E"/>
                </a:solidFill>
                <a:latin typeface="Microsoft YaHei"/>
              </a:rPr>
              <a:t>QEMU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7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加载内核
开始执行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26060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06C"/>
                </a:solidFill>
                <a:latin typeface="Microsoft YaHe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6" y="26060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06C"/>
                </a:solidFill>
                <a:latin typeface="Microsoft Ya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0336" y="26060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06C"/>
                </a:solidFill>
                <a:latin typeface="Microsoft YaHe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26060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06C"/>
                </a:solidFill>
                <a:latin typeface="Microsoft YaHei"/>
              </a:rPr>
              <a:t>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3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本实验 Makefile 的核心含义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强调：不能用宿主机 x86_64 gcc 冒充 LoongArch 工具链。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500" b="0">
                <a:solidFill>
                  <a:srgbClr val="EEF1F6"/>
                </a:solidFill>
                <a:latin typeface="Consolas"/>
              </a:rPr>
              <a:t>CROSS_COMPILE ?= loongarch64-linux-gnu-
CC      := $(CROSS_COMPILE)gcc
OBJCOPY := $(CROSS_COMPILE)objcopy
QEMU    ?= qemu-system-loongarch64
TARGET  := build/minios.elf
LDFLAGS := -T kernel/linker.ld -nostdlib -static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3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链接脚本只先讲三件事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入口是谁、从哪个地址开始、各类内容放在哪里。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500" b="0">
                <a:solidFill>
                  <a:srgbClr val="EEF1F6"/>
                </a:solidFill>
                <a:latin typeface="Consolas"/>
              </a:rPr>
              <a:t>ENTRY(_start)
SECTIONS
{
    . = 0x9000000000200000;
    .text : { *(.text.boot) *(.text*) }
    .rodata : { *(.rodata*) }
    .data : { *(.data*) }
    .bss : { *(.bss*) *(COMMON) }
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3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普通程序和裸机程序的链接差异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普通 Linux 程序：C 运行库和操作系统会准备运行环境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miniOS 裸机程序：没有 libc，没有操作系统帮忙调用 main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所以我们需要 _start、栈、链接脚本、串口输出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这正是第 1 周 Hello miniOS 的教学价值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3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第三节课堂活动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在黑板画出 .c/.S → .o → .elf → QEMU 的流程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让学生找出 Makefile 中 CC、TARGET、LDFLAGS、run 四个位置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解释为什么 .elf 不是 Windows 可直接双击运行的程序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提醒：本周不深入 ELF 格式，后续再展开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2328"/>
                </a:solidFill>
                <a:latin typeface="Microsoft YaHei"/>
              </a:rPr>
              <a:t>QEMU Hello miniOS 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58606C"/>
                </a:solidFill>
                <a:latin typeface="Microsoft YaHei"/>
              </a:rPr>
              <a:t>把前 3 节概念落到仓库代码和真实运行命令。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8606C"/>
                </a:solidFill>
                <a:latin typeface="Microsoft YaHei"/>
              </a:rPr>
              <a:t>本节结束时，学生要能用自己的话解释核心概念。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第四节学习目标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能指出第 1 周核心代码文件的位置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能按执行路径读懂 _start 到 kernel_main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能解释 printk 为什么能把字符显示到终端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能完成环境检查、编译、运行和测试记录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第 1 周核心文件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boot/start.S：启动入口，设置栈，跳转 kernel_main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kernel/linker.ld：规定入口地址和段布局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kernel/main.c：C 语言内核入口，调用 printk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kernel/printk.c：最小字符串输出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include/printk.h、include/uart.h、include/types.h：头文件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Makefile：编译、运行和清理命令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先说明：当前仓库代码比第 1 周略多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boot/start.S 中已经包含 .bss 清零和 exception_entry，课堂第 1 周先讲 _start 主路径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kernel/main.c 中已经包含 data/bss/string 测试，课堂第 1 周先抓 printk 输出链路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lib/string.S、kernel/exception.c、kernel/syscall.c 属于后续周次铺垫，第一周不展开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PPT 后续代码页会标注“第一周关注点”，防止学生一开始被扩展内容淹没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项目代码：boot/start.S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第一周关注：_start、设置 sp、调用 kernel_main、停在 halt 循环。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200" b="0">
                <a:solidFill>
                  <a:srgbClr val="EEF1F6"/>
                </a:solidFill>
                <a:latin typeface="Consolas"/>
              </a:rPr>
              <a:t>    .section .text.boot, "ax"
    .globl _start
_start:
    /* 设置内核栈。栈从高地址向低地址增长。 */
    la.global   $sp, boot_stack_top
    /* 清零 .bss，保证未初始化的全局变量从 0 开始。 */
    bl          clear_bss
    /* 进入 C 语言内核主函数。 */
    bl          kernel_main
halt:
    idle        0
    b           halt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项目代码：boot/start.S 中的 clear_bss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这段是第 2 周 .bss 的铺垫。第一周只需知道它在进入 C 前做内存初始化。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300" b="0">
                <a:solidFill>
                  <a:srgbClr val="EEF1F6"/>
                </a:solidFill>
                <a:latin typeface="Consolas"/>
              </a:rPr>
              <a:t>clear_bss:
    la.global   $t0, __bss_start
    la.global   $t1, __bss_end
1:
    beq         $t0, $t1, 2f
    st.b        $zero, $t0, 0
    addi.d      $t0, $t0, 1
    b           1b
2:
    jr          $ra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项目代码：kernel/linker.ld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第一周关注：入口是 _start，.text.boot 被保留并放在前面，链接地址面向 QEMU virt。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100" b="0">
                <a:solidFill>
                  <a:srgbClr val="EEF1F6"/>
                </a:solidFill>
                <a:latin typeface="Consolas"/>
              </a:rPr>
              <a:t>ENTRY(_start)
SECTIONS
{
    . = 0x9000000000200000;
    .text : ALIGN(4K) {
        KEEP(*(.text.boot))
        *(.text .text.*)
    }
    .rodata : ALIGN(4K) { *(.rodata .rodata.*) }
    .data   : ALIGN(4K) { *(.data .data.*) }
    __bss_start = .;
    .bss : ALIGN(4K) {
        *(.bss .bss.*)
        *(COMMON)
    }
    __bss_end = .;
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项目代码：kernel/main.c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当前文件已包含第 2/4 周铺垫。第一周课堂先只追踪 printk(msg) 到 UART 的路径。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000" b="0">
                <a:solidFill>
                  <a:srgbClr val="EEF1F6"/>
                </a:solidFill>
                <a:latin typeface="Consolas"/>
              </a:rPr>
              <a:t>#include "printk.h"
#include "string.h"
static char bss_buffer[16];
static char data_message[] = "data section ok";
void kernel_main(void)
{
    char buf[32];
    const char *msg = "Hello, LoongArch miniOS!\n";
    printk("miniOS booting...\n");
    printk(msg);
    memset(buf, 0, sizeof(buf));
    memcpy(buf, data_message, strlen(data_message));
    printk(buf);
    printk("\n");
    if (bss_buffer[0] == 0) {
        printk("bss section cleared\n");
    }
    printk("week1-week2 check done\n");
    while (1) { __asm__ volatile("idle 0"); }
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项目代码：kernel/printk.c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第一周关注：字符串逐字符输出，最终是向 UART0_BASE 指向的 MMIO 地址写字节。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000" b="0">
                <a:solidFill>
                  <a:srgbClr val="EEF1F6"/>
                </a:solidFill>
                <a:latin typeface="Consolas"/>
              </a:rPr>
              <a:t>#include "printk.h"
#include "uart.h"
void uart_putc(char ch)
{
    volatile unsigned char *uart =
        (volatile unsigned char *)UART0_BASE;
    /* 裸机早期先不轮询状态寄存器，直接写发送寄存器。 */
    *uart = (unsigned char)ch;
}
void uart_puts(const char *s)
{
    while (*s) {
        if (*s == '\n') {
            uart_putc('\r');
        }
        uart_putc(*s++);
    }
}
void printk(const char *s)
{
    uart_puts(s);
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项目代码：include/printk.h 与 include/uart.h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头文件告诉 C 编译器函数原型和 UART 地址。UART0_BASE 只用于 QEMU virt，不代表 2K0300。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000" b="0">
                <a:solidFill>
                  <a:srgbClr val="EEF1F6"/>
                </a:solidFill>
                <a:latin typeface="Consolas"/>
              </a:rPr>
              <a:t>/* include/printk.h */
#ifndef MINIOS_PRINTK_H
#define MINIOS_PRINTK_H
void printk(const char *s);
void printk_hex(unsigned long value);
#endif
/* include/uart.h */
#ifndef MINIOS_UART_H
#define MINIOS_UART_H
#include "types.h"
#define UART0_BASE 0x900000001fe001e0UL
void uart_putc(char ch);
void uart_puts(const char *s);
#endif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项目代码：include/types.h 与 include/string.h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这些是当前 main.c 需要的声明。string 函数属于后续周次，第一周不要求实现细节。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000" b="0">
                <a:solidFill>
                  <a:srgbClr val="EEF1F6"/>
                </a:solidFill>
                <a:latin typeface="Consolas"/>
              </a:rPr>
              <a:t>/* include/types.h */
#ifndef MINIOS_TYPES_H
#define MINIOS_TYPES_H
typedef unsigned long size_t;
typedef unsigned long uint64_t;
typedef long int64_t;
#endif
/* include/string.h */
#ifndef MINIOS_STRING_H
#define MINIOS_STRING_H
#include "types.h"
void *memset(void *dst, int value, size_t n);
void *memcpy(void *dst, const void *src, size_t n);
size_t strlen(const char *s);
#endif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项目代码：Makefile：工具链与目标文件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第一周关注：使用 LoongArch64 交叉编译器，生成裸机 ELF，不链接宿主机 C 运行库。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000" b="0">
                <a:solidFill>
                  <a:srgbClr val="EEF1F6"/>
                </a:solidFill>
                <a:latin typeface="Consolas"/>
              </a:rPr>
              <a:t>CROSS_COMPILE ?= loongarch64-linux-gnu-
CC      := $(CROSS_COMPILE)gcc
OBJCOPY := $(CROSS_COMPILE)objcopy
QEMU    ?= qemu-system-loongarch64
BUILD_DIR := build
TARGET    := $(BUILD_DIR)/minios.elf
BIN       := $(BUILD_DIR)/minios.bin
CFLAGS  := -Wall -Wextra -O2 -g -ffreestanding
CFLAGS  += -fno-builtin -fno-stack-protector
CFLAGS  += -nostdlib -mabi=lp64d -march=loongarch64
LDFLAGS := -T kernel/linker.ld -nostdlib -static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项目代码：Makefile：编译、运行、清理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课堂演示时让学生对应 make、make run、make clean 三个动作。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000" b="0">
                <a:solidFill>
                  <a:srgbClr val="EEF1F6"/>
                </a:solidFill>
                <a:latin typeface="Consolas"/>
              </a:rPr>
              <a:t>all: $(TARGET) $(BIN)
$(TARGET): $(OBJS) kernel/linker.ld
    $(CC) $(CFLAGS) $(LDFLAGS) -o $@ $(OBJS)
$(BIN): $(TARGET)
    $(OBJCOPY) -O binary $&lt; $@
$(BUILD_DIR)/%.o: %.c
    mkdir -p $(dir $@)
    $(CC) $(CFLAGS) -Iinclude -c $&lt; -o $@
$(BUILD_DIR)/%.o: %.S
    mkdir -p $(dir $@)
    $(CC) $(ASFLAGS) -Iinclude -c $&lt; -o $@
run: $(TARGET)
    $(QEMU) $(QEMU_ARGS)
clean:
    rm -rf $(BUILD_DIR)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第 1 周最小运行链路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这条链路必须跑通，才进入后续实验。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539E"/>
                </a:solidFill>
                <a:latin typeface="Microsoft YaHei"/>
              </a:rPr>
              <a:t>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交叉编译
生成 ELF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180"/>
                </a:solidFill>
                <a:latin typeface="Microsoft YaHei"/>
              </a:rPr>
              <a:t>QEMU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模拟 virt
加载内核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C6423"/>
                </a:solidFill>
                <a:latin typeface="Microsoft YaHei"/>
              </a:rPr>
              <a:t>_start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设置 sp
调用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7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7D4D"/>
                </a:solidFill>
                <a:latin typeface="Microsoft YaHei"/>
              </a:rPr>
              <a:t>kernel_main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7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调用 printk
输出字符串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2057400"/>
            <a:ext cx="2057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93807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443E"/>
                </a:solidFill>
                <a:latin typeface="Microsoft YaHei"/>
              </a:rPr>
              <a:t>UART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7" y="262432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328"/>
                </a:solidFill>
                <a:latin typeface="Microsoft YaHei"/>
              </a:rPr>
              <a:t>终端显示
Hello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26060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06C"/>
                </a:solidFill>
                <a:latin typeface="Microsoft YaHe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6" y="26060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06C"/>
                </a:solidFill>
                <a:latin typeface="Microsoft Ya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0336" y="26060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06C"/>
                </a:solidFill>
                <a:latin typeface="Microsoft YaHe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26060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06C"/>
                </a:solidFill>
                <a:latin typeface="Microsoft YaHei"/>
              </a:rPr>
              <a:t>→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boot/start.S 主路径：先用教材风格读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la.global 是装入符号地址的汇编器伪指令；核心动作是让 r3/sp 成为可用栈指针。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500" b="0">
                <a:solidFill>
                  <a:srgbClr val="EEF1F6"/>
                </a:solidFill>
                <a:latin typeface="Consolas"/>
              </a:rPr>
              <a:t>    .section .text.boot, "ax"
    .globl _start
_start:
    # 设置内核栈：r3/sp 指向 boot_stack_top
    la.global   r3, boot_stack_top
    # 进入 C 语言内核主函数
    bl          kernel_main
halt:
    idle        0
    b           halt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同一段代码：源码里的 ABI 别名写法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课堂讲解顺序：先 r 编号，再 ABI 别名；不要一上来只讲 $sp。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500" b="0">
                <a:solidFill>
                  <a:srgbClr val="EEF1F6"/>
                </a:solidFill>
                <a:latin typeface="Consolas"/>
              </a:rPr>
              <a:t>_start:
    # $sp 是 r3 的 ABI 别名
    la.global   $sp, boot_stack_top
    # bl 调用函数，返回地址写入 r1/ra
    bl          kernel_main
halt:
    idle        0
    b           halt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建议第 1 周使用的最小 kernel_main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当前仓库已有后续扩展痕迹，课堂讲解时先抽出这条最小路径。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500" b="0">
                <a:solidFill>
                  <a:srgbClr val="EEF1F6"/>
                </a:solidFill>
                <a:latin typeface="Consolas"/>
              </a:rPr>
              <a:t>#include "printk.h"
void kernel_main(void)
{
    printk("Hello miniOS on LoongArch64\n");
    while (1) {
        __asm__ volatile("idle 0");
    }
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UART 输出：C 代码背后是访存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编译后会落到地址计算和 st.b/st.w 一类访存指令；UART0_BASE 是 QEMU virt 平台地址。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500" b="0">
                <a:solidFill>
                  <a:srgbClr val="EEF1F6"/>
                </a:solidFill>
                <a:latin typeface="Consolas"/>
              </a:rPr>
              <a:t>void uart_putc(char ch)
{
    volatile unsigned char *uart =
        (volatile unsigned char *)UART0_BASE;
    *uart = (unsigned char)ch;
}
void printk(const char *s)
{
    while (*s) {
        uart_putc(*s++);
    }
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实验命令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06C"/>
                </a:solidFill>
                <a:latin typeface="Microsoft YaHei"/>
              </a:rPr>
              <a:t>实际测试结果必须来自学生机器真实命令输出。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461772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500" b="0">
                <a:solidFill>
                  <a:srgbClr val="EEF1F6"/>
                </a:solidFill>
                <a:latin typeface="Consolas"/>
              </a:rPr>
              <a:t># 环境检查
which make
which qemu-system-loongarch64
which loongarch64-linux-gnu-gcc
# 编译
make clean
make
# 运行
make run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预期输出与测试记录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预期串口输出：Hello miniOS on LoongArch64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未执行过 make run，就不能写“已通过”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工具链缺失时，记录为未执行，并写明失败原因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测试报告必须包含：已执行、未执行、失败原因、下一步命令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常见错误和排查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找不到 loongarch64-linux-gnu-gcc：安装交叉编译器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找不到 qemu-system-loongarch64：安装 qemu-system-misc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误用系统 gcc：检查 Makefile 中 CROSS_COMPILE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QEMU 无输出：检查入口、链接地址、UART 地址、run 命令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中文显示异常：先确认文件编码和终端显示编码，不急着改源码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第一周学生作业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画出 miniOS 第 1 周执行路径图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把 Hello 字符串改成自己的姓名和学号，重新编译运行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解释 boot/start.S 中 sp、bl、b、idle 的作用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提交环境检查结果和真实运行截图或日志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教师板书建议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C 语言：函数、变量、循环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汇编语言：寄存器、指令、跳转、访存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裸机启动：没有操作系统，所以要自己准备入口和栈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实验闭环：改代码 → 编译 → QEMU 运行 → 记录结果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39E"/>
                </a:solidFill>
                <a:latin typeface="Microsoft YaHei"/>
              </a:rPr>
              <a:t>第 4 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本周边界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不讲完整操作系统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不讲进程、文件系统、虚拟内存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不直接适配 2K0300 开发板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不把未实测结果写成已通过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下一周再展开 .data、.bss 和内存初始化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328"/>
                </a:solidFill>
                <a:latin typeface="Microsoft YaHei"/>
              </a:rPr>
              <a:t>参考资料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927080" cy="18288"/>
          </a:xfrm>
          <a:prstGeom prst="rect">
            <a:avLst/>
          </a:prstGeom>
          <a:solidFill>
            <a:srgbClr val="D4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87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教材读书笔记：https://blog.csdn.net/loongsoner/article/details/128977015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02328"/>
                </a:solidFill>
                <a:latin typeface="Microsoft YaHei"/>
              </a:rPr>
              <a:t>龙芯架构参考手册：用于查证指令、寄存器和特权架构细节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LoongArch ELF psABI：用于后续函数调用约定、栈布局和 ABI 讲解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328"/>
                </a:solidFill>
                <a:latin typeface="Microsoft YaHei"/>
              </a:rPr>
              <a:t>本仓库代码和 docs/environment_check.md：用于实验实测记录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