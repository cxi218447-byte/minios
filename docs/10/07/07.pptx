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2" r:id="rId19"/>
    <p:sldId id="28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4274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LoongArch 汇编 · miniOS 课程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给 </a:t>
            </a: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miniOS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写一份最小工具箱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154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memset / memcpy / strlen / memmove / strcmp / zero_and_copy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六个真实字符串/内存函数：从基础实现，到彼此的局限与组合调用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4709160"/>
            <a:ext cx="4206240" cy="822960"/>
          </a:xfrm>
          <a:prstGeom prst="roundRect">
            <a:avLst>
              <a:gd name="adj" fmla="val 55556"/>
            </a:avLst>
          </a:prstGeom>
          <a:solidFill>
            <a:srgbClr val="1317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47091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建议检查点：07-libc-asm</a:t>
            </a:r>
            <a:endParaRPr lang="en-US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E420C34-7B72-1886-FCE1-B698B53B3944}"/>
              </a:ext>
            </a:extLst>
          </p:cNvPr>
          <p:cNvSpPr txBox="1"/>
          <p:nvPr/>
        </p:nvSpPr>
        <p:spPr>
          <a:xfrm>
            <a:off x="609600" y="60071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课本缺少这部分介绍，请同学们参考：s</a:t>
            </a:r>
            <a:r>
              <a:rPr lang="zh-CN" altLang="en-US" dirty="0">
                <a:solidFill>
                  <a:schemeClr val="bg1"/>
                </a:solidFill>
              </a:rPr>
              <a:t>tudent_notes.md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01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本课全局地图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六个函数：类型与要解决的问题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05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488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48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叶子函数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memset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5468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用指定字节填充一段内存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328160" y="1874520"/>
            <a:ext cx="3505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02480" y="21488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02480" y="2148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叶子函数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602480" y="265176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memcpy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602480" y="315468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把内存从一处搬到另一处（假设不重叠）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107680" y="1874520"/>
            <a:ext cx="3505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82000" y="21488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82000" y="2148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叶子函数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382000" y="265176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memmove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382000" y="315468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memcpy 的通用版，允许区间重叠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3505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4348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434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叶子函数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93776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strlen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44068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测量 C 字符串的长度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4328160" y="4160520"/>
            <a:ext cx="3505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02480" y="44348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602480" y="4434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叶子函数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4602480" y="493776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strcmp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4602480" y="544068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逐字节比较两个字符串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8107680" y="4160520"/>
            <a:ext cx="35052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82000" y="44348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382000" y="4434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非叶子函数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8382000" y="493776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zero_and_copy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8382000" y="544068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清零 + 搬运，组合调用前三者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02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库函数是什么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先看一个生活场景：宜家家具的螺丝刀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480560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74520" y="2651760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F2A93B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292608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13173F"/>
          </a:solidFill>
          <a:ln w="25400">
            <a:solidFill>
              <a:srgbClr val="F2A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3291840"/>
            <a:ext cx="274320" cy="2743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0" y="3291840"/>
            <a:ext cx="274320" cy="2743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114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工具箱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5720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拿来就用，不用管内部怎么造的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303520" y="1783080"/>
            <a:ext cx="63550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669280" y="2057400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库函数（library function）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2697480"/>
            <a:ext cx="5623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别人已经写好、编译打包成“库”的通用功能代码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调用 memcpy(dst, src, n) 就像喊一声“把螺丝刀递给我”</a:t>
            </a:r>
            <a:endParaRPr lang="en-US" sz="24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libc 里的函数分两类，就像工具箱里的工具也分两种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03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libc 的两类函数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按“要不要找内核”分类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5740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51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系统调用的薄封装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1546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/ write / open / fork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7947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C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要不要找内核：要 —— 打电话给物业报修水管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217920" y="178308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37960" y="205740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651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纯数据处理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1546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memcpy / memset / strlen / strcmp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7947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要不要找内核：不要 —— 自己在家用螺丝刀拧螺丝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本课六个函数全部是第二类：不依赖任何系统调用；第 8 次课的 sys_write 才是第一类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04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miniOS 为什么要自己写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搬到荒岛的比喻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普通 Linux 程序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5176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住在正常小区——水电煤都有物业负责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libc 由操作系统（Linux）随发行版预装好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程序只管调用 memcpy，不用自己实现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miniOS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65176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被空投到荒岛——没有物业、没有自来水公司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miniOS 自己就是操作系统，下面没有别人准备好 libc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要用水得自己挖井：自己动手写 memcpy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48640" y="539496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1317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53949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-ffreestanding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-nostdlib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53949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翻译成人话：告诉编译器“别以为这个程序底下还有个操作系统帮你兜底”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31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链接器机制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从一行调用到真正跑起来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链接器只认符号名，不认你写的是 C 还是汇编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C9B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这一节最抽象，但理解它，才会明白“C 代码为什么能调用汇编写的函数”这件事到底是怎么发生的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05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静态链接 vs 动态链接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买断家具搬进新家，还是去图书馆借书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48640" y="1783080"/>
          <a:ext cx="11064240" cy="37490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静态链接：买断家具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动态链接：图书馆借书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库代码放在哪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直接拷贝进可执行文件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留在 .so/.dll，运行时加载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可执行文件体积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更大——含全部库代码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更小——只留一条引用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多进程能否共用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不能，各自一份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能，还可单独升级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miniOS 用哪种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只能这种 —— 还没有“加载器”这一层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06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写信只写地址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从一行调用到真正能跑：四步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26030" cy="3566160"/>
          </a:xfrm>
          <a:prstGeom prst="roundRect">
            <a:avLst>
              <a:gd name="adj" fmla="val 4344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37335" y="205740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37335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31520" y="2743200"/>
            <a:ext cx="2160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编译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31520" y="3246120"/>
            <a:ext cx="21602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留下一个“待解析”的符号引用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31520" y="4343400"/>
            <a:ext cx="21602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C9B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信封写收件人名字，还不知道住哪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102102" y="3611880"/>
            <a:ext cx="265176" cy="0"/>
          </a:xfrm>
          <a:prstGeom prst="line">
            <a:avLst/>
          </a:prstGeom>
          <a:noFill/>
          <a:ln w="3810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94710" y="1828800"/>
            <a:ext cx="2526030" cy="3566160"/>
          </a:xfrm>
          <a:prstGeom prst="roundRect">
            <a:avLst>
              <a:gd name="adj" fmla="val 4344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3405" y="205740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83405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3577590" y="2743200"/>
            <a:ext cx="2160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链接器扫描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3577590" y="3246120"/>
            <a:ext cx="21602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翻遍所有 .o 和库文件找定义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3577590" y="4343400"/>
            <a:ext cx="21602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C9B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邮局翻花名册，查这个人住哪栋楼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48172" y="3611880"/>
            <a:ext cx="265176" cy="0"/>
          </a:xfrm>
          <a:prstGeom prst="line">
            <a:avLst/>
          </a:prstGeom>
          <a:noFill/>
          <a:ln w="3810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40780" y="1828800"/>
            <a:ext cx="2526030" cy="3566160"/>
          </a:xfrm>
          <a:prstGeom prst="roundRect">
            <a:avLst>
              <a:gd name="adj" fmla="val 4344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29475" y="205740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29475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423660" y="2743200"/>
            <a:ext cx="2160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回填地址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6423660" y="3246120"/>
            <a:ext cx="21602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把占位地址改成真实地址（重定位）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6423660" y="4343400"/>
            <a:ext cx="21602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C9B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在信封上盖上真实门牌号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794242" y="3611880"/>
            <a:ext cx="265176" cy="0"/>
          </a:xfrm>
          <a:prstGeom prst="line">
            <a:avLst/>
          </a:prstGeom>
          <a:noFill/>
          <a:ln w="38100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86850" y="1828800"/>
            <a:ext cx="2526030" cy="3566160"/>
          </a:xfrm>
          <a:prstGeom prst="roundRect">
            <a:avLst>
              <a:gd name="adj" fmla="val 4344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075545" y="205740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075545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9269730" y="2743200"/>
            <a:ext cx="21602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生成镜像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9269730" y="3246120"/>
            <a:ext cx="21602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得到地址完整、真能跑的 .elf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9269730" y="4343400"/>
            <a:ext cx="21602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C9B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信真的能送到了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关键点：链接器只认“符号名”，不认“语言”——这正是 C 代码可以调用汇编写的函数，反过来也一样的原因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07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miniOS 链接的边界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点了菜单上没有的菜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SRC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645920" y="20574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链接器只找 Makefile 列出的文件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68680" y="301752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SRCS_C / SRCS_S 列出的文件才会被扫描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没写进去的文件，链接器根本不知道它存在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这不是比喻，是真会发生的事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1317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3796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C9BC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537960" y="25603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24B4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 reference to `memcpy'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537960" y="35204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如果 lib/string.S 忘了实现 memcpy，链接这一步会直接报错，整个构建失败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537960" y="484632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C9B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普通 Linux 程序遇到同样情况，还能退一步去 /usr/lib 找 glibc；miniOS 用 -nostdlib，没有这条退路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08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现实中，库函数和汇编的关系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去医院体检，对症开方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480560" cy="4480560"/>
          </a:xfrm>
          <a:prstGeom prst="roundRect">
            <a:avLst>
              <a:gd name="adj" fmla="val 2449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94560" y="2240280"/>
            <a:ext cx="1188720" cy="11887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194560" y="2240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IFUNC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间接函数机制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22960" y="420624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医生不会给所有人开同一张处方，先看体质报告，再选最适合的方案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303520" y="1783080"/>
            <a:ext cx="6355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669280" y="2057400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IFUNC（indirect function）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669280" y="2697480"/>
            <a:ext cx="5623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glibc 给 memcpy/memset/strlen 等热点函数准备多个版本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每个版本用不同指令集实现（SSE2/AVX2/AVX-512、NEON）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运行时按 CPU 实际支持的特性，动态选一个最快的版本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669280" y="5440680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本课“8 字节批量优化”正是这个思路的教学缩小版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09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 和汇编，调用层面完全平等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调用约定不区分语言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 函数调用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68680" y="2606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memcpy(dst, src, n)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68680" y="324612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1317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246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传参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810512" y="3566160"/>
            <a:ext cx="219456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057400" y="324612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1317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057400" y="3246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跳转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999232" y="3566160"/>
            <a:ext cx="219456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46120" y="324612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13173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246120" y="3246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执行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187952" y="3566160"/>
            <a:ext cx="219456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434840" y="324612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13173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434840" y="3246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返回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868680" y="41605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C9B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执行内部逻辑，按 ABI 返回结果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58000" y="178308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178040" y="2057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汇编函数调用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7178040" y="2606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memcpy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178040" y="324612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13173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78040" y="3246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传参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119872" y="3566160"/>
            <a:ext cx="219456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366760" y="324612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13173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66760" y="3246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跳转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308592" y="3566160"/>
            <a:ext cx="219456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555480" y="324612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13173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555480" y="3246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执行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0497312" y="3566160"/>
            <a:ext cx="219456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744200" y="3246120"/>
            <a:ext cx="914400" cy="640080"/>
          </a:xfrm>
          <a:prstGeom prst="roundRect">
            <a:avLst>
              <a:gd name="adj" fmla="val 11429"/>
            </a:avLst>
          </a:prstGeom>
          <a:solidFill>
            <a:srgbClr val="13173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744200" y="3246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返回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7178040" y="41605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C9B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执行内部逻辑，按 ABI 返回结果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920740" y="3268980"/>
            <a:ext cx="685800" cy="6858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920740" y="32689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编译器只认 ABI（第 6 次课的调用约定），不关心符号背后是 C 写的还是汇编写的——这正是本课在做的事：把“C 代码背后看不见的那一层”亲手实现出来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31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六个函数逐个讲解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先想清楚生活里的动作，再看汇编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每个函数配一个生活类比，再看汇编怎么把这个动作拆成一步步指令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C9B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读代码前先想“这一步在干什么”，不会迷失在助记符里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10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memset：刷墙 / 铺地砖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void *memset(void *s, int c, size_t n)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从墙角开始，一刷子一刷子涂，涂满才停手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310835" cy="4434840"/>
          </a:xfrm>
          <a:prstGeom prst="roundRect">
            <a:avLst>
              <a:gd name="adj" fmla="val 2892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02045" y="2240280"/>
            <a:ext cx="5310835" cy="443484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Box 7"/>
          <p:cNvSpPr txBox="1"/>
          <p:nvPr/>
        </p:nvSpPr>
        <p:spPr>
          <a:xfrm>
            <a:off x="868680" y="2423160"/>
            <a:ext cx="4670755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5000"/>
              </a:lnSpc>
            </a:pPr>
            <a:r>
              <a:rPr sz="2400" b="0">
                <a:solidFill>
                  <a:srgbClr val="CADCFC"/>
                </a:solidFill>
                <a:latin typeface="Courier New"/>
              </a:rPr>
              <a:t>move   $t0, $a0</a:t>
            </a:r>
          </a:p>
          <a:p>
            <a:pPr algn="l">
              <a:lnSpc>
                <a:spcPct val="105000"/>
              </a:lnSpc>
            </a:pPr>
            <a:r>
              <a:rPr sz="2400" b="0">
                <a:solidFill>
                  <a:srgbClr val="CADCFC"/>
                </a:solidFill>
                <a:latin typeface="Courier New"/>
              </a:rPr>
              <a:t>beqz   $a2, 2f</a:t>
            </a:r>
          </a:p>
          <a:p>
            <a:pPr algn="l">
              <a:lnSpc>
                <a:spcPct val="105000"/>
              </a:lnSpc>
            </a:pPr>
            <a:r>
              <a:rPr sz="2400" b="0">
                <a:solidFill>
                  <a:srgbClr val="CADCFC"/>
                </a:solidFill>
                <a:latin typeface="Courier New"/>
              </a:rPr>
              <a:t>1:</a:t>
            </a:r>
          </a:p>
          <a:p>
            <a:pPr algn="l">
              <a:lnSpc>
                <a:spcPct val="105000"/>
              </a:lnSpc>
            </a:pPr>
            <a:r>
              <a:rPr sz="2400" b="0">
                <a:solidFill>
                  <a:srgbClr val="CADCFC"/>
                </a:solidFill>
                <a:latin typeface="Courier New"/>
              </a:rPr>
              <a:t>  st.b   $a1, $a0, 0</a:t>
            </a:r>
          </a:p>
          <a:p>
            <a:pPr algn="l">
              <a:lnSpc>
                <a:spcPct val="105000"/>
              </a:lnSpc>
            </a:pPr>
            <a:r>
              <a:rPr sz="2400" b="0">
                <a:solidFill>
                  <a:srgbClr val="CADCFC"/>
                </a:solidFill>
                <a:latin typeface="Courier New"/>
              </a:rPr>
              <a:t>  addi.d $a0, $a0, 1</a:t>
            </a:r>
          </a:p>
          <a:p>
            <a:pPr algn="l">
              <a:lnSpc>
                <a:spcPct val="105000"/>
              </a:lnSpc>
            </a:pPr>
            <a:r>
              <a:rPr sz="2400" b="0">
                <a:solidFill>
                  <a:srgbClr val="CADCFC"/>
                </a:solidFill>
                <a:latin typeface="Courier New"/>
              </a:rPr>
              <a:t>  addi.d $a2, $a2, -1</a:t>
            </a:r>
          </a:p>
          <a:p>
            <a:pPr algn="l">
              <a:lnSpc>
                <a:spcPct val="105000"/>
              </a:lnSpc>
            </a:pPr>
            <a:r>
              <a:rPr sz="2400" b="0">
                <a:solidFill>
                  <a:srgbClr val="CADCFC"/>
                </a:solidFill>
                <a:latin typeface="Courier New"/>
              </a:rPr>
              <a:t>  bnez   $a2, 1b</a:t>
            </a:r>
          </a:p>
          <a:p>
            <a:pPr algn="l">
              <a:lnSpc>
                <a:spcPct val="105000"/>
              </a:lnSpc>
            </a:pPr>
            <a:r>
              <a:rPr sz="2400" b="0">
                <a:solidFill>
                  <a:srgbClr val="CADCFC"/>
                </a:solidFill>
                <a:latin typeface="Courier New"/>
              </a:rPr>
              <a:t>2:</a:t>
            </a:r>
          </a:p>
          <a:p>
            <a:pPr algn="l">
              <a:lnSpc>
                <a:spcPct val="105000"/>
              </a:lnSpc>
            </a:pPr>
            <a:r>
              <a:rPr sz="2400" b="0">
                <a:solidFill>
                  <a:srgbClr val="CADCFC"/>
                </a:solidFill>
                <a:latin typeface="Courier New"/>
              </a:rPr>
              <a:t>  move   $a0, $t0</a:t>
            </a:r>
          </a:p>
          <a:p>
            <a:pPr algn="l">
              <a:lnSpc>
                <a:spcPct val="105000"/>
              </a:lnSpc>
            </a:pPr>
            <a:r>
              <a:rPr sz="2400" b="0">
                <a:solidFill>
                  <a:srgbClr val="CADCFC"/>
                </a:solidFill>
                <a:latin typeface="Courier New"/>
              </a:rPr>
              <a:t>  jr     $ra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2085" y="2423160"/>
            <a:ext cx="4670755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①  </a:t>
            </a:r>
            <a:r>
              <a:rPr sz="2200" b="0">
                <a:solidFill>
                  <a:srgbClr val="1A2238"/>
                </a:solidFill>
                <a:latin typeface="Calibri"/>
              </a:rPr>
              <a:t>保存起点 dst 到 $t0——马上要被当游标改写，返回前要用它恢复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②  </a:t>
            </a:r>
            <a:r>
              <a:rPr sz="2200" b="0">
                <a:solidFill>
                  <a:srgbClr val="1A2238"/>
                </a:solidFill>
                <a:latin typeface="Calibri"/>
              </a:rPr>
              <a:t>n==0：直接跳到标号 2，循环体一次都不进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③  </a:t>
            </a:r>
            <a:r>
              <a:rPr sz="2200" b="0">
                <a:solidFill>
                  <a:srgbClr val="1A2238"/>
                </a:solidFill>
                <a:latin typeface="Calibri"/>
              </a:rPr>
              <a:t>循环体（标号 1）：写一个字节，指针 dst +1，计数 n −1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④  </a:t>
            </a:r>
            <a:r>
              <a:rPr sz="2200" b="0">
                <a:solidFill>
                  <a:srgbClr val="1A2238"/>
                </a:solidFill>
                <a:latin typeface="Calibri"/>
              </a:rPr>
              <a:t>n 还没减到 0（bnez）就跳回标号 1，继续下一个字节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⑤  </a:t>
            </a:r>
            <a:r>
              <a:rPr sz="2200" b="0">
                <a:solidFill>
                  <a:srgbClr val="1A2238"/>
                </a:solidFill>
                <a:latin typeface="Calibri"/>
              </a:rPr>
              <a:t>减到 0：把 $t0 换回 $a0 作为返回值，叶子函数直接 jr $ra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11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memcpy：复印文件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void *memcpy(void *dst, const void *src, size_t n)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一页读、一页印，直到印完最后一页（假设两叠纸不重叠）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310835" cy="4434840"/>
          </a:xfrm>
          <a:prstGeom prst="roundRect">
            <a:avLst>
              <a:gd name="adj" fmla="val 2892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7869" y="2240280"/>
            <a:ext cx="5802869" cy="443484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Box 7"/>
          <p:cNvSpPr txBox="1"/>
          <p:nvPr/>
        </p:nvSpPr>
        <p:spPr>
          <a:xfrm>
            <a:off x="868680" y="2423160"/>
            <a:ext cx="4670755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CADCFC"/>
                </a:solidFill>
                <a:latin typeface="Courier New"/>
              </a:rPr>
              <a:t>move   $t0, $a0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CADCFC"/>
                </a:solidFill>
                <a:latin typeface="Courier New"/>
              </a:rPr>
              <a:t>beqz   $a2, 2f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CADCFC"/>
                </a:solidFill>
                <a:latin typeface="Courier New"/>
              </a:rPr>
              <a:t>1: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CADCFC"/>
                </a:solidFill>
                <a:latin typeface="Courier New"/>
              </a:rPr>
              <a:t>  ld.bu  $t1, $a1, 0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CADCFC"/>
                </a:solidFill>
                <a:latin typeface="Courier New"/>
              </a:rPr>
              <a:t>  st.b   $t1, $a0, 0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CADCFC"/>
                </a:solidFill>
                <a:latin typeface="Courier New"/>
              </a:rPr>
              <a:t>  addi.d $a0, $a0, 1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CADCFC"/>
                </a:solidFill>
                <a:latin typeface="Courier New"/>
              </a:rPr>
              <a:t>  addi.d $a1, $a1, 1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CADCFC"/>
                </a:solidFill>
                <a:latin typeface="Courier New"/>
              </a:rPr>
              <a:t>  addi.d $a2, $a2, -1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CADCFC"/>
                </a:solidFill>
                <a:latin typeface="Courier New"/>
              </a:rPr>
              <a:t>  bnez   $a2, 1b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CADCFC"/>
                </a:solidFill>
                <a:latin typeface="Courier New"/>
              </a:rPr>
              <a:t>2: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CADCFC"/>
                </a:solidFill>
                <a:latin typeface="Courier New"/>
              </a:rPr>
              <a:t>  move   $a0, $t0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CADCFC"/>
                </a:solidFill>
                <a:latin typeface="Courier New"/>
              </a:rPr>
              <a:t>  jr     $ra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7909" y="2423160"/>
            <a:ext cx="5360909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 dirty="0">
                <a:solidFill>
                  <a:srgbClr val="1E2761"/>
                </a:solidFill>
                <a:latin typeface="Calibri"/>
              </a:rPr>
              <a:t>①  </a:t>
            </a:r>
            <a:r>
              <a:rPr sz="2200" b="0" dirty="0" err="1">
                <a:solidFill>
                  <a:srgbClr val="1A2238"/>
                </a:solidFill>
                <a:latin typeface="Calibri"/>
              </a:rPr>
              <a:t>保存原始</a:t>
            </a:r>
            <a:r>
              <a:rPr sz="2200" b="0" dirty="0">
                <a:solidFill>
                  <a:srgbClr val="1A2238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A2238"/>
                </a:solidFill>
                <a:latin typeface="Calibri"/>
              </a:rPr>
              <a:t>dst</a:t>
            </a:r>
            <a:r>
              <a:rPr sz="2200" b="0" dirty="0">
                <a:solidFill>
                  <a:srgbClr val="1A2238"/>
                </a:solidFill>
                <a:latin typeface="Calibri"/>
              </a:rPr>
              <a:t> 到 $t0，同样是为了最后当返回值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 dirty="0">
                <a:solidFill>
                  <a:srgbClr val="1E2761"/>
                </a:solidFill>
                <a:latin typeface="Calibri"/>
              </a:rPr>
              <a:t>②  </a:t>
            </a:r>
            <a:r>
              <a:rPr sz="2200" b="0" dirty="0">
                <a:solidFill>
                  <a:srgbClr val="1A2238"/>
                </a:solidFill>
                <a:latin typeface="Calibri"/>
              </a:rPr>
              <a:t>n==0：什么都不用搬，直接跳到标号 2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 dirty="0">
                <a:solidFill>
                  <a:srgbClr val="1E2761"/>
                </a:solidFill>
                <a:latin typeface="Calibri"/>
              </a:rPr>
              <a:t>③  </a:t>
            </a:r>
            <a:r>
              <a:rPr sz="2200" b="0" dirty="0" err="1">
                <a:solidFill>
                  <a:srgbClr val="1A2238"/>
                </a:solidFill>
                <a:latin typeface="Calibri"/>
              </a:rPr>
              <a:t>先读后写：无符号加载</a:t>
            </a:r>
            <a:r>
              <a:rPr sz="2200" b="0" dirty="0">
                <a:solidFill>
                  <a:srgbClr val="1A2238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A2238"/>
                </a:solidFill>
                <a:latin typeface="Calibri"/>
              </a:rPr>
              <a:t>src</a:t>
            </a:r>
            <a:r>
              <a:rPr sz="2200" b="0" dirty="0">
                <a:solidFill>
                  <a:srgbClr val="1A2238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A2238"/>
                </a:solidFill>
                <a:latin typeface="Calibri"/>
              </a:rPr>
              <a:t>字节到</a:t>
            </a:r>
            <a:r>
              <a:rPr sz="2200" b="0" dirty="0">
                <a:solidFill>
                  <a:srgbClr val="1A2238"/>
                </a:solidFill>
                <a:latin typeface="Calibri"/>
              </a:rPr>
              <a:t> $t1，再写进 </a:t>
            </a:r>
            <a:r>
              <a:rPr sz="2200" b="0" dirty="0" err="1">
                <a:solidFill>
                  <a:srgbClr val="1A2238"/>
                </a:solidFill>
                <a:latin typeface="Calibri"/>
              </a:rPr>
              <a:t>dst，不会用未读数据覆盖自己</a:t>
            </a:r>
            <a:endParaRPr sz="2200" b="0" dirty="0">
              <a:solidFill>
                <a:srgbClr val="1A2238"/>
              </a:solidFill>
              <a:latin typeface="Calibri"/>
            </a:endParaRP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 dirty="0">
                <a:solidFill>
                  <a:srgbClr val="1E2761"/>
                </a:solidFill>
                <a:latin typeface="Calibri"/>
              </a:rPr>
              <a:t>④  </a:t>
            </a:r>
            <a:r>
              <a:rPr sz="2200" b="0" dirty="0" err="1">
                <a:solidFill>
                  <a:srgbClr val="1A2238"/>
                </a:solidFill>
                <a:latin typeface="Calibri"/>
              </a:rPr>
              <a:t>双指针同步</a:t>
            </a:r>
            <a:r>
              <a:rPr sz="2200" b="0" dirty="0">
                <a:solidFill>
                  <a:srgbClr val="1A2238"/>
                </a:solidFill>
                <a:latin typeface="Calibri"/>
              </a:rPr>
              <a:t> +1（dst 用 $a0，src 用 $a1），</a:t>
            </a:r>
            <a:r>
              <a:rPr sz="2200" b="0" dirty="0" err="1">
                <a:solidFill>
                  <a:srgbClr val="1A2238"/>
                </a:solidFill>
                <a:latin typeface="Calibri"/>
              </a:rPr>
              <a:t>计数</a:t>
            </a:r>
            <a:r>
              <a:rPr sz="2200" b="0" dirty="0">
                <a:solidFill>
                  <a:srgbClr val="1A2238"/>
                </a:solidFill>
                <a:latin typeface="Calibri"/>
              </a:rPr>
              <a:t> -1，没搬完（bnez）回跳标号 1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 dirty="0">
                <a:solidFill>
                  <a:srgbClr val="1E2761"/>
                </a:solidFill>
                <a:latin typeface="Calibri"/>
              </a:rPr>
              <a:t>⑤  </a:t>
            </a:r>
            <a:r>
              <a:rPr sz="2200" b="0" dirty="0" err="1">
                <a:solidFill>
                  <a:srgbClr val="1A2238"/>
                </a:solidFill>
                <a:latin typeface="Calibri"/>
              </a:rPr>
              <a:t>搬完把</a:t>
            </a:r>
            <a:r>
              <a:rPr sz="2200" b="0" dirty="0">
                <a:solidFill>
                  <a:srgbClr val="1A2238"/>
                </a:solidFill>
                <a:latin typeface="Calibri"/>
              </a:rPr>
              <a:t> $t0 </a:t>
            </a:r>
            <a:r>
              <a:rPr sz="2200" b="0" dirty="0" err="1">
                <a:solidFill>
                  <a:srgbClr val="1A2238"/>
                </a:solidFill>
                <a:latin typeface="Calibri"/>
              </a:rPr>
              <a:t>换回</a:t>
            </a:r>
            <a:r>
              <a:rPr sz="2200" b="0" dirty="0">
                <a:solidFill>
                  <a:srgbClr val="1A2238"/>
                </a:solidFill>
                <a:latin typeface="Calibri"/>
              </a:rPr>
              <a:t> $a0 </a:t>
            </a:r>
            <a:r>
              <a:rPr sz="2200" b="0" dirty="0" err="1">
                <a:solidFill>
                  <a:srgbClr val="1A2238"/>
                </a:solidFill>
                <a:latin typeface="Calibri"/>
              </a:rPr>
              <a:t>返回；隐藏假设：dst</a:t>
            </a:r>
            <a:r>
              <a:rPr sz="2200" b="0" dirty="0">
                <a:solidFill>
                  <a:srgbClr val="1A2238"/>
                </a:solidFill>
                <a:latin typeface="Calibri"/>
              </a:rPr>
              <a:t>/</a:t>
            </a:r>
            <a:r>
              <a:rPr sz="2200" b="0" dirty="0" err="1">
                <a:solidFill>
                  <a:srgbClr val="1A2238"/>
                </a:solidFill>
                <a:latin typeface="Calibri"/>
              </a:rPr>
              <a:t>src</a:t>
            </a:r>
            <a:r>
              <a:rPr sz="2200" b="0" dirty="0">
                <a:solidFill>
                  <a:srgbClr val="1A2238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A2238"/>
                </a:solidFill>
                <a:latin typeface="Calibri"/>
              </a:rPr>
              <a:t>不重叠</a:t>
            </a:r>
            <a:r>
              <a:rPr sz="2200" b="0" dirty="0">
                <a:solidFill>
                  <a:srgbClr val="1A2238"/>
                </a:solidFill>
                <a:latin typeface="Calibri"/>
              </a:rPr>
              <a:t>——</a:t>
            </a:r>
            <a:r>
              <a:rPr sz="2200" b="0" dirty="0" err="1">
                <a:solidFill>
                  <a:srgbClr val="1A2238"/>
                </a:solidFill>
                <a:latin typeface="Calibri"/>
              </a:rPr>
              <a:t>重叠交给</a:t>
            </a:r>
            <a:r>
              <a:rPr sz="2200" b="0" dirty="0">
                <a:solidFill>
                  <a:srgbClr val="1A2238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A2238"/>
                </a:solidFill>
                <a:latin typeface="Calibri"/>
              </a:rPr>
              <a:t>memmove</a:t>
            </a:r>
            <a:endParaRPr sz="2200" b="0" dirty="0">
              <a:solidFill>
                <a:srgbClr val="1A223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12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strlen：量绳子长度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size_t strlen(const char *s)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从绳头开始一寸一寸量，量到打结处停下，回头看看量了多少寸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310835" cy="4434840"/>
          </a:xfrm>
          <a:prstGeom prst="roundRect">
            <a:avLst>
              <a:gd name="adj" fmla="val 2892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02045" y="2240280"/>
            <a:ext cx="5310835" cy="443484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Box 7"/>
          <p:cNvSpPr txBox="1"/>
          <p:nvPr/>
        </p:nvSpPr>
        <p:spPr>
          <a:xfrm>
            <a:off x="868680" y="2423160"/>
            <a:ext cx="4670755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5000"/>
              </a:lnSpc>
            </a:pPr>
            <a:r>
              <a:rPr sz="2400" b="0">
                <a:solidFill>
                  <a:srgbClr val="CADCFC"/>
                </a:solidFill>
                <a:latin typeface="Courier New"/>
              </a:rPr>
              <a:t>move   $t0, $a0</a:t>
            </a:r>
          </a:p>
          <a:p>
            <a:pPr algn="l">
              <a:lnSpc>
                <a:spcPct val="105000"/>
              </a:lnSpc>
            </a:pPr>
            <a:r>
              <a:rPr sz="2400" b="0">
                <a:solidFill>
                  <a:srgbClr val="CADCFC"/>
                </a:solidFill>
                <a:latin typeface="Courier New"/>
              </a:rPr>
              <a:t>1:</a:t>
            </a:r>
          </a:p>
          <a:p>
            <a:pPr algn="l">
              <a:lnSpc>
                <a:spcPct val="105000"/>
              </a:lnSpc>
            </a:pPr>
            <a:r>
              <a:rPr sz="2400" b="0">
                <a:solidFill>
                  <a:srgbClr val="CADCFC"/>
                </a:solidFill>
                <a:latin typeface="Courier New"/>
              </a:rPr>
              <a:t>  ld.bu  $t1, $a0, 0</a:t>
            </a:r>
          </a:p>
          <a:p>
            <a:pPr algn="l">
              <a:lnSpc>
                <a:spcPct val="105000"/>
              </a:lnSpc>
            </a:pPr>
            <a:r>
              <a:rPr sz="2400" b="0">
                <a:solidFill>
                  <a:srgbClr val="CADCFC"/>
                </a:solidFill>
                <a:latin typeface="Courier New"/>
              </a:rPr>
              <a:t>  beqz   $t1, 2f</a:t>
            </a:r>
          </a:p>
          <a:p>
            <a:pPr algn="l">
              <a:lnSpc>
                <a:spcPct val="105000"/>
              </a:lnSpc>
            </a:pPr>
            <a:r>
              <a:rPr sz="2400" b="0">
                <a:solidFill>
                  <a:srgbClr val="CADCFC"/>
                </a:solidFill>
                <a:latin typeface="Courier New"/>
              </a:rPr>
              <a:t>  addi.d $a0, $a0, 1</a:t>
            </a:r>
          </a:p>
          <a:p>
            <a:pPr algn="l">
              <a:lnSpc>
                <a:spcPct val="105000"/>
              </a:lnSpc>
            </a:pPr>
            <a:r>
              <a:rPr sz="2400" b="0">
                <a:solidFill>
                  <a:srgbClr val="CADCFC"/>
                </a:solidFill>
                <a:latin typeface="Courier New"/>
              </a:rPr>
              <a:t>  b      1b</a:t>
            </a:r>
          </a:p>
          <a:p>
            <a:pPr algn="l">
              <a:lnSpc>
                <a:spcPct val="105000"/>
              </a:lnSpc>
            </a:pPr>
            <a:r>
              <a:rPr sz="2400" b="0">
                <a:solidFill>
                  <a:srgbClr val="CADCFC"/>
                </a:solidFill>
                <a:latin typeface="Courier New"/>
              </a:rPr>
              <a:t>2:</a:t>
            </a:r>
          </a:p>
          <a:p>
            <a:pPr algn="l">
              <a:lnSpc>
                <a:spcPct val="105000"/>
              </a:lnSpc>
            </a:pPr>
            <a:r>
              <a:rPr sz="2400" b="0">
                <a:solidFill>
                  <a:srgbClr val="CADCFC"/>
                </a:solidFill>
                <a:latin typeface="Courier New"/>
              </a:rPr>
              <a:t>  sub.d  $a0, $a0, $t0</a:t>
            </a:r>
          </a:p>
          <a:p>
            <a:pPr algn="l">
              <a:lnSpc>
                <a:spcPct val="105000"/>
              </a:lnSpc>
            </a:pPr>
            <a:r>
              <a:rPr sz="2400" b="0">
                <a:solidFill>
                  <a:srgbClr val="CADCFC"/>
                </a:solidFill>
                <a:latin typeface="Courier New"/>
              </a:rPr>
              <a:t>  jr     $ra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2085" y="2423160"/>
            <a:ext cx="4670755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①  </a:t>
            </a:r>
            <a:r>
              <a:rPr sz="2200" b="0">
                <a:solidFill>
                  <a:srgbClr val="1A2238"/>
                </a:solidFill>
                <a:latin typeface="Calibri"/>
              </a:rPr>
              <a:t>$t0 记住字符串起点地址——最后要用来算长度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②  </a:t>
            </a:r>
            <a:r>
              <a:rPr sz="2200" b="0">
                <a:solidFill>
                  <a:srgbClr val="1A2238"/>
                </a:solidFill>
                <a:latin typeface="Calibri"/>
              </a:rPr>
              <a:t>标号 1：逐字节无符号加载，不会因符号扩展出错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③  </a:t>
            </a:r>
            <a:r>
              <a:rPr sz="2200" b="0">
                <a:solidFill>
                  <a:srgbClr val="1A2238"/>
                </a:solidFill>
                <a:latin typeface="Calibri"/>
              </a:rPr>
              <a:t>读到 '\0'（beqz）：跳到标号 2 收尾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④  </a:t>
            </a:r>
            <a:r>
              <a:rPr sz="2200" b="0">
                <a:solidFill>
                  <a:srgbClr val="1A2238"/>
                </a:solidFill>
                <a:latin typeface="Calibri"/>
              </a:rPr>
              <a:t>没到 '\0'：指针 +1，无条件跳回标号 1 继续量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⑤  </a:t>
            </a:r>
            <a:r>
              <a:rPr sz="2200" b="0">
                <a:solidFill>
                  <a:srgbClr val="1A2238"/>
                </a:solidFill>
                <a:latin typeface="Calibri"/>
              </a:rPr>
              <a:t>sub.d 用当前地址减起点，一步得到长度，jr $ra 返回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13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memmove：memcpy 处理不了重叠区间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同一个书架上挪书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3794760"/>
          </a:xfrm>
          <a:prstGeom prst="roundRect">
            <a:avLst>
              <a:gd name="adj" fmla="val 2892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同一个书架，显然重叠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68680" y="2651760"/>
            <a:ext cx="4754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把书架第 3–8 格的书，整体往左挪 2 格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源头和目的地是同一个书架——区间重叠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memcpy 的前提“两叠纸不重叠”在这里不成立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949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先想清楚会出什么错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537960" y="2651760"/>
            <a:ext cx="4754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如果永远从左往右一本本挪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挪到第 3 格时，它已被“挪第 5 格到第 3 格”覆盖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还没读到它，就已经被别的书顶替——信息丢了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576072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1317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解法：先看清楚往哪个方向挪，再决定从哪头开始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14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为什么必须先判断方向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memmove(buf+2, buf, 6) —— dst &gt; src，区间重叠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24B4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✗ 不判断方向、永远正向搬（错误）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FBE4E4"/>
          </a:solidFill>
          <a:ln w="19050">
            <a:solidFill>
              <a:srgbClr val="C24B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618488" y="228600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FBE4E4"/>
          </a:solidFill>
          <a:ln w="19050">
            <a:solidFill>
              <a:srgbClr val="C24B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18488" y="22860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688336" y="228600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FBE4E4"/>
          </a:solidFill>
          <a:ln w="19050">
            <a:solidFill>
              <a:srgbClr val="C24B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88336" y="22860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58184" y="228600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FBE4E4"/>
          </a:solidFill>
          <a:ln w="19050">
            <a:solidFill>
              <a:srgbClr val="C24B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58184" y="22860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28032" y="228600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FBE4E4"/>
          </a:solidFill>
          <a:ln w="19050">
            <a:solidFill>
              <a:srgbClr val="C24B4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28032" y="22860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897880" y="228600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FBE4E4"/>
          </a:solidFill>
          <a:ln w="19050">
            <a:solidFill>
              <a:srgbClr val="C24B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97880" y="22860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967728" y="228600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FBE4E4"/>
          </a:solidFill>
          <a:ln w="19050">
            <a:solidFill>
              <a:srgbClr val="C24B4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67728" y="22860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037576" y="228600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FBE4E4"/>
          </a:solidFill>
          <a:ln w="19050">
            <a:solidFill>
              <a:srgbClr val="C24B4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37576" y="22860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548640" y="3520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E9E6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判断方向后反向搬（正确）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48640" y="397764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E1F2E9"/>
          </a:solidFill>
          <a:ln w="19050">
            <a:solidFill>
              <a:srgbClr val="2E9E6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9776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618488" y="397764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E1F2E9"/>
          </a:solidFill>
          <a:ln w="19050">
            <a:solidFill>
              <a:srgbClr val="2E9E6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618488" y="39776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688336" y="397764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E1F2E9"/>
          </a:solidFill>
          <a:ln w="19050">
            <a:solidFill>
              <a:srgbClr val="2E9E6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688336" y="39776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758184" y="397764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E1F2E9"/>
          </a:solidFill>
          <a:ln w="19050">
            <a:solidFill>
              <a:srgbClr val="2E9E6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758184" y="39776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828032" y="397764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E1F2E9"/>
          </a:solidFill>
          <a:ln w="19050">
            <a:solidFill>
              <a:srgbClr val="2E9E6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28032" y="39776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897880" y="397764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E1F2E9"/>
          </a:solidFill>
          <a:ln w="19050">
            <a:solidFill>
              <a:srgbClr val="2E9E6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897880" y="39776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967728" y="397764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E1F2E9"/>
          </a:solidFill>
          <a:ln w="19050">
            <a:solidFill>
              <a:srgbClr val="2E9E6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967728" y="39776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037576" y="397764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E1F2E9"/>
          </a:solidFill>
          <a:ln w="19050">
            <a:solidFill>
              <a:srgbClr val="2E9E6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37576" y="39776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48640" y="525780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822960" y="5257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dst 比 src 靠后：正向搬会读到刚被自己写坏的数据，必然出错，不是运气不好。真实 memmove 靠 sltu 提前判断，改从后往前搬。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1">
                <a:solidFill>
                  <a:srgbClr val="F2A93B"/>
                </a:solidFill>
                <a:latin typeface="Calibri"/>
              </a:rPr>
              <a:t>第 7 次课 · 15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>
                <a:solidFill>
                  <a:srgbClr val="1A2238"/>
                </a:solidFill>
                <a:latin typeface="Cambria"/>
              </a:rPr>
              <a:t>memmove：正向搬（dst &lt; src）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0">
                <a:solidFill>
                  <a:srgbClr val="5B6478"/>
                </a:solidFill>
                <a:latin typeface="Calibri"/>
              </a:rPr>
              <a:t>和 memcpy 的循环体几乎一样，只是多了前面的方向判断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4663440"/>
          </a:xfrm>
          <a:prstGeom prst="roundRect">
            <a:avLst>
              <a:gd name="adj" fmla="val 2609"/>
            </a:avLst>
          </a:prstGeom>
          <a:solidFill>
            <a:srgbClr val="1317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2011680"/>
            <a:ext cx="47548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sz="1700" b="0">
                <a:solidFill>
                  <a:srgbClr val="CADCFC"/>
                </a:solidFill>
                <a:latin typeface="Courier New"/>
              </a:rPr>
              <a:t>move   $t0, $a0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algn="l">
              <a:lnSpc>
                <a:spcPct val="100000"/>
              </a:lnSpc>
            </a:pPr>
            <a:r>
              <a:rPr sz="1700" b="0">
                <a:solidFill>
                  <a:srgbClr val="CADCFC"/>
                </a:solidFill>
                <a:latin typeface="Courier New"/>
              </a:rPr>
              <a:t>beqz   $a2, 4f</a:t>
            </a:r>
          </a:p>
          <a:p>
            <a:pPr algn="l">
              <a:lnSpc>
                <a:spcPct val="100000"/>
              </a:lnSpc>
            </a:pPr>
            <a:r>
              <a:rPr sz="1700" b="0">
                <a:solidFill>
                  <a:srgbClr val="CADCFC"/>
                </a:solidFill>
                <a:latin typeface="Courier New"/>
              </a:rPr>
              <a:t>sltu   $t2, $a0, $a1</a:t>
            </a:r>
          </a:p>
          <a:p>
            <a:pPr algn="l">
              <a:lnSpc>
                <a:spcPct val="100000"/>
              </a:lnSpc>
            </a:pPr>
            <a:r>
              <a:rPr sz="1700" b="0">
                <a:solidFill>
                  <a:srgbClr val="CADCFC"/>
                </a:solidFill>
                <a:latin typeface="Courier New"/>
              </a:rPr>
              <a:t>bnez   $t2, 2f</a:t>
            </a:r>
          </a:p>
          <a:p>
            <a:pPr algn="l">
              <a:lnSpc>
                <a:spcPct val="100000"/>
              </a:lnSpc>
            </a:pPr>
            <a:r>
              <a:rPr sz="1700" b="0">
                <a:solidFill>
                  <a:srgbClr val="CADCFC"/>
                </a:solidFill>
                <a:latin typeface="Courier New"/>
              </a:rPr>
              <a:t>2:</a:t>
            </a:r>
          </a:p>
          <a:p>
            <a:pPr algn="l">
              <a:lnSpc>
                <a:spcPct val="100000"/>
              </a:lnSpc>
            </a:pPr>
            <a:r>
              <a:rPr sz="1700" b="0">
                <a:solidFill>
                  <a:srgbClr val="CADCFC"/>
                </a:solidFill>
                <a:latin typeface="Courier New"/>
              </a:rPr>
              <a:t>  ld.bu  $t1, $a1, 0</a:t>
            </a:r>
          </a:p>
          <a:p>
            <a:pPr algn="l">
              <a:lnSpc>
                <a:spcPct val="100000"/>
              </a:lnSpc>
            </a:pPr>
            <a:r>
              <a:rPr sz="1700" b="0">
                <a:solidFill>
                  <a:srgbClr val="CADCFC"/>
                </a:solidFill>
                <a:latin typeface="Courier New"/>
              </a:rPr>
              <a:t>  st.b   $t1, $a0, 0</a:t>
            </a:r>
          </a:p>
          <a:p>
            <a:pPr algn="l">
              <a:lnSpc>
                <a:spcPct val="100000"/>
              </a:lnSpc>
            </a:pPr>
            <a:r>
              <a:rPr sz="1700" b="0">
                <a:solidFill>
                  <a:srgbClr val="CADCFC"/>
                </a:solidFill>
                <a:latin typeface="Courier New"/>
              </a:rPr>
              <a:t>  addi.d $a0, $a0, 1</a:t>
            </a:r>
          </a:p>
          <a:p>
            <a:pPr algn="l">
              <a:lnSpc>
                <a:spcPct val="100000"/>
              </a:lnSpc>
            </a:pPr>
            <a:r>
              <a:rPr sz="1700" b="0">
                <a:solidFill>
                  <a:srgbClr val="CADCFC"/>
                </a:solidFill>
                <a:latin typeface="Courier New"/>
              </a:rPr>
              <a:t>  addi.d $a1, $a1, 1</a:t>
            </a:r>
          </a:p>
          <a:p>
            <a:pPr algn="l">
              <a:lnSpc>
                <a:spcPct val="100000"/>
              </a:lnSpc>
            </a:pPr>
            <a:r>
              <a:rPr sz="1700" b="0">
                <a:solidFill>
                  <a:srgbClr val="CADCFC"/>
                </a:solidFill>
                <a:latin typeface="Courier New"/>
              </a:rPr>
              <a:t>  addi.d $a2, $a2, -1</a:t>
            </a:r>
          </a:p>
          <a:p>
            <a:pPr algn="l">
              <a:lnSpc>
                <a:spcPct val="100000"/>
              </a:lnSpc>
            </a:pPr>
            <a:r>
              <a:rPr sz="1700" b="0">
                <a:solidFill>
                  <a:srgbClr val="CADCFC"/>
                </a:solidFill>
                <a:latin typeface="Courier New"/>
              </a:rPr>
              <a:t>  bnez   $a2, 2b</a:t>
            </a:r>
          </a:p>
          <a:p>
            <a:pPr algn="l">
              <a:lnSpc>
                <a:spcPct val="100000"/>
              </a:lnSpc>
            </a:pPr>
            <a:r>
              <a:rPr sz="1700" b="0">
                <a:solidFill>
                  <a:srgbClr val="CADCFC"/>
                </a:solidFill>
                <a:latin typeface="Courier New"/>
              </a:rPr>
              <a:t>4:</a:t>
            </a:r>
          </a:p>
          <a:p>
            <a:pPr algn="l">
              <a:lnSpc>
                <a:spcPct val="100000"/>
              </a:lnSpc>
            </a:pPr>
            <a:r>
              <a:rPr sz="1700" b="0">
                <a:solidFill>
                  <a:srgbClr val="CADCFC"/>
                </a:solidFill>
                <a:latin typeface="Courier New"/>
              </a:rPr>
              <a:t>  move   $a0, $t0</a:t>
            </a:r>
          </a:p>
          <a:p>
            <a:pPr algn="l">
              <a:lnSpc>
                <a:spcPct val="100000"/>
              </a:lnSpc>
            </a:pPr>
            <a:r>
              <a:rPr sz="1700" b="0">
                <a:solidFill>
                  <a:srgbClr val="CADCFC"/>
                </a:solidFill>
                <a:latin typeface="Courier New"/>
              </a:rPr>
              <a:t>  jr     $ra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83080"/>
            <a:ext cx="53949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7548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①  </a:t>
            </a:r>
            <a:r>
              <a:rPr sz="2200" b="0">
                <a:solidFill>
                  <a:srgbClr val="1A2238"/>
                </a:solidFill>
                <a:latin typeface="Calibri"/>
              </a:rPr>
              <a:t>n==0（beqz $a2,4f）：什么都不用搬，直接跳到收尾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②  </a:t>
            </a:r>
            <a:r>
              <a:rPr sz="2200" b="0">
                <a:solidFill>
                  <a:srgbClr val="1A2238"/>
                </a:solidFill>
                <a:latin typeface="Calibri"/>
              </a:rPr>
              <a:t>sltu 无符号比较 dst&lt;src；bnez 命中跳到标号 2，走正向搬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③  </a:t>
            </a:r>
            <a:r>
              <a:rPr sz="2200" b="0">
                <a:solidFill>
                  <a:srgbClr val="1A2238"/>
                </a:solidFill>
                <a:latin typeface="Calibri"/>
              </a:rPr>
              <a:t>标号 2：读一个字节写一个字节，dst/src 指针同步 +1，计数 -1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④  </a:t>
            </a:r>
            <a:r>
              <a:rPr sz="2200" b="0">
                <a:solidFill>
                  <a:srgbClr val="1A2238"/>
                </a:solidFill>
                <a:latin typeface="Calibri"/>
              </a:rPr>
              <a:t>没搬完（bnez）回跳标号 2，继续下一个字节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⑤  </a:t>
            </a:r>
            <a:r>
              <a:rPr sz="2200" b="0">
                <a:solidFill>
                  <a:srgbClr val="1A2238"/>
                </a:solidFill>
                <a:latin typeface="Calibri"/>
              </a:rPr>
              <a:t>搬完正好落到标号 4：把 $t0 换回 $a0 作为返回值，jr $ra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1">
                <a:solidFill>
                  <a:srgbClr val="F2A93B"/>
                </a:solidFill>
                <a:latin typeface="Calibri"/>
              </a:rPr>
              <a:t>第 7 次课 · 16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>
                <a:solidFill>
                  <a:srgbClr val="1A2238"/>
                </a:solidFill>
                <a:latin typeface="Cambria"/>
              </a:rPr>
              <a:t>memmove：反向搬（dst ≥ src）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0">
                <a:solidFill>
                  <a:srgbClr val="5B6478"/>
                </a:solidFill>
                <a:latin typeface="Calibri"/>
              </a:rPr>
              <a:t>先把指针挪到末尾，再从后往前搬，避免读到被自己写坏的数据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5394960" cy="4663440"/>
          </a:xfrm>
          <a:prstGeom prst="roundRect">
            <a:avLst>
              <a:gd name="adj" fmla="val 2609"/>
            </a:avLst>
          </a:prstGeom>
          <a:solidFill>
            <a:srgbClr val="1317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68680" y="2011680"/>
            <a:ext cx="47548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sz="1300" b="0" dirty="0">
                <a:solidFill>
                  <a:srgbClr val="CADCFC"/>
                </a:solidFill>
                <a:latin typeface="Courier New"/>
              </a:rPr>
              <a:t>move   $t0, $a0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algn="l">
              <a:lnSpc>
                <a:spcPct val="100000"/>
              </a:lnSpc>
            </a:pPr>
            <a:r>
              <a:rPr sz="1300" b="0" dirty="0" err="1">
                <a:solidFill>
                  <a:srgbClr val="CADCFC"/>
                </a:solidFill>
                <a:latin typeface="Courier New"/>
              </a:rPr>
              <a:t>beqz</a:t>
            </a:r>
            <a:r>
              <a:rPr sz="1300" b="0" dirty="0">
                <a:solidFill>
                  <a:srgbClr val="CADCFC"/>
                </a:solidFill>
                <a:latin typeface="Courier New"/>
              </a:rPr>
              <a:t>   $a2, 4f</a:t>
            </a:r>
          </a:p>
          <a:p>
            <a:pPr algn="l">
              <a:lnSpc>
                <a:spcPct val="100000"/>
              </a:lnSpc>
            </a:pPr>
            <a:r>
              <a:rPr sz="1300" b="0" dirty="0" err="1">
                <a:solidFill>
                  <a:srgbClr val="CADCFC"/>
                </a:solidFill>
                <a:latin typeface="Courier New"/>
              </a:rPr>
              <a:t>sltu</a:t>
            </a:r>
            <a:r>
              <a:rPr sz="1300" b="0" dirty="0">
                <a:solidFill>
                  <a:srgbClr val="CADCFC"/>
                </a:solidFill>
                <a:latin typeface="Courier New"/>
              </a:rPr>
              <a:t>   $t2, $a0, $a1</a:t>
            </a:r>
          </a:p>
          <a:p>
            <a:pPr algn="l">
              <a:lnSpc>
                <a:spcPct val="100000"/>
              </a:lnSpc>
            </a:pPr>
            <a:r>
              <a:rPr sz="1300" b="0" dirty="0" err="1">
                <a:solidFill>
                  <a:srgbClr val="CADCFC"/>
                </a:solidFill>
                <a:latin typeface="Courier New"/>
              </a:rPr>
              <a:t>bnez</a:t>
            </a:r>
            <a:r>
              <a:rPr sz="1300" b="0" dirty="0">
                <a:solidFill>
                  <a:srgbClr val="CADCFC"/>
                </a:solidFill>
                <a:latin typeface="Courier New"/>
              </a:rPr>
              <a:t>   $t2, 2f</a:t>
            </a:r>
          </a:p>
          <a:p>
            <a:pPr algn="l">
              <a:lnSpc>
                <a:spcPct val="100000"/>
              </a:lnSpc>
            </a:pPr>
            <a:r>
              <a:rPr sz="1300" b="0" dirty="0" err="1">
                <a:solidFill>
                  <a:srgbClr val="CADCFC"/>
                </a:solidFill>
                <a:latin typeface="Courier New"/>
              </a:rPr>
              <a:t>add.d</a:t>
            </a:r>
            <a:r>
              <a:rPr sz="1300" b="0" dirty="0">
                <a:solidFill>
                  <a:srgbClr val="CADCFC"/>
                </a:solidFill>
                <a:latin typeface="Courier New"/>
              </a:rPr>
              <a:t>  $a0, $a0, $a2</a:t>
            </a:r>
          </a:p>
          <a:p>
            <a:pPr algn="l">
              <a:lnSpc>
                <a:spcPct val="100000"/>
              </a:lnSpc>
            </a:pPr>
            <a:r>
              <a:rPr sz="1300" b="0" dirty="0" err="1">
                <a:solidFill>
                  <a:srgbClr val="CADCFC"/>
                </a:solidFill>
                <a:latin typeface="Courier New"/>
              </a:rPr>
              <a:t>add.d</a:t>
            </a:r>
            <a:r>
              <a:rPr sz="1300" b="0" dirty="0">
                <a:solidFill>
                  <a:srgbClr val="CADCFC"/>
                </a:solidFill>
                <a:latin typeface="Courier New"/>
              </a:rPr>
              <a:t>  $a1, $a1, $a2</a:t>
            </a:r>
          </a:p>
          <a:p>
            <a:pPr algn="l">
              <a:lnSpc>
                <a:spcPct val="100000"/>
              </a:lnSpc>
            </a:pPr>
            <a:r>
              <a:rPr sz="1300" b="0" dirty="0" err="1">
                <a:solidFill>
                  <a:srgbClr val="CADCFC"/>
                </a:solidFill>
                <a:latin typeface="Courier New"/>
              </a:rPr>
              <a:t>addi.d</a:t>
            </a:r>
            <a:r>
              <a:rPr sz="1300" b="0" dirty="0">
                <a:solidFill>
                  <a:srgbClr val="CADCFC"/>
                </a:solidFill>
                <a:latin typeface="Courier New"/>
              </a:rPr>
              <a:t> $a0, $a0, -1</a:t>
            </a:r>
          </a:p>
          <a:p>
            <a:pPr algn="l">
              <a:lnSpc>
                <a:spcPct val="100000"/>
              </a:lnSpc>
            </a:pPr>
            <a:r>
              <a:rPr sz="1300" b="0" dirty="0" err="1">
                <a:solidFill>
                  <a:srgbClr val="CADCFC"/>
                </a:solidFill>
                <a:latin typeface="Courier New"/>
              </a:rPr>
              <a:t>addi.d</a:t>
            </a:r>
            <a:r>
              <a:rPr sz="1300" b="0" dirty="0">
                <a:solidFill>
                  <a:srgbClr val="CADCFC"/>
                </a:solidFill>
                <a:latin typeface="Courier New"/>
              </a:rPr>
              <a:t> $a1, $a1, -1</a:t>
            </a:r>
          </a:p>
          <a:p>
            <a:pPr algn="l">
              <a:lnSpc>
                <a:spcPct val="100000"/>
              </a:lnSpc>
            </a:pPr>
            <a:r>
              <a:rPr sz="1300" b="0" dirty="0">
                <a:solidFill>
                  <a:srgbClr val="CADCFC"/>
                </a:solidFill>
                <a:latin typeface="Courier New"/>
              </a:rPr>
              <a:t>1:</a:t>
            </a:r>
          </a:p>
          <a:p>
            <a:pPr algn="l">
              <a:lnSpc>
                <a:spcPct val="100000"/>
              </a:lnSpc>
            </a:pPr>
            <a:r>
              <a:rPr sz="1300" b="0" dirty="0">
                <a:solidFill>
                  <a:srgbClr val="CADCFC"/>
                </a:solidFill>
                <a:latin typeface="Courier New"/>
              </a:rPr>
              <a:t>  </a:t>
            </a:r>
            <a:r>
              <a:rPr sz="1300" b="0" dirty="0" err="1">
                <a:solidFill>
                  <a:srgbClr val="CADCFC"/>
                </a:solidFill>
                <a:latin typeface="Courier New"/>
              </a:rPr>
              <a:t>ld.bu</a:t>
            </a:r>
            <a:r>
              <a:rPr sz="1300" b="0" dirty="0">
                <a:solidFill>
                  <a:srgbClr val="CADCFC"/>
                </a:solidFill>
                <a:latin typeface="Courier New"/>
              </a:rPr>
              <a:t>  $t1, $a1, 0</a:t>
            </a:r>
          </a:p>
          <a:p>
            <a:pPr algn="l">
              <a:lnSpc>
                <a:spcPct val="100000"/>
              </a:lnSpc>
            </a:pPr>
            <a:r>
              <a:rPr sz="1300" b="0" dirty="0">
                <a:solidFill>
                  <a:srgbClr val="CADCFC"/>
                </a:solidFill>
                <a:latin typeface="Courier New"/>
              </a:rPr>
              <a:t>  </a:t>
            </a:r>
            <a:r>
              <a:rPr sz="1300" b="0" dirty="0" err="1">
                <a:solidFill>
                  <a:srgbClr val="CADCFC"/>
                </a:solidFill>
                <a:latin typeface="Courier New"/>
              </a:rPr>
              <a:t>st.b</a:t>
            </a:r>
            <a:r>
              <a:rPr sz="1300" b="0" dirty="0">
                <a:solidFill>
                  <a:srgbClr val="CADCFC"/>
                </a:solidFill>
                <a:latin typeface="Courier New"/>
              </a:rPr>
              <a:t>   $t1, $a0, 0</a:t>
            </a:r>
          </a:p>
          <a:p>
            <a:pPr algn="l">
              <a:lnSpc>
                <a:spcPct val="100000"/>
              </a:lnSpc>
            </a:pPr>
            <a:r>
              <a:rPr sz="1300" b="0" dirty="0">
                <a:solidFill>
                  <a:srgbClr val="CADCFC"/>
                </a:solidFill>
                <a:latin typeface="Courier New"/>
              </a:rPr>
              <a:t>  </a:t>
            </a:r>
            <a:r>
              <a:rPr sz="1300" b="0" dirty="0" err="1">
                <a:solidFill>
                  <a:srgbClr val="CADCFC"/>
                </a:solidFill>
                <a:latin typeface="Courier New"/>
              </a:rPr>
              <a:t>addi.d</a:t>
            </a:r>
            <a:r>
              <a:rPr sz="1300" b="0" dirty="0">
                <a:solidFill>
                  <a:srgbClr val="CADCFC"/>
                </a:solidFill>
                <a:latin typeface="Courier New"/>
              </a:rPr>
              <a:t> $a0, $a0, -1</a:t>
            </a:r>
          </a:p>
          <a:p>
            <a:pPr algn="l">
              <a:lnSpc>
                <a:spcPct val="100000"/>
              </a:lnSpc>
            </a:pPr>
            <a:r>
              <a:rPr sz="1300" b="0" dirty="0">
                <a:solidFill>
                  <a:srgbClr val="CADCFC"/>
                </a:solidFill>
                <a:latin typeface="Courier New"/>
              </a:rPr>
              <a:t>  </a:t>
            </a:r>
            <a:r>
              <a:rPr sz="1300" b="0" dirty="0" err="1">
                <a:solidFill>
                  <a:srgbClr val="CADCFC"/>
                </a:solidFill>
                <a:latin typeface="Courier New"/>
              </a:rPr>
              <a:t>addi.d</a:t>
            </a:r>
            <a:r>
              <a:rPr sz="1300" b="0" dirty="0">
                <a:solidFill>
                  <a:srgbClr val="CADCFC"/>
                </a:solidFill>
                <a:latin typeface="Courier New"/>
              </a:rPr>
              <a:t> $a1, $a1, -1</a:t>
            </a:r>
          </a:p>
          <a:p>
            <a:pPr algn="l">
              <a:lnSpc>
                <a:spcPct val="100000"/>
              </a:lnSpc>
            </a:pPr>
            <a:r>
              <a:rPr sz="1300" b="0" dirty="0">
                <a:solidFill>
                  <a:srgbClr val="CADCFC"/>
                </a:solidFill>
                <a:latin typeface="Courier New"/>
              </a:rPr>
              <a:t>  </a:t>
            </a:r>
            <a:r>
              <a:rPr sz="1300" b="0" dirty="0" err="1">
                <a:solidFill>
                  <a:srgbClr val="CADCFC"/>
                </a:solidFill>
                <a:latin typeface="Courier New"/>
              </a:rPr>
              <a:t>addi.d</a:t>
            </a:r>
            <a:r>
              <a:rPr sz="1300" b="0" dirty="0">
                <a:solidFill>
                  <a:srgbClr val="CADCFC"/>
                </a:solidFill>
                <a:latin typeface="Courier New"/>
              </a:rPr>
              <a:t> $a2, $a2, -1</a:t>
            </a:r>
          </a:p>
          <a:p>
            <a:pPr algn="l">
              <a:lnSpc>
                <a:spcPct val="100000"/>
              </a:lnSpc>
            </a:pPr>
            <a:r>
              <a:rPr sz="1300" b="0" dirty="0">
                <a:solidFill>
                  <a:srgbClr val="CADCFC"/>
                </a:solidFill>
                <a:latin typeface="Courier New"/>
              </a:rPr>
              <a:t>  </a:t>
            </a:r>
            <a:r>
              <a:rPr sz="1300" b="0" dirty="0" err="1">
                <a:solidFill>
                  <a:srgbClr val="CADCFC"/>
                </a:solidFill>
                <a:latin typeface="Courier New"/>
              </a:rPr>
              <a:t>bnez</a:t>
            </a:r>
            <a:r>
              <a:rPr sz="1300" b="0" dirty="0">
                <a:solidFill>
                  <a:srgbClr val="CADCFC"/>
                </a:solidFill>
                <a:latin typeface="Courier New"/>
              </a:rPr>
              <a:t>   $a2, 1b</a:t>
            </a:r>
          </a:p>
          <a:p>
            <a:pPr algn="l">
              <a:lnSpc>
                <a:spcPct val="100000"/>
              </a:lnSpc>
            </a:pPr>
            <a:r>
              <a:rPr sz="1300" b="0" dirty="0">
                <a:solidFill>
                  <a:srgbClr val="CADCFC"/>
                </a:solidFill>
                <a:latin typeface="Courier New"/>
              </a:rPr>
              <a:t>  b      4f</a:t>
            </a:r>
          </a:p>
          <a:p>
            <a:pPr algn="l">
              <a:lnSpc>
                <a:spcPct val="100000"/>
              </a:lnSpc>
            </a:pPr>
            <a:r>
              <a:rPr sz="1300" b="0" dirty="0">
                <a:solidFill>
                  <a:srgbClr val="CADCFC"/>
                </a:solidFill>
                <a:latin typeface="Courier New"/>
              </a:rPr>
              <a:t>4:</a:t>
            </a:r>
          </a:p>
          <a:p>
            <a:pPr algn="l">
              <a:lnSpc>
                <a:spcPct val="100000"/>
              </a:lnSpc>
            </a:pPr>
            <a:r>
              <a:rPr sz="1300" b="0" dirty="0">
                <a:solidFill>
                  <a:srgbClr val="CADCFC"/>
                </a:solidFill>
                <a:latin typeface="Courier New"/>
              </a:rPr>
              <a:t>  move   $a0, $t0</a:t>
            </a:r>
          </a:p>
          <a:p>
            <a:pPr algn="l">
              <a:lnSpc>
                <a:spcPct val="100000"/>
              </a:lnSpc>
            </a:pPr>
            <a:r>
              <a:rPr sz="1300" b="0" dirty="0">
                <a:solidFill>
                  <a:srgbClr val="CADCFC"/>
                </a:solidFill>
                <a:latin typeface="Courier New"/>
              </a:rPr>
              <a:t>  </a:t>
            </a:r>
            <a:r>
              <a:rPr sz="1300" b="0" dirty="0" err="1">
                <a:solidFill>
                  <a:srgbClr val="CADCFC"/>
                </a:solidFill>
                <a:latin typeface="Courier New"/>
              </a:rPr>
              <a:t>jr</a:t>
            </a:r>
            <a:r>
              <a:rPr sz="1300" b="0" dirty="0">
                <a:solidFill>
                  <a:srgbClr val="CADCFC"/>
                </a:solidFill>
                <a:latin typeface="Courier New"/>
              </a:rPr>
              <a:t>     $</a:t>
            </a:r>
            <a:r>
              <a:rPr sz="1300" b="0" dirty="0" err="1">
                <a:solidFill>
                  <a:srgbClr val="CADCFC"/>
                </a:solidFill>
                <a:latin typeface="Courier New"/>
              </a:rPr>
              <a:t>ra</a:t>
            </a:r>
            <a:endParaRPr sz="1300" b="0" dirty="0">
              <a:solidFill>
                <a:srgbClr val="CADCFC"/>
              </a:solidFill>
              <a:latin typeface="Courier New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7920" y="1783080"/>
            <a:ext cx="53949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7548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①  </a:t>
            </a:r>
            <a:r>
              <a:rPr sz="2200" b="0">
                <a:solidFill>
                  <a:srgbClr val="1A2238"/>
                </a:solidFill>
                <a:latin typeface="Calibri"/>
              </a:rPr>
              <a:t>前 4 行与正向共用：n==0 直接收尾；这次 bnez 没跳走，说明 dst ≥ src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②  </a:t>
            </a:r>
            <a:r>
              <a:rPr sz="2200" b="0">
                <a:solidFill>
                  <a:srgbClr val="1A2238"/>
                </a:solidFill>
                <a:latin typeface="Calibri"/>
              </a:rPr>
              <a:t>先把 $a0/$a1 都移到最后一个字节（+n 再 -1），准备从尾部开始搬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③  </a:t>
            </a:r>
            <a:r>
              <a:rPr sz="2200" b="0">
                <a:solidFill>
                  <a:srgbClr val="1A2238"/>
                </a:solidFill>
                <a:latin typeface="Calibri"/>
              </a:rPr>
              <a:t>标号 1：读一个字节写一个字节，dst/src 指针同步 -1，计数 -1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④  </a:t>
            </a:r>
            <a:r>
              <a:rPr sz="2200" b="0">
                <a:solidFill>
                  <a:srgbClr val="1A2238"/>
                </a:solidFill>
                <a:latin typeface="Calibri"/>
              </a:rPr>
              <a:t>没搬完（bnez）回跳标号 1；搬完后 b 4f 跳过正向那段，不会误执行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⑤  </a:t>
            </a:r>
            <a:r>
              <a:rPr sz="2200" b="0">
                <a:solidFill>
                  <a:srgbClr val="1A2238"/>
                </a:solidFill>
                <a:latin typeface="Calibri"/>
              </a:rPr>
              <a:t>标号 4：把 $t0 换回 $a0 返回——和正向共用同一段收尾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1">
                <a:solidFill>
                  <a:srgbClr val="F2A93B"/>
                </a:solidFill>
                <a:latin typeface="Calibri"/>
              </a:rPr>
              <a:t>第 7 次课 · 17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两个方向图对比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蓝色 = 会被读取，橙色 = 被写入，灰色 = 没动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① dst &lt; src：memmove(buf, buf+2, 6)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调用前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5E8EF"/>
          </a:solidFill>
          <a:ln w="19050">
            <a:solidFill>
              <a:srgbClr val="C7D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54864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70432" y="2651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5E8EF"/>
          </a:solidFill>
          <a:ln w="19050">
            <a:solidFill>
              <a:srgbClr val="C7D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1170432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92224" y="2651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/>
          </a:solidFill>
          <a:ln w="19050">
            <a:solidFill>
              <a:srgbClr val="C7D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792224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414016" y="2651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/>
          </a:solidFill>
          <a:ln w="19050">
            <a:solidFill>
              <a:srgbClr val="C7D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2414016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035808" y="2651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/>
          </a:solidFill>
          <a:ln w="19050">
            <a:solidFill>
              <a:srgbClr val="C7D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3035808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57600" y="2651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/>
          </a:solidFill>
          <a:ln w="19050">
            <a:solidFill>
              <a:srgbClr val="C7D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365760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279392" y="2651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/>
          </a:solidFill>
          <a:ln w="19050">
            <a:solidFill>
              <a:srgbClr val="C7D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4279392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901184" y="2651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/>
          </a:solidFill>
          <a:ln w="19050">
            <a:solidFill>
              <a:srgbClr val="C7D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4901184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548640" y="3429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调用后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3794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2A93B"/>
          </a:solidFill>
          <a:ln w="19050">
            <a:solidFill>
              <a:srgbClr val="C7D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548640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170432" y="3794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2A93B"/>
          </a:solidFill>
          <a:ln w="19050">
            <a:solidFill>
              <a:srgbClr val="C7D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1170432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792224" y="3794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2A93B"/>
          </a:solidFill>
          <a:ln w="19050">
            <a:solidFill>
              <a:srgbClr val="C7D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1792224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414016" y="3794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2A93B"/>
          </a:solidFill>
          <a:ln w="19050">
            <a:solidFill>
              <a:srgbClr val="C7D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2414016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035808" y="3794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2A93B"/>
          </a:solidFill>
          <a:ln w="19050">
            <a:solidFill>
              <a:srgbClr val="C7D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3035808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657600" y="3794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2A93B"/>
          </a:solidFill>
          <a:ln w="19050">
            <a:solidFill>
              <a:srgbClr val="C7D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3657600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279392" y="3794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5E8EF"/>
          </a:solidFill>
          <a:ln w="19050">
            <a:solidFill>
              <a:srgbClr val="C7D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4279392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901184" y="3794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5E8EF"/>
          </a:solidFill>
          <a:ln w="19050">
            <a:solidFill>
              <a:srgbClr val="C7D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4901184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48640" y="461772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777240" y="46177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同一批源字节，这次写到更靠左的位置——方向正，走②正向搬那条路径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6217920" y="18288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② dst ≥ src：memmove(buf+2, buf, 6)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6217920" y="2286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调用前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217920" y="2651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/>
          </a:solidFill>
          <a:ln w="19050">
            <a:solidFill>
              <a:srgbClr val="C7D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 txBox="1"/>
          <p:nvPr/>
        </p:nvSpPr>
        <p:spPr>
          <a:xfrm>
            <a:off x="621792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839712" y="2651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/>
          </a:solidFill>
          <a:ln w="19050">
            <a:solidFill>
              <a:srgbClr val="C7D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6839712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461504" y="2651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/>
          </a:solidFill>
          <a:ln w="19050">
            <a:solidFill>
              <a:srgbClr val="C7D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 txBox="1"/>
          <p:nvPr/>
        </p:nvSpPr>
        <p:spPr>
          <a:xfrm>
            <a:off x="7461504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8083296" y="2651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/>
          </a:solidFill>
          <a:ln w="19050">
            <a:solidFill>
              <a:srgbClr val="C7D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 txBox="1"/>
          <p:nvPr/>
        </p:nvSpPr>
        <p:spPr>
          <a:xfrm>
            <a:off x="8083296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8705088" y="2651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/>
          </a:solidFill>
          <a:ln w="19050">
            <a:solidFill>
              <a:srgbClr val="C7D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8705088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9326880" y="2651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/>
          </a:solidFill>
          <a:ln w="19050">
            <a:solidFill>
              <a:srgbClr val="C7D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 txBox="1"/>
          <p:nvPr/>
        </p:nvSpPr>
        <p:spPr>
          <a:xfrm>
            <a:off x="93268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9948672" y="2651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5E8EF"/>
          </a:solidFill>
          <a:ln w="19050">
            <a:solidFill>
              <a:srgbClr val="C7D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 txBox="1"/>
          <p:nvPr/>
        </p:nvSpPr>
        <p:spPr>
          <a:xfrm>
            <a:off x="9948672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10570464" y="2651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5E8EF"/>
          </a:solidFill>
          <a:ln w="19050">
            <a:solidFill>
              <a:srgbClr val="C7D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 txBox="1"/>
          <p:nvPr/>
        </p:nvSpPr>
        <p:spPr>
          <a:xfrm>
            <a:off x="10570464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 txBox="1"/>
          <p:nvPr/>
        </p:nvSpPr>
        <p:spPr>
          <a:xfrm>
            <a:off x="6217920" y="3429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调用后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6217920" y="3794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5E8EF"/>
          </a:solidFill>
          <a:ln w="19050">
            <a:solidFill>
              <a:srgbClr val="C7D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 txBox="1"/>
          <p:nvPr/>
        </p:nvSpPr>
        <p:spPr>
          <a:xfrm>
            <a:off x="6217920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6839712" y="3794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E5E8EF"/>
          </a:solidFill>
          <a:ln w="19050">
            <a:solidFill>
              <a:srgbClr val="C7D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 txBox="1"/>
          <p:nvPr/>
        </p:nvSpPr>
        <p:spPr>
          <a:xfrm>
            <a:off x="6839712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7461504" y="3794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2A93B"/>
          </a:solidFill>
          <a:ln w="19050">
            <a:solidFill>
              <a:srgbClr val="C7D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 txBox="1"/>
          <p:nvPr/>
        </p:nvSpPr>
        <p:spPr>
          <a:xfrm>
            <a:off x="7461504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8083296" y="3794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2A93B"/>
          </a:solidFill>
          <a:ln w="19050">
            <a:solidFill>
              <a:srgbClr val="C7D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 txBox="1"/>
          <p:nvPr/>
        </p:nvSpPr>
        <p:spPr>
          <a:xfrm>
            <a:off x="8083296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8705088" y="3794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2A93B"/>
          </a:solidFill>
          <a:ln w="19050">
            <a:solidFill>
              <a:srgbClr val="C7D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 txBox="1"/>
          <p:nvPr/>
        </p:nvSpPr>
        <p:spPr>
          <a:xfrm>
            <a:off x="8705088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9326880" y="3794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2A93B"/>
          </a:solidFill>
          <a:ln w="19050">
            <a:solidFill>
              <a:srgbClr val="C7D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Text 70"/>
          <p:cNvSpPr txBox="1"/>
          <p:nvPr/>
        </p:nvSpPr>
        <p:spPr>
          <a:xfrm>
            <a:off x="9326880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9948672" y="3794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2A93B"/>
          </a:solidFill>
          <a:ln w="19050">
            <a:solidFill>
              <a:srgbClr val="C7D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Text 72"/>
          <p:cNvSpPr txBox="1"/>
          <p:nvPr/>
        </p:nvSpPr>
        <p:spPr>
          <a:xfrm>
            <a:off x="9948672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10570464" y="37947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2A93B"/>
          </a:solidFill>
          <a:ln w="19050">
            <a:solidFill>
              <a:srgbClr val="C7D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Text 74"/>
          <p:cNvSpPr txBox="1"/>
          <p:nvPr/>
        </p:nvSpPr>
        <p:spPr>
          <a:xfrm>
            <a:off x="10570464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6217920" y="461772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8" name="Text 76"/>
          <p:cNvSpPr txBox="1"/>
          <p:nvPr/>
        </p:nvSpPr>
        <p:spPr>
          <a:xfrm>
            <a:off x="6446520" y="46177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同一批源字节，这次写到更靠右的位置——方向反了，走③反向搬那条路径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1">
                <a:solidFill>
                  <a:srgbClr val="F2A93B"/>
                </a:solidFill>
                <a:latin typeface="Calibri"/>
              </a:rPr>
              <a:t>第 7 次课 · 18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strcmp：对暗号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 strcmp(const char *a, const char *b)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一个字一个字念，念错就停；都念到头还没错，就是完全一致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310835" cy="4434840"/>
          </a:xfrm>
          <a:prstGeom prst="roundRect">
            <a:avLst>
              <a:gd name="adj" fmla="val 2892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302045" y="2240280"/>
            <a:ext cx="5310835" cy="443484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4670755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5000"/>
              </a:lnSpc>
            </a:pPr>
            <a:r>
              <a:rPr sz="1600" b="0" dirty="0">
                <a:solidFill>
                  <a:srgbClr val="CADCFC"/>
                </a:solidFill>
                <a:latin typeface="Courier New"/>
              </a:rPr>
              <a:t>1:</a:t>
            </a:r>
          </a:p>
          <a:p>
            <a:pPr algn="l">
              <a:lnSpc>
                <a:spcPct val="105000"/>
              </a:lnSpc>
            </a:pPr>
            <a:r>
              <a:rPr sz="1600" b="0" dirty="0">
                <a:solidFill>
                  <a:srgbClr val="CADCFC"/>
                </a:solidFill>
                <a:latin typeface="Courier New"/>
              </a:rPr>
              <a:t>  </a:t>
            </a:r>
            <a:r>
              <a:rPr sz="1600" b="0" dirty="0" err="1">
                <a:solidFill>
                  <a:srgbClr val="CADCFC"/>
                </a:solidFill>
                <a:latin typeface="Courier New"/>
              </a:rPr>
              <a:t>ld.bu</a:t>
            </a:r>
            <a:r>
              <a:rPr sz="1600" b="0" dirty="0">
                <a:solidFill>
                  <a:srgbClr val="CADCFC"/>
                </a:solidFill>
                <a:latin typeface="Courier New"/>
              </a:rPr>
              <a:t>  $t0, $a0, 0</a:t>
            </a:r>
          </a:p>
          <a:p>
            <a:pPr algn="l">
              <a:lnSpc>
                <a:spcPct val="105000"/>
              </a:lnSpc>
            </a:pPr>
            <a:r>
              <a:rPr sz="1600" b="0" dirty="0">
                <a:solidFill>
                  <a:srgbClr val="CADCFC"/>
                </a:solidFill>
                <a:latin typeface="Courier New"/>
              </a:rPr>
              <a:t>  </a:t>
            </a:r>
            <a:r>
              <a:rPr sz="1600" b="0" dirty="0" err="1">
                <a:solidFill>
                  <a:srgbClr val="CADCFC"/>
                </a:solidFill>
                <a:latin typeface="Courier New"/>
              </a:rPr>
              <a:t>ld.bu</a:t>
            </a:r>
            <a:r>
              <a:rPr sz="1600" b="0" dirty="0">
                <a:solidFill>
                  <a:srgbClr val="CADCFC"/>
                </a:solidFill>
                <a:latin typeface="Courier New"/>
              </a:rPr>
              <a:t>  $t1, $a1, 0</a:t>
            </a:r>
          </a:p>
          <a:p>
            <a:pPr algn="l">
              <a:lnSpc>
                <a:spcPct val="105000"/>
              </a:lnSpc>
            </a:pPr>
            <a:r>
              <a:rPr sz="1600" b="0" dirty="0">
                <a:solidFill>
                  <a:srgbClr val="CADCFC"/>
                </a:solidFill>
                <a:latin typeface="Courier New"/>
              </a:rPr>
              <a:t>  </a:t>
            </a:r>
            <a:r>
              <a:rPr sz="1600" b="0" dirty="0" err="1">
                <a:solidFill>
                  <a:srgbClr val="CADCFC"/>
                </a:solidFill>
                <a:latin typeface="Courier New"/>
              </a:rPr>
              <a:t>bne</a:t>
            </a:r>
            <a:r>
              <a:rPr sz="1600" b="0" dirty="0">
                <a:solidFill>
                  <a:srgbClr val="CADCFC"/>
                </a:solidFill>
                <a:latin typeface="Courier New"/>
              </a:rPr>
              <a:t>    $t0, $t1, 2f</a:t>
            </a:r>
          </a:p>
          <a:p>
            <a:pPr algn="l">
              <a:lnSpc>
                <a:spcPct val="105000"/>
              </a:lnSpc>
            </a:pPr>
            <a:r>
              <a:rPr sz="1600" b="0" dirty="0">
                <a:solidFill>
                  <a:srgbClr val="CADCFC"/>
                </a:solidFill>
                <a:latin typeface="Courier New"/>
              </a:rPr>
              <a:t>  </a:t>
            </a:r>
            <a:r>
              <a:rPr sz="1600" b="0" dirty="0" err="1">
                <a:solidFill>
                  <a:srgbClr val="CADCFC"/>
                </a:solidFill>
                <a:latin typeface="Courier New"/>
              </a:rPr>
              <a:t>beqz</a:t>
            </a:r>
            <a:r>
              <a:rPr sz="1600" b="0" dirty="0">
                <a:solidFill>
                  <a:srgbClr val="CADCFC"/>
                </a:solidFill>
                <a:latin typeface="Courier New"/>
              </a:rPr>
              <a:t>   $t0, 3f</a:t>
            </a:r>
          </a:p>
          <a:p>
            <a:pPr algn="l">
              <a:lnSpc>
                <a:spcPct val="105000"/>
              </a:lnSpc>
            </a:pPr>
            <a:r>
              <a:rPr sz="1600" b="0" dirty="0">
                <a:solidFill>
                  <a:srgbClr val="CADCFC"/>
                </a:solidFill>
                <a:latin typeface="Courier New"/>
              </a:rPr>
              <a:t>  </a:t>
            </a:r>
            <a:r>
              <a:rPr sz="1600" b="0" dirty="0" err="1">
                <a:solidFill>
                  <a:srgbClr val="CADCFC"/>
                </a:solidFill>
                <a:latin typeface="Courier New"/>
              </a:rPr>
              <a:t>addi.d</a:t>
            </a:r>
            <a:r>
              <a:rPr sz="1600" b="0" dirty="0">
                <a:solidFill>
                  <a:srgbClr val="CADCFC"/>
                </a:solidFill>
                <a:latin typeface="Courier New"/>
              </a:rPr>
              <a:t> $a0, $a0, 1</a:t>
            </a:r>
          </a:p>
          <a:p>
            <a:pPr algn="l">
              <a:lnSpc>
                <a:spcPct val="105000"/>
              </a:lnSpc>
            </a:pPr>
            <a:r>
              <a:rPr sz="1600" b="0" dirty="0">
                <a:solidFill>
                  <a:srgbClr val="CADCFC"/>
                </a:solidFill>
                <a:latin typeface="Courier New"/>
              </a:rPr>
              <a:t>  </a:t>
            </a:r>
            <a:r>
              <a:rPr sz="1600" b="0" dirty="0" err="1">
                <a:solidFill>
                  <a:srgbClr val="CADCFC"/>
                </a:solidFill>
                <a:latin typeface="Courier New"/>
              </a:rPr>
              <a:t>addi.d</a:t>
            </a:r>
            <a:r>
              <a:rPr sz="1600" b="0" dirty="0">
                <a:solidFill>
                  <a:srgbClr val="CADCFC"/>
                </a:solidFill>
                <a:latin typeface="Courier New"/>
              </a:rPr>
              <a:t> $a1, $a1, 1</a:t>
            </a:r>
          </a:p>
          <a:p>
            <a:pPr algn="l">
              <a:lnSpc>
                <a:spcPct val="105000"/>
              </a:lnSpc>
            </a:pPr>
            <a:r>
              <a:rPr sz="1600" b="0" dirty="0">
                <a:solidFill>
                  <a:srgbClr val="CADCFC"/>
                </a:solidFill>
                <a:latin typeface="Courier New"/>
              </a:rPr>
              <a:t>  b      1b</a:t>
            </a:r>
          </a:p>
          <a:p>
            <a:pPr algn="l">
              <a:lnSpc>
                <a:spcPct val="105000"/>
              </a:lnSpc>
            </a:pPr>
            <a:r>
              <a:rPr sz="1600" b="0" dirty="0">
                <a:solidFill>
                  <a:srgbClr val="CADCFC"/>
                </a:solidFill>
                <a:latin typeface="Courier New"/>
              </a:rPr>
              <a:t>2:</a:t>
            </a:r>
          </a:p>
          <a:p>
            <a:pPr algn="l">
              <a:lnSpc>
                <a:spcPct val="105000"/>
              </a:lnSpc>
            </a:pPr>
            <a:r>
              <a:rPr sz="1600" b="0" dirty="0">
                <a:solidFill>
                  <a:srgbClr val="CADCFC"/>
                </a:solidFill>
                <a:latin typeface="Courier New"/>
              </a:rPr>
              <a:t>  </a:t>
            </a:r>
            <a:r>
              <a:rPr sz="1600" b="0" dirty="0" err="1">
                <a:solidFill>
                  <a:srgbClr val="CADCFC"/>
                </a:solidFill>
                <a:latin typeface="Courier New"/>
              </a:rPr>
              <a:t>sub.d</a:t>
            </a:r>
            <a:r>
              <a:rPr sz="1600" b="0" dirty="0">
                <a:solidFill>
                  <a:srgbClr val="CADCFC"/>
                </a:solidFill>
                <a:latin typeface="Courier New"/>
              </a:rPr>
              <a:t>  $a0, $t0, $t1</a:t>
            </a:r>
          </a:p>
          <a:p>
            <a:pPr algn="l">
              <a:lnSpc>
                <a:spcPct val="105000"/>
              </a:lnSpc>
            </a:pPr>
            <a:r>
              <a:rPr sz="1600" b="0" dirty="0">
                <a:solidFill>
                  <a:srgbClr val="CADCFC"/>
                </a:solidFill>
                <a:latin typeface="Courier New"/>
              </a:rPr>
              <a:t>  </a:t>
            </a:r>
            <a:r>
              <a:rPr sz="1600" b="0" dirty="0" err="1">
                <a:solidFill>
                  <a:srgbClr val="CADCFC"/>
                </a:solidFill>
                <a:latin typeface="Courier New"/>
              </a:rPr>
              <a:t>jr</a:t>
            </a:r>
            <a:r>
              <a:rPr sz="1600" b="0" dirty="0">
                <a:solidFill>
                  <a:srgbClr val="CADCFC"/>
                </a:solidFill>
                <a:latin typeface="Courier New"/>
              </a:rPr>
              <a:t>     $</a:t>
            </a:r>
            <a:r>
              <a:rPr sz="1600" b="0" dirty="0" err="1">
                <a:solidFill>
                  <a:srgbClr val="CADCFC"/>
                </a:solidFill>
                <a:latin typeface="Courier New"/>
              </a:rPr>
              <a:t>ra</a:t>
            </a:r>
            <a:endParaRPr sz="1600" b="0" dirty="0">
              <a:solidFill>
                <a:srgbClr val="CADCFC"/>
              </a:solidFill>
              <a:latin typeface="Courier New"/>
            </a:endParaRPr>
          </a:p>
          <a:p>
            <a:pPr algn="l">
              <a:lnSpc>
                <a:spcPct val="105000"/>
              </a:lnSpc>
            </a:pPr>
            <a:r>
              <a:rPr sz="1600" b="0" dirty="0">
                <a:solidFill>
                  <a:srgbClr val="CADCFC"/>
                </a:solidFill>
                <a:latin typeface="Courier New"/>
              </a:rPr>
              <a:t>3:</a:t>
            </a:r>
          </a:p>
          <a:p>
            <a:pPr algn="l">
              <a:lnSpc>
                <a:spcPct val="105000"/>
              </a:lnSpc>
            </a:pPr>
            <a:r>
              <a:rPr sz="1600" b="0" dirty="0">
                <a:solidFill>
                  <a:srgbClr val="CADCFC"/>
                </a:solidFill>
                <a:latin typeface="Courier New"/>
              </a:rPr>
              <a:t>  move   $a0, $zero</a:t>
            </a:r>
          </a:p>
          <a:p>
            <a:pPr algn="l">
              <a:lnSpc>
                <a:spcPct val="105000"/>
              </a:lnSpc>
            </a:pPr>
            <a:r>
              <a:rPr sz="1600" b="0" dirty="0">
                <a:solidFill>
                  <a:srgbClr val="CADCFC"/>
                </a:solidFill>
                <a:latin typeface="Courier New"/>
              </a:rPr>
              <a:t>  </a:t>
            </a:r>
            <a:r>
              <a:rPr sz="1600" b="0" dirty="0" err="1">
                <a:solidFill>
                  <a:srgbClr val="CADCFC"/>
                </a:solidFill>
                <a:latin typeface="Courier New"/>
              </a:rPr>
              <a:t>jr</a:t>
            </a:r>
            <a:r>
              <a:rPr sz="1600" b="0" dirty="0">
                <a:solidFill>
                  <a:srgbClr val="CADCFC"/>
                </a:solidFill>
                <a:latin typeface="Courier New"/>
              </a:rPr>
              <a:t>     $</a:t>
            </a:r>
            <a:r>
              <a:rPr sz="1600" b="0" dirty="0" err="1">
                <a:solidFill>
                  <a:srgbClr val="CADCFC"/>
                </a:solidFill>
                <a:latin typeface="Courier New"/>
              </a:rPr>
              <a:t>ra</a:t>
            </a:r>
            <a:endParaRPr sz="1600" b="0" dirty="0">
              <a:solidFill>
                <a:srgbClr val="CADCFC"/>
              </a:solidFill>
              <a:latin typeface="Courier New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22085" y="2423160"/>
            <a:ext cx="4670755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>
                <a:solidFill>
                  <a:srgbClr val="1E2761"/>
                </a:solidFill>
                <a:latin typeface="Calibri"/>
              </a:rPr>
              <a:t>①  </a:t>
            </a:r>
            <a:r>
              <a:rPr sz="2000" b="0">
                <a:solidFill>
                  <a:srgbClr val="1A2238"/>
                </a:solidFill>
                <a:latin typeface="Calibri"/>
              </a:rPr>
              <a:t>标号 1：分别读两边当前字节到 $t0/$t1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>
                <a:solidFill>
                  <a:srgbClr val="1E2761"/>
                </a:solidFill>
                <a:latin typeface="Calibri"/>
              </a:rPr>
              <a:t>②  </a:t>
            </a:r>
            <a:r>
              <a:rPr sz="2000" b="0">
                <a:solidFill>
                  <a:srgbClr val="1A2238"/>
                </a:solidFill>
                <a:latin typeface="Calibri"/>
              </a:rPr>
              <a:t>字节不同（bne）：跳到标号 2 直接算差值返回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>
                <a:solidFill>
                  <a:srgbClr val="1E2761"/>
                </a:solidFill>
                <a:latin typeface="Calibri"/>
              </a:rPr>
              <a:t>③  </a:t>
            </a:r>
            <a:r>
              <a:rPr sz="2000" b="0">
                <a:solidFill>
                  <a:srgbClr val="1A2238"/>
                </a:solidFill>
                <a:latin typeface="Calibri"/>
              </a:rPr>
              <a:t>关键顺序：必须先 bne 确认相同，才能用 beqz 判断是否同时到 '\0'——先判 beqz 会漏判 a=""、b="x" 这种情形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>
                <a:solidFill>
                  <a:srgbClr val="1E2761"/>
                </a:solidFill>
                <a:latin typeface="Calibri"/>
              </a:rPr>
              <a:t>④  </a:t>
            </a:r>
            <a:r>
              <a:rPr sz="2000" b="0">
                <a:solidFill>
                  <a:srgbClr val="1A2238"/>
                </a:solidFill>
                <a:latin typeface="Calibri"/>
              </a:rPr>
              <a:t>都读到 '\0'（beqz 命中）：跳到标号 3，返回 0（两串相等）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>
                <a:solidFill>
                  <a:srgbClr val="1E2761"/>
                </a:solidFill>
                <a:latin typeface="Calibri"/>
              </a:rPr>
              <a:t>⑤  </a:t>
            </a:r>
            <a:r>
              <a:rPr sz="2000" b="0">
                <a:solidFill>
                  <a:srgbClr val="1A2238"/>
                </a:solidFill>
                <a:latin typeface="Calibri"/>
              </a:rPr>
              <a:t>否则两指针同步 +1，跳回标号 1 继续比较下一字节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1">
                <a:solidFill>
                  <a:srgbClr val="F2A93B"/>
                </a:solidFill>
                <a:latin typeface="Calibri"/>
              </a:rPr>
              <a:t>第 7 次课 · 19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zero_and_copy：打扫房间再搬新家具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本课唯一的非叶子函数：把前面三个函数接起来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6868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综合工程：三个独立动作组合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68680" y="2651760"/>
            <a:ext cx="4754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先打扫干净空房间（memset 清零）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量好新家具尺寸（strlen 量长度）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再把家具搬进去（memcpy 复制）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94960" cy="3429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53796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为什么不能只用 memcpy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537960" y="2651760"/>
            <a:ext cx="4754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buf 初始是栈上旧数据，内容不确定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只 memcpy(buf,"hi7",3)：第 3 格起是垃圾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printk 靠 '\0' 判断结束，垃圾字节会出事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534924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1317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822960" y="54681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E9E6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✓ zero_and_copy(buf, "hi7", 6)：先清零，天然以 \0 结尾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2960" y="587959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1F2E9"/>
          </a:solidFill>
          <a:ln w="19050">
            <a:solidFill>
              <a:srgbClr val="2E9E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822960" y="5879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399032" y="587959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1F2E9"/>
          </a:solidFill>
          <a:ln w="19050">
            <a:solidFill>
              <a:srgbClr val="2E9E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1399032" y="5879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975104" y="587959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1F2E9"/>
          </a:solidFill>
          <a:ln w="19050">
            <a:solidFill>
              <a:srgbClr val="2E9E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1975104" y="5879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551176" y="587959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0F0F0"/>
          </a:solidFill>
          <a:ln w="19050">
            <a:solidFill>
              <a:srgbClr val="2E9E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2551176" y="5879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∅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127248" y="587959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0F0F0"/>
          </a:solidFill>
          <a:ln w="19050">
            <a:solidFill>
              <a:srgbClr val="2E9E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3127248" y="5879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∅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703320" y="587959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0F0F0"/>
          </a:solidFill>
          <a:ln w="19050">
            <a:solidFill>
              <a:srgbClr val="2E9E6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3703320" y="5879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∅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1">
                <a:solidFill>
                  <a:srgbClr val="F2A93B"/>
                </a:solidFill>
                <a:latin typeface="Calibri"/>
              </a:rPr>
              <a:t>第 7 次课 · 20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zero_and_copy：三次调用，谁扛过去了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$s0/$s1/$ra 全程不变，callee-saved 的意义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4846320"/>
          </a:xfrm>
          <a:prstGeom prst="roundRect">
            <a:avLst>
              <a:gd name="adj" fmla="val 2609"/>
            </a:avLst>
          </a:prstGeom>
          <a:solidFill>
            <a:srgbClr val="1317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6217920" y="1783080"/>
          <a:ext cx="5394960" cy="31089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时刻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$s0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$s1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入口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dst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memset 后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dst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strlen 后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dst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memcpy 后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dst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6217920" y="51206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三个寄存器全程未变——callee-saved 就是靠这份“不变”的承诺，撑过中间任意多次调用；$a0-$a2/$t0-$t8 做不到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1965960"/>
            <a:ext cx="466344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CADCFC"/>
                </a:solidFill>
                <a:latin typeface="Courier New"/>
              </a:rPr>
              <a:t>addi.d $sp, $sp, -32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CADCFC"/>
                </a:solidFill>
                <a:latin typeface="Courier New"/>
              </a:rPr>
              <a:t>st.d   $ra, $sp, 24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CADCFC"/>
                </a:solidFill>
                <a:latin typeface="Courier New"/>
              </a:rPr>
              <a:t>st.d   $s0, $sp, 16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CADCFC"/>
                </a:solidFill>
                <a:latin typeface="Courier New"/>
              </a:rPr>
              <a:t>st.d   $s1, $sp, 8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CADCFC"/>
                </a:solidFill>
                <a:latin typeface="Courier New"/>
              </a:rPr>
              <a:t>move   $s0, $a0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CADCFC"/>
                </a:solidFill>
                <a:latin typeface="Courier New"/>
              </a:rPr>
              <a:t>move   $s1, $a1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CADCFC"/>
                </a:solidFill>
                <a:latin typeface="Courier New"/>
              </a:rPr>
              <a:t>move   $a1, $zero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CADCFC"/>
                </a:solidFill>
                <a:latin typeface="Courier New"/>
              </a:rPr>
              <a:t>bl     memset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CADCFC"/>
                </a:solidFill>
                <a:latin typeface="Courier New"/>
              </a:rPr>
              <a:t>move   $a0, $s1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CADCFC"/>
                </a:solidFill>
                <a:latin typeface="Courier New"/>
              </a:rPr>
              <a:t>bl     strlen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CADCFC"/>
                </a:solidFill>
                <a:latin typeface="Courier New"/>
              </a:rPr>
              <a:t>move   $a2, $a0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CADCFC"/>
                </a:solidFill>
                <a:latin typeface="Courier New"/>
              </a:rPr>
              <a:t>move   $a1, $s1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CADCFC"/>
                </a:solidFill>
                <a:latin typeface="Courier New"/>
              </a:rPr>
              <a:t>move   $a0, $s0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CADCFC"/>
                </a:solidFill>
                <a:latin typeface="Courier New"/>
              </a:rPr>
              <a:t>bl     memcpy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CADCFC"/>
                </a:solidFill>
                <a:latin typeface="Courier New"/>
              </a:rPr>
              <a:t>ld.d   $ra, $sp, 24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CADCFC"/>
                </a:solidFill>
                <a:latin typeface="Courier New"/>
              </a:rPr>
              <a:t>ld.d   $s0, $sp, 16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CADCFC"/>
                </a:solidFill>
                <a:latin typeface="Courier New"/>
              </a:rPr>
              <a:t>ld.d   $s1, $sp, 8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CADCFC"/>
                </a:solidFill>
                <a:latin typeface="Courier New"/>
              </a:rPr>
              <a:t>addi.d $sp, $sp, 32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CADCFC"/>
                </a:solidFill>
                <a:latin typeface="Courier New"/>
              </a:rPr>
              <a:t>jr     $ra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31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第 7 次课 · 延伸与总结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为什么不干脆一次搬 8 个字节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现实世界的库函数会更快，但也更复杂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C9B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这里只做课堂讨论，不要求今天实现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1">
                <a:solidFill>
                  <a:srgbClr val="F2A93B"/>
                </a:solidFill>
                <a:latin typeface="Calibri"/>
              </a:rPr>
              <a:t>第 7 次课 · 21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8 字节批量优化：三段式思路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不必一次实现，只做课堂讨论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44240" cy="3200400"/>
          </a:xfrm>
          <a:prstGeom prst="roundRect">
            <a:avLst>
              <a:gd name="adj" fmla="val 3429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973580" y="2080260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1973580" y="20802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77240" y="283464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头部对齐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77240" y="3383280"/>
            <a:ext cx="298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逐字节处理到 8 字节边界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77240" y="4343400"/>
            <a:ext cx="298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C9B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小刷子先处理边角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038600" y="3429000"/>
            <a:ext cx="274320" cy="0"/>
          </a:xfrm>
          <a:prstGeom prst="line">
            <a:avLst/>
          </a:prstGeom>
          <a:noFill/>
          <a:ln w="38100">
            <a:solidFill>
              <a:srgbClr val="5B647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358640" y="1828800"/>
            <a:ext cx="3444240" cy="3200400"/>
          </a:xfrm>
          <a:prstGeom prst="roundRect">
            <a:avLst>
              <a:gd name="adj" fmla="val 3429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783580" y="2080260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5783580" y="20802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587240" y="283464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批量搬运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587240" y="3383280"/>
            <a:ext cx="298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改用 ld.d / st.d，理论上快 8 倍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4587240" y="4343400"/>
            <a:ext cx="298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C9B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滚筒刷大面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848600" y="3429000"/>
            <a:ext cx="274320" cy="0"/>
          </a:xfrm>
          <a:prstGeom prst="line">
            <a:avLst/>
          </a:prstGeom>
          <a:noFill/>
          <a:ln w="38100">
            <a:solidFill>
              <a:srgbClr val="5B647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168640" y="1828800"/>
            <a:ext cx="3444240" cy="3200400"/>
          </a:xfrm>
          <a:prstGeom prst="roundRect">
            <a:avLst>
              <a:gd name="adj" fmla="val 3429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9593580" y="2080260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9593580" y="20802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8397240" y="283464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尾部残余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8397240" y="3383280"/>
            <a:ext cx="298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不足 8 字节的部分再逐字节处理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8397240" y="4343400"/>
            <a:ext cx="298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C9B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另一处边角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1317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822960" y="52578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正确性永远优先于速度：今天写的逐字节版本，就是这个三段式优化里中间那一段在不追求性能时的合理简化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1">
                <a:solidFill>
                  <a:srgbClr val="F2A93B"/>
                </a:solidFill>
                <a:latin typeface="Calibri"/>
              </a:rPr>
              <a:t>第 7 次课 · 22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真实运行结果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六个函数的调用全部在 kernel/main.c 里真实验收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4160520"/>
          </a:xfrm>
          <a:prstGeom prst="roundRect">
            <a:avLst>
              <a:gd name="adj" fmla="val 2637"/>
            </a:avLst>
          </a:prstGeom>
          <a:solidFill>
            <a:srgbClr val="1317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914400" y="20116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memset n=1 : buf[0]='Z' buf[1]='X'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14400" y="249631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memcpy n=1: dst[0]='A' dst[1]='X'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914400" y="2980944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zero_and_copy: greet="hi7"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914400" y="3465576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strcmp verified: greet == "hi7"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914400" y="3950208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strcmp verified: greet != "hi8"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914400" y="44348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memmove left  (dst&lt;src): CDEFGHGH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914400" y="491947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memmove right (dst&gt;src): ABABCDEF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914400" y="5404104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week07-libc-asm check done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make clean &amp;&amp; make &amp;&amp; make run —— memmove 两行与前面方向图的预测完全一致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b="1">
                <a:solidFill>
                  <a:srgbClr val="F2A93B"/>
                </a:solidFill>
                <a:latin typeface="Calibri"/>
              </a:rPr>
              <a:t>第 7 次课 · 23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小结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六个函数，一份 miniOS 自己的 libc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850392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45820" y="1865376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45820" y="186537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828800" y="1783080"/>
            <a:ext cx="3108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统一的 libc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029200" y="1783080"/>
            <a:ext cx="63093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六个函数合在一起，就是 miniOS 自己的一份最小 libc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11064240" cy="850392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45820" y="2916936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845820" y="291693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828800" y="2834640"/>
            <a:ext cx="3108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叶子函数骨架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029200" y="2834640"/>
            <a:ext cx="63093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memset/memcpy/strlen/strcmp 用同一种循环骨架，不碰 $ra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64240" cy="850392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45820" y="3968496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845820" y="396849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828800" y="3886200"/>
            <a:ext cx="3108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memmove 的通用性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5029200" y="3886200"/>
            <a:ext cx="63093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先判方向（sltu），再选一条安全路径，是 memcpy 的通用版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11064240" cy="850392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45820" y="5020056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845820" y="502005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2A93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828800" y="4937760"/>
            <a:ext cx="3108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A2238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zero_and_copy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5029200" y="4937760"/>
            <a:ext cx="63093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B647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唯一的非叶子函数：$s0/$s1/$ra 跨三次 bl 保活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2426</Words>
  <Application>Microsoft Office PowerPoint</Application>
  <PresentationFormat>宽屏</PresentationFormat>
  <Paragraphs>484</Paragraphs>
  <Slides>27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3" baseType="lpstr">
      <vt:lpstr>等线</vt:lpstr>
      <vt:lpstr>Arial</vt:lpstr>
      <vt:lpstr>Calibri</vt:lpstr>
      <vt:lpstr>Cambria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xin cai</cp:lastModifiedBy>
  <cp:revision>7</cp:revision>
  <dcterms:created xsi:type="dcterms:W3CDTF">2026-09-07T16:03:38Z</dcterms:created>
  <dcterms:modified xsi:type="dcterms:W3CDTF">2026-09-08T04:48:09Z</dcterms:modified>
</cp:coreProperties>
</file>