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373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操作系统基础科普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用户态 与 内核态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从一次 write() 调用说起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52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给还没学过操作系统的同学准备的入门科普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今天讲什么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57984"/>
            <a:ext cx="457200" cy="4572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为什么要分两种“状态”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80944"/>
            <a:ext cx="457200" cy="4572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80360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用户态:能做什么、不能做什么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703320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内核态:操作系统的“特权”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626864"/>
            <a:ext cx="457200" cy="4572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526280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状态怎么切换:系统调用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449824"/>
            <a:ext cx="457200" cy="4572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449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349240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举例:write() 里的一次切换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为什么要分两种“状态”?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程序若能随意读写内存、操作硬件,一个 bug 就可能让整台电脑崩溃。CPU 设计了“特权级”来防止这件事。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01752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类比:电脑像一栋教学楼。学生只能在教室活动;配电房平时锁着,只有老师才有钥匙。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5364328" cy="1463040"/>
          </a:xfrm>
          <a:prstGeom prst="roundRect">
            <a:avLst>
              <a:gd name="adj" fmla="val 6250"/>
            </a:avLst>
          </a:prstGeom>
          <a:solidFill>
            <a:srgbClr val="0B1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114800"/>
            <a:ext cx="4724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不分态会怎样?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bug 就可能让系统死机、数据全丢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78728" y="4023360"/>
            <a:ext cx="5364328" cy="1463040"/>
          </a:xfrm>
          <a:prstGeom prst="roundRect">
            <a:avLst>
              <a:gd name="adj" fmla="val 6250"/>
            </a:avLst>
          </a:prstGeom>
          <a:solidFill>
            <a:srgbClr val="0B1E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4114800"/>
            <a:ext cx="4724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7F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分了态之后呢?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7F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想动硬件必须找内核帮忙,内核会检查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用户态(User Mode)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运行我们平常写的普通程序(编译出来的可执行文件)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20040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只能访问自己的那一小块内存,不能碰别的程序、不能碰内核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38912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不能直接读写硬件寄存器(比如串口 UART 的 THR/LSR)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278728" y="1920240"/>
            <a:ext cx="5364328" cy="3429000"/>
          </a:xfrm>
          <a:prstGeom prst="roundRect">
            <a:avLst>
              <a:gd name="adj" fmla="val 2667"/>
            </a:avLst>
          </a:prstGeom>
          <a:solidFill>
            <a:srgbClr val="EAF3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8768" y="2011680"/>
            <a:ext cx="47242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类比:学生在教室里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能做作业、看书,不能进配电房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想用特权资源?得打报告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举例:C 程序里的 printf,底层最终会走到 write 系统调用——往屏幕/串口输出这种“碰硬件”的事,用户态程序自己做不了。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内核态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内核态(Kernel Mode)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运行操作系统内核自己的代码,拥有 CPU 最高权限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20040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可以直接读写任何硬件寄存器、管理所有内存、调度所有程序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38912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一旦内核代码出错,影响的是整个系统,而不只是一个程序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278728" y="1920240"/>
            <a:ext cx="5364328" cy="3429000"/>
          </a:xfrm>
          <a:prstGeom prst="roundRect">
            <a:avLst>
              <a:gd name="adj" fmla="val 2667"/>
            </a:avLst>
          </a:prstGeom>
          <a:solidFill>
            <a:srgbClr val="1622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8768" y="2011680"/>
            <a:ext cx="47242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2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类比:老师有全楼的钥匙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2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学生打报告,老师亲自去处理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2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但老师出错,影响的是全楼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强调对称性:用户态“受限但安全”,内核态“权限高但责任大”——这也是为什么内核代码写得比普通程序更小心。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两种状态,一张图对比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18608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用户态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 · 在教室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5870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运行普通程序
✓ 只碰自己的内存
✗ 不能直接碰硬件
✗ 想要特权得“打报告”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324448" y="1965960"/>
            <a:ext cx="5318608" cy="4206240"/>
          </a:xfrm>
          <a:prstGeom prst="roundRect">
            <a:avLst>
              <a:gd name="adj" fmla="val 3261"/>
            </a:avLst>
          </a:prstGeom>
          <a:solidFill>
            <a:srgbClr val="0B1E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22402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内核态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324448" y="283464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老师 · 有全楼钥匙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690208" y="3520440"/>
            <a:ext cx="45870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运行操作系统内核
✓ 能直接操作任何硬件
✓ 管理内存、调度进程
✗ 出错影响整个系统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怎么切换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状态怎么切换?——系统调用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用户态程序不能自己“跳”进内核态,必须通过 CPU 提供的一条特殊指令主动“打报告”,这就是系统调用(system call)。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80360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用户态运行中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162495" y="28803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学生在教室做作业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69768" y="3538728"/>
            <a:ext cx="5852160" cy="457200"/>
          </a:xfrm>
          <a:prstGeom prst="roundRect">
            <a:avLst>
              <a:gd name="adj" fmla="val 50000"/>
            </a:avLst>
          </a:prstGeom>
          <a:solidFill>
            <a:srgbClr val="FBE9CF"/>
          </a:solidFill>
          <a:ln w="19050">
            <a:solidFill>
              <a:srgbClr val="F2A54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3169768" y="35387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7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 指令 → “打报告”,陷入内核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4087368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0B1E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87368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内核态处理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162495" y="40873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老师去配电房处理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169768" y="4745736"/>
            <a:ext cx="5852160" cy="457200"/>
          </a:xfrm>
          <a:prstGeom prst="roundRect">
            <a:avLst>
              <a:gd name="adj" fmla="val 50000"/>
            </a:avLst>
          </a:prstGeom>
          <a:solidFill>
            <a:srgbClr val="FBE9CF"/>
          </a:solidFill>
          <a:ln w="19050">
            <a:solidFill>
              <a:srgbClr val="F2A54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169768" y="474573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7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ertn 指令 → 处理完,返回用户态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294376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用户态继续运行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162495" y="52943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学生继续做作业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异常和中断(比如按键)也会强制切到内核态,不只是主动“打报告”。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举例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举例:一次 write() 里的状态切换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用户态:调用 write(fd, buf, len)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162495" y="18745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学生:“我想往外发消息”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3288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触发 syscall,陷入内核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916936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916936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内核态:handle_syscall 找到 sys_write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162495" y="29169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F2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老师:“知道了,我来处理”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7530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内核直接操作硬件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48640" y="3959352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622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959352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内核态:逐字节写入 UART 寄存器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162495" y="39593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F2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老师亲自去配电房操作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1772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执行 ertn,退出内核态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48640" y="5001768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622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001768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用户态:拿到返回值,继续往下跑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162495" y="50017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学生:“好,继续做作业”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同一段流程,从“特权级切换”的角度再看一遍,帮助把代码和概念对上号。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小结与思考题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用户态:受限但安全,像在教室里的学生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622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8346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内核态:权限最高但责任也最大,像有全楼钥匙的老师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7490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两者之间靠系统调用(syscall/ertn)切换,异常和中断也会触发切换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16222E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868680" y="484632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思考题:如果用户态程序可以随便读写任意内存地址,会发生什么问题?你能举一个“权限没管好”导致系统出问题的例子吗?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从“打印函数”到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“系统调用”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为什么要多这一层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58521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从能发字符、会等待,走向真正对外的服务接口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问题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普通函数调用够用吗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到目前为止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zh-CN" alt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zh-CN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zh-CN" alt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次课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printk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是“谁想调用就直接调用”的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普通函数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(bl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跳转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调用者需要知道函数的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确切地址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,编译时就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绑死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了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40968" y="3063240"/>
            <a:ext cx="9509760" cy="1371600"/>
          </a:xfrm>
          <a:prstGeom prst="roundRect">
            <a:avLst>
              <a:gd name="adj" fmla="val 10000"/>
            </a:avLst>
          </a:prstGeom>
          <a:solidFill>
            <a:srgbClr val="FBE9CF"/>
          </a:solidFill>
          <a:ln w="19050">
            <a:solidFill>
              <a:srgbClr val="F2A54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15288" y="306324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内核要对用户态提供服务时,不能让用户态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知道内核函数的具体地址——既不安全,也不稳定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0B1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800600"/>
            <a:ext cx="10454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内核提供一个统一、编号化的入口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接口的稳定性 &gt; 直接碰到具体实现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流程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统一编号化的入口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用户态:编号放寄存器,参数放寄存器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162495" y="19659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我要哪个服务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26243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触发“陷入”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008376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0A4A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08376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内核态:按编号查表/分支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162495" y="30083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找到对应服务函数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366674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执行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050792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0A4A6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050792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结果放回约定寄存器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162495" y="40507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返回给用户态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调用者只需要记住“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编号 +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参数槽位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”这套稳定的接口约定,不需知道内核内部函数叫什么、在哪里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翻抽屉 vs 服务热线 12345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6432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47242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普通函数调用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直接闯进朋友家里翻抽屉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——前提是你俩关系够铁、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你知道抽屉在哪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78728" y="1920240"/>
            <a:ext cx="5364328" cy="3291840"/>
          </a:xfrm>
          <a:prstGeom prst="roundRect">
            <a:avLst>
              <a:gd name="adj" fmla="val 2778"/>
            </a:avLst>
          </a:prstGeom>
          <a:solidFill>
            <a:srgbClr val="0B1E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8768" y="2011680"/>
            <a:ext cx="47242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系统调用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打政务大厅服务热线 12345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不需要知道哪个科室,拨通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号码、说清楚要办什么就行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539496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就算大厅重新装修、换了办公室位置(内核代码更新、地址变化),你拨打的号码和说话方式完全不用变。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为什么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不给每个服务一个裸地址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每个内核服务都直接暴露一个固定地址让用户态跳过去调用,会有几个问题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地址会变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27355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内核一改、一重新编译,函数地址就变了,用户态程序全部失效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950208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059936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没有校验点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44805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任何人跳到任意内核地址执行,内核没机会做权限/参数检查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5157216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266944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难以扩展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568756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新增、废弃服务都会牵一发动全身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3 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sys_write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逐行精读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校验在前,复用在后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5852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承接第 5 节:把“统一入口”这个概念落到一段具体的函数上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代码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MINIOS</a:t>
            </a:r>
            <a:r>
              <a:rPr kumimoji="0" 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函数签名与语义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4663440"/>
          </a:xfrm>
          <a:prstGeom prst="roundRect">
            <a:avLst>
              <a:gd name="adj" fmla="val 2353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9384"/>
            <a:ext cx="10509199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sys_write(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fd, const char *buf, size_t len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(fd != 1 &amp;&amp; fd != 2)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只认 stdout/stderr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-1;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(size_t i = 0; i &lt; len; i++) {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(buf[i] == '\n')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uart_putc('\r');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uart_putc(buf[i]);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(long)len;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拆解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四个关键点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fd 只认 1 / 2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212080" y="1874520"/>
            <a:ext cx="6156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stdout / stderr,照搬 Unix 约定,其余一律非法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AF3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0358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校验在最前面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212080" y="3035808"/>
            <a:ext cx="6156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任何跨越信任边界的输入都要先校验,不合法直接拒绝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AF3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197096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复用 uart_putc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212080" y="4197096"/>
            <a:ext cx="6156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没有重复实现 MMIO 写,只是包了一层“接口壳”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58384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AF3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358384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成功返回长度,失败返回 -1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212080" y="5358384"/>
            <a:ext cx="6156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Unix 系统调用的通用惯例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关系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printk 与 sys_write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49528" y="1920240"/>
            <a:ext cx="9692640" cy="914400"/>
          </a:xfrm>
          <a:prstGeom prst="roundRect">
            <a:avLst>
              <a:gd name="adj" fmla="val 15000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49528" y="1920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printk(s)  ≈  sys_write(1, s, strlen(s))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printk 可以理解为“永远往 fd=1 写、自动计算长度”的 sys_write 便民封装。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536432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886200"/>
            <a:ext cx="4724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printk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内核内部直接调用的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普通函数,不经过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“编号分发”这一层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78728" y="3794760"/>
            <a:ext cx="5364328" cy="2377440"/>
          </a:xfrm>
          <a:prstGeom prst="roundRect">
            <a:avLst>
              <a:gd name="adj" fmla="val 3846"/>
            </a:avLst>
          </a:prstGeom>
          <a:solidFill>
            <a:srgbClr val="0B1E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3886200"/>
            <a:ext cx="4724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sys_write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通过 syscall_dispatch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编号调用的“正式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对外服务”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5 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分发器 syscall_dispatch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与寄存器约定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表格填对栏位,不用管窗口内部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代码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分发逻辑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3200400"/>
          </a:xfrm>
          <a:prstGeom prst="roundRect">
            <a:avLst>
              <a:gd name="adj" fmla="val 3429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2240" y="1975104"/>
            <a:ext cx="1204976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syscall_dispatch(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long a0,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a1, long a2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SYS_WRITE)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sys_write((int)a0,(const char*)a1, (size_t)a2);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-1;      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未知编号,拒绝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65760" y="4918456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nr(number,系统调用号)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决定要执行哪个服务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457200" marR="0" lvl="0" indent="-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本课只登记了一个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SYS_WRITE,遇到未知编号统一返回 -1。</a:t>
            </a:r>
          </a:p>
          <a:p>
            <a:pPr marL="457200" marR="0" lvl="0" indent="-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真实内核里通常是一个跳转表,随系统调用数量增多而扩展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约定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参数与返回值的寄存器约定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系统调用号 nr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212080" y="1965960"/>
            <a:ext cx="6156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$a7(或课程约定的寄存器)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AF3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08152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参数 1 / 2 / 3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212080" y="3081528"/>
            <a:ext cx="6156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$a0 / $a1 / $a2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AF3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197096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返回值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212080" y="4197096"/>
            <a:ext cx="6156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$a0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这几个寄存器就像政务大厅表格上“固定填写栏”:第一栏永远填办理事项编号,第二到第四栏永远填申请人信息、材料。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代码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用户侧准备参数的示意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2880360"/>
          </a:xfrm>
          <a:prstGeom prst="roundRect">
            <a:avLst>
              <a:gd name="adj" fmla="val 3810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20824"/>
            <a:ext cx="10509199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li.d      $a0, 1      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fd = 1(stdout)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la.global $a1, msg    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buf = 字符串地址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li.d      $a2, 13     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len = 13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li.d $a7, SYS_WRITE 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调用号放约定寄存器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syscall 或 bl 到内核封装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具体陷入方式按课堂方案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498348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教学阶段为了降低难度,允许先在内核内部直接调用 syscall_dispatch,跳过“用户态触发陷入、CPU 切换到内核态”这一整套机制;真正的隔离机制会在后续课程补齐。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固定表格栏位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不管你今天办的是身份证还是营业执照,表格格式不变,工作人员一看就知道该往哪个栏位找什么信息。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94415" cy="1828800"/>
          </a:xfrm>
          <a:prstGeom prst="roundRect">
            <a:avLst>
              <a:gd name="adj" fmla="val 5000"/>
            </a:avLst>
          </a:prstGeom>
          <a:solidFill>
            <a:srgbClr val="0B1E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971800"/>
            <a:ext cx="10454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本课先把“表格格式”(寄存器约定)定下来,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“是否要真的排队安检”(用户态陷入内核态的完整机制)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留到后面课再补——接口稳定 &gt; 一次上完整用户态隔离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6 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与 Linux write( )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的类比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帮助理解,非考察内容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对比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“形状”几乎一模一样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真实 Linux 的 write(int fd, const void *buf, size_t count) 和本课的 sys_write 在“形状”上几乎一致。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0B1E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34640"/>
            <a:ext cx="47242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相同的骨架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fd + buf + len 三元组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成功返回字节数,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失败返回负的错误码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都要先做参数校验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78728" y="274320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98768" y="2834640"/>
            <a:ext cx="47242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本课的简化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只支持两个 fd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没有真正的用户态隔离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没有用户指针校验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带辅助轮的儿童车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4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这就像小朋友学骑自行车先用带辅助轮的儿童车——车架、龙头、脚踏板的基本结构和真正的自行车完全一样,只是暂时少了“完全靠自己保持平衡”这一部分难度。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0A4A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657600"/>
            <a:ext cx="104543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对应“用户态隔离”和“指针校验”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等基本骨架的操作练熟了,摘掉辅助轮,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就能直接骑上真正的“整车”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53949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本课的实现是极度简化的教学版本,但接口设计的骨架和真实系统是一致的,理解了这一套,再看真实内核代码会觉得眼熟很多。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1125</Words>
  <Application>Microsoft Office PowerPoint</Application>
  <PresentationFormat>宽屏</PresentationFormat>
  <Paragraphs>244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等线</vt:lpstr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用户态与内核态科普</dc:title>
  <dc:subject>PptxGenJS Presentation</dc:subject>
  <dc:creator>PptxGenJS</dc:creator>
  <cp:lastModifiedBy>xin cai</cp:lastModifiedBy>
  <cp:revision>3</cp:revision>
  <dcterms:created xsi:type="dcterms:W3CDTF">2026-09-21T14:03:06Z</dcterms:created>
  <dcterms:modified xsi:type="dcterms:W3CDTF">2026-10-07T13:49:13Z</dcterms:modified>
</cp:coreProperties>
</file>