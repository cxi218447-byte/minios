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0"/>
  </p:notesMasterIdLst>
  <p:sldIdLst>
    <p:sldId id="294" r:id="rId2"/>
    <p:sldId id="295" r:id="rId3"/>
    <p:sldId id="296" r:id="rId4"/>
    <p:sldId id="257" r:id="rId5"/>
    <p:sldId id="256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7" r:id="rId35"/>
    <p:sldId id="290" r:id="rId36"/>
    <p:sldId id="291" r:id="rId37"/>
    <p:sldId id="292" r:id="rId38"/>
    <p:sldId id="293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6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19964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0898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animations/sum-1-to-n-demo.html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45720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45720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顺序结构 · 基础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554480"/>
            <a:ext cx="9601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顺序执行指令串</a:t>
            </a:r>
            <a:endParaRPr kumimoji="0" lang="en-US" sz="4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640080" y="288036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程序最基本的执行方式——指令按书写顺序，一条接一条运行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0080" y="4434840"/>
            <a:ext cx="8686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本节内容：先讲清楚“做什么”，再看“怎么写”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961120" y="63550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 / 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301752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Why · 功能定义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顺序执行指令串是什么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57200" y="1783080"/>
            <a:ext cx="103327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顺序执行指令串，是指指令按照书写的先后顺序、一条接一条地执行，中间不出现任何跳转、分支或循环的指令序列。它是程序最基础的组成单元。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323088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1270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352044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顺序执行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85800" y="4114800"/>
            <a:ext cx="277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PC 按顺序递增，每条指令仅执行一次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008120" y="3246120"/>
            <a:ext cx="323088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127000" dist="381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236720" y="352044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不含跳转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4236720" y="4114800"/>
            <a:ext cx="277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没有比较、分支或回跳类指令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7559040" y="3246120"/>
            <a:ext cx="3230880" cy="2514600"/>
          </a:xfrm>
          <a:prstGeom prst="roundRect">
            <a:avLst>
              <a:gd name="adj" fmla="val 2909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87640" y="3520440"/>
            <a:ext cx="2773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7787640" y="4114800"/>
            <a:ext cx="277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完成读取、运算、保存等任务，为分支/循环打基础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961120" y="63550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 / 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8346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 w="12700">
            <a:solidFill>
              <a:srgbClr val="0A4A6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How · 实现代码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 txBox="1"/>
          <p:nvPr/>
        </p:nvSpPr>
        <p:spPr>
          <a:xfrm>
            <a:off x="457200" y="9601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示例：计算 (a+b)×2 并保存结果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457200" y="169164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功能：已知整数 a、b，计算 (a + b) × 2，将结果存入内存变量 result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457200" y="2423160"/>
            <a:ext cx="6720840" cy="3794760"/>
          </a:xfrm>
          <a:prstGeom prst="roundRect">
            <a:avLst>
              <a:gd name="adj" fmla="val 1205"/>
            </a:avLst>
          </a:prstGeom>
          <a:solidFill>
            <a:srgbClr val="16222E"/>
          </a:solidFill>
          <a:ln w="12700">
            <a:solidFill>
              <a:srgbClr val="1622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743200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la.local $t0, result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7FA8B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取地址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777240" y="3273552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li.w     $t1, 10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7FA8B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a=10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77240" y="3803904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li.w     $t2, 20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7FA8B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b=20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77240" y="4334256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add.w    $t3,$t1,$t2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7FA8B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求和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777240" y="4864608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slli.w   $t3,$t3, 1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7FA8B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×2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777240" y="5394960"/>
            <a:ext cx="6172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st.w     $t3,$t0, 0  </a:t>
            </a:r>
            <a:r>
              <a:rPr kumimoji="0" lang="en-US" sz="2400" b="0" i="1" u="none" strike="noStrike" kern="1200" cap="none" spc="0" normalizeH="0" baseline="0" noProof="0" dirty="0">
                <a:ln>
                  <a:noFill/>
                </a:ln>
                <a:solidFill>
                  <a:srgbClr val="7FA8B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存结果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7452360" y="2423160"/>
            <a:ext cx="42519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653528" y="2606040"/>
            <a:ext cx="530352" cy="53035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653528" y="2606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8366760" y="255117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取地址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366760" y="2916936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定位 result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7452360" y="3374136"/>
            <a:ext cx="42519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7653528" y="3557016"/>
            <a:ext cx="530352" cy="53035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653528" y="355701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366760" y="350215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装入常数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8366760" y="3867912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读入 a、b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7452360" y="4325112"/>
            <a:ext cx="42519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7653528" y="4507992"/>
            <a:ext cx="530352" cy="53035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53528" y="450799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8366760" y="445312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相加×2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8366760" y="4818888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求和后左移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452360" y="5276088"/>
            <a:ext cx="4251960" cy="896112"/>
          </a:xfrm>
          <a:prstGeom prst="roundRect">
            <a:avLst>
              <a:gd name="adj" fmla="val 918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101600" dist="254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7653528" y="5458968"/>
            <a:ext cx="530352" cy="530352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653528" y="54589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366760" y="540410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写回内存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8366760" y="5769864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存入 result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961120" y="63550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 / 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· 课程定位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课程定位：从直线指令到结构化程序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zh-CN" alt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目前</a:t>
            </a:r>
            <a:r>
              <a:rPr lang="en-US" sz="2400" dirty="0" err="1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为止，学生能写直线指令序列。真实程序离不开“判断”和“重复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”——clear_bss 已是标准 while 结构，本课把它一般化为可复用的方法。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356616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7200" y="356616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  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310128" y="3977640"/>
            <a:ext cx="59436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9" name="Shape 7"/>
          <p:cNvSpPr/>
          <p:nvPr/>
        </p:nvSpPr>
        <p:spPr>
          <a:xfrm>
            <a:off x="4023360" y="356616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023360" y="356616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  </a:t>
            </a:r>
            <a:r>
              <a:rPr lang="en-US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</a:t>
            </a:r>
            <a:endParaRPr lang="en-US" sz="2800" dirty="0"/>
          </a:p>
        </p:txBody>
      </p:sp>
      <p:sp>
        <p:nvSpPr>
          <p:cNvPr id="11" name="Shape 9"/>
          <p:cNvSpPr/>
          <p:nvPr/>
        </p:nvSpPr>
        <p:spPr>
          <a:xfrm>
            <a:off x="457200" y="5029200"/>
            <a:ext cx="274320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6E3EC"/>
            </a:solidFill>
            <a:prstDash val="solid"/>
          </a:ln>
          <a:effectLst>
            <a:outerShdw blurRad="63500" dist="25400" dir="54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" y="502920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重复  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repetition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3310128" y="5440680"/>
            <a:ext cx="594360" cy="365760"/>
          </a:xfrm>
          <a:prstGeom prst="rightArrow">
            <a:avLst/>
          </a:prstGeom>
          <a:solidFill>
            <a:srgbClr val="1C7293"/>
          </a:solidFill>
          <a:ln/>
        </p:spPr>
      </p:sp>
      <p:sp>
        <p:nvSpPr>
          <p:cNvPr id="14" name="Shape 12"/>
          <p:cNvSpPr/>
          <p:nvPr/>
        </p:nvSpPr>
        <p:spPr>
          <a:xfrm>
            <a:off x="4023360" y="5029200"/>
            <a:ext cx="3657600" cy="1188720"/>
          </a:xfrm>
          <a:prstGeom prst="roundRect">
            <a:avLst>
              <a:gd name="adj" fmla="val 7692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023360" y="5029200"/>
            <a:ext cx="36576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循环  </a:t>
            </a:r>
            <a:r>
              <a:rPr lang="en-US" sz="2400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 + 回跳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8229600" y="3566160"/>
            <a:ext cx="3502152" cy="2651760"/>
          </a:xfrm>
          <a:prstGeom prst="roundRect">
            <a:avLst>
              <a:gd name="adj" fmla="val 3448"/>
            </a:avLst>
          </a:prstGeom>
          <a:solidFill>
            <a:srgbClr val="EAF3F8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58200" y="3566160"/>
            <a:ext cx="306324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6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关键联结
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clear_bss 已是标准</a:t>
            </a:r>
            <a:endParaRPr lang="en-US" sz="26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结构，本课一般化为通用方法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965471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zh-CN" alt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循环结构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4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分支循环指令基础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 err="1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分支、循环与汇编程序设计基础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教学目标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教学目标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78308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58368" y="1883664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58368" y="18836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417320" y="1783080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 b / beq / bne / beqz / bnez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2679192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8368" y="2779776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7797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417320" y="2679192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会把 if / while / for 译成汇编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575304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8368" y="3675888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" y="367588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417320" y="3575304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会写字符串扫描骨架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4471416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58368" y="4572000"/>
            <a:ext cx="566928" cy="566928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19" name="Text 17"/>
          <p:cNvSpPr/>
          <p:nvPr/>
        </p:nvSpPr>
        <p:spPr>
          <a:xfrm>
            <a:off x="658368" y="457200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417320" y="4471416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方法：先画流程图，再写指令，再模拟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5367528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58368" y="5468112"/>
            <a:ext cx="566928" cy="566928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3" name="Text 21"/>
          <p:cNvSpPr/>
          <p:nvPr/>
        </p:nvSpPr>
        <p:spPr>
          <a:xfrm>
            <a:off x="658368" y="54681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1417320" y="5367528"/>
            <a:ext cx="1005840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能指出死循环、漏更新、条件写反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课前准备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课前准备：if / while 通用流程图模板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457200" y="173736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课堂强制流程：先画这两张通用模板，再套进具体题目。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914400" y="228600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while 模板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554480" y="274320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2743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开始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2606040" y="329184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566160"/>
            <a:ext cx="3657600" cy="914400"/>
          </a:xfrm>
          <a:prstGeom prst="diamond">
            <a:avLst/>
          </a:prstGeom>
          <a:solidFill>
            <a:srgbClr val="F2A541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条件成立？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2606040" y="448056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3" name="Text 11"/>
          <p:cNvSpPr/>
          <p:nvPr/>
        </p:nvSpPr>
        <p:spPr>
          <a:xfrm>
            <a:off x="2148840" y="4407408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1280160" y="475488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5" name="Text 13"/>
          <p:cNvSpPr/>
          <p:nvPr/>
        </p:nvSpPr>
        <p:spPr>
          <a:xfrm>
            <a:off x="1280160" y="4754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循环体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1280160" y="5394960"/>
            <a:ext cx="292608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3949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步进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02920" y="5669280"/>
            <a:ext cx="777240" cy="0"/>
          </a:xfrm>
          <a:prstGeom prst="line">
            <a:avLst/>
          </a:prstGeom>
          <a:noFill/>
          <a:ln w="25400">
            <a:solidFill>
              <a:srgbClr val="3E4E5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4023360"/>
            <a:ext cx="0" cy="1645920"/>
          </a:xfrm>
          <a:prstGeom prst="line">
            <a:avLst/>
          </a:prstGeom>
          <a:noFill/>
          <a:ln w="25400">
            <a:solidFill>
              <a:srgbClr val="3E4E5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20" y="3913632"/>
            <a:ext cx="320040" cy="228600"/>
          </a:xfrm>
          <a:prstGeom prst="rightArrow">
            <a:avLst/>
          </a:prstGeom>
          <a:solidFill>
            <a:srgbClr val="3E4E5C"/>
          </a:solidFill>
          <a:ln/>
        </p:spPr>
      </p:sp>
      <p:sp>
        <p:nvSpPr>
          <p:cNvPr id="21" name="Text 19"/>
          <p:cNvSpPr/>
          <p:nvPr/>
        </p:nvSpPr>
        <p:spPr>
          <a:xfrm>
            <a:off x="297181" y="4447903"/>
            <a:ext cx="777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i="1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回跳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4617720" y="361188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否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4617720" y="3950208"/>
            <a:ext cx="457200" cy="228600"/>
          </a:xfrm>
          <a:prstGeom prst="rightArrow">
            <a:avLst/>
          </a:prstGeom>
          <a:solidFill>
            <a:srgbClr val="3E4E5C"/>
          </a:solidFill>
          <a:ln/>
        </p:spPr>
      </p:sp>
      <p:sp>
        <p:nvSpPr>
          <p:cNvPr id="24" name="Shape 22"/>
          <p:cNvSpPr/>
          <p:nvPr/>
        </p:nvSpPr>
        <p:spPr>
          <a:xfrm>
            <a:off x="5120640" y="3730752"/>
            <a:ext cx="1554480" cy="640080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25" name="Text 23"/>
          <p:cNvSpPr/>
          <p:nvPr/>
        </p:nvSpPr>
        <p:spPr>
          <a:xfrm>
            <a:off x="5120640" y="3730752"/>
            <a:ext cx="1554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结束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6675120" y="228600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0A4A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if-else 模板</a:t>
            </a:r>
            <a:endParaRPr lang="en-US" sz="2600" dirty="0"/>
          </a:p>
        </p:txBody>
      </p:sp>
      <p:sp>
        <p:nvSpPr>
          <p:cNvPr id="27" name="Shape 25"/>
          <p:cNvSpPr/>
          <p:nvPr/>
        </p:nvSpPr>
        <p:spPr>
          <a:xfrm>
            <a:off x="7543800" y="2743200"/>
            <a:ext cx="2377440" cy="548640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28" name="Text 26"/>
          <p:cNvSpPr/>
          <p:nvPr/>
        </p:nvSpPr>
        <p:spPr>
          <a:xfrm>
            <a:off x="7543800" y="274320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开始</a:t>
            </a:r>
            <a:endParaRPr lang="en-US" sz="2400" dirty="0"/>
          </a:p>
        </p:txBody>
      </p:sp>
      <p:sp>
        <p:nvSpPr>
          <p:cNvPr id="29" name="Shape 27"/>
          <p:cNvSpPr/>
          <p:nvPr/>
        </p:nvSpPr>
        <p:spPr>
          <a:xfrm>
            <a:off x="8595360" y="329184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30" name="Shape 28"/>
          <p:cNvSpPr/>
          <p:nvPr/>
        </p:nvSpPr>
        <p:spPr>
          <a:xfrm>
            <a:off x="6903720" y="3566160"/>
            <a:ext cx="3657600" cy="914400"/>
          </a:xfrm>
          <a:prstGeom prst="diamond">
            <a:avLst/>
          </a:prstGeom>
          <a:solidFill>
            <a:srgbClr val="F2A541"/>
          </a:solidFill>
          <a:ln/>
        </p:spPr>
      </p:sp>
      <p:sp>
        <p:nvSpPr>
          <p:cNvPr id="31" name="Text 29"/>
          <p:cNvSpPr/>
          <p:nvPr/>
        </p:nvSpPr>
        <p:spPr>
          <a:xfrm>
            <a:off x="6903720" y="3566160"/>
            <a:ext cx="3657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B1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条件？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7269480" y="4413939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是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7772400" y="452628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34" name="Shape 32"/>
          <p:cNvSpPr/>
          <p:nvPr/>
        </p:nvSpPr>
        <p:spPr>
          <a:xfrm>
            <a:off x="7040880" y="480060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35" name="Text 33"/>
          <p:cNvSpPr/>
          <p:nvPr/>
        </p:nvSpPr>
        <p:spPr>
          <a:xfrm>
            <a:off x="7040880" y="4800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9790611" y="4434840"/>
            <a:ext cx="411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否</a:t>
            </a:r>
            <a:endParaRPr lang="en-US" sz="2400" dirty="0"/>
          </a:p>
        </p:txBody>
      </p:sp>
      <p:sp>
        <p:nvSpPr>
          <p:cNvPr id="37" name="Shape 35"/>
          <p:cNvSpPr/>
          <p:nvPr/>
        </p:nvSpPr>
        <p:spPr>
          <a:xfrm>
            <a:off x="9418320" y="4526280"/>
            <a:ext cx="274320" cy="22860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38" name="Shape 36"/>
          <p:cNvSpPr/>
          <p:nvPr/>
        </p:nvSpPr>
        <p:spPr>
          <a:xfrm>
            <a:off x="8686800" y="4800600"/>
            <a:ext cx="1737360" cy="548640"/>
          </a:xfrm>
          <a:prstGeom prst="roundRect">
            <a:avLst>
              <a:gd name="adj" fmla="val 16667"/>
            </a:avLst>
          </a:prstGeom>
          <a:solidFill>
            <a:srgbClr val="1C7293"/>
          </a:solidFill>
          <a:ln/>
        </p:spPr>
      </p:sp>
      <p:sp>
        <p:nvSpPr>
          <p:cNvPr id="39" name="Text 37"/>
          <p:cNvSpPr/>
          <p:nvPr/>
        </p:nvSpPr>
        <p:spPr>
          <a:xfrm>
            <a:off x="8686800" y="480060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else</a:t>
            </a:r>
            <a:endParaRPr lang="en-US" sz="2400" dirty="0"/>
          </a:p>
        </p:txBody>
      </p:sp>
      <p:sp>
        <p:nvSpPr>
          <p:cNvPr id="40" name="Shape 38"/>
          <p:cNvSpPr/>
          <p:nvPr/>
        </p:nvSpPr>
        <p:spPr>
          <a:xfrm>
            <a:off x="7772400" y="5394960"/>
            <a:ext cx="274320" cy="201168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41" name="Shape 39"/>
          <p:cNvSpPr/>
          <p:nvPr/>
        </p:nvSpPr>
        <p:spPr>
          <a:xfrm>
            <a:off x="9418320" y="5394960"/>
            <a:ext cx="274320" cy="201168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42" name="Shape 40"/>
          <p:cNvSpPr/>
          <p:nvPr/>
        </p:nvSpPr>
        <p:spPr>
          <a:xfrm>
            <a:off x="7452360" y="5623560"/>
            <a:ext cx="2560320" cy="548640"/>
          </a:xfrm>
          <a:prstGeom prst="roundRect">
            <a:avLst>
              <a:gd name="adj" fmla="val 50000"/>
            </a:avLst>
          </a:prstGeom>
          <a:solidFill>
            <a:srgbClr val="0A4A6E"/>
          </a:solidFill>
          <a:ln/>
        </p:spPr>
      </p:sp>
      <p:sp>
        <p:nvSpPr>
          <p:cNvPr id="43" name="Text 41"/>
          <p:cNvSpPr/>
          <p:nvPr/>
        </p:nvSpPr>
        <p:spPr>
          <a:xfrm>
            <a:off x="7452360" y="5623560"/>
            <a:ext cx="2560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结束（endif）</a:t>
            </a:r>
            <a:endParaRPr lang="en-US" sz="2400" dirty="0"/>
          </a:p>
        </p:txBody>
      </p:sp>
      <p:sp>
        <p:nvSpPr>
          <p:cNvPr id="44" name="Text 42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4.1 · 指令一览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控制流指令家族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8745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 L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5074920" y="19933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49240" y="18745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 L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27889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27889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 rs, rt, L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5074920" y="29077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49240" y="27889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(rs==rt) goto L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7033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31520" y="37033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bne rs, rt, L</a:t>
            </a:r>
            <a:endParaRPr lang="en-US" sz="2600" dirty="0"/>
          </a:p>
        </p:txBody>
      </p:sp>
      <p:sp>
        <p:nvSpPr>
          <p:cNvPr id="15" name="Shape 13"/>
          <p:cNvSpPr/>
          <p:nvPr/>
        </p:nvSpPr>
        <p:spPr>
          <a:xfrm>
            <a:off x="5074920" y="38221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49240" y="37033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(rs!=rt) goto L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457200" y="46177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31520" y="46177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rs, L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5074920" y="47365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49240" y="46177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(rs==0) goto L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457200" y="5532120"/>
            <a:ext cx="11247120" cy="768096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31520" y="5532120"/>
            <a:ext cx="420624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bnez rs, L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5074920" y="5650992"/>
            <a:ext cx="0" cy="530352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49240" y="5532120"/>
            <a:ext cx="6126480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(rs!=0) goto L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补充 · 伪指令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真实指令 vs 伪指令：认识 move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9164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move、nop 这类写法，CPU 并不会直接译码执行——汇编器会把它们展开成一条真实指令，方便书写。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78892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85800" y="278892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$a1, $zero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3794760" y="289864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77640" y="278892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$a1, $zero, $zero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8183880" y="289864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278892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寄存器搬移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457200" y="374904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85800" y="374904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nop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3794760" y="385876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77640" y="374904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andi $zero, $zero, 0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8183880" y="385876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1040" y="374904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空操作，占位</a:t>
            </a:r>
            <a:endParaRPr lang="en-US" sz="2400" dirty="0"/>
          </a:p>
        </p:txBody>
      </p:sp>
      <p:sp>
        <p:nvSpPr>
          <p:cNvPr id="19" name="Shape 17"/>
          <p:cNvSpPr/>
          <p:nvPr/>
        </p:nvSpPr>
        <p:spPr>
          <a:xfrm>
            <a:off x="457200" y="4709160"/>
            <a:ext cx="11247120" cy="8229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85800" y="4709160"/>
            <a:ext cx="3017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A4A6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jr $ra</a:t>
            </a:r>
            <a:endParaRPr lang="en-US" sz="2400" dirty="0"/>
          </a:p>
        </p:txBody>
      </p:sp>
      <p:sp>
        <p:nvSpPr>
          <p:cNvPr id="21" name="Shape 19"/>
          <p:cNvSpPr/>
          <p:nvPr/>
        </p:nvSpPr>
        <p:spPr>
          <a:xfrm>
            <a:off x="3794760" y="481888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77640" y="470916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3E4E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jirl $zero, $ra, 0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8183880" y="4818888"/>
            <a:ext cx="0" cy="594360"/>
          </a:xfrm>
          <a:prstGeom prst="line">
            <a:avLst/>
          </a:prstGeom>
          <a:noFill/>
          <a:ln w="190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321040" y="4709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函数返回（后续课用）</a:t>
            </a:r>
            <a:endParaRPr lang="en-US" sz="2400" dirty="0"/>
          </a:p>
        </p:txBody>
      </p:sp>
      <p:sp>
        <p:nvSpPr>
          <p:cNvPr id="25" name="Shape 23"/>
          <p:cNvSpPr/>
          <p:nvPr/>
        </p:nvSpPr>
        <p:spPr>
          <a:xfrm>
            <a:off x="457200" y="5806440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80644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b、beq、bne、beqz、bnez 都是真实硬件指令，不是伪指令。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局部标号：1b 与 2f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0A4A6E"/>
          </a:solidFill>
          <a:ln/>
          <a:effectLst>
            <a:outerShdw blurRad="635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31520" y="16916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1b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468880" y="169164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
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向后查找数字标号 1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6309360" y="1645920"/>
            <a:ext cx="5394960" cy="1188720"/>
          </a:xfrm>
          <a:prstGeom prst="roundRect">
            <a:avLst>
              <a:gd name="adj" fmla="val 9231"/>
            </a:avLst>
          </a:prstGeom>
          <a:solidFill>
            <a:srgbClr val="1C7293"/>
          </a:solidFill>
          <a:ln/>
          <a:effectLst>
            <a:outerShdw blurRad="63500" dist="25400" dir="5400000" algn="bl" rotWithShape="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83680" y="169164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2f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8321040" y="169164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400" b="1" dirty="0">
                <a:solidFill>
                  <a:srgbClr val="CFE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
</a:t>
            </a: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向前查找数字标号 2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13232" y="31181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示例：字符串遍历里的 1b / 2f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713232" y="35753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$t0, $a0, 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深入理解 1b / 2f：编号可以在文件里重复用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核心规则：b 1b 只找往前最近的 1:；b 2f 只找往后最近的 2:。出了这段代码，编号就能重复用，不像具名标号要求全文件唯一。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980944"/>
            <a:ext cx="5020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代码位置 A（clear_bss 片段）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43814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st.b    $zero, $t0, 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$t0, $t0, 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28232" y="2980944"/>
            <a:ext cx="5020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代码位置 B（隔很远的另一段）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28232" y="343814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$t1, $a0, 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$t1,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为什么不会跳错？b / f 只认“方向 + 最近”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A 里的 b 1b：</a:t>
            </a: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从这条 b 指令往前扫描，遇到的第一个 1: 就是它自己上面那个，不会扫描到很远的位置 B。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EAF3F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375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B 里的 b 1b：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同理，只找它自己上面最近的 1:，跟位置 A 完全无关，两段代码互不干扰。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49377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49377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好处：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写短循环时不用绞尽脑汁取新名字，直接用 1/2 就行；每段循环的标号作用域天然是局部的。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 2f 同理：只找“往后最近”的那个 2: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beqz ..., 2f 不是只能用在循环退出——只要是“往后跳”，不管是跳出循环还是跳过一段 then，2f 都只认当前指令往后最近的那个 2:。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83464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980944"/>
            <a:ext cx="5020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C（循环提前退出）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713232" y="343814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add.d   $a1, $a1, $a0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-1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6172200" y="283464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28232" y="2980944"/>
            <a:ext cx="50200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D（if 无 else，跳过 then）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6428232" y="343814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2f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$zero, 1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then 部分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lang="en-US" sz="2400" dirty="0"/>
          </a:p>
          <a:p>
            <a:pPr marL="0" indent="0" algn="l">
              <a:lnSpc>
                <a:spcPct val="122000"/>
              </a:lnSpc>
              <a:buNone/>
            </a:pPr>
            <a:r>
              <a:rPr lang="en-US" sz="2400" dirty="0">
                <a:solidFill>
                  <a:srgbClr val="CFE8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后续代码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603504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6035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· 局部标号（补充）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622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位置 C / D 的 2f 各找各的，互不影响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8A5A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C 里的 beqz $a0, 2f：</a:t>
            </a:r>
            <a:r>
              <a:rPr lang="en-US" sz="2400" dirty="0">
                <a:solidFill>
                  <a:srgbClr val="6B58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从这条指令往后扫描，第一个遇到的 2: 就是循环自己的退出点，不会跳到位置 D 那边去。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33375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EAF3F8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33375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0A4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位置 D 里的 beqz $a0, 2f：</a:t>
            </a:r>
            <a:r>
              <a:rPr lang="en-US" sz="2400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同理，只跳到它自己后面最近的 2:，也就是 then 部分结束的地方，与位置 C 的循环无关。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457200" y="49377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31520" y="4937760"/>
            <a:ext cx="1069848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1622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小结：</a:t>
            </a:r>
            <a:r>
              <a:rPr lang="en-US" sz="2400" dirty="0">
                <a:solidFill>
                  <a:srgbClr val="3E4E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1b/2f 的 b/f 只表示“往哪个方向找”，具体用途（跳出循环、跳过 then……）由代码逻辑决定，标号本身不携带任何语义。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2400" dirty="0">
                <a:solidFill>
                  <a:srgbClr val="9AAA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部分 / 4</a:t>
            </a:r>
            <a:endParaRPr lang="en-US" sz="2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部分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结构化模板精讲 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配实际例题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week05 · 分支、循环与汇编程序设计基础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本部分内容：while / if-else / </a:t>
            </a:r>
            <a:r>
              <a:rPr kumimoji="0" lang="en-US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字符串遍历模板；回看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clear_bss；设计方法五问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结构化模板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while 计数模板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00200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465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 $a0 = n，执行 n 次 body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037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... body ...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-1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544068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5440680"/>
            <a:ext cx="106984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8A5A0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循环 = 判 + 体 + 步进 + 回跳
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下一页用 sum = 1..n 把这个模板套成一道完整例题。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例题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例题：sum = 1..n（套用 while 模板）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868680"/>
          </a:xfrm>
          <a:prstGeom prst="roundRect">
            <a:avLst>
              <a:gd name="adj" fmla="val 1052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题目：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求 1+2+…+n 的和。n 由 $a0 传入，和通过 $a0 返回。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8895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伪代码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3467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 =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 (n != 0) {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sum += 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 -=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sum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例题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例题：sum = 1..n（汇编实现）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4663440"/>
          </a:xfrm>
          <a:prstGeom prst="roundRect">
            <a:avLst>
              <a:gd name="adj" fmla="val 156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汇编（$a1 存累加和，用 move 回填 $a0 返回）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1073505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add.d   $a1, $a1, $a0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-1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4.4 · 寄存器模拟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寄存器模拟：sum = 1..n（n = 3）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73736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阶段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194560" y="1737360"/>
            <a:ext cx="210312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1737360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$a0 (n)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297680" y="1737360"/>
            <a:ext cx="228600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737360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$a1 (sum)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583680" y="1737360"/>
            <a:ext cx="5120640" cy="621792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173736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动作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359152"/>
            <a:ext cx="173736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359152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初始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94560" y="2359152"/>
            <a:ext cx="210312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2359152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297680" y="2359152"/>
            <a:ext cx="228600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89120" y="2359152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583680" y="2359152"/>
            <a:ext cx="512064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0" y="2359152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 $a1,$zero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2980944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2980944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第①轮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194560" y="2980944"/>
            <a:ext cx="21031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2980944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3→2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297680" y="2980944"/>
            <a:ext cx="22860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89120" y="2980944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0→3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583680" y="2980944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75120" y="2980944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sum+=3，n-=1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3602736"/>
            <a:ext cx="173736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3602736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第②轮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2194560" y="3602736"/>
            <a:ext cx="210312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0" y="3602736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2→1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4297680" y="3602736"/>
            <a:ext cx="228600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89120" y="3602736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3→5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583680" y="3602736"/>
            <a:ext cx="5120640" cy="621792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675120" y="3602736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sum+=2，n-=1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7200" y="4224528"/>
            <a:ext cx="173736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8640" y="4224528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第③轮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Shape 37"/>
          <p:cNvSpPr/>
          <p:nvPr/>
        </p:nvSpPr>
        <p:spPr>
          <a:xfrm>
            <a:off x="2194560" y="4224528"/>
            <a:ext cx="210312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86000" y="4224528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1→0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4297680" y="4224528"/>
            <a:ext cx="228600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389120" y="4224528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5→6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6583680" y="4224528"/>
            <a:ext cx="5120640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75120" y="4224528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sum+=1，n-=1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Shape 43"/>
          <p:cNvSpPr/>
          <p:nvPr/>
        </p:nvSpPr>
        <p:spPr>
          <a:xfrm>
            <a:off x="457200" y="4846320"/>
            <a:ext cx="1737360" cy="621792"/>
          </a:xfrm>
          <a:prstGeom prst="rect">
            <a:avLst/>
          </a:prstGeom>
          <a:solidFill>
            <a:srgbClr val="FDF3E4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846320"/>
            <a:ext cx="155448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结束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2194560" y="4846320"/>
            <a:ext cx="2103120" cy="621792"/>
          </a:xfrm>
          <a:prstGeom prst="rect">
            <a:avLst/>
          </a:prstGeom>
          <a:solidFill>
            <a:srgbClr val="FDF3E4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286000" y="4846320"/>
            <a:ext cx="192024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Shape 47"/>
          <p:cNvSpPr/>
          <p:nvPr/>
        </p:nvSpPr>
        <p:spPr>
          <a:xfrm>
            <a:off x="4297680" y="4846320"/>
            <a:ext cx="2286000" cy="621792"/>
          </a:xfrm>
          <a:prstGeom prst="rect">
            <a:avLst/>
          </a:prstGeom>
          <a:solidFill>
            <a:srgbClr val="FDF3E4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389120" y="4846320"/>
            <a:ext cx="2103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Shape 49"/>
          <p:cNvSpPr/>
          <p:nvPr/>
        </p:nvSpPr>
        <p:spPr>
          <a:xfrm>
            <a:off x="6583680" y="4846320"/>
            <a:ext cx="5120640" cy="621792"/>
          </a:xfrm>
          <a:prstGeom prst="rect">
            <a:avLst/>
          </a:prstGeom>
          <a:solidFill>
            <a:srgbClr val="FDF3E4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0" y="4846320"/>
            <a:ext cx="49377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beqz 真 →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457200" y="562356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85800" y="5623560"/>
            <a:ext cx="10789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$a0 归零时循环结束，$a1 = 6 就是 1+2+3，move 到 $a0 返回。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结构化模板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汇编精讲：if-else 模板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else_part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then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endif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else_part: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else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5074920"/>
            <a:ext cx="1124712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5074920"/>
            <a:ext cx="1069848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强调重点：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then 分支结束要 b endif 跳过 else，否则两条路径都会执行。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例题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例题：判断 $a0 是否非 0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题目：$a0 非 0 则结果为 1，否则结果为 0，结果放回 $a0。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606040"/>
            <a:ext cx="11247120" cy="3657600"/>
          </a:xfrm>
          <a:prstGeom prst="roundRect">
            <a:avLst>
              <a:gd name="adj" fmla="val 2000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752344"/>
            <a:ext cx="10735056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bnez    $a0, nonzero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$zero    # else: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endif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nonzero: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$zero, 1  # then: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endif: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结构化模板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汇编精讲：字符串遍历模板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27632"/>
            <a:ext cx="11247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4650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 $a0 指向 C 字符串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03704"/>
            <a:ext cx="10735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$t0, $a0,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处理 $t0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5532120"/>
            <a:ext cx="1124712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5532120"/>
            <a:ext cx="106984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共同骨架：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读字节→判'\0'→处理→指针++→回跳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7C1F0685-FA2C-A493-C5AC-08AF52E67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3254905"/>
              </p:ext>
            </p:extLst>
          </p:nvPr>
        </p:nvGraphicFramePr>
        <p:xfrm>
          <a:off x="6278880" y="944033"/>
          <a:ext cx="500887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554">
                  <a:extLst>
                    <a:ext uri="{9D8B030D-6E8A-4147-A177-3AD203B41FA5}">
                      <a16:colId xmlns:a16="http://schemas.microsoft.com/office/drawing/2014/main" val="2748709780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719325870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2161762462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3640824301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1287237665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3391009984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3461260875"/>
                    </a:ext>
                  </a:extLst>
                </a:gridCol>
              </a:tblGrid>
              <a:tr h="489374"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a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p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p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l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3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zh-CN" altLang="en-US" sz="28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…</a:t>
                      </a:r>
                      <a:endParaRPr lang="zh-CN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7416477"/>
                  </a:ext>
                </a:extLst>
              </a:tr>
            </a:tbl>
          </a:graphicData>
        </a:graphic>
      </p:graphicFrame>
      <p:sp>
        <p:nvSpPr>
          <p:cNvPr id="12" name="文本框 11">
            <a:extLst>
              <a:ext uri="{FF2B5EF4-FFF2-40B4-BE49-F238E27FC236}">
                <a16:creationId xmlns:a16="http://schemas.microsoft.com/office/drawing/2014/main" id="{FBE3BA62-5809-6B7E-16A4-C6D8F54D4A1F}"/>
              </a:ext>
            </a:extLst>
          </p:cNvPr>
          <p:cNvSpPr txBox="1"/>
          <p:nvPr/>
        </p:nvSpPr>
        <p:spPr>
          <a:xfrm>
            <a:off x="6339842" y="224104"/>
            <a:ext cx="883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$a0</a:t>
            </a:r>
            <a:endParaRPr lang="zh-CN" altLang="en-US" sz="2400" dirty="0"/>
          </a:p>
        </p:txBody>
      </p: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B40C89F0-8C0E-E0F3-B68C-78620F1A6C3C}"/>
              </a:ext>
            </a:extLst>
          </p:cNvPr>
          <p:cNvCxnSpPr/>
          <p:nvPr/>
        </p:nvCxnSpPr>
        <p:spPr>
          <a:xfrm>
            <a:off x="6624320" y="685769"/>
            <a:ext cx="0" cy="258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例题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例题：strlen("AB") 骨架实现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4937760"/>
          </a:xfrm>
          <a:prstGeom prst="roundRect">
            <a:avLst>
              <a:gd name="adj" fmla="val 148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strlen 骨架（Task B 参考）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10735056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      # len =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ld.bu   $t0, $a0,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$a1, $a1,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        # 返回 len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926D3283-E29E-3BEC-B73E-7772AC23ED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8698363"/>
              </p:ext>
            </p:extLst>
          </p:nvPr>
        </p:nvGraphicFramePr>
        <p:xfrm>
          <a:off x="6278880" y="944033"/>
          <a:ext cx="5008878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15554">
                  <a:extLst>
                    <a:ext uri="{9D8B030D-6E8A-4147-A177-3AD203B41FA5}">
                      <a16:colId xmlns:a16="http://schemas.microsoft.com/office/drawing/2014/main" val="2748709780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719325870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2161762462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3640824301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1287237665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3391009984"/>
                    </a:ext>
                  </a:extLst>
                </a:gridCol>
                <a:gridCol w="715554">
                  <a:extLst>
                    <a:ext uri="{9D8B030D-6E8A-4147-A177-3AD203B41FA5}">
                      <a16:colId xmlns:a16="http://schemas.microsoft.com/office/drawing/2014/main" val="3461260875"/>
                    </a:ext>
                  </a:extLst>
                </a:gridCol>
              </a:tblGrid>
              <a:tr h="489374"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A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B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zh-CN" altLang="en-US" sz="28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L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3</a:t>
                      </a:r>
                      <a:endParaRPr lang="zh-CN" altLang="en-US" sz="2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>
                          <a:solidFill>
                            <a:srgbClr val="FF0000"/>
                          </a:solidFill>
                        </a:rPr>
                        <a:t>0</a:t>
                      </a:r>
                      <a:endParaRPr lang="zh-CN" altLang="en-US" sz="28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2800" dirty="0"/>
                        <a:t>…</a:t>
                      </a:r>
                      <a:endParaRPr lang="zh-CN" altLang="en-US" sz="2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7416477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0112F75D-E161-20DC-D514-22FBF1D44884}"/>
              </a:ext>
            </a:extLst>
          </p:cNvPr>
          <p:cNvSpPr txBox="1"/>
          <p:nvPr/>
        </p:nvSpPr>
        <p:spPr>
          <a:xfrm>
            <a:off x="6339842" y="224104"/>
            <a:ext cx="883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/>
              <a:t>$a0</a:t>
            </a:r>
            <a:endParaRPr lang="zh-CN" altLang="en-US" sz="2400" dirty="0"/>
          </a:p>
        </p:txBody>
      </p: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CCF7AA8D-5188-BE98-13FD-A4CC41410DEA}"/>
              </a:ext>
            </a:extLst>
          </p:cNvPr>
          <p:cNvCxnSpPr/>
          <p:nvPr/>
        </p:nvCxnSpPr>
        <p:spPr>
          <a:xfrm>
            <a:off x="6624320" y="685769"/>
            <a:ext cx="0" cy="2582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寄存器模拟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例题：strlen("AB") 逐字节走查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73736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字节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2194560" y="1737360"/>
            <a:ext cx="173736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286000" y="173736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$t0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3931920" y="1737360"/>
            <a:ext cx="210312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23360" y="173736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len ($a1)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6035040" y="1737360"/>
            <a:ext cx="5669280" cy="777240"/>
          </a:xfrm>
          <a:prstGeom prst="rect">
            <a:avLst/>
          </a:prstGeom>
          <a:solidFill>
            <a:srgbClr val="0A4A6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6480" y="173736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动作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2514600"/>
            <a:ext cx="17373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251460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'A'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2194560" y="2514600"/>
            <a:ext cx="17373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6000" y="251460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0x41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3931920" y="2514600"/>
            <a:ext cx="210312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23360" y="251460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→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035040" y="2514600"/>
            <a:ext cx="566928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126480" y="251460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非 0，len+1，指针+1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3291840"/>
            <a:ext cx="1737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2918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'B'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2194560" y="3291840"/>
            <a:ext cx="173736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286000" y="329184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0x42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931920" y="3291840"/>
            <a:ext cx="210312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023360" y="329184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→ 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6035040" y="3291840"/>
            <a:ext cx="5669280" cy="777240"/>
          </a:xfrm>
          <a:prstGeom prst="rect">
            <a:avLst/>
          </a:prstGeom>
          <a:solidFill>
            <a:srgbClr val="FFFFFF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26480" y="329184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非 0，len+1，指针+1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4069080"/>
            <a:ext cx="17373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406908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'\0'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2194560" y="4069080"/>
            <a:ext cx="173736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0" y="4069080"/>
            <a:ext cx="1554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0x00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3931920" y="4069080"/>
            <a:ext cx="210312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023360" y="4069080"/>
            <a:ext cx="1920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6035040" y="4069080"/>
            <a:ext cx="5669280" cy="777240"/>
          </a:xfrm>
          <a:prstGeom prst="rect">
            <a:avLst/>
          </a:prstGeom>
          <a:solidFill>
            <a:srgbClr val="EAF3F8"/>
          </a:solidFill>
          <a:ln w="6350">
            <a:solidFill>
              <a:srgbClr val="D6E3E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0" y="4069080"/>
            <a:ext cx="54864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为 0，跳出循环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Shape 35"/>
          <p:cNvSpPr/>
          <p:nvPr/>
        </p:nvSpPr>
        <p:spPr>
          <a:xfrm>
            <a:off x="457200" y="5166360"/>
            <a:ext cx="11247120" cy="1417320"/>
          </a:xfrm>
          <a:prstGeom prst="roundRect">
            <a:avLst>
              <a:gd name="adj" fmla="val 6452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166360"/>
            <a:ext cx="1078992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8A5A0A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字符串 "AB\0"：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读到 'A'、'B' 都非 0，len 累加；读到 '\0' 才跳出，最终 len = 2。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4.3 · 结构化模板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回看 clear_bss：与 while 模板对照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clear_bss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    $t0,$t1,2f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st.b   $zero,$t0,0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addi.d $t0,$t0,1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532120" cy="374904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00800" y="1874520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条件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7680960" y="1874520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游标未到终点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/>
          <p:nvPr/>
        </p:nvSpPr>
        <p:spPr>
          <a:xfrm>
            <a:off x="6400800" y="3044952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体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7680960" y="3044952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写 0（st.b）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6400800" y="4215384"/>
            <a:ext cx="1371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步进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7680960" y="4215384"/>
            <a:ext cx="3840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地址 +1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553212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/>
        </p:spPr>
      </p:sp>
      <p:sp>
        <p:nvSpPr>
          <p:cNvPr id="16" name="Text 14"/>
          <p:cNvSpPr/>
          <p:nvPr/>
        </p:nvSpPr>
        <p:spPr>
          <a:xfrm>
            <a:off x="731520" y="5532120"/>
            <a:ext cx="10698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与 while 模板同构：条件 = n==0？体 = body，步进 = n − 1。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4.4 · 设计方法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写程序前强制五问 —— 用 sum=1..n 自查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1792" y="1874520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" name="Text 5"/>
          <p:cNvSpPr/>
          <p:nvPr/>
        </p:nvSpPr>
        <p:spPr>
          <a:xfrm>
            <a:off x="621792" y="18745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/>
          <p:nvPr/>
        </p:nvSpPr>
        <p:spPr>
          <a:xfrm>
            <a:off x="1371600" y="1737360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输入在哪些寄存器？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6583680" y="1737360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= n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2706624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1792" y="2843784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" y="2843784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1371600" y="2706624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输出写到哪里？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6583680" y="2706624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$a0（末尾 move 回填）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57200" y="3675888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1792" y="3813048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813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1371600" y="3675888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哪些寄存器可作临时？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583680" y="3675888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$a1 存累加和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4645152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1792" y="4782312"/>
            <a:ext cx="548640" cy="548640"/>
          </a:xfrm>
          <a:prstGeom prst="ellipse">
            <a:avLst/>
          </a:prstGeom>
          <a:solidFill>
            <a:srgbClr val="F2A541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" y="4782312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1371600" y="4645152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循环不变量是什么？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6583680" y="4645152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$a1 = 已加过的数之和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5614416"/>
            <a:ext cx="11247120" cy="868680"/>
          </a:xfrm>
          <a:prstGeom prst="roundRect">
            <a:avLst>
              <a:gd name="adj" fmla="val 9474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50800" dist="12700" dir="5400000" algn="bl" rotWithShape="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1792" y="5751576"/>
            <a:ext cx="548640" cy="54864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" y="5751576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1371600" y="5614416"/>
            <a:ext cx="51206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是否必然终止？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/>
          <p:nvPr/>
        </p:nvSpPr>
        <p:spPr>
          <a:xfrm>
            <a:off x="6583680" y="5614416"/>
            <a:ext cx="4937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$a0 每轮减 1，终会为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2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754880" cy="475488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Shape 1"/>
          <p:cNvSpPr/>
          <p:nvPr/>
        </p:nvSpPr>
        <p:spPr>
          <a:xfrm>
            <a:off x="1078992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457200"/>
            <a:ext cx="3291840" cy="502920"/>
          </a:xfrm>
          <a:prstGeom prst="roundRect">
            <a:avLst>
              <a:gd name="adj" fmla="val 49091"/>
            </a:avLst>
          </a:prstGeom>
          <a:solidFill>
            <a:srgbClr val="F2A541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57200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</a:t>
            </a: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0B1E3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部分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100584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课堂 Demo ·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实验实践实例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week05 · 分支、循环与汇编程序设计基础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85800" y="4251960"/>
            <a:ext cx="3291840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4434840"/>
            <a:ext cx="10698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7DAE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本部分内容：师生共译 sum=1..n；故意写错找死循环；clear_bss 与 strlen 结构同构；Task A–D 起始代码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· 课堂演示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Demo 1 · 师生共译：sum = 1..n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题目：求 1+2+…+n 的和。n 由 $a0 传入，和通过 $a0 返回。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0A4A6E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743200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自然语言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641848" y="3364992"/>
            <a:ext cx="274320" cy="13716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3502152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1C7293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502152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流程图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641848" y="4123944"/>
            <a:ext cx="274320" cy="13716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3" name="Shape 11"/>
          <p:cNvSpPr/>
          <p:nvPr/>
        </p:nvSpPr>
        <p:spPr>
          <a:xfrm>
            <a:off x="457200" y="4261104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0A4A6E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261104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伪代码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641848" y="4882896"/>
            <a:ext cx="274320" cy="13716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5020056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1C7293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5020056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汇编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5641848" y="5641848"/>
            <a:ext cx="274320" cy="137160"/>
          </a:xfrm>
          <a:prstGeom prst="downArrow">
            <a:avLst/>
          </a:prstGeom>
          <a:solidFill>
            <a:srgbClr val="3E4E5C"/>
          </a:solidFill>
          <a:ln/>
        </p:spPr>
      </p:sp>
      <p:sp>
        <p:nvSpPr>
          <p:cNvPr id="19" name="Shape 17"/>
          <p:cNvSpPr/>
          <p:nvPr/>
        </p:nvSpPr>
        <p:spPr>
          <a:xfrm>
            <a:off x="457200" y="5779008"/>
            <a:ext cx="11247120" cy="621792"/>
          </a:xfrm>
          <a:prstGeom prst="roundRect">
            <a:avLst>
              <a:gd name="adj" fmla="val 13235"/>
            </a:avLst>
          </a:prstGeom>
          <a:solidFill>
            <a:srgbClr val="F2A541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5779008"/>
            <a:ext cx="112471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寄存器模拟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BADB139B-47F7-E75F-113F-08B180715989}"/>
              </a:ext>
            </a:extLst>
          </p:cNvPr>
          <p:cNvSpPr txBox="1"/>
          <p:nvPr/>
        </p:nvSpPr>
        <p:spPr>
          <a:xfrm>
            <a:off x="10140593" y="643471"/>
            <a:ext cx="14178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>
                <a:hlinkClick r:id="rId3" action="ppaction://hlinkfile"/>
              </a:rPr>
              <a:t>观看动画</a:t>
            </a:r>
            <a:endParaRPr lang="zh-CN" altLang="en-US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· 课堂演示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Demo 2 · 故意写错：找死循环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468880"/>
            <a:ext cx="11247120" cy="4023360"/>
          </a:xfrm>
          <a:prstGeom prst="roundRect">
            <a:avLst>
              <a:gd name="adj" fmla="val 1818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61518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8A8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有 bug 的版本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072384"/>
            <a:ext cx="1073505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add.d   $a1, $a1, $a0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      </a:t>
            </a: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A3258A5E-D306-E1A2-2C86-AA3EC3A39588}"/>
              </a:ext>
            </a:extLst>
          </p:cNvPr>
          <p:cNvSpPr txBox="1"/>
          <p:nvPr/>
        </p:nvSpPr>
        <p:spPr>
          <a:xfrm>
            <a:off x="4733818" y="4755221"/>
            <a:ext cx="6097712" cy="5220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← </a:t>
            </a:r>
            <a:r>
              <a:rPr kumimoji="0" lang="en-US" altLang="zh-CN" sz="2400" b="0" i="0" u="none" strike="noStrike" kern="1200" cap="none" spc="0" normalizeH="0" baseline="0" noProof="0" dirty="0" err="1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漏了步进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！</a:t>
            </a:r>
            <a:endParaRPr kumimoji="0" lang="en-US" altLang="zh-CN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· 课堂演示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Demo 2 · 现象分析与修复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85800"/>
          </a:xfrm>
          <a:prstGeom prst="roundRect">
            <a:avLst>
              <a:gd name="adj" fmla="val 13333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现象：$a0 永远等于初始 n，beqz 永远为假，程序不会退出。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457200" y="2468880"/>
            <a:ext cx="3657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修复后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11247120" cy="3794760"/>
          </a:xfrm>
          <a:prstGeom prst="roundRect">
            <a:avLst>
              <a:gd name="adj" fmla="val 1928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13232" y="3072384"/>
            <a:ext cx="10735056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add.d   $a1, $a1, $a0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$a0, $a0, -1   # 补回步进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5 · 课堂演示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Demo 3 · 结构同构：clear_bss 与 strlen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13232" y="179222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clear_bss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713232" y="224942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    $t0,$t1,2f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st.b   $zero,$t0,0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addi.d $t0,$t0,1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172200" y="1645920"/>
            <a:ext cx="5532120" cy="3749040"/>
          </a:xfrm>
          <a:prstGeom prst="roundRect">
            <a:avLst>
              <a:gd name="adj" fmla="val 1951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428232" y="1792224"/>
            <a:ext cx="5020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strlen（骨架）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6428232" y="2249424"/>
            <a:ext cx="502005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ld.bu   $t0,$a0,0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beqz    $t0,2f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addi.d  $a1,$a1,1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addi.d  $a0,$a0,1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 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5532120"/>
            <a:ext cx="11247120" cy="1143000"/>
          </a:xfrm>
          <a:prstGeom prst="roundRect">
            <a:avLst>
              <a:gd name="adj" fmla="val 8000"/>
            </a:avLst>
          </a:prstGeom>
          <a:solidFill>
            <a:srgbClr val="EAF3F8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5532120"/>
            <a:ext cx="106984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并排看：两段代码都是 条件判断 → 体 → 步进 → 回跳，只是判断条件和体的动作不同。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 · 实验实践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Task A · sum = 1..n（起始代码）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要求：n 在 $a0，和通过 $a0 返回。补全 TODO 部分。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11247120" cy="4206240"/>
          </a:xfrm>
          <a:prstGeom prst="roundRect">
            <a:avLst>
              <a:gd name="adj" fmla="val 173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6946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task_a.S（起始框架）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026664"/>
            <a:ext cx="1073505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$a0, done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TODO: 累加 $a0 到 $a1，并让 $a0 递减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 · 实验实践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Task B · strlen 骨架（起始代码）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要求：$a0 指向字符串，长度通过 $a0 返回。补全 TODO 部分。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11247120" cy="4206240"/>
          </a:xfrm>
          <a:prstGeom prst="roundRect">
            <a:avLst>
              <a:gd name="adj" fmla="val 173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6946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task_b.S（起始框架）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026664"/>
            <a:ext cx="1073505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1:  ld.bu   $t0, $a0, 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beqz    $t0, 2f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TODO: len 计数 +1，指针 +1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1b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$a0, $a1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6 · 实验实践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Task D（选做）· 输出固定字符串 N 次</a:t>
            </a:r>
            <a:endParaRPr kumimoji="0" lang="en-US" sz="3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11247120" cy="640080"/>
          </a:xfrm>
          <a:prstGeom prst="roundRect">
            <a:avLst>
              <a:gd name="adj" fmla="val 14286"/>
            </a:avLst>
          </a:prstGeom>
          <a:solidFill>
            <a:srgbClr val="FDF3E4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64592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B5836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要求：把字符串重复输出 N 次，与后续 UART 输出结合（选做）。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423160"/>
            <a:ext cx="11247120" cy="4206240"/>
          </a:xfrm>
          <a:prstGeom prst="roundRect">
            <a:avLst>
              <a:gd name="adj" fmla="val 1739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13232" y="2569464"/>
            <a:ext cx="107350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task_d.S（起始框架，$a0=字符串，$a2=N）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13232" y="3026664"/>
            <a:ext cx="10735056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    $a1, $zero      # 计数器 i=0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loop: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beq     $a1, $a2, done  # i==N?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TODO: 调用 uart_puts 输出字符串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addi.d  $a1, $a1, 1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       loop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done: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3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思考与拓展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思考与拓展 · Q1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Q1：空字符串时，字符串遍历循环体执行几次？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11247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0040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提示方向：
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空字符串第一个字节就是 '\0'。回到遍历模板 ld.bu → beqz → …，第一次判断就会成立并跳出，循环体一次也不会执行。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 · 思考与拓展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思考与拓展 · Q2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Q2：b 1b 与 bl 1b 混用会造成什么问题？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11247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0040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提示方向：
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 是无条件跳转，bl 会把返回地址写入 $ra。回跳用 bl 会覆盖 $ra，若外层调用者的返回地址还没保存，函数返回时就会跳错地方。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5394960" cy="502920"/>
          </a:xfrm>
          <a:prstGeom prst="roundRect">
            <a:avLst>
              <a:gd name="adj" fmla="val 49091"/>
            </a:avLst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65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8 · 思考与拓展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Text 2"/>
          <p:cNvSpPr/>
          <p:nvPr/>
        </p:nvSpPr>
        <p:spPr>
          <a:xfrm>
            <a:off x="457200" y="932688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思考与拓展 · Q3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EAF3F8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1737360"/>
            <a:ext cx="10698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A4A6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Q3：编译器把 for 译成汇编时，最常见的落点指令是什么？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3017520"/>
            <a:ext cx="1124712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1E9EF"/>
            </a:solidFill>
            <a:prstDash val="solid"/>
          </a:ln>
          <a:effectLst>
            <a:outerShdw blurRad="76200" dist="25400" dir="54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731520" y="3200400"/>
            <a:ext cx="10698480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3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16222E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提示方向：
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3E4E5C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for(init; cond; step) 本质是 while 的变形。落点仍是本课学的 beq / bne / beqz / bnez 做条件判断，加一条 b 做回跳——结构与 while 模板完全一致。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8046720" y="635508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AAAB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第 4 部分 / 4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E3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572000" cy="4572000"/>
          </a:xfrm>
          <a:prstGeom prst="ellipse">
            <a:avLst/>
          </a:prstGeom>
          <a:solidFill>
            <a:srgbClr val="0A4A6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mbria" pitchFamily="34" charset="0"/>
                <a:ea typeface="Cambria" pitchFamily="34" charset="-122"/>
                <a:cs typeface="Cambria" pitchFamily="34" charset="-120"/>
              </a:rPr>
              <a:t>板书总结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3291840"/>
          </a:xfrm>
          <a:prstGeom prst="roundRect">
            <a:avLst>
              <a:gd name="adj" fmla="val 2222"/>
            </a:avLst>
          </a:prstGeom>
          <a:solidFill>
            <a:srgbClr val="0B1E3B"/>
          </a:solidFill>
          <a:ln/>
          <a:effectLst>
            <a:outerShdw blurRad="76200" dist="25400" dir="540000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96112" y="1517904"/>
            <a:ext cx="10369296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条件分支：beq / beqz / bnez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循环 = 判 + 体 + 步进 + 回跳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字符串：ld.bu → beqz → addi → b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方法：五问 + 流程图优先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4892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2A54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下节预告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CFE8F3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在本课骨架基础上，走向 strlen / uart_puts 的完整实现，并补上这次推迟的 LoongArch ABI 与调用约定。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306</TotalTime>
  <Words>2566</Words>
  <Application>Microsoft Office PowerPoint</Application>
  <PresentationFormat>宽屏</PresentationFormat>
  <Paragraphs>504</Paragraphs>
  <Slides>38</Slides>
  <Notes>38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38</vt:i4>
      </vt:variant>
    </vt:vector>
  </HeadingPairs>
  <TitlesOfParts>
    <vt:vector size="44" baseType="lpstr">
      <vt:lpstr>等线</vt:lpstr>
      <vt:lpstr>Arial</vt:lpstr>
      <vt:lpstr>Calibri</vt:lpstr>
      <vt:lpstr>Cambria</vt:lpstr>
      <vt:lpstr>Courier New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xin cai</cp:lastModifiedBy>
  <cp:revision>7</cp:revision>
  <dcterms:created xsi:type="dcterms:W3CDTF">2026-08-27T09:25:41Z</dcterms:created>
  <dcterms:modified xsi:type="dcterms:W3CDTF">2026-09-17T07:05:39Z</dcterms:modified>
</cp:coreProperties>
</file>