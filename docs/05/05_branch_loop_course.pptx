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72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996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</a:t>
            </a:r>
            <a:r>
              <a:rPr lang="en-US" sz="2400" b="1" dirty="0" err="1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</a:t>
            </a: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课程导入 ·</a:t>
            </a:r>
            <a:endParaRPr lang="en-US" sz="4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分支循环指令基础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C7D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本部分内容：课程定位、教学目标、课前准备、控制流指令、局部标号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· 课程定位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课程定位：从直线指令到结构化程序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</a:t>
            </a:r>
            <a:r>
              <a:rPr lang="en-US" sz="2400" dirty="0" err="1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为止，学生能写直线指令序列。真实程序离不开“判断”和“重复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”——clear_bss 已是标准 while 结构，本课把它一般化为可复用的方法。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  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10128" y="3977640"/>
            <a:ext cx="59436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35661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023360" y="35661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  </a:t>
            </a: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  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310128" y="5440680"/>
            <a:ext cx="59436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023360" y="502920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23360" y="50292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  </a:t>
            </a: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 + 回跳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关键联结
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clear_bss 已是标准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结构，本课一般化为通用方法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教学目标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教学目标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b / beq / bne / beqz / bnez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会把 if / while / for 译成汇编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会写字符串扫描骨架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方法：先画流程图，再写指令，再模拟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能指出死循环、漏更新、条件写反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课前准备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课前准备：if / while 通用流程图模板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课堂强制流程：先画这两张通用模板，再套进具体题目。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 模板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554480" y="274320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606040" y="329184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566160"/>
            <a:ext cx="3657600" cy="914400"/>
          </a:xfrm>
          <a:prstGeom prst="diamond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条件成立？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606040" y="448056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4407408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80160" y="475488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754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280160" y="539496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3949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步进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2920" y="5669280"/>
            <a:ext cx="777240" cy="0"/>
          </a:xfrm>
          <a:prstGeom prst="line">
            <a:avLst/>
          </a:prstGeom>
          <a:noFill/>
          <a:ln w="25400">
            <a:solidFill>
              <a:srgbClr val="3E4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23360"/>
            <a:ext cx="0" cy="1645920"/>
          </a:xfrm>
          <a:prstGeom prst="line">
            <a:avLst/>
          </a:prstGeom>
          <a:noFill/>
          <a:ln w="25400">
            <a:solidFill>
              <a:srgbClr val="3E4E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913632"/>
            <a:ext cx="320040" cy="228600"/>
          </a:xfrm>
          <a:prstGeom prst="rightArrow">
            <a:avLst/>
          </a:prstGeom>
          <a:solidFill>
            <a:srgbClr val="3E4E5C"/>
          </a:solidFill>
          <a:ln/>
        </p:spPr>
      </p:sp>
      <p:sp>
        <p:nvSpPr>
          <p:cNvPr id="21" name="Text 19"/>
          <p:cNvSpPr/>
          <p:nvPr/>
        </p:nvSpPr>
        <p:spPr>
          <a:xfrm>
            <a:off x="297181" y="4447903"/>
            <a:ext cx="777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回跳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617720" y="36118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617720" y="3950208"/>
            <a:ext cx="457200" cy="228600"/>
          </a:xfrm>
          <a:prstGeom prst="rightArrow">
            <a:avLst/>
          </a:prstGeom>
          <a:solidFill>
            <a:srgbClr val="3E4E5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3730752"/>
            <a:ext cx="1554480" cy="64008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730752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结束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675120" y="2286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if-else 模板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7543800" y="274320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28" name="Text 26"/>
          <p:cNvSpPr/>
          <p:nvPr/>
        </p:nvSpPr>
        <p:spPr>
          <a:xfrm>
            <a:off x="754380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开始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8595360" y="329184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0" name="Shape 28"/>
          <p:cNvSpPr/>
          <p:nvPr/>
        </p:nvSpPr>
        <p:spPr>
          <a:xfrm>
            <a:off x="6903720" y="3566160"/>
            <a:ext cx="3657600" cy="914400"/>
          </a:xfrm>
          <a:prstGeom prst="diamond">
            <a:avLst/>
          </a:prstGeom>
          <a:solidFill>
            <a:srgbClr val="F2A541"/>
          </a:solidFill>
          <a:ln/>
        </p:spPr>
      </p:sp>
      <p:sp>
        <p:nvSpPr>
          <p:cNvPr id="31" name="Text 29"/>
          <p:cNvSpPr/>
          <p:nvPr/>
        </p:nvSpPr>
        <p:spPr>
          <a:xfrm>
            <a:off x="690372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条件？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269480" y="4413939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7772400" y="452628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4" name="Shape 32"/>
          <p:cNvSpPr/>
          <p:nvPr/>
        </p:nvSpPr>
        <p:spPr>
          <a:xfrm>
            <a:off x="7040880" y="48006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4800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790611" y="4434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2400" dirty="0"/>
          </a:p>
        </p:txBody>
      </p:sp>
      <p:sp>
        <p:nvSpPr>
          <p:cNvPr id="37" name="Shape 35"/>
          <p:cNvSpPr/>
          <p:nvPr/>
        </p:nvSpPr>
        <p:spPr>
          <a:xfrm>
            <a:off x="9418320" y="452628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0" y="48006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0" y="4800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7772400" y="5394960"/>
            <a:ext cx="274320" cy="201168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41" name="Shape 39"/>
          <p:cNvSpPr/>
          <p:nvPr/>
        </p:nvSpPr>
        <p:spPr>
          <a:xfrm>
            <a:off x="9418320" y="5394960"/>
            <a:ext cx="274320" cy="201168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42" name="Shape 40"/>
          <p:cNvSpPr/>
          <p:nvPr/>
        </p:nvSpPr>
        <p:spPr>
          <a:xfrm>
            <a:off x="7452360" y="5623560"/>
            <a:ext cx="256032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43" name="Text 41"/>
          <p:cNvSpPr/>
          <p:nvPr/>
        </p:nvSpPr>
        <p:spPr>
          <a:xfrm>
            <a:off x="7452360" y="5623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结束（endif）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指令一览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控制流指令家族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745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74920" y="19933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745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 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889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rs, rt, L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5074920" y="29077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9240" y="27889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(rs==rt) goto 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7033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bne rs, rt, L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74920" y="38221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9240" y="37033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(rs!=rt) goto L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6177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6177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rs, 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5074920" y="47365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46177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(rs==0) goto L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5321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55321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bnez rs, L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5074920" y="56509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55321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(rs!=0) goto L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· 伪指令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真实指令 vs 伪指令：认识 move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move、nop 这类写法，CPU 并不会直接译码执行——汇编器会把它们展开成一条真实指令，方便书写。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7889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$a1, $zero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94760" y="289864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27889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$a1, $zero, $zero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83880" y="289864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7889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7490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nop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794760" y="385876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374904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$zero, $zero, 0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183880" y="385876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3749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空操作，占位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47091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$ra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3794760" y="481888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7640" y="470916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$zero, $ra, 0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8183880" y="481888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709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函数返回（后续课用）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57200" y="580644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80644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b、beq、bne、beqz、bnez 都是真实硬件指令，不是伪指令。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局部标号：1b 与 2f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916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468880" y="16916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
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向后查找数字标号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916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321040" y="16916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
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向前查找数字标号 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31181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示例：字符串遍历里的 1b / 2f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13232" y="35753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深入理解 1b / 2f：编号可以在文件里重复用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核心规则：b 1b 只找往前最近的 1:；b 2f 只找往后最近的 2:。出了这段代码，编号就能重复用，不像具名标号要求全文件唯一。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代码位置 A（clear_bss 片段）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 $zero, $t0,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$t0, $t0,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代码位置 B（隔很远的另一段）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28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$t1, $a0,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$t1,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为什么不会跳错？b / f 只认“方向 + 最近”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A 里的 b 1b：</a:t>
            </a: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从这条 b 指令往前扫描，遇到的第一个 1: 就是它自己上面那个，不会扫描到很远的位置 B。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AF3F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375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B 里的 b 1b：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同理，只找它自己上面最近的 1:，跟位置 A 完全无关，两段代码互不干扰。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49377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写短循环时不用绞尽脑汁取新名字，直接用 1/2 就行；每段循环的标号作用域天然是局部的。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2f 同理：只找“往后最近”的那个 2: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..., 2f 不是只能用在循环退出——只要是“往后跳”，不管是跳出循环还是跳过一段 then，2f 都只认当前指令往后最近的那个 2:。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C（循环提前退出）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D（if 无 else，跳过 then）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28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$zero,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then 部分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后续代码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 C / D 的 2f 各找各的，互不影响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C 里的 beqz $a0, 2f：</a:t>
            </a: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从这条指令往后扫描，第一个遇到的 2: 就是循环自己的退出点，不会跳到位置 D 那边去。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AF3F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375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D 里的 beqz $a0, 2f：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同理，只跳到它自己后面最近的 2:，也就是 then 部分结束的地方，与位置 C 的循环无关。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49377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小结：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1b/2f 的 b/f 只表示“往哪个方向找”，具体用途（跳出循环、跳过 then……）由代码逻辑决定，标号本身不携带任何语义。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部分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结构化模板精讲 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配实际例题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本部分内容：while / if-else /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字符串遍历模板；回看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clear_bss；设计方法五问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while 计数模板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46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 $a0 = n，执行 n 次 body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03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... body ...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544068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44068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8A5A0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 = 判 + 体 + 步进 + 回跳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下一页用 sum = 1..n 把这个模板套成一道完整例题。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例题：sum = 1..n（套用 while 模板）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求 1+2+…+n 的和。n 由 $a0 传入，和通过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889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伪代码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346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(n != 0)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-=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sum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例题：sum = 1..n（汇编实现）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4663440"/>
          </a:xfrm>
          <a:prstGeom prst="roundRect">
            <a:avLst>
              <a:gd name="adj" fmla="val 156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汇编（$a1 存累加和，用 move 回填 $a0 返回）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1073505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4.4 · 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寄存器模拟：sum = 1..n（n = 3）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73736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210312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737360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$a0 (n)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228600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737360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$a1 (sum)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583680" y="1737360"/>
            <a:ext cx="512064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73736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动作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359152"/>
            <a:ext cx="173736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59152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初始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94560" y="2359152"/>
            <a:ext cx="21031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2359152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97680" y="2359152"/>
            <a:ext cx="22860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2359152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83680" y="2359152"/>
            <a:ext cx="512064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359152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$a1,$zero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2980944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80944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第①轮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194560" y="2980944"/>
            <a:ext cx="2103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980944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3→2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297680" y="2980944"/>
            <a:ext cx="22860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980944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3680" y="2980944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98094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sum+=3，n-=1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3602736"/>
            <a:ext cx="173736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602736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第②轮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194560" y="3602736"/>
            <a:ext cx="21031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3602736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2→1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297680" y="3602736"/>
            <a:ext cx="22860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0" y="3602736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3→5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583680" y="3602736"/>
            <a:ext cx="512064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360273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sum+=2，n-=1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4224528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224528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第③轮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194560" y="4224528"/>
            <a:ext cx="2103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86000" y="4224528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1→0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297680" y="4224528"/>
            <a:ext cx="22860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89120" y="4224528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5→6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583680" y="42245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22452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sum+=1，n-=1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57200" y="4846320"/>
            <a:ext cx="173736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846320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2194560" y="4846320"/>
            <a:ext cx="210312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846320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297680" y="4846320"/>
            <a:ext cx="228600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4846320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6583680" y="4846320"/>
            <a:ext cx="512064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真 →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56235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5800" y="562356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$a0 归零时循环结束，$a1 = 6 就是 1+2+3，move 到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汇编精讲：if-else 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else_part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endif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else_part: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else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5074920"/>
            <a:ext cx="11247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507492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强调重点：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then 分支结束要 b endif 跳过 else，否则两条路径都会执行。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例题：判断 $a0 是否非 0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题目：$a0 非 0 则结果为 1，否则结果为 0，结果放回 $a0。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3657600"/>
          </a:xfrm>
          <a:prstGeom prst="roundRect">
            <a:avLst>
              <a:gd name="adj" fmla="val 2000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52344"/>
            <a:ext cx="1073505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   $a0, nonzero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$zero    # else: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endif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nonzero: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$zero, 1  # then: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汇编精讲：字符串遍历模板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46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 $a0 指向 C 字符串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03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处理 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55321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53212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共同骨架：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读字节→判'\0'→处理→指针++→回跳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例题：strlen("AB") 骨架实现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4937760"/>
          </a:xfrm>
          <a:prstGeom prst="roundRect">
            <a:avLst>
              <a:gd name="adj" fmla="val 148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strlen 骨架（Task B 参考）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1073505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      # len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$a1, $a1,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        # 返回 len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例题：strlen("AB") 逐字节走查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7373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17373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7373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931920" y="1737360"/>
            <a:ext cx="210312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7373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len ($a1)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35040" y="1737360"/>
            <a:ext cx="566928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动作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1460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'A'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94560" y="251460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251460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931920" y="2514600"/>
            <a:ext cx="210312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51460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35040" y="2514600"/>
            <a:ext cx="566928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251460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非 0，len+1，指针+1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1737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918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'B'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194560" y="3291840"/>
            <a:ext cx="1737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32918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291840"/>
            <a:ext cx="2103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329184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035040" y="32918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2918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非 0，len+1，指针+1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069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'\0'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194560" y="406908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4069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931920" y="4069080"/>
            <a:ext cx="210312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406908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35040" y="4069080"/>
            <a:ext cx="566928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406908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 0，跳出循环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5166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166360"/>
            <a:ext cx="10789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8A5A0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字符串 "AB\0"：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读到 'A'、'B' 都非 0，len 累加；读到 '\0' 才跳出，最终 len = 2。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回看 clear_bss：与 while 模板对照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clear_bss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    $t0,$t1,2f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st.b   $zero,$t0,0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$t0,$t0,1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5321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87452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0960" y="18745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游标未到终点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0" y="304495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80960" y="3044952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 0（st.b）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0" y="4215384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步进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80960" y="4215384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 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321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53212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与 while 模板同构：条件 = n==0？体 = body，步进 = n − 1。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4.4 · 设计方法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写程序前强制五问 —— 用 sum=1..n 自查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8745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71600" y="1737360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输入在哪些寄存器？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0" y="17373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= 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706624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" y="2843784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8437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71600" y="2706624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输出写到哪里？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83680" y="2706624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$a0（末尾 move 回填）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675888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81304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813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哪些寄存器可作临时？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3680" y="3675888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$a1 存累加和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645152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" y="4782312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782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循环不变量是什么？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3680" y="4645152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$a1 = 已加过的数之和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5614416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" y="575157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5751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371600" y="5614416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是否必然终止？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83680" y="561441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每轮减 1，终会为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部分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课堂 Demo 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实验实践实例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本部分内容：师生共译 sum=1..n；故意写错找死循环；clear_bss 与 strlen 结构同构；Task A–D 起始代码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1 · 师生共译：sum = 1..n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题目：求 1+2+…+n 的和。n 由 $a0 传入，和通过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43200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641848" y="3364992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502152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50215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流程图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41848" y="4123944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4261104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0A4A6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261104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伪代码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641848" y="4882896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5020056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020056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41848" y="5641848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5779008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F2A54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5779008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2 · 故意写错：找死循环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FCEAEA"/>
          </a:solidFill>
          <a:ln w="12700">
            <a:solidFill>
              <a:srgbClr val="C144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B1E1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老师故意漏写步进指令，让学生现场找出死循环并修复。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11247120" cy="4023360"/>
          </a:xfrm>
          <a:prstGeom prst="roundRect">
            <a:avLst>
              <a:gd name="adj" fmla="val 181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6151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8A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有 bug 的版本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72384"/>
            <a:ext cx="1073505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      # ← 漏了步进！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2 · 现象分析与修复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85800"/>
          </a:xfrm>
          <a:prstGeom prst="roundRect">
            <a:avLst>
              <a:gd name="adj" fmla="val 13333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现象：$a0 永远等于初始 n，beqz 永远为假，程序不会退出。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修复后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11247120" cy="3794760"/>
          </a:xfrm>
          <a:prstGeom prst="roundRect">
            <a:avLst>
              <a:gd name="adj" fmla="val 192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3072384"/>
            <a:ext cx="1073505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   # 补回步进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3 · 结构同构：clear_bss 与 strlen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clear_bss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    $t0,$t1,2f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st.b   $zero,$t0,0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$t0,$t0,1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strlen（骨架）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28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ld.bu   $t0,$a0,0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 $t0,2f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 $a1,$a1,1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 $a0,$a0,1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5321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53212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并排看：两段代码都是 条件判断 → 体 → 步进 → 回跳，只是判断条件和体的动作不同。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A · sum = 1..n（起始代码）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要求：n 在 $a0，和通过 $a0 返回。补全 TODO 部分。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task_a.S（起始框架）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累加 $a0 到 $a1，并让 $a0 递减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B · strlen 骨架（起始代码）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要求：$a0 指向字符串，长度通过 $a0 返回。补全 TODO 部分。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task_b.S（起始框架）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len 计数 +1，指针 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C · clear_bss 流程图标注示例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要求：为 clear_bss 画流程图，并标注每条指令属于“条件 / 体 / 步进 / 退出”。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11247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9514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9514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条件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68880" y="2194560"/>
            <a:ext cx="8778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$t0, $t1,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1247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11810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1810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468880" y="3017520"/>
            <a:ext cx="8778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 $zero, $t0,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11247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94106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4106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步进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68880" y="3840480"/>
            <a:ext cx="8778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addi.d $t0, $t0,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663440"/>
            <a:ext cx="11247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76402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76402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回跳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468880" y="4663440"/>
            <a:ext cx="8778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5486400"/>
            <a:ext cx="11247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5586984"/>
            <a:ext cx="1554480" cy="51206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586984"/>
            <a:ext cx="1554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退出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468880" y="5486400"/>
            <a:ext cx="8778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2:（标号，无指令）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D（选做）· 输出固定字符串 N 次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要求：把字符串重复输出 N 次，与后续 UART 输出结合（选做）。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task_d.S（起始框架，$a0=字符串，$a2=N）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      # 计数器 i=0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 $a1, $a2, done  # i==N?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调用 uart_puts 输出字符串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$a1, $a1,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AI 共学 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思考拓展 · 总结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本部分内容：AI 共学边界、思考拓展题（附提示方向）、板书总结、下节预告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 · AI 共学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AI 共学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00" cy="82296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286000"/>
            <a:ext cx="54864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允许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29900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75234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生成流程图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3904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66674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对照检查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09360" y="182880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828800"/>
            <a:ext cx="5486400" cy="822960"/>
          </a:xfrm>
          <a:prstGeom prst="roundRect">
            <a:avLst>
              <a:gd name="adj" fmla="val 13333"/>
            </a:avLst>
          </a:prstGeom>
          <a:solidFill>
            <a:srgbClr val="C144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9360" y="2286000"/>
            <a:ext cx="5486400" cy="365760"/>
          </a:xfrm>
          <a:prstGeom prst="rect">
            <a:avLst/>
          </a:prstGeom>
          <a:solidFill>
            <a:srgbClr val="C1443C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82880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禁止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675120" y="2990088"/>
            <a:ext cx="146304" cy="146304"/>
          </a:xfrm>
          <a:prstGeom prst="ellipse">
            <a:avLst/>
          </a:prstGeom>
          <a:solidFill>
            <a:srgbClr val="C1443C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275234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整段不可读粘贴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675120" y="3904488"/>
            <a:ext cx="146304" cy="146304"/>
          </a:xfrm>
          <a:prstGeom prst="ellipse">
            <a:avLst/>
          </a:prstGeom>
          <a:solidFill>
            <a:srgbClr val="C1443C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3666744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自己讲不清的内容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· 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Q1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Q1：空字符串时，字符串遍历循环体执行几次？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空字符串第一个字节就是 '\0'。回到遍历模板 ld.bu → beqz → …，第一次判断就会成立并跳出，循环体一次也不会执行。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· 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Q2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Q2：b 1b 与 bl 1b 混用会造成什么问题？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是无条件跳转，bl 会把返回地址写入 $ra。回跳用 bl 会覆盖 $ra，若外层调用者的返回地址还没保存，函数返回时就会跳错地方。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· 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Q3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Q3：编译器把 for 译成汇编时，最常见的落点指令是什么？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for(init; cond; step) 本质是 while 的变形。落点仍是本课学的 beq / bne / beqz / bnez 做条件判断，加一条 b 做回跳——结构与 while 模板完全一致。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板书总结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517904"/>
            <a:ext cx="1036929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条件分支：beq / beqz / 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循环 = 判 + 体 + 步进 + 回跳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字符串：ld.bu → beqz → addi → 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方法：五问 + 流程图优先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下节预告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在本课骨架基础上，走向 strlen / uart_puts 的完整实现，并补上这次推迟的 LoongArch ABI 与调用约定。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2520</Words>
  <Application>Microsoft Office PowerPoint</Application>
  <PresentationFormat>宽屏</PresentationFormat>
  <Paragraphs>483</Paragraphs>
  <Slides>38</Slides>
  <Notes>38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4" baseType="lpstr">
      <vt:lpstr>等线</vt:lpstr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3</cp:revision>
  <dcterms:created xsi:type="dcterms:W3CDTF">2026-08-27T09:25:41Z</dcterms:created>
  <dcterms:modified xsi:type="dcterms:W3CDTF">2026-08-27T15:10:45Z</dcterms:modified>
</cp:coreProperties>
</file>