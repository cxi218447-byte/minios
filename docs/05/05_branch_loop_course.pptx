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94" r:id="rId2"/>
    <p:sldId id="257" r:id="rId3"/>
    <p:sldId id="295" r:id="rId4"/>
    <p:sldId id="296" r:id="rId5"/>
    <p:sldId id="297" r:id="rId6"/>
    <p:sldId id="298" r:id="rId7"/>
    <p:sldId id="299" r:id="rId8"/>
    <p:sldId id="256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300" r:id="rId36"/>
    <p:sldId id="293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1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9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animations/sum-1-to-n-demo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5720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57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顺序结构 · 基础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顺序执行指令串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程序最基本的执行方式——指令按书写顺序，一条接一条运行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961120" y="6355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· 功能定义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顺序执行指令串是什么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顺序执行指令串，是指指令按照书写的先后顺序、一条接一条地执行，中间不出现任何跳转、分支或循环的指令序列。它是程序最基础的组成单元。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3230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352044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顺序执行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5800" y="4114800"/>
            <a:ext cx="277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PC 按顺序递增，每条指令仅执行一次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08120" y="3246120"/>
            <a:ext cx="3230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36720" y="352044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不含跳转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236720" y="4114800"/>
            <a:ext cx="277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没有比较、分支或回跳类指令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3246120"/>
            <a:ext cx="3230880" cy="2514600"/>
          </a:xfrm>
          <a:prstGeom prst="roundRect">
            <a:avLst>
              <a:gd name="adj" fmla="val 2909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87640" y="352044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787640" y="4114800"/>
            <a:ext cx="277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完成读取、运算、保存等任务，为分支/循环打基础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961120" y="6355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· 实现代码 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示例一：计算 (a+b)×2 并保存结果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功能：已知整数 a、b，计算 (a + b) × 2，将结果存入内存变量 result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6720840" cy="3794760"/>
          </a:xfrm>
          <a:prstGeom prst="roundRect">
            <a:avLst>
              <a:gd name="adj" fmla="val 1205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2948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la.local $t0, result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取地址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25983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li.w     $t1, 10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a=10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379018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li.w     $t2, 20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b=20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432054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add.w    $t3,$t1,$t2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求和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77240" y="485089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slli.w   $t3,$t3, 1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×2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538124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     $t3,$t0, 0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存结果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52360" y="2423160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53528" y="2611755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53528" y="2611755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66760" y="2566035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取地址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366760" y="2931795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定位 result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52360" y="3385566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53528" y="3574161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53528" y="3574161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366760" y="3528441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装入常数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366760" y="3894201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读入 a、b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52360" y="4347972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53528" y="4536567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53528" y="4536567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366760" y="4490847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相加×2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366760" y="4856607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求和后左移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5310378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53528" y="5498973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53528" y="5498973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366760" y="5453253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写回内存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366760" y="5819013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存入 result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961120" y="6355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· 实现代码 ②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示例二：交换两个寄存器的值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功能：借助一个临时寄存器，交换 $t0 与 $t1 中保存的值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6720840" cy="3794760"/>
          </a:xfrm>
          <a:prstGeom prst="roundRect">
            <a:avLst>
              <a:gd name="adj" fmla="val 1205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52501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$t2, $t0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暂存 t0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405536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$t0, $t1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= 旧 t1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458571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$t1, $t2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旧 t0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52360" y="2423160"/>
            <a:ext cx="4251960" cy="1228344"/>
          </a:xfrm>
          <a:prstGeom prst="roundRect">
            <a:avLst>
              <a:gd name="adj" fmla="val 67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53528" y="2772156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53528" y="27721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366760" y="27264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暂存旧值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366760" y="30921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t2 = 原来的 t0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52360" y="3706368"/>
            <a:ext cx="4251960" cy="1228344"/>
          </a:xfrm>
          <a:prstGeom prst="roundRect">
            <a:avLst>
              <a:gd name="adj" fmla="val 67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53528" y="4055364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53528" y="40553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66760" y="40096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搬入新值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366760" y="43754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t0 ← 原来的 t1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52360" y="4989576"/>
            <a:ext cx="4251960" cy="1228344"/>
          </a:xfrm>
          <a:prstGeom prst="roundRect">
            <a:avLst>
              <a:gd name="adj" fmla="val 67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53528" y="5338572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53528" y="53385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366760" y="52928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取回暂存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366760" y="56586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t1 ← 暂存的旧 t0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961120" y="6355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· 实现代码 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示例三（上）：完整程序——数据段与入口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功能：数组前两项求和，写入 arr[2]，结果作为退出码返回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6720840" cy="3794760"/>
          </a:xfrm>
          <a:prstGeom prst="roundRect">
            <a:avLst>
              <a:gd name="adj" fmla="val 1205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2948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25983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arr:      .word 3, 5, 0 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379018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432054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_start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77240" y="485089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_start: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538124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la.local $t0, arr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取数组地址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52360" y="2423160"/>
            <a:ext cx="4251960" cy="1228344"/>
          </a:xfrm>
          <a:prstGeom prst="roundRect">
            <a:avLst>
              <a:gd name="adj" fmla="val 67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53528" y="2772156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53528" y="27721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66760" y="27264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声明数据段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366760" y="30921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预留 arr[2] 位置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52360" y="3706368"/>
            <a:ext cx="4251960" cy="1228344"/>
          </a:xfrm>
          <a:prstGeom prst="roundRect">
            <a:avLst>
              <a:gd name="adj" fmla="val 67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53528" y="4055364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53528" y="40553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366760" y="40096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声明程序入口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366760" y="43754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.global + _start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52360" y="4989576"/>
            <a:ext cx="4251960" cy="1228344"/>
          </a:xfrm>
          <a:prstGeom prst="roundRect">
            <a:avLst>
              <a:gd name="adj" fmla="val 67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53528" y="5338572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53528" y="53385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366760" y="52928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取数组地址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366760" y="56586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la.local 取首地址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961120" y="6355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实现代码 ③（续）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示例三（下）：完整程序——计算并退出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功能：读取两个元素、求和写回 arr[2]，并把结果放进退出码后结束程序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6720840" cy="3794760"/>
          </a:xfrm>
          <a:prstGeom prst="roundRect">
            <a:avLst>
              <a:gd name="adj" fmla="val 1205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9631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ld.w    $t1, $t0, 0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arr[0]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02666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ld.w    $t2, $t0, 4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arr[1]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355701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add.w   $t3, $t1, $t2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求和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408736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    $t3, $t0, 8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arr[2]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77240" y="46177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  $a0, $t3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存退出码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514807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li.w    $a7, 93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exit号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77240" y="567842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0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退出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52360" y="2423160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53528" y="2611755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53528" y="2611755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366760" y="2566035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读取两元素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66760" y="2931795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arr[0]→t1，arr[1]→t2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52360" y="3385566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53528" y="3574161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53528" y="3574161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366760" y="3528441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求和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366760" y="3894201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t3 = t1 + t2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52360" y="4347972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53528" y="4536567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53528" y="4536567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366760" y="4490847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写回 arr[2]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366760" y="4856607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偏移 8 字节处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52360" y="5310378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53528" y="5498973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53528" y="5498973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366760" y="5453253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退出并返回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366760" y="5819013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结果→$a0 再退出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8961120" y="6355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· 实现代码 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示例四：华氏度转摄氏度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功能：已知华氏温度 F（存于 $a0），计算 C=(F-32)×5÷9，结果存回 $a0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6720840" cy="3794760"/>
          </a:xfrm>
          <a:prstGeom prst="roundRect">
            <a:avLst>
              <a:gd name="adj" fmla="val 1205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2948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$t0,$a0,-32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F-32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25983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li.w   $t1, 5 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379018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mul.w  $t0,$t0,$t1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×5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432054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li.w   $t1, 9 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77240" y="485089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div.w  $t0,$t0,$t1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÷9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538124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 $a0, $t0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FA8B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返回 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52360" y="2423160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53528" y="2611755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53528" y="2611755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66760" y="2566035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减 32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366760" y="2931795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t0 = F − 32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52360" y="3385566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53528" y="3574161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53528" y="3574161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366760" y="3528441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乘 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366760" y="3894201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t0 = t0 × 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52360" y="4347972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53528" y="4536567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53528" y="4536567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366760" y="4490847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除 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366760" y="4856607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t0 = t0 ÷ 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5310378"/>
            <a:ext cx="4251960" cy="907542"/>
          </a:xfrm>
          <a:prstGeom prst="roundRect">
            <a:avLst>
              <a:gd name="adj" fmla="val 906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53528" y="5498973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53528" y="5498973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366760" y="5453253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写回结果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366760" y="5819013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a0 ← 摄氏度 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961120" y="6355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分支循环指令基础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分支、循环与汇编程序设计基础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425196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教学目标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8366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83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 b / beq / bne / beqz / bnez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7797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779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2679192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会把 if / while / for 译成汇编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6758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675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3575304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会写字符串扫描骨架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" y="4471416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457200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17320" y="4471416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方法：先画流程图，再写指令，再模拟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5367528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54681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5468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17320" y="5367528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能指出死循环、漏更新、条件写反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课前准备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课前准备：if / while 通用流程图模板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课堂强制流程：先画这两张通用模板，再套进具体题目。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模板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554480" y="27432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0A4A6E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06040" y="3291840"/>
            <a:ext cx="274320" cy="22860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566160"/>
            <a:ext cx="3657600" cy="914400"/>
          </a:xfrm>
          <a:prstGeom prst="diamond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条件成立？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606040" y="4480560"/>
            <a:ext cx="274320" cy="22860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440740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80160" y="475488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54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循环体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80160" y="539496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394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步进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2920" y="5669280"/>
            <a:ext cx="777240" cy="0"/>
          </a:xfrm>
          <a:prstGeom prst="line">
            <a:avLst/>
          </a:prstGeom>
          <a:noFill/>
          <a:ln w="25400">
            <a:solidFill>
              <a:srgbClr val="3E4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023360"/>
            <a:ext cx="0" cy="1645920"/>
          </a:xfrm>
          <a:prstGeom prst="line">
            <a:avLst/>
          </a:prstGeom>
          <a:noFill/>
          <a:ln w="25400">
            <a:solidFill>
              <a:srgbClr val="3E4E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13632"/>
            <a:ext cx="320040" cy="228600"/>
          </a:xfrm>
          <a:prstGeom prst="rightArrow">
            <a:avLst/>
          </a:prstGeom>
          <a:solidFill>
            <a:srgbClr val="3E4E5C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1" y="4447903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回跳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36118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617720" y="3950208"/>
            <a:ext cx="457200" cy="228600"/>
          </a:xfrm>
          <a:prstGeom prst="rightArrow">
            <a:avLst/>
          </a:prstGeom>
          <a:solidFill>
            <a:srgbClr val="3E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0" y="3730752"/>
            <a:ext cx="1554480" cy="640080"/>
          </a:xfrm>
          <a:prstGeom prst="roundRect">
            <a:avLst>
              <a:gd name="adj" fmla="val 50000"/>
            </a:avLst>
          </a:prstGeom>
          <a:solidFill>
            <a:srgbClr val="0A4A6E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73075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结束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6751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if-else 模板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543800" y="27432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0A4A6E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595360" y="3291840"/>
            <a:ext cx="274320" cy="22860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6903720" y="3566160"/>
            <a:ext cx="3657600" cy="914400"/>
          </a:xfrm>
          <a:prstGeom prst="diamond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条件？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69480" y="4413939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7772400" y="4526280"/>
            <a:ext cx="274320" cy="22860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0" y="480060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4800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790611" y="4434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9418320" y="4526280"/>
            <a:ext cx="274320" cy="22860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8686800" y="480060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0" y="4800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7772400" y="5394960"/>
            <a:ext cx="274320" cy="201168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9418320" y="5394960"/>
            <a:ext cx="274320" cy="201168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7452360" y="56235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0A4A6E"/>
          </a:solidFill>
          <a:ln/>
        </p:spPr>
      </p:sp>
      <p:sp>
        <p:nvSpPr>
          <p:cNvPr id="43" name="Text 41"/>
          <p:cNvSpPr/>
          <p:nvPr/>
        </p:nvSpPr>
        <p:spPr>
          <a:xfrm>
            <a:off x="7452360" y="5623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结束（endif）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指令一览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控制流指令家族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74520"/>
            <a:ext cx="4206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74920" y="1993392"/>
            <a:ext cx="0" cy="530352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874520"/>
            <a:ext cx="6126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 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788920"/>
            <a:ext cx="4206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 rs, rt, L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074920" y="2907792"/>
            <a:ext cx="0" cy="530352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788920"/>
            <a:ext cx="6126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(rs==rt) goto 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703320"/>
            <a:ext cx="4206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bne rs, rt, L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74920" y="3822192"/>
            <a:ext cx="0" cy="530352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3703320"/>
            <a:ext cx="6126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(rs!=rt) goto L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617720"/>
            <a:ext cx="4206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beqz rs, L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074920" y="4736592"/>
            <a:ext cx="0" cy="530352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4617720"/>
            <a:ext cx="6126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(rs==0) goto L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5532120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5532120"/>
            <a:ext cx="4206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bnez rs, L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5074920" y="5650992"/>
            <a:ext cx="0" cy="530352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5532120"/>
            <a:ext cx="6126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(rs!=0) goto L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· 伪指令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真实指令 vs 伪指令：认识 move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move、nop 这类写法，CPU 并不会直接译码执行——汇编器会把它们展开成一条真实指令，方便书写。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$a1, $zero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794760" y="2898648"/>
            <a:ext cx="0" cy="594360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27889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$a1, $zero, $zero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183880" y="2898648"/>
            <a:ext cx="0" cy="594360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788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寄存器搬移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749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nop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794760" y="3858768"/>
            <a:ext cx="0" cy="594360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37490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andi $zero, $zero, 0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83880" y="3858768"/>
            <a:ext cx="0" cy="594360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3749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空操作，占位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709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 $ra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794760" y="4818888"/>
            <a:ext cx="0" cy="594360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47091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jirl $zero, $ra, 0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183880" y="4818888"/>
            <a:ext cx="0" cy="594360"/>
          </a:xfrm>
          <a:prstGeom prst="line">
            <a:avLst/>
          </a:prstGeom>
          <a:noFill/>
          <a:ln w="19050">
            <a:solidFill>
              <a:srgbClr val="D6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709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函数返回（后续课用）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57200" y="580644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80644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b、beq、bne、beqz、bnez 都是真实硬件指令，不是伪指令。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局部标号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局部标号：1b 与 2f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0A4A6E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691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
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向后查找数字标号 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691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321040" y="1691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
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向前查找数字标号 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1247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311810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示例：字符串遍历里的 1b / 2f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3232" y="3575304"/>
            <a:ext cx="10735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ld.bu   $t0, $a0, 0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$t0, 2f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$a0, 1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1b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局部标号（补充）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深入理解 1b / 2f：编号可以在文件里重复用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核心规则：b 1b 只找往前最近的 1:；b 2f 只找往后最近的 2:。出了这段代码，编号就能重复用，不像具名标号要求全文件唯一。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5532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980944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代码位置 A（clear_bss 片段）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3438144"/>
            <a:ext cx="5020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$t0, 2f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st.b    $zero, $t0, 0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$t0, $t0, 1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1b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72200" y="2834640"/>
            <a:ext cx="5532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2980944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代码位置 B（隔很远的另一段）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28232" y="3438144"/>
            <a:ext cx="5020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ld.bu   $t1, $a0, 0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$t1, 2f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$a0, 1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1b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局部标号（补充）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为什么不会跳错？b / f 只认“方向 + 最近”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10698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A 里的 b 1b：</a:t>
            </a:r>
            <a:r>
              <a:rPr lang="en-US" sz="2400" dirty="0">
                <a:solidFill>
                  <a:srgbClr val="6B5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从这条 b 指令往前扫描，遇到的第一个 1: 就是它自己上面那个，不会扫描到很远的位置 B。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10698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B 里的 b 1b：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同理，只找它自己上面最近的 1:，跟位置 A 完全无关，两段代码互不干扰。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49377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937760"/>
            <a:ext cx="10698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好处：</a:t>
            </a: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写短循环时不用绞尽脑汁取新名字，直接用 1/2 就行；每段循环的标号作用域天然是局部的。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局部标号（补充）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2f 同理：只找“往后最近”的那个 2: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beqz ..., 2f 不是只能用在循环退出——只要是“往后跳”，不管是跳出循环还是跳过一段 then，2f 都只认当前指令往后最近的那个 2:。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5532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980944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C（循环提前退出）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3438144"/>
            <a:ext cx="5020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$a0, 2f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add.d   $a1, $a1, $a0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$a0, -1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loop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72200" y="2834640"/>
            <a:ext cx="5532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2980944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D（if 无 else，跳过 then）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28232" y="3438144"/>
            <a:ext cx="5020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$a0, 2f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$zero, 1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then 部分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后续代码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局部标号（补充）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位置 C / D 的 2f 各找各的，互不影响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10698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C 里的 beqz $a0, 2f：</a:t>
            </a:r>
            <a:r>
              <a:rPr lang="en-US" sz="2400" dirty="0">
                <a:solidFill>
                  <a:srgbClr val="6B5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从这条指令往后扫描，第一个遇到的 2: 就是循环自己的退出点，不会跳到位置 D 那边去。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10698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D 里的 beqz $a0, 2f：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同理，只跳到它自己后面最近的 2:，也就是 then 部分结束的地方，与位置 C 的循环无关。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49377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937760"/>
            <a:ext cx="10698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小结：</a:t>
            </a: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1b/2f 的 b/f 只表示“往哪个方向找”，具体用途（跳出循环、跳过 then……）由代码逻辑决定，标号本身不携带任何语义。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部分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结构化模板精讲 ·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配实际例题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week05 · 分支、循环与汇编程序设计基础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425196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348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本部分内容：while / if-else /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字符串遍历模板；回看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clear_bss；设计方法五问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4.3 · 结构化模板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while 计数模板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4650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 $a0 = n，执行 n 次 body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203704"/>
            <a:ext cx="10735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$a0, done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body ...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$a0, -1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loop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544068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4068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A5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循环 = 判 + 体 + 步进 + 回跳
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下一页用 sum = 1..n 把这个模板套成一道完整例题。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4.3 · 例题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例题：sum = 1..n（套用 while 模板）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题目：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求 1+2+…+n 的和。n 由 $a0 传入，和通过 $a0 返回。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1247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88950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伪代码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3346704"/>
            <a:ext cx="10735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!= 0) {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+= 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-=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sum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4.3 · 例题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例题：sum = 1..n（汇编实现）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4663440"/>
          </a:xfrm>
          <a:prstGeom prst="roundRect">
            <a:avLst>
              <a:gd name="adj" fmla="val 1569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9222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汇编（$a1 存累加和，用 move 回填 $a0 返回）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249424"/>
            <a:ext cx="1073505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  $a1, $zero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$a0, done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add.d   $a1, $a1, $a0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$a0, -1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loop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  $a0, $a1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4.4 · 寄存器模拟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寄存器模拟：sum = 1..n（n = 3）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737360" cy="621792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阶段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94560" y="1737360"/>
            <a:ext cx="2103120" cy="621792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7373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$a0 (n)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2286000" cy="621792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73736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$a1 (sum)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0" y="1737360"/>
            <a:ext cx="5120640" cy="621792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3736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动作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173736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59152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初始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94560" y="2359152"/>
            <a:ext cx="210312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35915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97680" y="2359152"/>
            <a:ext cx="228600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35915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0" y="2359152"/>
            <a:ext cx="512064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359152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$a1,$zero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2980944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80944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第①轮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94560" y="2980944"/>
            <a:ext cx="2103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98094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3→2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97680" y="2980944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98094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0→3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2980944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980944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sum+=3，n-=1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602736"/>
            <a:ext cx="173736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602736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第②轮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194560" y="3602736"/>
            <a:ext cx="210312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360273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2→1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297680" y="3602736"/>
            <a:ext cx="228600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3602736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3→5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83680" y="3602736"/>
            <a:ext cx="512064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60273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sum+=2，n-=1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4224528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22452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第③轮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194560" y="4224528"/>
            <a:ext cx="2103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422452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1→0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297680" y="4224528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4224528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5→6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583680" y="4224528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4224528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sum+=1，n-=1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57200" y="4846320"/>
            <a:ext cx="1737360" cy="621792"/>
          </a:xfrm>
          <a:prstGeom prst="rect">
            <a:avLst/>
          </a:prstGeom>
          <a:solidFill>
            <a:srgbClr val="FDF3E4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84632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194560" y="4846320"/>
            <a:ext cx="2103120" cy="621792"/>
          </a:xfrm>
          <a:prstGeom prst="rect">
            <a:avLst/>
          </a:prstGeom>
          <a:solidFill>
            <a:srgbClr val="FDF3E4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484632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297680" y="4846320"/>
            <a:ext cx="2286000" cy="621792"/>
          </a:xfrm>
          <a:prstGeom prst="rect">
            <a:avLst/>
          </a:prstGeom>
          <a:solidFill>
            <a:srgbClr val="FDF3E4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0" y="484632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583680" y="4846320"/>
            <a:ext cx="5120640" cy="621792"/>
          </a:xfrm>
          <a:prstGeom prst="rect">
            <a:avLst/>
          </a:prstGeom>
          <a:solidFill>
            <a:srgbClr val="FDF3E4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484632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beqz 真 → done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57200" y="562356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562356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$a0 归零时循环结束，$a1 = 6 就是 1+2+3，move 到 $a0 返回。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部分 /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4.3 · 结构化模板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汇编精讲：if-else 模板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3291840"/>
          </a:xfrm>
          <a:prstGeom prst="roundRect">
            <a:avLst>
              <a:gd name="adj" fmla="val 2222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92224"/>
            <a:ext cx="10735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$a0, else_part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then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endif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else_part: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else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5074920"/>
            <a:ext cx="112471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5074920"/>
            <a:ext cx="10698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强调重点：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then 分支结束要 b endif 跳过 else，否则两条路径都会执行。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部分 /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4.3 · 例题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例题：判断 $a0 是否非 0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题目：$a0 非 0 则结果为 1，否则结果为 0，结果放回 $a0。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3657600"/>
          </a:xfrm>
          <a:prstGeom prst="roundRect">
            <a:avLst>
              <a:gd name="adj" fmla="val 2000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52344"/>
            <a:ext cx="107350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   $a0, nonzero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  $a0, $zero    # else: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endif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nonzero: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$zero, 1  # then: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部分 /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4.3 · 结构化模板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汇编精讲：字符串遍历模板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1247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4650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 $a0 指向 C 字符串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203704"/>
            <a:ext cx="10735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ld.bu   $t0, $a0,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$t0, 2f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处理 $t0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$a0,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553212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553212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共同骨架：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读字节→判'\0'→处理→指针++→回跳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部分 /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C1F0685-FA2C-A493-C5AC-08AF52E67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54905"/>
              </p:ext>
            </p:extLst>
          </p:nvPr>
        </p:nvGraphicFramePr>
        <p:xfrm>
          <a:off x="6278880" y="944033"/>
          <a:ext cx="500887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554">
                  <a:extLst>
                    <a:ext uri="{9D8B030D-6E8A-4147-A177-3AD203B41FA5}">
                      <a16:colId xmlns:a16="http://schemas.microsoft.com/office/drawing/2014/main" val="2748709780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719325870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2161762462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3640824301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1287237665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3391009984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3461260875"/>
                    </a:ext>
                  </a:extLst>
                </a:gridCol>
              </a:tblGrid>
              <a:tr h="489374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a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p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p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l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3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…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416477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FBE3BA62-5809-6B7E-16A4-C6D8F54D4A1F}"/>
              </a:ext>
            </a:extLst>
          </p:cNvPr>
          <p:cNvSpPr txBox="1"/>
          <p:nvPr/>
        </p:nvSpPr>
        <p:spPr>
          <a:xfrm>
            <a:off x="6339842" y="224104"/>
            <a:ext cx="883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$a0</a:t>
            </a:r>
            <a:endParaRPr lang="zh-CN" altLang="en-US" sz="240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40C89F0-8C0E-E0F3-B68C-78620F1A6C3C}"/>
              </a:ext>
            </a:extLst>
          </p:cNvPr>
          <p:cNvCxnSpPr/>
          <p:nvPr/>
        </p:nvCxnSpPr>
        <p:spPr>
          <a:xfrm>
            <a:off x="6624320" y="685769"/>
            <a:ext cx="0" cy="258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4.3 · 例题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例题：strlen("AB") 骨架实现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4937760"/>
          </a:xfrm>
          <a:prstGeom prst="roundRect">
            <a:avLst>
              <a:gd name="adj" fmla="val 148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9222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strlen 骨架（Task B 参考）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249424"/>
            <a:ext cx="1073505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  $a1, $zero      # len =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ld.bu   $t0, $a0,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$t0, 2f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$a1, $a1,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$a0,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  $a0, $a1        # 返回 len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部分 /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6D3283-E29E-3BEC-B73E-7772AC23E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698363"/>
              </p:ext>
            </p:extLst>
          </p:nvPr>
        </p:nvGraphicFramePr>
        <p:xfrm>
          <a:off x="6278880" y="944033"/>
          <a:ext cx="500887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554">
                  <a:extLst>
                    <a:ext uri="{9D8B030D-6E8A-4147-A177-3AD203B41FA5}">
                      <a16:colId xmlns:a16="http://schemas.microsoft.com/office/drawing/2014/main" val="2748709780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719325870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2161762462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3640824301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1287237665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3391009984"/>
                    </a:ext>
                  </a:extLst>
                </a:gridCol>
                <a:gridCol w="715554">
                  <a:extLst>
                    <a:ext uri="{9D8B030D-6E8A-4147-A177-3AD203B41FA5}">
                      <a16:colId xmlns:a16="http://schemas.microsoft.com/office/drawing/2014/main" val="3461260875"/>
                    </a:ext>
                  </a:extLst>
                </a:gridCol>
              </a:tblGrid>
              <a:tr h="489374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A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B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L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3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…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416477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112F75D-E161-20DC-D514-22FBF1D44884}"/>
              </a:ext>
            </a:extLst>
          </p:cNvPr>
          <p:cNvSpPr txBox="1"/>
          <p:nvPr/>
        </p:nvSpPr>
        <p:spPr>
          <a:xfrm>
            <a:off x="6339842" y="224104"/>
            <a:ext cx="883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$a0</a:t>
            </a:r>
            <a:endParaRPr lang="zh-CN" altLang="en-US" sz="24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CF7AA8D-5188-BE98-13FD-A4CC41410DEA}"/>
              </a:ext>
            </a:extLst>
          </p:cNvPr>
          <p:cNvCxnSpPr/>
          <p:nvPr/>
        </p:nvCxnSpPr>
        <p:spPr>
          <a:xfrm>
            <a:off x="6624320" y="685769"/>
            <a:ext cx="0" cy="258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4.3 · 寄存器模拟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例题：strlen("AB") 逐字节走查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737360" cy="777240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字节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94560" y="1737360"/>
            <a:ext cx="1737360" cy="777240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7373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$t0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31920" y="1737360"/>
            <a:ext cx="2103120" cy="777240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7373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len ($a1)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737360"/>
            <a:ext cx="5669280" cy="777240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737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动作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173736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14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'A'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94560" y="2514600"/>
            <a:ext cx="173736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514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31920" y="2514600"/>
            <a:ext cx="210312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5146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2514600"/>
            <a:ext cx="566928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514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非 0，len+1，指针+1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918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'B'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94560" y="329184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2918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931920" y="329184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291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35040" y="3291840"/>
            <a:ext cx="5669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2918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非 0，len+1，指针+1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173736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69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'\0'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194560" y="4069080"/>
            <a:ext cx="173736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4069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931920" y="4069080"/>
            <a:ext cx="210312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40690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35040" y="4069080"/>
            <a:ext cx="566928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0690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为 0，跳出循环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51663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1663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A5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字符串 "AB\0"：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读到 'A'、'B' 都非 0，len 累加；读到 '\0' 才跳出，最终 len = 2。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部分 /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4.3 · 结构化模板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回看 clear_bss：与 while 模板对照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532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92224"/>
            <a:ext cx="5020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clear_bss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249424"/>
            <a:ext cx="5020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beq    $t0,$t1,2f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st.b   $zero,$t0,0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addi.d $t0,$t0,1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      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5321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874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条件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0960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游标未到终点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3044952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体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0" y="30449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写 0（st.b）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4215384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步进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0960" y="421538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地址 +1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553212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532120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与 while 模板同构：条件 = n==0？体 = body，步进 = n − 1。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部分 /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4.4 · 设计方法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写程序前强制五问 —— 用 sum=1..n 自查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输入在哪些寄存器？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1737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$a0 = 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84378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43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270662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输出写到哪里？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2706624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$a0（末尾 move 回填）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8130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813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1600" y="3675888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哪些寄存器可作临时？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3680" y="367588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$a1 存累加和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645152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4782312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782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71600" y="4645152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循环不变量是什么？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4645152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$a1 = 已加过的数之和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5614416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575157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5751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71600" y="5614416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是否必然终止？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83680" y="5614416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$a0 每轮减 1，终会为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部分 /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3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部分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课堂 Demo ·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实验实践实例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week05 · 分支、循环与汇编程序设计基础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425196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348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本部分内容：师生共译 sum=1..n；故意写错找死循环；clear_bss 与 strlen 结构同构；Task A–D 起始代码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· 课堂演示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1 · 师生共译：sum = 1..n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题目：求 1+2+…+n 的和。n 由 $a0 传入，和通过 $a0 返回。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0A4A6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41848" y="3364992"/>
            <a:ext cx="274320" cy="13716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502152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02152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流程图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41848" y="4123944"/>
            <a:ext cx="274320" cy="13716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261104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0A4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61104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伪代码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41848" y="4882896"/>
            <a:ext cx="274320" cy="13716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5020056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0056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汇编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41848" y="5641848"/>
            <a:ext cx="274320" cy="13716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5779008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779008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寄存器模拟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DB139B-47F7-E75F-113F-08B180715989}"/>
              </a:ext>
            </a:extLst>
          </p:cNvPr>
          <p:cNvSpPr txBox="1"/>
          <p:nvPr/>
        </p:nvSpPr>
        <p:spPr>
          <a:xfrm>
            <a:off x="10140593" y="643471"/>
            <a:ext cx="1417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Id3" action="ppaction://hlinkfile"/>
              </a:rPr>
              <a:t>观看动画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· 课堂演示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2 · 故意写错：找死循环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1247120" cy="4023360"/>
          </a:xfrm>
          <a:prstGeom prst="roundRect">
            <a:avLst>
              <a:gd name="adj" fmla="val 1818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61518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8A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有 bug 的版本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3072384"/>
            <a:ext cx="10735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  $a1, $zero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$a0, done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add.d   $a1, $a1, $a0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loop      </a:t>
            </a: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  $a0, $a1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258A5E-D306-E1A2-2C86-AA3EC3A39588}"/>
              </a:ext>
            </a:extLst>
          </p:cNvPr>
          <p:cNvSpPr txBox="1"/>
          <p:nvPr/>
        </p:nvSpPr>
        <p:spPr>
          <a:xfrm>
            <a:off x="4733818" y="4755221"/>
            <a:ext cx="6097712" cy="522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漏了步进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· 课堂演示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2 · 现象分析与修复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现象：$a0 永远等于初始 n，beqz 永远为假，程序不会退出。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修复后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1247120" cy="3794760"/>
          </a:xfrm>
          <a:prstGeom prst="roundRect">
            <a:avLst>
              <a:gd name="adj" fmla="val 1928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3072384"/>
            <a:ext cx="1073505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  $a1, $zero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$a0, done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add.d   $a1, $a1, $a0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$a0, $a0, -1   # 补回步进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loop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  $a0, $a1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3 部分 /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· 课堂演示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3 · 结构同构：clear_bss 与 strlen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532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92224"/>
            <a:ext cx="5020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clear_bss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249424"/>
            <a:ext cx="5020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beq    $t0,$t1,2f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st.b   $zero,$t0,0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addi.d $t0,$t0,1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      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532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1792224"/>
            <a:ext cx="5020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strlen（骨架）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28232" y="2249424"/>
            <a:ext cx="5020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ld.bu   $t0,$a0,0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beqz    $t0,2f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addi.d  $a1,$a1,1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addi.d  $a0,$a0,1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       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553212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532120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并排看：两段代码都是 条件判断 → 体 → 步进 → 回跳，只是判断条件和体的动作不同。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9">
            <a:extLst>
              <a:ext uri="{FF2B5EF4-FFF2-40B4-BE49-F238E27FC236}">
                <a16:creationId xmlns:a16="http://schemas.microsoft.com/office/drawing/2014/main" id="{CB3C95AF-F48F-2739-E585-E0B33AC879BA}"/>
              </a:ext>
            </a:extLst>
          </p:cNvPr>
          <p:cNvSpPr/>
          <p:nvPr/>
        </p:nvSpPr>
        <p:spPr>
          <a:xfrm>
            <a:off x="611312" y="2321446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54BCF456-8C1B-0EBE-B50B-27EDCBD23EDC}"/>
              </a:ext>
            </a:extLst>
          </p:cNvPr>
          <p:cNvSpPr/>
          <p:nvPr/>
        </p:nvSpPr>
        <p:spPr>
          <a:xfrm>
            <a:off x="885632" y="2321446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完成实验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lab5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的第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个任务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6518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板书总结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517904"/>
            <a:ext cx="103692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条件分支：beq / beqz / bnez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循环 = 判 + 体 + 步进 + 回跳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字符串：ld.bu → beqz → addi →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方法：五问 + 流程图优先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在本课骨架基础上，走向 strlen / uart_puts 的完整实现，并补上这次推迟的 LoongArch ABI 与调用约定。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2520</Words>
  <Application>Microsoft Office PowerPoint</Application>
  <PresentationFormat>宽屏</PresentationFormat>
  <Paragraphs>520</Paragraphs>
  <Slides>36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等线</vt:lpstr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 cai</cp:lastModifiedBy>
  <cp:revision>9</cp:revision>
  <dcterms:created xsi:type="dcterms:W3CDTF">2026-08-27T09:25:41Z</dcterms:created>
  <dcterms:modified xsi:type="dcterms:W3CDTF">2026-09-20T05:06:13Z</dcterms:modified>
</cp:coreProperties>
</file>