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1E3B"/>
                </a:solidFill>
                <a:latin typeface="Calibri"/>
                <a:ea typeface="微软雅黑"/>
                <a:cs typeface="Calibri"/>
              </a:rPr>
              <a:t>第 1 部分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082361"/>
            <a:ext cx="10058400" cy="6815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dirty="0" err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异常与中断入门</a:t>
            </a:r>
            <a:endParaRPr sz="4400" b="1" dirty="0">
              <a:latin typeface="Cambria"/>
              <a:ea typeface="微软雅黑"/>
              <a:cs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week09 · 异常与中断处理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329184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4348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C7DAE6"/>
                </a:solidFill>
                <a:latin typeface="Calibri"/>
                <a:ea typeface="微软雅黑"/>
                <a:cs typeface="Calibri"/>
              </a:rPr>
              <a:t>本部分内容：主动调用 vs 被打断、同步异常与异步中断的区别、二者共享的硬件跳转机制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32554"/>
            <a:ext cx="539496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Why · </a:t>
            </a:r>
            <a:endParaRPr sz="2400" b="1" dirty="0"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21895"/>
            <a:ext cx="1124712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dirty="0" err="1">
                <a:solidFill>
                  <a:srgbClr val="16222E"/>
                </a:solidFill>
                <a:latin typeface="Cambria"/>
                <a:ea typeface="微软雅黑"/>
                <a:cs typeface="Cambria"/>
              </a:rPr>
              <a:t>为什么“代码流会被打断</a:t>
            </a:r>
            <a:r>
              <a:rPr sz="3000" b="1" dirty="0">
                <a:solidFill>
                  <a:srgbClr val="16222E"/>
                </a:solidFill>
                <a:latin typeface="Cambria"/>
                <a:ea typeface="微软雅黑"/>
                <a:cs typeface="Cambria"/>
              </a:rPr>
              <a:t>”</a:t>
            </a:r>
            <a:endParaRPr sz="3000" b="1" dirty="0">
              <a:latin typeface="Cambria"/>
              <a:ea typeface="微软雅黑"/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919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dirty="0" err="1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以前的代码执行路径都由程序自己决定</a:t>
            </a:r>
            <a:r>
              <a:rPr sz="2400" b="0" dirty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；</a:t>
            </a:r>
            <a:endParaRPr lang="en-US" sz="2400" b="0" dirty="0">
              <a:solidFill>
                <a:srgbClr val="3E4E5C"/>
              </a:solidFill>
              <a:latin typeface="Calibri"/>
              <a:ea typeface="微软雅黑"/>
              <a:cs typeface="Calibri"/>
            </a:endParaRPr>
          </a:p>
          <a:p>
            <a:pPr algn="l">
              <a:lnSpc>
                <a:spcPct val="130000"/>
              </a:lnSpc>
            </a:pPr>
            <a:r>
              <a:rPr lang="zh-CN" altLang="en-US" sz="2400" b="0" dirty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从</a:t>
            </a:r>
            <a:r>
              <a:rPr sz="2400" b="0" dirty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本课开始，代码流可能被“</a:t>
            </a:r>
            <a:r>
              <a:rPr sz="2400" b="0" dirty="0" err="1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打断</a:t>
            </a:r>
            <a:r>
              <a:rPr sz="2400" b="0" dirty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”，</a:t>
            </a:r>
            <a:r>
              <a:rPr sz="2400" b="0" dirty="0" err="1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且打断分两种</a:t>
            </a:r>
            <a:r>
              <a:rPr sz="2400" b="0" dirty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。</a:t>
            </a:r>
            <a:endParaRPr sz="2400" b="0" dirty="0">
              <a:latin typeface="Calibri"/>
              <a:ea typeface="微软雅黑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2651760"/>
            <a:ext cx="25054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同步异常</a:t>
            </a:r>
            <a:endParaRPr sz="2800" b="1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执行指令时触发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310128" y="3063240"/>
            <a:ext cx="59436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014216" y="265176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0A4A6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33088" y="2651760"/>
            <a:ext cx="34198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自己跌倒</a:t>
            </a:r>
            <a:endParaRPr sz="2800" b="1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瞬间与位置确定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39776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3977640"/>
            <a:ext cx="25054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异步中断</a:t>
            </a:r>
            <a:endParaRPr sz="2800" b="1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外部事件通知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310128" y="4389120"/>
            <a:ext cx="59436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14216" y="39776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0A4A6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3088" y="3977640"/>
            <a:ext cx="34198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手机响了</a:t>
            </a:r>
            <a:endParaRPr sz="2800" b="1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随时可能发生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0" y="2651760"/>
            <a:ext cx="3502152" cy="3566160"/>
          </a:xfrm>
          <a:prstGeom prst="roundRect">
            <a:avLst>
              <a:gd name="adj" fmla="val 3447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788920"/>
            <a:ext cx="3044952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A4A6E"/>
                </a:solidFill>
                <a:latin typeface="Calibri"/>
                <a:ea typeface="微软雅黑"/>
                <a:cs typeface="Calibri"/>
              </a:rPr>
              <a:t>共同点</a:t>
            </a:r>
            <a:endParaRPr sz="2600" b="1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两者都要经过同一套硬件机制（本课程平台上共享 EENTRY）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但对“现场保存”的要求不同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0" y="6355080"/>
            <a:ext cx="438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>
                <a:solidFill>
                  <a:srgbClr val="9AAABB"/>
                </a:solidFill>
                <a:latin typeface="Calibri"/>
                <a:ea typeface="微软雅黑"/>
                <a:cs typeface="Calibri"/>
              </a:rPr>
              <a:t>第 1 部分 / 2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84210"/>
            <a:ext cx="731520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总结</a:t>
            </a:r>
            <a:endParaRPr sz="3400" b="1" dirty="0">
              <a:latin typeface="Cambria"/>
              <a:ea typeface="微软雅黑"/>
              <a:cs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>
            <a:noFill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17904"/>
            <a:ext cx="10369296" cy="3195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dirty="0" err="1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打断分两种</a:t>
            </a:r>
            <a:r>
              <a:rPr sz="2400" b="0" dirty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：</a:t>
            </a:r>
            <a:endParaRPr lang="en-US" sz="2400" b="0" dirty="0">
              <a:solidFill>
                <a:srgbClr val="CFE8F3"/>
              </a:solidFill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lang="en-US" sz="2400" dirty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	</a:t>
            </a:r>
            <a:r>
              <a:rPr sz="2400" b="0" dirty="0" err="1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同步异常（自己触发</a:t>
            </a:r>
            <a:r>
              <a:rPr sz="2400" b="0" dirty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）、</a:t>
            </a:r>
            <a:endParaRPr lang="en-US" sz="2400" b="0" dirty="0">
              <a:solidFill>
                <a:srgbClr val="CFE8F3"/>
              </a:solidFill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lang="en-US" sz="2400" dirty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	</a:t>
            </a:r>
            <a:r>
              <a:rPr sz="2400" b="0" dirty="0" err="1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异步中断（外部通知</a:t>
            </a:r>
            <a:r>
              <a:rPr sz="2400" b="0" dirty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）</a:t>
            </a:r>
            <a:endParaRPr sz="2400" b="0" dirty="0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 dirty="0" err="1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两者共享同一套硬件跳转机制（本课程平台上为</a:t>
            </a:r>
            <a:r>
              <a:rPr sz="2400" b="0" dirty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 EENTRY）</a:t>
            </a:r>
            <a:endParaRPr sz="2400" b="0" dirty="0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 dirty="0" err="1">
                <a:solidFill>
                  <a:srgbClr val="FF0000"/>
                </a:solidFill>
                <a:latin typeface="Calibri"/>
                <a:ea typeface="微软雅黑"/>
                <a:cs typeface="Calibri"/>
              </a:rPr>
              <a:t>异常：至少知道触发指令</a:t>
            </a:r>
            <a:r>
              <a:rPr sz="2400" b="0" dirty="0">
                <a:solidFill>
                  <a:srgbClr val="FF0000"/>
                </a:solidFill>
                <a:latin typeface="Calibri"/>
                <a:ea typeface="微软雅黑"/>
                <a:cs typeface="Calibri"/>
              </a:rPr>
              <a:t>；</a:t>
            </a:r>
            <a:endParaRPr lang="en-US" sz="2400" b="0" dirty="0">
              <a:solidFill>
                <a:srgbClr val="FF0000"/>
              </a:solidFill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 dirty="0" err="1">
                <a:solidFill>
                  <a:srgbClr val="FF0000"/>
                </a:solidFill>
                <a:latin typeface="Calibri"/>
                <a:ea typeface="微软雅黑"/>
                <a:cs typeface="Calibri"/>
              </a:rPr>
              <a:t>中断：可能插入任意指令之间</a:t>
            </a:r>
            <a:endParaRPr sz="2400" b="0" dirty="0">
              <a:solidFill>
                <a:srgbClr val="FF0000"/>
              </a:solidFill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 dirty="0" err="1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这个区别，是后面写任何“能被打断的内核”的地基</a:t>
            </a:r>
            <a:endParaRPr sz="2400" b="0" dirty="0"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1E3B"/>
                </a:solidFill>
                <a:latin typeface="Calibri"/>
                <a:ea typeface="微软雅黑"/>
                <a:cs typeface="Calibri"/>
              </a:rPr>
              <a:t>第 2 部分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三条路径对比 ·</a:t>
            </a:r>
            <a:endParaRPr sz="4400" b="1">
              <a:latin typeface="Cambria"/>
              <a:ea typeface="微软雅黑"/>
              <a:cs typeface="Cambria"/>
            </a:endParaRP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调用 / 异常 / 中断</a:t>
            </a:r>
            <a:endParaRPr sz="4400" b="1">
              <a:latin typeface="Cambria"/>
              <a:ea typeface="微软雅黑"/>
              <a:cs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week09 · 异常与中断处理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329184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Compare · 三条路径 (1/2)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6222E"/>
                </a:solidFill>
                <a:latin typeface="Cambria"/>
                <a:ea typeface="微软雅黑"/>
                <a:cs typeface="Cambria"/>
              </a:rPr>
              <a:t>三条路径对比：调用 / 异常 / 中断</a:t>
            </a:r>
            <a:endParaRPr sz="3000" b="1">
              <a:latin typeface="Cambria"/>
              <a:ea typeface="微软雅黑"/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普通调用双方提前约好“调用约定”，自愿参与；异常/中断打断发生时毫无预兆。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48840" y="2212848"/>
            <a:ext cx="3124200" cy="502920"/>
          </a:xfrm>
          <a:prstGeom prst="roundRect">
            <a:avLst>
              <a:gd name="adj" fmla="val 14000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4560" y="2212848"/>
            <a:ext cx="3032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普通调用</a:t>
            </a:r>
            <a:endParaRPr sz="2800" b="1">
              <a:latin typeface="Calibri"/>
              <a:ea typeface="微软雅黑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364480" y="2212848"/>
            <a:ext cx="3124200" cy="502920"/>
          </a:xfrm>
          <a:prstGeom prst="roundRect">
            <a:avLst>
              <a:gd name="adj" fmla="val 14000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10200" y="2212848"/>
            <a:ext cx="3032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异常</a:t>
            </a:r>
            <a:endParaRPr sz="2800" b="1">
              <a:latin typeface="Calibri"/>
              <a:ea typeface="微软雅黑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80120" y="2212848"/>
            <a:ext cx="3124200" cy="502920"/>
          </a:xfrm>
          <a:prstGeom prst="roundRect">
            <a:avLst>
              <a:gd name="adj" fmla="val 14000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25840" y="2212848"/>
            <a:ext cx="3032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中断</a:t>
            </a:r>
            <a:endParaRPr sz="2800" b="1">
              <a:latin typeface="Calibri"/>
              <a:ea typeface="微软雅黑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280720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807208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A4A6E"/>
                </a:solidFill>
                <a:latin typeface="Calibri"/>
                <a:ea typeface="微软雅黑"/>
                <a:cs typeface="Calibri"/>
              </a:rPr>
              <a:t>入口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48840" y="280720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4560" y="280720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bl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364480" y="280720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0200" y="280720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硬件跳到 EENTRY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80120" y="280720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25840" y="280720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硬件跳到 EENTRY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（同一向量体系）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381304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813048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A4A6E"/>
                </a:solidFill>
                <a:latin typeface="Calibri"/>
                <a:ea typeface="微软雅黑"/>
                <a:cs typeface="Calibri"/>
              </a:rPr>
              <a:t>触发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148840" y="381304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381304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主动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364480" y="381304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10200" y="381304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执行流同步检测到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580120" y="381304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25840" y="381304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外设异步通知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481888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818888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A4A6E"/>
                </a:solidFill>
                <a:latin typeface="Calibri"/>
                <a:ea typeface="微软雅黑"/>
                <a:cs typeface="Calibri"/>
              </a:rPr>
              <a:t>返回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148840" y="481888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94560" y="481888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jr $ra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364480" y="481888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10200" y="481888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ertn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（回到 ERA 等）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580120" y="481888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25840" y="481888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ertn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Compare · 三条路径 (2/2)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6222E"/>
                </a:solidFill>
                <a:latin typeface="Cambria"/>
                <a:ea typeface="微软雅黑"/>
                <a:cs typeface="Cambria"/>
              </a:rPr>
              <a:t>三条路径对比：调用 / 异常 / 中断（续）</a:t>
            </a:r>
            <a:endParaRPr sz="3000" b="1">
              <a:latin typeface="Cambria"/>
              <a:ea typeface="微软雅黑"/>
              <a:cs typeface="Cambr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48840" y="1664208"/>
            <a:ext cx="3124200" cy="502920"/>
          </a:xfrm>
          <a:prstGeom prst="roundRect">
            <a:avLst>
              <a:gd name="adj" fmla="val 14000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4560" y="1664208"/>
            <a:ext cx="3032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普通调用</a:t>
            </a:r>
            <a:endParaRPr sz="2800" b="1">
              <a:latin typeface="Calibri"/>
              <a:ea typeface="微软雅黑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64480" y="1664208"/>
            <a:ext cx="3124200" cy="502920"/>
          </a:xfrm>
          <a:prstGeom prst="roundRect">
            <a:avLst>
              <a:gd name="adj" fmla="val 14000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10200" y="1664208"/>
            <a:ext cx="3032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异常</a:t>
            </a:r>
            <a:endParaRPr sz="2800" b="1">
              <a:latin typeface="Calibri"/>
              <a:ea typeface="微软雅黑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580120" y="1664208"/>
            <a:ext cx="3124200" cy="502920"/>
          </a:xfrm>
          <a:prstGeom prst="roundRect">
            <a:avLst>
              <a:gd name="adj" fmla="val 14000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25840" y="1664208"/>
            <a:ext cx="3032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中断</a:t>
            </a:r>
            <a:endParaRPr sz="2800" b="1">
              <a:latin typeface="Calibri"/>
              <a:ea typeface="微软雅黑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225856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258568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A4A6E"/>
                </a:solidFill>
                <a:latin typeface="Calibri"/>
                <a:ea typeface="微软雅黑"/>
                <a:cs typeface="Calibri"/>
              </a:rPr>
              <a:t>现场保存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48840" y="225856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94560" y="225856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调用约定内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约定好的部分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364480" y="225856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10200" y="225856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入口需主动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保存更多状态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580120" y="225856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25840" y="225856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通常保存得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比异常更多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3264408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264408"/>
            <a:ext cx="1508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A4A6E"/>
                </a:solidFill>
                <a:latin typeface="Calibri"/>
                <a:ea typeface="微软雅黑"/>
                <a:cs typeface="Calibri"/>
              </a:rPr>
              <a:t>可屏蔽性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148840" y="326440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94560" y="326440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—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64480" y="326440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10200" y="326440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视类型而定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580120" y="3264408"/>
            <a:ext cx="3124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25840" y="3264408"/>
            <a:ext cx="3032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3E4E5C"/>
                </a:solidFill>
                <a:latin typeface="Calibri"/>
                <a:ea typeface="微软雅黑"/>
                <a:cs typeface="Calibri"/>
              </a:rPr>
              <a:t>常可屏蔽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" y="4270248"/>
            <a:ext cx="11247120" cy="1993392"/>
          </a:xfrm>
          <a:prstGeom prst="roundRect">
            <a:avLst>
              <a:gd name="adj" fmla="val 3447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407408"/>
            <a:ext cx="10789920" cy="1719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A4A6E"/>
                </a:solidFill>
                <a:latin typeface="Calibri"/>
                <a:ea typeface="微软雅黑"/>
                <a:cs typeface="Calibri"/>
              </a:rPr>
              <a:t>关键结论</a:t>
            </a:r>
            <a:endParaRPr sz="2600" b="1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调用是双方自愿的“君子协议”；异常/中断毫无预兆地打断，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入口必须主动完整保存现场——ertn 与 jr $ra 不能混为一谈。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0" y="6355080"/>
            <a:ext cx="438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>
                <a:solidFill>
                  <a:srgbClr val="9AAABB"/>
                </a:solidFill>
                <a:latin typeface="Calibri"/>
                <a:ea typeface="微软雅黑"/>
                <a:cs typeface="Calibri"/>
              </a:rPr>
              <a:t>第 2 部分 / 2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  <a:ea typeface="微软雅黑"/>
                <a:cs typeface="Calibri"/>
              </a:rPr>
              <a:t>教学目标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16222E"/>
                </a:solidFill>
                <a:latin typeface="Cambria"/>
                <a:ea typeface="微软雅黑"/>
                <a:cs typeface="Cambria"/>
              </a:rPr>
              <a:t>教学目标</a:t>
            </a:r>
            <a:endParaRPr sz="3400" b="1">
              <a:latin typeface="Cambria"/>
              <a:ea typeface="微软雅黑"/>
              <a:cs typeface="Cambr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883664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1</a:t>
            </a:r>
            <a:endParaRPr sz="2400" b="1">
              <a:latin typeface="Cambria"/>
              <a:ea typeface="微软雅黑"/>
              <a:cs typeface="Cambr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1783080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能说出调用 / 异常 / 中断三条路径在入口、触发、返回上的差异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679192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77977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2</a:t>
            </a:r>
            <a:endParaRPr sz="2400" b="1">
              <a:latin typeface="Cambria"/>
              <a:ea typeface="微软雅黑"/>
              <a:cs typeface="Cambr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2679192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理解为什么不能把普通 C 函数地址直接当异常向量用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3575304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8368" y="3675888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67588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3</a:t>
            </a:r>
            <a:endParaRPr sz="2400" b="1">
              <a:latin typeface="Cambria"/>
              <a:ea typeface="微软雅黑"/>
              <a:cs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3575304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理解 ertn 与 jr $ra 的本质区别：硬件级恢复 vs 软件约定跳转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4471416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" y="457200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4</a:t>
            </a:r>
            <a:endParaRPr sz="2400" b="1">
              <a:latin typeface="Cambria"/>
              <a:ea typeface="微软雅黑"/>
              <a:cs typeface="Cambr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7320" y="4471416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能解释“打断发生时几乎所有寄存器都可能是半成品”这句话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5367528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8368" y="5468112"/>
            <a:ext cx="566928" cy="56692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54681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5</a:t>
            </a:r>
            <a:endParaRPr sz="2400" b="1">
              <a:latin typeface="Cambria"/>
              <a:ea typeface="微软雅黑"/>
              <a:cs typeface="Cambri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5367528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6222E"/>
                </a:solidFill>
                <a:latin typeface="Calibri"/>
                <a:ea typeface="微软雅黑"/>
                <a:cs typeface="Calibri"/>
              </a:rPr>
              <a:t>为下一部分 exception_entry 逐行精读建立术语基础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0" y="6355080"/>
            <a:ext cx="438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400" b="0">
                <a:solidFill>
                  <a:srgbClr val="9AAABB"/>
                </a:solidFill>
                <a:latin typeface="Calibri"/>
                <a:ea typeface="微软雅黑"/>
                <a:cs typeface="Calibri"/>
              </a:rPr>
              <a:t>第 2 部分 / 2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  <a:ea typeface="微软雅黑"/>
                <a:cs typeface="Cambria"/>
              </a:rPr>
              <a:t>板书总结</a:t>
            </a:r>
            <a:endParaRPr sz="3400" b="1">
              <a:latin typeface="Cambria"/>
              <a:ea typeface="微软雅黑"/>
              <a:cs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>
            <a:noFill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17904"/>
            <a:ext cx="10369296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调用约定是“君子协议”：双方提前商量好，自愿参与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异常/中断打断的瞬间毫无预兆，入口必须主动完整保存现场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ertn ≠ jr $ra：前者是硬件级异常返回，会恢复特权级、中断使能等运行模式</a:t>
            </a:r>
            <a:endParaRPr sz="2400" b="0">
              <a:latin typeface="Calibri"/>
              <a:ea typeface="微软雅黑"/>
              <a:cs typeface="Calibri"/>
            </a:endParaRP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这是后面写任何“能被打断的内核”都要遵守的底线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2A541"/>
                </a:solidFill>
                <a:latin typeface="Calibri"/>
                <a:ea typeface="微软雅黑"/>
                <a:cs typeface="Calibri"/>
              </a:rPr>
              <a:t>下节预告</a:t>
            </a:r>
            <a:endParaRPr sz="2400" b="1">
              <a:latin typeface="Calibri"/>
              <a:ea typeface="微软雅黑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CFE8F3"/>
                </a:solidFill>
                <a:latin typeface="Calibri"/>
                <a:ea typeface="微软雅黑"/>
                <a:cs typeface="Calibri"/>
              </a:rPr>
              <a:t>逐行精读 exception_entry：伸栈保存 $ra、csrrd 读出 ESTAT/ERA、bl 跳进 exception_handler，ertn 前用 csrwr 写回新 ERA。</a:t>
            </a:r>
            <a:endParaRPr sz="2400" b="0"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第 3 部分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exception_entry ·</a:t>
            </a:r>
            <a:endParaRPr kumimoji="0" sz="4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逐行精读汇编入口</a:t>
            </a:r>
            <a:endParaRPr kumimoji="0" sz="4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week09 · 异常与中断处理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329184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715180"/>
            <a:ext cx="10698480" cy="13998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本部分内容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7DAE6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伸栈保存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 $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ra、csrrd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读出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 ESTAT/ERA、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7DAE6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bl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如何跳进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 C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函数、写回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 ERA 与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ertn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Code · exception_entry 逐行精读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exception_entry：汇编入口逐行精读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打断发生后，硬件先跳到这段汇编，它必须先保护现场，再交给 C 函数处理。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1247120" cy="3200400"/>
          </a:xfrm>
          <a:prstGeom prst="roundRect">
            <a:avLst>
              <a:gd name="adj" fmla="val 3000"/>
            </a:avLst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308860"/>
            <a:ext cx="10789920" cy="2971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exception_entry:  addi.d $sp, $sp, -32   # 开栈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st.d    $ra, $sp, 24        # 保存 $ra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csrrd   $a0, 0x5             # ESTAT -&gt; $a0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csrrd   $a1, 0x6             # ERA   -&gt; $a1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bl      exception_handler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csrwr   $a0, 0x6             # 写回新 ERA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ld.d $ra,$sp,24  addi.d $sp,$sp,32  # 恢复+收栈，ertn返回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① 伸栈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保存 $ra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0327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214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② 读CSR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ESTAT/ERA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4934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821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③ 调用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bl handler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9541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1428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④ 写回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csrwr+ertn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Flow · bl 怎么跳进 C 函数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bl exception_handler：汇编怎么调用 C 函数</a:t>
            </a: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bl exception_handler 怎么从一句汇编跳进 C 函数？中间要经过三步配合。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3383280" cy="1371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" y="2651760"/>
            <a:ext cx="3145536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汇编器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只留一个占位符号引用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886200" y="3185160"/>
            <a:ext cx="457200" cy="30480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2651760"/>
            <a:ext cx="3383280" cy="1371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7992" y="2651760"/>
            <a:ext cx="3145536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链接器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解析成真实的入口地址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7818120" y="3185160"/>
            <a:ext cx="457200" cy="30480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2651760"/>
            <a:ext cx="3383280" cy="1371600"/>
          </a:xfrm>
          <a:prstGeom prst="roundRect">
            <a:avLst>
              <a:gd name="adj" fmla="val 7692"/>
            </a:avLst>
          </a:prstGeom>
          <a:solidFill>
            <a:srgbClr val="0A4A6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39912" y="2651760"/>
            <a:ext cx="3145536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调用约定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双方都认 $a0~$a7、$ra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11247120" cy="2103120"/>
          </a:xfrm>
          <a:prstGeom prst="roundRect">
            <a:avLst>
              <a:gd name="adj" fmla="val 3447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10789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关键结论</a:t>
            </a:r>
            <a:endParaRPr kumimoji="0" sz="2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全程没有人临时翻译或转换，靠的是双方共享同一套寄存器摆放规矩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这套规矩就是 LP64 调用约定：$a0-$a7 传参、$a0 带回返回值、$ra 存返回地址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0" y="6355080"/>
            <a:ext cx="438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第 3 部分 / 5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板书总结</a:t>
            </a:r>
            <a:endParaRPr kumimoji="0" sz="3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>
            <a:noFill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17904"/>
            <a:ext cx="10369296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exception_entry 先伸栈保存 $ra，为 bl 腾出返回地址寄存器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csrrd 读出 ESTAT（异常类型）与 ERA（触发时 PC），交给 C 函数处理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bl 能跳进 C 函数：占位符号 + 链接器解析 + LP64 调用约定三者配合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exception_handler 返回新 ERA，csrwr 写回后 ertn 才能正确返回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下节预告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era+4 踩坑题：如果 exception_handler 直接原样返回 era，ertn 会跳回哪里？为什么会死循环？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第 4 部分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era+4 踩坑题 ·</a:t>
            </a:r>
            <a:endParaRPr kumimoji="0" sz="4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一字之差引发的死循环</a:t>
            </a:r>
            <a:endParaRPr kumimoji="0" sz="4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week09 · 异常与中断处理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329184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477890"/>
            <a:ext cx="10698480" cy="9197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本部分内容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：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C7DAE6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原样返回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 era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为何死循环、指令定长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 4 字节、Task3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反向验证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Pitfall · era+4 踩坑题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如果原样返回 era，会发生什么</a:t>
            </a:r>
            <a:endParaRPr kumimoji="0" sz="3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exception_handler 如果不加处理，直接把 era 原样返回，ertn 会跳到哪里？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6072" y="2651760"/>
            <a:ext cx="25054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原样返回 era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ertn 跳回 break 本身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310128" y="3063240"/>
            <a:ext cx="59436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14216" y="265176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0A4A6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33088" y="2651760"/>
            <a:ext cx="34198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再次触发 break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无限循环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39776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2" y="3977640"/>
            <a:ext cx="25054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返回 era + 4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跳到下一条指令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310128" y="4389120"/>
            <a:ext cx="59436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14216" y="39776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0A4A6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3088" y="3977640"/>
            <a:ext cx="3419856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继续正常执行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问题解决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29600" y="2651760"/>
            <a:ext cx="3502152" cy="3566160"/>
          </a:xfrm>
          <a:prstGeom prst="roundRect">
            <a:avLst>
              <a:gd name="adj" fmla="val 3447"/>
            </a:avLst>
          </a:prstGeom>
          <a:solidFill>
            <a:srgbClr val="EAF3F8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58200" y="2788920"/>
            <a:ext cx="3044952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0A4A6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为什么是 +4</a:t>
            </a:r>
            <a:endParaRPr kumimoji="0" sz="2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指令定长 4 字节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era+4 = 下一条指令地址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类比：感应门，一次只开一次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0" y="6355080"/>
            <a:ext cx="438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第 4 部分 / 5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板书总结</a:t>
            </a:r>
            <a:endParaRPr kumimoji="0" sz="3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>
            <a:noFill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17904"/>
            <a:ext cx="10369296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若 exception_handler 原样返回 era，ertn 会跳回 break 指令本身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break 再次触发同一异常，形成死循环（串口反复打印同一行）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本平台指令定长 4 字节，era+4 就是下一条指令的地址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类比自动感应门：感应一次只开一次，不能对同一次触发反复响应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下节预告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exception_init：如何把 exception_entry 的地址告诉硬件？下一部分揭晓 EENTRY 寄存器。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B1E3B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第 5 部分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exception_init ·</a:t>
            </a:r>
            <a:endParaRPr kumimoji="0" sz="4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  <a:p>
            <a:pPr marL="0" marR="0" lvl="0" indent="0" algn="l" defTabSz="4572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把入口地址交给硬件</a:t>
            </a:r>
            <a:endParaRPr kumimoji="0" sz="4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week09 · 异常与中断处理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85800" y="4251960"/>
            <a:ext cx="3291840" cy="0"/>
          </a:xfrm>
          <a:prstGeom prst="line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44348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7DAE6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本部分内容：exception_init 如何写 EENTRY、三个 CSR 编号回顾、酒店登记类比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Code · exception_init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exception_init：把入口地址交给硬件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exception_entry 写好了，硬件怎么知道从哪跳进来？exception_init 负责告诉硬件。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1247120" cy="3200400"/>
          </a:xfrm>
          <a:prstGeom prst="roundRect">
            <a:avLst>
              <a:gd name="adj" fmla="val 3000"/>
            </a:avLst>
          </a:prstGeom>
          <a:solidFill>
            <a:srgbClr val="0B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308860"/>
            <a:ext cx="10789920" cy="2971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void exception_init(void)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{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unsigned long entry =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    (unsigned long)exception_entry;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__asm__ volatile(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        "csrwr %0, 0xc" : : "r"(entry) : "memory");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  <a:p>
            <a:pPr marL="0" marR="0" lvl="0" indent="0" algn="l" defTabSz="4572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/>
                <a:ea typeface="微软雅黑"/>
                <a:cs typeface="Courier New"/>
              </a:rPr>
              <a:t>}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/>
              <a:ea typeface="微软雅黑"/>
              <a:cs typeface="Courier New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607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ESTAT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0x5 异常类型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0327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214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ERA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0x6 触发PC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4934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821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EENTRY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0xc 入口地址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95410" y="5532120"/>
            <a:ext cx="2708910" cy="822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14282" y="5532120"/>
            <a:ext cx="247116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csrwr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ct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3E4E5C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写入CSR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0" y="6355080"/>
            <a:ext cx="438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第 5 部分 / 5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教学目标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教学目标</a:t>
            </a:r>
            <a:endParaRPr kumimoji="0" sz="3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6" name="Oval 5"/>
          <p:cNvSpPr/>
          <p:nvPr/>
        </p:nvSpPr>
        <p:spPr>
          <a:xfrm>
            <a:off x="658368" y="1883664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1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1783080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理解 exception_init 的作用：把 exception_entry 地址写入 EENTRY(0xc)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679192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8368" y="2779776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277977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2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2679192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记住三个已学 CSR 编号：ESTAT=0x5、ERA=0x6、EENTRY=0xc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" y="3575304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58368" y="3675888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" y="367588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3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3575304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能用酒店登记类比解释“预先登记地址，事发时才能找到人”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4471416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58368" y="4572000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4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7320" y="4471416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理解 csrwr 与 csrrd 的方向差异：一个写入、一个读出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5367528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58368" y="5468112"/>
            <a:ext cx="566928" cy="566928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546811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5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5367528"/>
            <a:ext cx="100584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6222E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为后续课程（保存全部寄存器、真正的异常处理框架）做好准备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0" y="6355080"/>
            <a:ext cx="4388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9AAABB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第 5 部分 / 5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/>
                <a:ea typeface="微软雅黑"/>
                <a:cs typeface="Cambria"/>
              </a:rPr>
              <a:t>板书总结</a:t>
            </a:r>
            <a:endParaRPr kumimoji="0" sz="3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微软雅黑"/>
              <a:cs typeface="Cambri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>
            <a:noFill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517904"/>
            <a:ext cx="10369296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exception_init 把 exception_entry 的地址写进 CSR 0xc（EENTRY）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硬件打断时，正是查 EENTRY 才知道该跳到哪里执行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三个 CSR 编号：ESTAT=0x5（类型）、ERA=0x6（现场PC）、EENTRY=0xc（入口）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类比酒店登记：入住时先留紧急联系电话，事发时才能第一时间联系到人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下节预告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/>
                <a:ea typeface="微软雅黑"/>
                <a:cs typeface="Calibri"/>
              </a:rPr>
              <a:t>下节课（Week 11）：现场保存将从只存 $ra 升级为保存全部调用者保存寄存器，共 144 字节。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微软雅黑"/>
        <a:cs typeface="微软雅黑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966</Words>
  <Application>Microsoft Office PowerPoint</Application>
  <PresentationFormat>宽屏</PresentationFormat>
  <Paragraphs>210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xin cai</cp:lastModifiedBy>
  <cp:revision>4</cp:revision>
  <dcterms:created xsi:type="dcterms:W3CDTF">2013-01-27T09:14:16Z</dcterms:created>
  <dcterms:modified xsi:type="dcterms:W3CDTF">2026-09-23T12:00:31Z</dcterms:modified>
  <cp:category/>
</cp:coreProperties>
</file>