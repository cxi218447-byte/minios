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  <p:sldId id="261" r:id="rId5"/>
    <p:sldId id="262" r:id="rId6"/>
    <p:sldId id="264" r:id="rId7"/>
    <p:sldId id="265" r:id="rId8"/>
    <p:sldId id="266" r:id="rId9"/>
    <p:sldId id="267" r:id="rId10"/>
    <p:sldId id="269" r:id="rId11"/>
    <p:sldId id="270" r:id="rId12"/>
    <p:sldId id="271" r:id="rId13"/>
    <p:sldId id="273" r:id="rId14"/>
    <p:sldId id="274" r:id="rId15"/>
    <p:sldId id="275" r:id="rId16"/>
    <p:sldId id="276" r:id="rId17"/>
    <p:sldId id="277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752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9692640" y="-1463040"/>
            <a:ext cx="4754880" cy="4754880"/>
          </a:xfrm>
          <a:prstGeom prst="ellipse">
            <a:avLst/>
          </a:prstGeom>
          <a:solidFill>
            <a:srgbClr val="0A4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789920" y="4023360"/>
            <a:ext cx="3108960" cy="310896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" y="457200"/>
            <a:ext cx="3291840" cy="502920"/>
          </a:xfrm>
          <a:prstGeom prst="roundRect">
            <a:avLst>
              <a:gd name="adj" fmla="val 49091"/>
            </a:avLst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32918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>
                <a:solidFill>
                  <a:srgbClr val="0B1E3B"/>
                </a:solidFill>
                <a:latin typeface="Calibri"/>
                <a:ea typeface="微软雅黑"/>
                <a:cs typeface="Calibri"/>
              </a:rPr>
              <a:t>第 1 部分</a:t>
            </a:r>
            <a:endParaRPr sz="2400" b="1">
              <a:latin typeface="Calibri"/>
              <a:ea typeface="微软雅黑"/>
              <a:cs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2082361"/>
            <a:ext cx="10058400" cy="68159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4400" b="1" dirty="0" err="1">
                <a:solidFill>
                  <a:srgbClr val="FFFFFF"/>
                </a:solidFill>
                <a:latin typeface="Cambria"/>
                <a:ea typeface="微软雅黑"/>
                <a:cs typeface="Cambria"/>
              </a:rPr>
              <a:t>异常与中断入门</a:t>
            </a:r>
            <a:endParaRPr sz="4400" b="1" dirty="0">
              <a:latin typeface="Cambria"/>
              <a:ea typeface="微软雅黑"/>
              <a:cs typeface="Cambria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40080" y="361188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0">
                <a:solidFill>
                  <a:srgbClr val="CFE8F3"/>
                </a:solidFill>
                <a:latin typeface="Calibri"/>
                <a:ea typeface="微软雅黑"/>
                <a:cs typeface="Calibri"/>
              </a:rPr>
              <a:t>week09 · 异常与中断处理</a:t>
            </a:r>
            <a:endParaRPr sz="2400" b="0">
              <a:latin typeface="Calibri"/>
              <a:ea typeface="微软雅黑"/>
              <a:cs typeface="Calibri"/>
            </a:endParaRPr>
          </a:p>
        </p:txBody>
      </p:sp>
      <p:cxnSp>
        <p:nvCxnSpPr>
          <p:cNvPr id="8" name="Connector 7"/>
          <p:cNvCxnSpPr/>
          <p:nvPr/>
        </p:nvCxnSpPr>
        <p:spPr>
          <a:xfrm>
            <a:off x="685800" y="4251960"/>
            <a:ext cx="3291840" cy="0"/>
          </a:xfrm>
          <a:prstGeom prst="line">
            <a:avLst/>
          </a:prstGeom>
          <a:ln w="2540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0080" y="443484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C7DAE6"/>
                </a:solidFill>
                <a:latin typeface="Calibri"/>
                <a:ea typeface="微软雅黑"/>
                <a:cs typeface="Calibri"/>
              </a:rPr>
              <a:t>本部分内容：主动调用 vs 被打断、同步异常与异步中断的区别、二者共享的硬件跳转机制</a:t>
            </a:r>
            <a:endParaRPr sz="2400" b="0">
              <a:latin typeface="Calibri"/>
              <a:ea typeface="微软雅黑"/>
              <a:cs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32554"/>
            <a:ext cx="539496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dirty="0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Why · </a:t>
            </a:r>
            <a:endParaRPr sz="2400" b="1" dirty="0">
              <a:latin typeface="Calibri"/>
              <a:ea typeface="微软雅黑"/>
              <a:cs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1021895"/>
            <a:ext cx="11247120" cy="461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1" dirty="0" err="1">
                <a:solidFill>
                  <a:srgbClr val="16222E"/>
                </a:solidFill>
                <a:latin typeface="Cambria"/>
                <a:ea typeface="微软雅黑"/>
                <a:cs typeface="Cambria"/>
              </a:rPr>
              <a:t>为什么“代码流会被打断</a:t>
            </a:r>
            <a:r>
              <a:rPr sz="3000" b="1" dirty="0">
                <a:solidFill>
                  <a:srgbClr val="16222E"/>
                </a:solidFill>
                <a:latin typeface="Cambria"/>
                <a:ea typeface="微软雅黑"/>
                <a:cs typeface="Cambria"/>
              </a:rPr>
              <a:t>”</a:t>
            </a:r>
            <a:endParaRPr sz="3000" b="1" dirty="0">
              <a:latin typeface="Cambria"/>
              <a:ea typeface="微软雅黑"/>
              <a:cs typeface="Cambria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11247120" cy="9197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 dirty="0" err="1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以前的代码执行路径都由程序自己决定</a:t>
            </a:r>
            <a:r>
              <a:rPr sz="2400" b="0" dirty="0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；</a:t>
            </a:r>
            <a:endParaRPr lang="en-US" sz="2400" b="0" dirty="0">
              <a:solidFill>
                <a:srgbClr val="3E4E5C"/>
              </a:solidFill>
              <a:latin typeface="Calibri"/>
              <a:ea typeface="微软雅黑"/>
              <a:cs typeface="Calibri"/>
            </a:endParaRPr>
          </a:p>
          <a:p>
            <a:pPr algn="l">
              <a:lnSpc>
                <a:spcPct val="130000"/>
              </a:lnSpc>
            </a:pPr>
            <a:r>
              <a:rPr lang="zh-CN" altLang="en-US" sz="2400" b="0" dirty="0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从</a:t>
            </a:r>
            <a:r>
              <a:rPr sz="2400" b="0" dirty="0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本课开始，代码流可能被“</a:t>
            </a:r>
            <a:r>
              <a:rPr sz="2400" b="0" dirty="0" err="1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打断</a:t>
            </a:r>
            <a:r>
              <a:rPr sz="2400" b="0" dirty="0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”，</a:t>
            </a:r>
            <a:r>
              <a:rPr sz="2400" b="0" dirty="0" err="1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且打断分两种</a:t>
            </a:r>
            <a:r>
              <a:rPr sz="2400" b="0" dirty="0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。</a:t>
            </a:r>
            <a:endParaRPr sz="2400" b="0" dirty="0">
              <a:latin typeface="Calibri"/>
              <a:ea typeface="微软雅黑"/>
              <a:cs typeface="Calibr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457200" y="2651760"/>
            <a:ext cx="274320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6E3EC"/>
            </a:solidFill>
          </a:ln>
          <a:effectLst>
            <a:outerShdw blurRad="63500" dist="25400" dir="54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76072" y="2651760"/>
            <a:ext cx="2505456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800" b="1">
                <a:solidFill>
                  <a:srgbClr val="16222E"/>
                </a:solidFill>
                <a:latin typeface="Calibri"/>
                <a:ea typeface="微软雅黑"/>
                <a:cs typeface="Calibri"/>
              </a:rPr>
              <a:t>同步异常</a:t>
            </a:r>
            <a:endParaRPr sz="2800" b="1">
              <a:latin typeface="Calibri"/>
              <a:ea typeface="微软雅黑"/>
              <a:cs typeface="Calibri"/>
            </a:endParaRPr>
          </a:p>
          <a:p>
            <a:pPr algn="ctr">
              <a:lnSpc>
                <a:spcPct val="110000"/>
              </a:lnSpc>
            </a:pPr>
            <a:r>
              <a:rPr sz="2400" b="0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执行指令时触发</a:t>
            </a:r>
            <a:endParaRPr sz="2400" b="0">
              <a:latin typeface="Calibri"/>
              <a:ea typeface="微软雅黑"/>
              <a:cs typeface="Calibri"/>
            </a:endParaRPr>
          </a:p>
        </p:txBody>
      </p:sp>
      <p:sp>
        <p:nvSpPr>
          <p:cNvPr id="8" name="Right Arrow 7"/>
          <p:cNvSpPr/>
          <p:nvPr/>
        </p:nvSpPr>
        <p:spPr>
          <a:xfrm>
            <a:off x="3310128" y="3063240"/>
            <a:ext cx="594360" cy="36576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014216" y="2651760"/>
            <a:ext cx="3657600" cy="1188720"/>
          </a:xfrm>
          <a:prstGeom prst="roundRect">
            <a:avLst>
              <a:gd name="adj" fmla="val 7692"/>
            </a:avLst>
          </a:prstGeom>
          <a:solidFill>
            <a:srgbClr val="0A4A6E"/>
          </a:solidFill>
          <a:ln>
            <a:noFill/>
          </a:ln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133088" y="2651760"/>
            <a:ext cx="3419856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8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自己跌倒</a:t>
            </a:r>
            <a:endParaRPr sz="2800" b="1">
              <a:latin typeface="Calibri"/>
              <a:ea typeface="微软雅黑"/>
              <a:cs typeface="Calibri"/>
            </a:endParaRPr>
          </a:p>
          <a:p>
            <a:pPr algn="ctr">
              <a:lnSpc>
                <a:spcPct val="110000"/>
              </a:lnSpc>
            </a:pPr>
            <a:r>
              <a:rPr sz="2400" b="0">
                <a:solidFill>
                  <a:srgbClr val="CFE8F3"/>
                </a:solidFill>
                <a:latin typeface="Calibri"/>
                <a:ea typeface="微软雅黑"/>
                <a:cs typeface="Calibri"/>
              </a:rPr>
              <a:t>瞬间与位置确定</a:t>
            </a:r>
            <a:endParaRPr sz="2400" b="0">
              <a:latin typeface="Calibri"/>
              <a:ea typeface="微软雅黑"/>
              <a:cs typeface="Calibri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57200" y="3977640"/>
            <a:ext cx="274320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6E3EC"/>
            </a:solidFill>
          </a:ln>
          <a:effectLst>
            <a:outerShdw blurRad="63500" dist="25400" dir="54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76072" y="3977640"/>
            <a:ext cx="2505456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800" b="1">
                <a:solidFill>
                  <a:srgbClr val="16222E"/>
                </a:solidFill>
                <a:latin typeface="Calibri"/>
                <a:ea typeface="微软雅黑"/>
                <a:cs typeface="Calibri"/>
              </a:rPr>
              <a:t>异步中断</a:t>
            </a:r>
            <a:endParaRPr sz="2800" b="1">
              <a:latin typeface="Calibri"/>
              <a:ea typeface="微软雅黑"/>
              <a:cs typeface="Calibri"/>
            </a:endParaRPr>
          </a:p>
          <a:p>
            <a:pPr algn="ctr">
              <a:lnSpc>
                <a:spcPct val="110000"/>
              </a:lnSpc>
            </a:pPr>
            <a:r>
              <a:rPr sz="2400" b="0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外部事件通知</a:t>
            </a:r>
            <a:endParaRPr sz="2400" b="0">
              <a:latin typeface="Calibri"/>
              <a:ea typeface="微软雅黑"/>
              <a:cs typeface="Calibri"/>
            </a:endParaRPr>
          </a:p>
        </p:txBody>
      </p:sp>
      <p:sp>
        <p:nvSpPr>
          <p:cNvPr id="13" name="Right Arrow 12"/>
          <p:cNvSpPr/>
          <p:nvPr/>
        </p:nvSpPr>
        <p:spPr>
          <a:xfrm>
            <a:off x="3310128" y="4389120"/>
            <a:ext cx="594360" cy="36576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014216" y="3977640"/>
            <a:ext cx="3657600" cy="1188720"/>
          </a:xfrm>
          <a:prstGeom prst="roundRect">
            <a:avLst>
              <a:gd name="adj" fmla="val 7692"/>
            </a:avLst>
          </a:prstGeom>
          <a:solidFill>
            <a:srgbClr val="0A4A6E"/>
          </a:solidFill>
          <a:ln>
            <a:noFill/>
          </a:ln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133088" y="3977640"/>
            <a:ext cx="3419856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8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手机响了</a:t>
            </a:r>
            <a:endParaRPr sz="2800" b="1">
              <a:latin typeface="Calibri"/>
              <a:ea typeface="微软雅黑"/>
              <a:cs typeface="Calibri"/>
            </a:endParaRPr>
          </a:p>
          <a:p>
            <a:pPr algn="ctr">
              <a:lnSpc>
                <a:spcPct val="110000"/>
              </a:lnSpc>
            </a:pPr>
            <a:r>
              <a:rPr sz="2400" b="0">
                <a:solidFill>
                  <a:srgbClr val="CFE8F3"/>
                </a:solidFill>
                <a:latin typeface="Calibri"/>
                <a:ea typeface="微软雅黑"/>
                <a:cs typeface="Calibri"/>
              </a:rPr>
              <a:t>随时可能发生</a:t>
            </a:r>
            <a:endParaRPr sz="2400" b="0">
              <a:latin typeface="Calibri"/>
              <a:ea typeface="微软雅黑"/>
              <a:cs typeface="Calibr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8229600" y="2651760"/>
            <a:ext cx="3502152" cy="3566160"/>
          </a:xfrm>
          <a:prstGeom prst="roundRect">
            <a:avLst>
              <a:gd name="adj" fmla="val 3447"/>
            </a:avLst>
          </a:prstGeom>
          <a:solidFill>
            <a:srgbClr val="EAF3F8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58200" y="2788920"/>
            <a:ext cx="3044952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A4A6E"/>
                </a:solidFill>
                <a:latin typeface="Calibri"/>
                <a:ea typeface="微软雅黑"/>
                <a:cs typeface="Calibri"/>
              </a:rPr>
              <a:t>共同点</a:t>
            </a:r>
            <a:endParaRPr sz="2600" b="1">
              <a:latin typeface="Calibri"/>
              <a:ea typeface="微软雅黑"/>
              <a:cs typeface="Calibri"/>
            </a:endParaRPr>
          </a:p>
          <a:p>
            <a:pPr algn="l">
              <a:lnSpc>
                <a:spcPct val="125000"/>
              </a:lnSpc>
            </a:pPr>
            <a:r>
              <a:rPr sz="2400" b="0">
                <a:solidFill>
                  <a:srgbClr val="16222E"/>
                </a:solidFill>
                <a:latin typeface="Calibri"/>
                <a:ea typeface="微软雅黑"/>
                <a:cs typeface="Calibri"/>
              </a:rPr>
              <a:t>两者都要经过同一套硬件机制（本课程平台上共享 EENTRY）</a:t>
            </a:r>
            <a:endParaRPr sz="2400" b="0">
              <a:latin typeface="Calibri"/>
              <a:ea typeface="微软雅黑"/>
              <a:cs typeface="Calibri"/>
            </a:endParaRPr>
          </a:p>
          <a:p>
            <a:pPr algn="l">
              <a:lnSpc>
                <a:spcPct val="125000"/>
              </a:lnSpc>
            </a:pPr>
            <a:r>
              <a:rPr sz="2400" b="0">
                <a:solidFill>
                  <a:srgbClr val="16222E"/>
                </a:solidFill>
                <a:latin typeface="Calibri"/>
                <a:ea typeface="微软雅黑"/>
                <a:cs typeface="Calibri"/>
              </a:rPr>
              <a:t>但对“现场保存”的要求不同</a:t>
            </a:r>
            <a:endParaRPr sz="2400" b="0">
              <a:latin typeface="Calibri"/>
              <a:ea typeface="微软雅黑"/>
              <a:cs typeface="Calibr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7315200" y="6355080"/>
            <a:ext cx="43888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2400" b="0">
                <a:solidFill>
                  <a:srgbClr val="9AAABB"/>
                </a:solidFill>
                <a:latin typeface="Calibri"/>
                <a:ea typeface="微软雅黑"/>
                <a:cs typeface="Calibri"/>
              </a:rPr>
              <a:t>第 1 部分 / 2</a:t>
            </a:r>
            <a:endParaRPr sz="2400" b="0">
              <a:latin typeface="Calibri"/>
              <a:ea typeface="微软雅黑"/>
              <a:cs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1371600" y="4114800"/>
            <a:ext cx="4572000" cy="4572000"/>
          </a:xfrm>
          <a:prstGeom prst="ellipse">
            <a:avLst/>
          </a:prstGeom>
          <a:solidFill>
            <a:srgbClr val="0A4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84210"/>
            <a:ext cx="7315200" cy="5232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400" b="1" dirty="0" err="1">
                <a:solidFill>
                  <a:srgbClr val="FFFFFF"/>
                </a:solidFill>
                <a:latin typeface="Cambria"/>
                <a:ea typeface="微软雅黑"/>
                <a:cs typeface="Cambria"/>
              </a:rPr>
              <a:t>总结</a:t>
            </a:r>
            <a:endParaRPr sz="3400" b="1" dirty="0">
              <a:latin typeface="Cambria"/>
              <a:ea typeface="微软雅黑"/>
              <a:cs typeface="Cambria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10881360" cy="3291840"/>
          </a:xfrm>
          <a:prstGeom prst="roundRect">
            <a:avLst>
              <a:gd name="adj" fmla="val 2222"/>
            </a:avLst>
          </a:prstGeom>
          <a:solidFill>
            <a:srgbClr val="0B1E3B"/>
          </a:solidFill>
          <a:ln>
            <a:noFill/>
          </a:ln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96112" y="1517904"/>
            <a:ext cx="10369296" cy="31957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 dirty="0" err="1">
                <a:solidFill>
                  <a:srgbClr val="CFE8F3"/>
                </a:solidFill>
                <a:latin typeface="Calibri"/>
                <a:ea typeface="微软雅黑"/>
                <a:cs typeface="Calibri"/>
              </a:rPr>
              <a:t>打断分两种</a:t>
            </a:r>
            <a:r>
              <a:rPr sz="2400" b="0" dirty="0">
                <a:solidFill>
                  <a:srgbClr val="CFE8F3"/>
                </a:solidFill>
                <a:latin typeface="Calibri"/>
                <a:ea typeface="微软雅黑"/>
                <a:cs typeface="Calibri"/>
              </a:rPr>
              <a:t>：</a:t>
            </a:r>
            <a:endParaRPr lang="en-US" sz="2400" b="0" dirty="0">
              <a:solidFill>
                <a:srgbClr val="CFE8F3"/>
              </a:solidFill>
              <a:latin typeface="Calibri"/>
              <a:ea typeface="微软雅黑"/>
              <a:cs typeface="Calibri"/>
            </a:endParaRPr>
          </a:p>
          <a:p>
            <a:pPr algn="l">
              <a:lnSpc>
                <a:spcPct val="125000"/>
              </a:lnSpc>
            </a:pPr>
            <a:r>
              <a:rPr lang="en-US" sz="2400" dirty="0">
                <a:solidFill>
                  <a:srgbClr val="CFE8F3"/>
                </a:solidFill>
                <a:latin typeface="Calibri"/>
                <a:ea typeface="微软雅黑"/>
                <a:cs typeface="Calibri"/>
              </a:rPr>
              <a:t>	</a:t>
            </a:r>
            <a:r>
              <a:rPr sz="2400" b="0" dirty="0" err="1">
                <a:solidFill>
                  <a:srgbClr val="CFE8F3"/>
                </a:solidFill>
                <a:latin typeface="Calibri"/>
                <a:ea typeface="微软雅黑"/>
                <a:cs typeface="Calibri"/>
              </a:rPr>
              <a:t>同步异常（自己触发</a:t>
            </a:r>
            <a:r>
              <a:rPr sz="2400" b="0" dirty="0">
                <a:solidFill>
                  <a:srgbClr val="CFE8F3"/>
                </a:solidFill>
                <a:latin typeface="Calibri"/>
                <a:ea typeface="微软雅黑"/>
                <a:cs typeface="Calibri"/>
              </a:rPr>
              <a:t>）、</a:t>
            </a:r>
            <a:endParaRPr lang="en-US" sz="2400" b="0" dirty="0">
              <a:solidFill>
                <a:srgbClr val="CFE8F3"/>
              </a:solidFill>
              <a:latin typeface="Calibri"/>
              <a:ea typeface="微软雅黑"/>
              <a:cs typeface="Calibri"/>
            </a:endParaRPr>
          </a:p>
          <a:p>
            <a:pPr algn="l">
              <a:lnSpc>
                <a:spcPct val="125000"/>
              </a:lnSpc>
            </a:pPr>
            <a:r>
              <a:rPr lang="en-US" sz="2400" dirty="0">
                <a:solidFill>
                  <a:srgbClr val="CFE8F3"/>
                </a:solidFill>
                <a:latin typeface="Calibri"/>
                <a:ea typeface="微软雅黑"/>
                <a:cs typeface="Calibri"/>
              </a:rPr>
              <a:t>	</a:t>
            </a:r>
            <a:r>
              <a:rPr sz="2400" b="0" dirty="0" err="1">
                <a:solidFill>
                  <a:srgbClr val="CFE8F3"/>
                </a:solidFill>
                <a:latin typeface="Calibri"/>
                <a:ea typeface="微软雅黑"/>
                <a:cs typeface="Calibri"/>
              </a:rPr>
              <a:t>异步中断（外部通知</a:t>
            </a:r>
            <a:r>
              <a:rPr sz="2400" b="0" dirty="0">
                <a:solidFill>
                  <a:srgbClr val="CFE8F3"/>
                </a:solidFill>
                <a:latin typeface="Calibri"/>
                <a:ea typeface="微软雅黑"/>
                <a:cs typeface="Calibri"/>
              </a:rPr>
              <a:t>）</a:t>
            </a:r>
            <a:endParaRPr sz="2400" b="0" dirty="0">
              <a:latin typeface="Calibri"/>
              <a:ea typeface="微软雅黑"/>
              <a:cs typeface="Calibri"/>
            </a:endParaRPr>
          </a:p>
          <a:p>
            <a:pPr algn="l">
              <a:lnSpc>
                <a:spcPct val="125000"/>
              </a:lnSpc>
            </a:pPr>
            <a:r>
              <a:rPr sz="2400" b="0" dirty="0" err="1">
                <a:solidFill>
                  <a:srgbClr val="CFE8F3"/>
                </a:solidFill>
                <a:latin typeface="Calibri"/>
                <a:ea typeface="微软雅黑"/>
                <a:cs typeface="Calibri"/>
              </a:rPr>
              <a:t>两者共享同一套硬件跳转机制（本课程平台上为</a:t>
            </a:r>
            <a:r>
              <a:rPr sz="2400" b="0" dirty="0">
                <a:solidFill>
                  <a:srgbClr val="CFE8F3"/>
                </a:solidFill>
                <a:latin typeface="Calibri"/>
                <a:ea typeface="微软雅黑"/>
                <a:cs typeface="Calibri"/>
              </a:rPr>
              <a:t> EENTRY）</a:t>
            </a:r>
            <a:endParaRPr sz="2400" b="0" dirty="0">
              <a:latin typeface="Calibri"/>
              <a:ea typeface="微软雅黑"/>
              <a:cs typeface="Calibri"/>
            </a:endParaRPr>
          </a:p>
          <a:p>
            <a:pPr algn="l">
              <a:lnSpc>
                <a:spcPct val="125000"/>
              </a:lnSpc>
            </a:pPr>
            <a:r>
              <a:rPr sz="2400" b="0" dirty="0" err="1">
                <a:solidFill>
                  <a:srgbClr val="FF0000"/>
                </a:solidFill>
                <a:latin typeface="Calibri"/>
                <a:ea typeface="微软雅黑"/>
                <a:cs typeface="Calibri"/>
              </a:rPr>
              <a:t>异常：至少知道触发指令</a:t>
            </a:r>
            <a:r>
              <a:rPr sz="2400" b="0" dirty="0">
                <a:solidFill>
                  <a:srgbClr val="FF0000"/>
                </a:solidFill>
                <a:latin typeface="Calibri"/>
                <a:ea typeface="微软雅黑"/>
                <a:cs typeface="Calibri"/>
              </a:rPr>
              <a:t>；</a:t>
            </a:r>
            <a:endParaRPr lang="en-US" sz="2400" b="0" dirty="0">
              <a:solidFill>
                <a:srgbClr val="FF0000"/>
              </a:solidFill>
              <a:latin typeface="Calibri"/>
              <a:ea typeface="微软雅黑"/>
              <a:cs typeface="Calibri"/>
            </a:endParaRPr>
          </a:p>
          <a:p>
            <a:pPr algn="l">
              <a:lnSpc>
                <a:spcPct val="125000"/>
              </a:lnSpc>
            </a:pPr>
            <a:r>
              <a:rPr sz="2400" b="0" dirty="0" err="1">
                <a:solidFill>
                  <a:srgbClr val="FF0000"/>
                </a:solidFill>
                <a:latin typeface="Calibri"/>
                <a:ea typeface="微软雅黑"/>
                <a:cs typeface="Calibri"/>
              </a:rPr>
              <a:t>中断：可能插入任意指令之间</a:t>
            </a:r>
            <a:endParaRPr sz="2400" b="0" dirty="0">
              <a:solidFill>
                <a:srgbClr val="FF0000"/>
              </a:solidFill>
              <a:latin typeface="Calibri"/>
              <a:ea typeface="微软雅黑"/>
              <a:cs typeface="Calibri"/>
            </a:endParaRPr>
          </a:p>
          <a:p>
            <a:pPr algn="l">
              <a:lnSpc>
                <a:spcPct val="125000"/>
              </a:lnSpc>
            </a:pPr>
            <a:r>
              <a:rPr sz="2400" b="0" dirty="0" err="1">
                <a:solidFill>
                  <a:srgbClr val="CFE8F3"/>
                </a:solidFill>
                <a:latin typeface="Calibri"/>
                <a:ea typeface="微软雅黑"/>
                <a:cs typeface="Calibri"/>
              </a:rPr>
              <a:t>这个区别，是后面写任何“能被打断的内核”的地基</a:t>
            </a:r>
            <a:endParaRPr sz="2400" b="0" dirty="0">
              <a:latin typeface="Calibri"/>
              <a:ea typeface="微软雅黑"/>
              <a:cs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Compare · 三条路径 (1/2)</a:t>
            </a:r>
            <a:endParaRPr sz="2400" b="1">
              <a:latin typeface="Calibri"/>
              <a:ea typeface="微软雅黑"/>
              <a:cs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1">
                <a:solidFill>
                  <a:srgbClr val="16222E"/>
                </a:solidFill>
                <a:latin typeface="Cambria"/>
                <a:ea typeface="微软雅黑"/>
                <a:cs typeface="Cambria"/>
              </a:rPr>
              <a:t>三条路径对比：调用 / 异常 / 中断</a:t>
            </a:r>
            <a:endParaRPr sz="3000" b="1">
              <a:latin typeface="Cambria"/>
              <a:ea typeface="微软雅黑"/>
              <a:cs typeface="Cambria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1664208"/>
            <a:ext cx="11247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0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普通调用双方提前约好“调用约定”，自愿参与；异常/中断打断发生时毫无预兆。</a:t>
            </a:r>
            <a:endParaRPr sz="2400" b="0">
              <a:latin typeface="Calibri"/>
              <a:ea typeface="微软雅黑"/>
              <a:cs typeface="Calibr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2148840" y="2212848"/>
            <a:ext cx="3124200" cy="502920"/>
          </a:xfrm>
          <a:prstGeom prst="roundRect">
            <a:avLst>
              <a:gd name="adj" fmla="val 14000"/>
            </a:avLst>
          </a:prstGeom>
          <a:solidFill>
            <a:srgbClr val="0A4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194560" y="2212848"/>
            <a:ext cx="30327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普通调用</a:t>
            </a:r>
            <a:endParaRPr sz="2800" b="1">
              <a:latin typeface="Calibri"/>
              <a:ea typeface="微软雅黑"/>
              <a:cs typeface="Calibri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364480" y="2212848"/>
            <a:ext cx="3124200" cy="502920"/>
          </a:xfrm>
          <a:prstGeom prst="roundRect">
            <a:avLst>
              <a:gd name="adj" fmla="val 14000"/>
            </a:avLst>
          </a:prstGeom>
          <a:solidFill>
            <a:srgbClr val="0A4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10200" y="2212848"/>
            <a:ext cx="30327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异常</a:t>
            </a:r>
            <a:endParaRPr sz="2800" b="1">
              <a:latin typeface="Calibri"/>
              <a:ea typeface="微软雅黑"/>
              <a:cs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8580120" y="2212848"/>
            <a:ext cx="3124200" cy="502920"/>
          </a:xfrm>
          <a:prstGeom prst="roundRect">
            <a:avLst>
              <a:gd name="adj" fmla="val 14000"/>
            </a:avLst>
          </a:prstGeom>
          <a:solidFill>
            <a:srgbClr val="0A4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25840" y="2212848"/>
            <a:ext cx="30327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中断</a:t>
            </a:r>
            <a:endParaRPr sz="2800" b="1">
              <a:latin typeface="Calibri"/>
              <a:ea typeface="微软雅黑"/>
              <a:cs typeface="Calibri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457200" y="2807208"/>
            <a:ext cx="1600200" cy="914400"/>
          </a:xfrm>
          <a:prstGeom prst="roundRect">
            <a:avLst>
              <a:gd name="adj" fmla="val 12000"/>
            </a:avLst>
          </a:prstGeom>
          <a:solidFill>
            <a:srgbClr val="EAF3F8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2807208"/>
            <a:ext cx="1508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>
                <a:solidFill>
                  <a:srgbClr val="0A4A6E"/>
                </a:solidFill>
                <a:latin typeface="Calibri"/>
                <a:ea typeface="微软雅黑"/>
                <a:cs typeface="Calibri"/>
              </a:rPr>
              <a:t>入口</a:t>
            </a:r>
            <a:endParaRPr sz="2400" b="1">
              <a:latin typeface="Calibri"/>
              <a:ea typeface="微软雅黑"/>
              <a:cs typeface="Calibri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2148840" y="2807208"/>
            <a:ext cx="3124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3EC"/>
            </a:solidFill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194560" y="2807208"/>
            <a:ext cx="3032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0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bl</a:t>
            </a:r>
            <a:endParaRPr sz="2400" b="0">
              <a:latin typeface="Calibri"/>
              <a:ea typeface="微软雅黑"/>
              <a:cs typeface="Calibr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5364480" y="2807208"/>
            <a:ext cx="3124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3EC"/>
            </a:solidFill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10200" y="2807208"/>
            <a:ext cx="3032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0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硬件跳到 EENTRY</a:t>
            </a:r>
            <a:endParaRPr sz="2400" b="0">
              <a:latin typeface="Calibri"/>
              <a:ea typeface="微软雅黑"/>
              <a:cs typeface="Calibri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8580120" y="2807208"/>
            <a:ext cx="3124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3EC"/>
            </a:solidFill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25840" y="2807208"/>
            <a:ext cx="3032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0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硬件跳到 EENTRY</a:t>
            </a:r>
            <a:endParaRPr sz="2400" b="0">
              <a:latin typeface="Calibri"/>
              <a:ea typeface="微软雅黑"/>
              <a:cs typeface="Calibri"/>
            </a:endParaRPr>
          </a:p>
          <a:p>
            <a:pPr algn="ctr">
              <a:lnSpc>
                <a:spcPct val="110000"/>
              </a:lnSpc>
            </a:pPr>
            <a:r>
              <a:rPr sz="2400" b="0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（同一向量体系）</a:t>
            </a:r>
            <a:endParaRPr sz="2400" b="0">
              <a:latin typeface="Calibri"/>
              <a:ea typeface="微软雅黑"/>
              <a:cs typeface="Calibri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457200" y="3813048"/>
            <a:ext cx="1600200" cy="914400"/>
          </a:xfrm>
          <a:prstGeom prst="roundRect">
            <a:avLst>
              <a:gd name="adj" fmla="val 12000"/>
            </a:avLst>
          </a:prstGeom>
          <a:solidFill>
            <a:srgbClr val="EAF3F8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02920" y="3813048"/>
            <a:ext cx="1508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>
                <a:solidFill>
                  <a:srgbClr val="0A4A6E"/>
                </a:solidFill>
                <a:latin typeface="Calibri"/>
                <a:ea typeface="微软雅黑"/>
                <a:cs typeface="Calibri"/>
              </a:rPr>
              <a:t>触发</a:t>
            </a:r>
            <a:endParaRPr sz="2400" b="1">
              <a:latin typeface="Calibri"/>
              <a:ea typeface="微软雅黑"/>
              <a:cs typeface="Calibri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2148840" y="3813048"/>
            <a:ext cx="3124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3EC"/>
            </a:solidFill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194560" y="3813048"/>
            <a:ext cx="3032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0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主动</a:t>
            </a:r>
            <a:endParaRPr sz="2400" b="0">
              <a:latin typeface="Calibri"/>
              <a:ea typeface="微软雅黑"/>
              <a:cs typeface="Calibri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5364480" y="3813048"/>
            <a:ext cx="3124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3EC"/>
            </a:solidFill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410200" y="3813048"/>
            <a:ext cx="3032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0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执行流同步检测到</a:t>
            </a:r>
            <a:endParaRPr sz="2400" b="0">
              <a:latin typeface="Calibri"/>
              <a:ea typeface="微软雅黑"/>
              <a:cs typeface="Calibri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8580120" y="3813048"/>
            <a:ext cx="3124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3EC"/>
            </a:solidFill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625840" y="3813048"/>
            <a:ext cx="3032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0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外设异步通知</a:t>
            </a:r>
            <a:endParaRPr sz="2400" b="0">
              <a:latin typeface="Calibri"/>
              <a:ea typeface="微软雅黑"/>
              <a:cs typeface="Calibri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457200" y="4818888"/>
            <a:ext cx="1600200" cy="914400"/>
          </a:xfrm>
          <a:prstGeom prst="roundRect">
            <a:avLst>
              <a:gd name="adj" fmla="val 12000"/>
            </a:avLst>
          </a:prstGeom>
          <a:solidFill>
            <a:srgbClr val="EAF3F8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02920" y="4818888"/>
            <a:ext cx="1508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>
                <a:solidFill>
                  <a:srgbClr val="0A4A6E"/>
                </a:solidFill>
                <a:latin typeface="Calibri"/>
                <a:ea typeface="微软雅黑"/>
                <a:cs typeface="Calibri"/>
              </a:rPr>
              <a:t>返回</a:t>
            </a:r>
            <a:endParaRPr sz="2400" b="1">
              <a:latin typeface="Calibri"/>
              <a:ea typeface="微软雅黑"/>
              <a:cs typeface="Calibri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2148840" y="4818888"/>
            <a:ext cx="3124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3EC"/>
            </a:solidFill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194560" y="4818888"/>
            <a:ext cx="3032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0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jr $ra</a:t>
            </a:r>
            <a:endParaRPr sz="2400" b="0">
              <a:latin typeface="Calibri"/>
              <a:ea typeface="微软雅黑"/>
              <a:cs typeface="Calibri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5364480" y="4818888"/>
            <a:ext cx="3124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3EC"/>
            </a:solidFill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410200" y="4818888"/>
            <a:ext cx="3032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0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ertn</a:t>
            </a:r>
            <a:endParaRPr sz="2400" b="0">
              <a:latin typeface="Calibri"/>
              <a:ea typeface="微软雅黑"/>
              <a:cs typeface="Calibri"/>
            </a:endParaRPr>
          </a:p>
          <a:p>
            <a:pPr algn="ctr">
              <a:lnSpc>
                <a:spcPct val="110000"/>
              </a:lnSpc>
            </a:pPr>
            <a:r>
              <a:rPr sz="2400" b="0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（回到 ERA 等）</a:t>
            </a:r>
            <a:endParaRPr sz="2400" b="0">
              <a:latin typeface="Calibri"/>
              <a:ea typeface="微软雅黑"/>
              <a:cs typeface="Calibri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8580120" y="4818888"/>
            <a:ext cx="3124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3EC"/>
            </a:solidFill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625840" y="4818888"/>
            <a:ext cx="3032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0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ertn</a:t>
            </a:r>
            <a:endParaRPr sz="2400" b="0">
              <a:latin typeface="Calibri"/>
              <a:ea typeface="微软雅黑"/>
              <a:cs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Compare · 三条路径 (2/2)</a:t>
            </a:r>
            <a:endParaRPr sz="2400" b="1">
              <a:latin typeface="Calibri"/>
              <a:ea typeface="微软雅黑"/>
              <a:cs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1">
                <a:solidFill>
                  <a:srgbClr val="16222E"/>
                </a:solidFill>
                <a:latin typeface="Cambria"/>
                <a:ea typeface="微软雅黑"/>
                <a:cs typeface="Cambria"/>
              </a:rPr>
              <a:t>三条路径对比：调用 / 异常 / 中断（续）</a:t>
            </a:r>
            <a:endParaRPr sz="3000" b="1">
              <a:latin typeface="Cambria"/>
              <a:ea typeface="微软雅黑"/>
              <a:cs typeface="Cambria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2148840" y="1664208"/>
            <a:ext cx="3124200" cy="502920"/>
          </a:xfrm>
          <a:prstGeom prst="roundRect">
            <a:avLst>
              <a:gd name="adj" fmla="val 14000"/>
            </a:avLst>
          </a:prstGeom>
          <a:solidFill>
            <a:srgbClr val="0A4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194560" y="1664208"/>
            <a:ext cx="30327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普通调用</a:t>
            </a:r>
            <a:endParaRPr sz="2800" b="1">
              <a:latin typeface="Calibri"/>
              <a:ea typeface="微软雅黑"/>
              <a:cs typeface="Calibri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364480" y="1664208"/>
            <a:ext cx="3124200" cy="502920"/>
          </a:xfrm>
          <a:prstGeom prst="roundRect">
            <a:avLst>
              <a:gd name="adj" fmla="val 14000"/>
            </a:avLst>
          </a:prstGeom>
          <a:solidFill>
            <a:srgbClr val="0A4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10200" y="1664208"/>
            <a:ext cx="30327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异常</a:t>
            </a:r>
            <a:endParaRPr sz="2800" b="1">
              <a:latin typeface="Calibri"/>
              <a:ea typeface="微软雅黑"/>
              <a:cs typeface="Calibri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8580120" y="1664208"/>
            <a:ext cx="3124200" cy="502920"/>
          </a:xfrm>
          <a:prstGeom prst="roundRect">
            <a:avLst>
              <a:gd name="adj" fmla="val 14000"/>
            </a:avLst>
          </a:prstGeom>
          <a:solidFill>
            <a:srgbClr val="0A4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25840" y="1664208"/>
            <a:ext cx="30327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中断</a:t>
            </a:r>
            <a:endParaRPr sz="2800" b="1">
              <a:latin typeface="Calibri"/>
              <a:ea typeface="微软雅黑"/>
              <a:cs typeface="Calibri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57200" y="2258568"/>
            <a:ext cx="1600200" cy="914400"/>
          </a:xfrm>
          <a:prstGeom prst="roundRect">
            <a:avLst>
              <a:gd name="adj" fmla="val 12000"/>
            </a:avLst>
          </a:prstGeom>
          <a:solidFill>
            <a:srgbClr val="EAF3F8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2258568"/>
            <a:ext cx="1508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>
                <a:solidFill>
                  <a:srgbClr val="0A4A6E"/>
                </a:solidFill>
                <a:latin typeface="Calibri"/>
                <a:ea typeface="微软雅黑"/>
                <a:cs typeface="Calibri"/>
              </a:rPr>
              <a:t>现场保存</a:t>
            </a:r>
            <a:endParaRPr sz="2400" b="1">
              <a:latin typeface="Calibri"/>
              <a:ea typeface="微软雅黑"/>
              <a:cs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2148840" y="2258568"/>
            <a:ext cx="3124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3EC"/>
            </a:solidFill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194560" y="2258568"/>
            <a:ext cx="3032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0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调用约定内</a:t>
            </a:r>
            <a:endParaRPr sz="2400" b="0">
              <a:latin typeface="Calibri"/>
              <a:ea typeface="微软雅黑"/>
              <a:cs typeface="Calibri"/>
            </a:endParaRPr>
          </a:p>
          <a:p>
            <a:pPr algn="ctr">
              <a:lnSpc>
                <a:spcPct val="110000"/>
              </a:lnSpc>
            </a:pPr>
            <a:r>
              <a:rPr sz="2400" b="0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约定好的部分</a:t>
            </a:r>
            <a:endParaRPr sz="2400" b="0">
              <a:latin typeface="Calibri"/>
              <a:ea typeface="微软雅黑"/>
              <a:cs typeface="Calibri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5364480" y="2258568"/>
            <a:ext cx="3124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3EC"/>
            </a:solidFill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410200" y="2258568"/>
            <a:ext cx="3032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0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入口需主动</a:t>
            </a:r>
            <a:endParaRPr sz="2400" b="0">
              <a:latin typeface="Calibri"/>
              <a:ea typeface="微软雅黑"/>
              <a:cs typeface="Calibri"/>
            </a:endParaRPr>
          </a:p>
          <a:p>
            <a:pPr algn="ctr">
              <a:lnSpc>
                <a:spcPct val="110000"/>
              </a:lnSpc>
            </a:pPr>
            <a:r>
              <a:rPr sz="2400" b="0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保存更多状态</a:t>
            </a:r>
            <a:endParaRPr sz="2400" b="0">
              <a:latin typeface="Calibri"/>
              <a:ea typeface="微软雅黑"/>
              <a:cs typeface="Calibri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580120" y="2258568"/>
            <a:ext cx="3124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3EC"/>
            </a:solidFill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625840" y="2258568"/>
            <a:ext cx="3032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0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通常保存得</a:t>
            </a:r>
            <a:endParaRPr sz="2400" b="0">
              <a:latin typeface="Calibri"/>
              <a:ea typeface="微软雅黑"/>
              <a:cs typeface="Calibri"/>
            </a:endParaRPr>
          </a:p>
          <a:p>
            <a:pPr algn="ctr">
              <a:lnSpc>
                <a:spcPct val="110000"/>
              </a:lnSpc>
            </a:pPr>
            <a:r>
              <a:rPr sz="2400" b="0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比异常更多</a:t>
            </a:r>
            <a:endParaRPr sz="2400" b="0">
              <a:latin typeface="Calibri"/>
              <a:ea typeface="微软雅黑"/>
              <a:cs typeface="Calibri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457200" y="3264408"/>
            <a:ext cx="1600200" cy="914400"/>
          </a:xfrm>
          <a:prstGeom prst="roundRect">
            <a:avLst>
              <a:gd name="adj" fmla="val 12000"/>
            </a:avLst>
          </a:prstGeom>
          <a:solidFill>
            <a:srgbClr val="EAF3F8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02920" y="3264408"/>
            <a:ext cx="1508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>
                <a:solidFill>
                  <a:srgbClr val="0A4A6E"/>
                </a:solidFill>
                <a:latin typeface="Calibri"/>
                <a:ea typeface="微软雅黑"/>
                <a:cs typeface="Calibri"/>
              </a:rPr>
              <a:t>可屏蔽性</a:t>
            </a:r>
            <a:endParaRPr sz="2400" b="1">
              <a:latin typeface="Calibri"/>
              <a:ea typeface="微软雅黑"/>
              <a:cs typeface="Calibri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2148840" y="3264408"/>
            <a:ext cx="3124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3EC"/>
            </a:solidFill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194560" y="3264408"/>
            <a:ext cx="3032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0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—</a:t>
            </a:r>
            <a:endParaRPr sz="2400" b="0">
              <a:latin typeface="Calibri"/>
              <a:ea typeface="微软雅黑"/>
              <a:cs typeface="Calibri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5364480" y="3264408"/>
            <a:ext cx="3124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3EC"/>
            </a:solidFill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410200" y="3264408"/>
            <a:ext cx="3032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0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视类型而定</a:t>
            </a:r>
            <a:endParaRPr sz="2400" b="0">
              <a:latin typeface="Calibri"/>
              <a:ea typeface="微软雅黑"/>
              <a:cs typeface="Calibri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8580120" y="3264408"/>
            <a:ext cx="3124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3EC"/>
            </a:solidFill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625840" y="3264408"/>
            <a:ext cx="3032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0">
                <a:solidFill>
                  <a:srgbClr val="3E4E5C"/>
                </a:solidFill>
                <a:latin typeface="Calibri"/>
                <a:ea typeface="微软雅黑"/>
                <a:cs typeface="Calibri"/>
              </a:rPr>
              <a:t>常可屏蔽</a:t>
            </a:r>
            <a:endParaRPr sz="2400" b="0">
              <a:latin typeface="Calibri"/>
              <a:ea typeface="微软雅黑"/>
              <a:cs typeface="Calibri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457200" y="4270248"/>
            <a:ext cx="11247120" cy="1993392"/>
          </a:xfrm>
          <a:prstGeom prst="roundRect">
            <a:avLst>
              <a:gd name="adj" fmla="val 3447"/>
            </a:avLst>
          </a:prstGeom>
          <a:solidFill>
            <a:srgbClr val="EAF3F8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85800" y="4407408"/>
            <a:ext cx="10789920" cy="17190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A4A6E"/>
                </a:solidFill>
                <a:latin typeface="Calibri"/>
                <a:ea typeface="微软雅黑"/>
                <a:cs typeface="Calibri"/>
              </a:rPr>
              <a:t>关键结论</a:t>
            </a:r>
            <a:endParaRPr sz="2600" b="1">
              <a:latin typeface="Calibri"/>
              <a:ea typeface="微软雅黑"/>
              <a:cs typeface="Calibri"/>
            </a:endParaRPr>
          </a:p>
          <a:p>
            <a:pPr algn="l">
              <a:lnSpc>
                <a:spcPct val="125000"/>
              </a:lnSpc>
            </a:pPr>
            <a:r>
              <a:rPr sz="2400" b="0">
                <a:solidFill>
                  <a:srgbClr val="16222E"/>
                </a:solidFill>
                <a:latin typeface="Calibri"/>
                <a:ea typeface="微软雅黑"/>
                <a:cs typeface="Calibri"/>
              </a:rPr>
              <a:t>调用是双方自愿的“君子协议”；异常/中断毫无预兆地打断，</a:t>
            </a:r>
            <a:endParaRPr sz="2400" b="0">
              <a:latin typeface="Calibri"/>
              <a:ea typeface="微软雅黑"/>
              <a:cs typeface="Calibri"/>
            </a:endParaRPr>
          </a:p>
          <a:p>
            <a:pPr algn="l">
              <a:lnSpc>
                <a:spcPct val="125000"/>
              </a:lnSpc>
            </a:pPr>
            <a:r>
              <a:rPr sz="2400" b="0">
                <a:solidFill>
                  <a:srgbClr val="16222E"/>
                </a:solidFill>
                <a:latin typeface="Calibri"/>
                <a:ea typeface="微软雅黑"/>
                <a:cs typeface="Calibri"/>
              </a:rPr>
              <a:t>入口必须主动完整保存现场——ertn 与 jr $ra 不能混为一谈。</a:t>
            </a:r>
            <a:endParaRPr sz="2400" b="0">
              <a:latin typeface="Calibri"/>
              <a:ea typeface="微软雅黑"/>
              <a:cs typeface="Calibri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7315200" y="6355080"/>
            <a:ext cx="43888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2400" b="0">
                <a:solidFill>
                  <a:srgbClr val="9AAABB"/>
                </a:solidFill>
                <a:latin typeface="Calibri"/>
                <a:ea typeface="微软雅黑"/>
                <a:cs typeface="Calibri"/>
              </a:rPr>
              <a:t>第 2 部分 / 2</a:t>
            </a:r>
            <a:endParaRPr sz="2400" b="0">
              <a:latin typeface="Calibri"/>
              <a:ea typeface="微软雅黑"/>
              <a:cs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1371600" y="4114800"/>
            <a:ext cx="4572000" cy="4572000"/>
          </a:xfrm>
          <a:prstGeom prst="ellipse">
            <a:avLst/>
          </a:prstGeom>
          <a:solidFill>
            <a:srgbClr val="0A4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  <a:ea typeface="微软雅黑"/>
                <a:cs typeface="Cambria"/>
              </a:rPr>
              <a:t>板书总结</a:t>
            </a:r>
            <a:endParaRPr sz="3400" b="1">
              <a:latin typeface="Cambria"/>
              <a:ea typeface="微软雅黑"/>
              <a:cs typeface="Cambria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10881360" cy="3291840"/>
          </a:xfrm>
          <a:prstGeom prst="roundRect">
            <a:avLst>
              <a:gd name="adj" fmla="val 2222"/>
            </a:avLst>
          </a:prstGeom>
          <a:solidFill>
            <a:srgbClr val="0B1E3B"/>
          </a:solidFill>
          <a:ln>
            <a:noFill/>
          </a:ln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96112" y="1517904"/>
            <a:ext cx="10369296" cy="28820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457200" indent="-457200" algn="l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sz="2800" b="0" dirty="0">
                <a:solidFill>
                  <a:srgbClr val="FF0000"/>
                </a:solidFill>
                <a:latin typeface="Calibri"/>
                <a:ea typeface="微软雅黑"/>
                <a:cs typeface="Calibri"/>
              </a:rPr>
              <a:t>调用</a:t>
            </a:r>
            <a:r>
              <a:rPr sz="2800" b="0" dirty="0">
                <a:solidFill>
                  <a:srgbClr val="CFE8F3"/>
                </a:solidFill>
                <a:latin typeface="Calibri"/>
                <a:ea typeface="微软雅黑"/>
                <a:cs typeface="Calibri"/>
              </a:rPr>
              <a:t>是“</a:t>
            </a:r>
            <a:r>
              <a:rPr sz="2800" b="0" dirty="0" err="1">
                <a:solidFill>
                  <a:srgbClr val="CFE8F3"/>
                </a:solidFill>
                <a:latin typeface="Calibri"/>
                <a:ea typeface="微软雅黑"/>
                <a:cs typeface="Calibri"/>
              </a:rPr>
              <a:t>君子协议</a:t>
            </a:r>
            <a:r>
              <a:rPr sz="2800" b="0" dirty="0">
                <a:solidFill>
                  <a:srgbClr val="CFE8F3"/>
                </a:solidFill>
                <a:latin typeface="Calibri"/>
                <a:ea typeface="微软雅黑"/>
                <a:cs typeface="Calibri"/>
              </a:rPr>
              <a:t>”：</a:t>
            </a:r>
            <a:r>
              <a:rPr sz="2800" b="0" dirty="0" err="1">
                <a:solidFill>
                  <a:srgbClr val="CFE8F3"/>
                </a:solidFill>
                <a:latin typeface="Calibri"/>
                <a:ea typeface="微软雅黑"/>
                <a:cs typeface="Calibri"/>
              </a:rPr>
              <a:t>双方提前商量好，自愿参与</a:t>
            </a:r>
            <a:endParaRPr sz="2800" b="0" dirty="0">
              <a:latin typeface="Calibri"/>
              <a:ea typeface="微软雅黑"/>
              <a:cs typeface="Calibri"/>
            </a:endParaRPr>
          </a:p>
          <a:p>
            <a:pPr marL="457200" indent="-457200" algn="l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sz="2800" b="0" dirty="0" err="1">
                <a:solidFill>
                  <a:srgbClr val="FF0000"/>
                </a:solidFill>
                <a:latin typeface="Calibri"/>
                <a:ea typeface="微软雅黑"/>
                <a:cs typeface="Calibri"/>
              </a:rPr>
              <a:t>异常</a:t>
            </a:r>
            <a:r>
              <a:rPr sz="2800" b="0" dirty="0">
                <a:solidFill>
                  <a:srgbClr val="FF0000"/>
                </a:solidFill>
                <a:latin typeface="Calibri"/>
                <a:ea typeface="微软雅黑"/>
                <a:cs typeface="Calibri"/>
              </a:rPr>
              <a:t>/</a:t>
            </a:r>
            <a:r>
              <a:rPr sz="2800" b="0" dirty="0" err="1">
                <a:solidFill>
                  <a:srgbClr val="FF0000"/>
                </a:solidFill>
                <a:latin typeface="Calibri"/>
                <a:ea typeface="微软雅黑"/>
                <a:cs typeface="Calibri"/>
              </a:rPr>
              <a:t>中断</a:t>
            </a:r>
            <a:r>
              <a:rPr lang="zh-CN" altLang="en-US" sz="2800" b="0" dirty="0">
                <a:solidFill>
                  <a:srgbClr val="FF0000"/>
                </a:solidFill>
                <a:latin typeface="Calibri"/>
                <a:ea typeface="微软雅黑"/>
                <a:cs typeface="Calibri"/>
              </a:rPr>
              <a:t>：</a:t>
            </a:r>
            <a:r>
              <a:rPr sz="2800" b="0" dirty="0" err="1">
                <a:solidFill>
                  <a:srgbClr val="CFE8F3"/>
                </a:solidFill>
                <a:latin typeface="Calibri"/>
                <a:ea typeface="微软雅黑"/>
                <a:cs typeface="Calibri"/>
              </a:rPr>
              <a:t>打断的瞬间毫无预兆，</a:t>
            </a:r>
            <a:r>
              <a:rPr sz="2800" b="0" dirty="0" err="1">
                <a:solidFill>
                  <a:srgbClr val="FF0000"/>
                </a:solidFill>
                <a:latin typeface="Calibri"/>
                <a:ea typeface="微软雅黑"/>
                <a:cs typeface="Calibri"/>
              </a:rPr>
              <a:t>入口必须主动完整保存现场</a:t>
            </a:r>
            <a:endParaRPr sz="2800" b="0" dirty="0">
              <a:solidFill>
                <a:srgbClr val="FF0000"/>
              </a:solidFill>
              <a:latin typeface="Calibri"/>
              <a:ea typeface="微软雅黑"/>
              <a:cs typeface="Calibri"/>
            </a:endParaRPr>
          </a:p>
          <a:p>
            <a:pPr marL="457200" indent="-457200" algn="l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sz="2800" b="0" dirty="0" err="1">
                <a:solidFill>
                  <a:srgbClr val="CFE8F3"/>
                </a:solidFill>
                <a:latin typeface="Calibri"/>
                <a:ea typeface="微软雅黑"/>
                <a:cs typeface="Calibri"/>
              </a:rPr>
              <a:t>ertn</a:t>
            </a:r>
            <a:r>
              <a:rPr sz="2800" b="0" dirty="0">
                <a:solidFill>
                  <a:srgbClr val="CFE8F3"/>
                </a:solidFill>
                <a:latin typeface="Calibri"/>
                <a:ea typeface="微软雅黑"/>
                <a:cs typeface="Calibri"/>
              </a:rPr>
              <a:t> </a:t>
            </a:r>
            <a:r>
              <a:rPr sz="4000" b="0" dirty="0">
                <a:solidFill>
                  <a:srgbClr val="FF0000"/>
                </a:solidFill>
                <a:latin typeface="Calibri"/>
                <a:ea typeface="微软雅黑"/>
                <a:cs typeface="Calibri"/>
              </a:rPr>
              <a:t>≠</a:t>
            </a:r>
            <a:r>
              <a:rPr sz="2800" b="0" dirty="0">
                <a:solidFill>
                  <a:srgbClr val="CFE8F3"/>
                </a:solidFill>
                <a:latin typeface="Calibri"/>
                <a:ea typeface="微软雅黑"/>
                <a:cs typeface="Calibri"/>
              </a:rPr>
              <a:t> </a:t>
            </a:r>
            <a:r>
              <a:rPr sz="2800" b="0" dirty="0" err="1">
                <a:solidFill>
                  <a:srgbClr val="CFE8F3"/>
                </a:solidFill>
                <a:latin typeface="Calibri"/>
                <a:ea typeface="微软雅黑"/>
                <a:cs typeface="Calibri"/>
              </a:rPr>
              <a:t>jr</a:t>
            </a:r>
            <a:r>
              <a:rPr sz="2800" b="0" dirty="0">
                <a:solidFill>
                  <a:srgbClr val="CFE8F3"/>
                </a:solidFill>
                <a:latin typeface="Calibri"/>
                <a:ea typeface="微软雅黑"/>
                <a:cs typeface="Calibri"/>
              </a:rPr>
              <a:t> $</a:t>
            </a:r>
            <a:r>
              <a:rPr sz="2800" b="0" dirty="0" err="1">
                <a:solidFill>
                  <a:srgbClr val="CFE8F3"/>
                </a:solidFill>
                <a:latin typeface="Calibri"/>
                <a:ea typeface="微软雅黑"/>
                <a:cs typeface="Calibri"/>
              </a:rPr>
              <a:t>ra：前者是</a:t>
            </a:r>
            <a:r>
              <a:rPr sz="2800" b="0" dirty="0" err="1">
                <a:solidFill>
                  <a:srgbClr val="FF0000"/>
                </a:solidFill>
                <a:latin typeface="Calibri"/>
                <a:ea typeface="微软雅黑"/>
                <a:cs typeface="Calibri"/>
              </a:rPr>
              <a:t>硬件级</a:t>
            </a:r>
            <a:r>
              <a:rPr sz="2800" b="0" dirty="0" err="1">
                <a:solidFill>
                  <a:srgbClr val="CFE8F3"/>
                </a:solidFill>
                <a:latin typeface="Calibri"/>
                <a:ea typeface="微软雅黑"/>
                <a:cs typeface="Calibri"/>
              </a:rPr>
              <a:t>异常返回，会恢复特权级、中断使能等运行模式</a:t>
            </a:r>
            <a:endParaRPr sz="2800" b="0" dirty="0">
              <a:latin typeface="Calibri"/>
              <a:ea typeface="微软雅黑"/>
              <a:cs typeface="Calibri"/>
            </a:endParaRPr>
          </a:p>
          <a:p>
            <a:pPr marL="457200" indent="-457200" algn="l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sz="2800" b="0" dirty="0" err="1">
                <a:solidFill>
                  <a:srgbClr val="CFE8F3"/>
                </a:solidFill>
                <a:latin typeface="Calibri"/>
                <a:ea typeface="微软雅黑"/>
                <a:cs typeface="Calibri"/>
              </a:rPr>
              <a:t>这是后面写任何“能被打断的内核”都要遵守的底线</a:t>
            </a:r>
            <a:endParaRPr sz="2800" b="0" dirty="0">
              <a:latin typeface="Calibri"/>
              <a:ea typeface="微软雅黑"/>
              <a:cs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9692640" y="-1463040"/>
            <a:ext cx="4754880" cy="4754880"/>
          </a:xfrm>
          <a:prstGeom prst="ellipse">
            <a:avLst/>
          </a:prstGeom>
          <a:solidFill>
            <a:srgbClr val="0A4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3" name="Oval 2"/>
          <p:cNvSpPr/>
          <p:nvPr/>
        </p:nvSpPr>
        <p:spPr>
          <a:xfrm>
            <a:off x="10789920" y="4023360"/>
            <a:ext cx="3108960" cy="310896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40080" y="457200"/>
            <a:ext cx="3291840" cy="502920"/>
          </a:xfrm>
          <a:prstGeom prst="roundRect">
            <a:avLst>
              <a:gd name="adj" fmla="val 49091"/>
            </a:avLst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32918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第 3 部分</a:t>
            </a:r>
            <a:endParaRPr kumimoji="0" sz="2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058400" cy="2103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4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/>
                <a:ea typeface="微软雅黑"/>
                <a:cs typeface="Cambria"/>
              </a:rPr>
              <a:t>exception_entry ·</a:t>
            </a:r>
            <a:endParaRPr kumimoji="0" sz="4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mbria"/>
              <a:ea typeface="微软雅黑"/>
              <a:cs typeface="Cambria"/>
            </a:endParaRPr>
          </a:p>
          <a:p>
            <a:pPr marL="0" marR="0" lvl="0" indent="0" algn="l" defTabSz="4572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4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/>
                <a:ea typeface="微软雅黑"/>
                <a:cs typeface="Cambria"/>
              </a:rPr>
              <a:t>逐行精读汇编入口</a:t>
            </a:r>
            <a:endParaRPr kumimoji="0" sz="4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mbria"/>
              <a:ea typeface="微软雅黑"/>
              <a:cs typeface="Cambria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40080" y="361188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week09 · 异常与中断处理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  <p:cxnSp>
        <p:nvCxnSpPr>
          <p:cNvPr id="8" name="Connector 7"/>
          <p:cNvCxnSpPr/>
          <p:nvPr/>
        </p:nvCxnSpPr>
        <p:spPr>
          <a:xfrm>
            <a:off x="685800" y="4251960"/>
            <a:ext cx="3291840" cy="0"/>
          </a:xfrm>
          <a:prstGeom prst="line">
            <a:avLst/>
          </a:prstGeom>
          <a:ln w="2540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0080" y="4715180"/>
            <a:ext cx="10698480" cy="13998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C7DAE6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本部分内容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C7DAE6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：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C7DAE6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  <a:p>
            <a:pPr marL="0" marR="0" lvl="0" indent="0" algn="l" defTabSz="4572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C7DAE6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伸栈保存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C7DAE6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 $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C7DAE6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ra、csrrd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C7DAE6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 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C7DAE6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读出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C7DAE6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 ESTAT/ERA、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C7DAE6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  <a:p>
            <a:pPr marL="0" marR="0" lvl="0" indent="0" algn="l" defTabSz="4572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C7DAE6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bl 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C7DAE6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如何跳进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C7DAE6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 C 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C7DAE6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函数、写回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C7DAE6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 ERA 与 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C7DAE6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ertn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Code · exception_entry 逐行精读</a:t>
            </a:r>
            <a:endParaRPr kumimoji="0" sz="2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1" i="0" u="none" strike="noStrike" kern="1200" cap="none" spc="0" normalizeH="0" baseline="0" noProof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/>
                <a:ea typeface="微软雅黑"/>
                <a:cs typeface="Cambria"/>
              </a:rPr>
              <a:t>exception_entry：汇编入口逐行精读</a:t>
            </a:r>
            <a:endParaRPr kumimoji="0" sz="2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mbria"/>
              <a:ea typeface="微软雅黑"/>
              <a:cs typeface="Cambria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打断发生后，硬件先跳到这段汇编，它必须先保护现场，再交给 C 函数处理。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457200" y="2194560"/>
            <a:ext cx="11247120" cy="3200400"/>
          </a:xfrm>
          <a:prstGeom prst="roundRect">
            <a:avLst>
              <a:gd name="adj" fmla="val 3000"/>
            </a:avLst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85800" y="2308860"/>
            <a:ext cx="10789920" cy="29718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exception_entry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:  </a:t>
            </a:r>
            <a:r>
              <a:rPr kumimoji="0" sz="2400" b="1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addi.d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 $</a:t>
            </a:r>
            <a:r>
              <a:rPr kumimoji="0" sz="2400" b="1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sp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, $</a:t>
            </a:r>
            <a:r>
              <a:rPr kumimoji="0" sz="2400" b="1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sp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, -32   # </a:t>
            </a:r>
            <a:r>
              <a:rPr kumimoji="0" sz="2400" b="1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开栈</a:t>
            </a:r>
            <a:endParaRPr kumimoji="0" sz="24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ourier New"/>
              <a:ea typeface="微软雅黑"/>
              <a:cs typeface="Courier New"/>
            </a:endParaRPr>
          </a:p>
          <a:p>
            <a:pPr marL="0" marR="0" lvl="0" indent="0" algn="l" defTabSz="4572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    </a:t>
            </a:r>
            <a:r>
              <a:rPr kumimoji="0" sz="2400" b="1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st.d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    $</a:t>
            </a:r>
            <a:r>
              <a:rPr kumimoji="0" sz="2400" b="1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ra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, $</a:t>
            </a:r>
            <a:r>
              <a:rPr kumimoji="0" sz="2400" b="1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sp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, 24        # </a:t>
            </a:r>
            <a:r>
              <a:rPr kumimoji="0" sz="2400" b="1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保存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 $</a:t>
            </a:r>
            <a:r>
              <a:rPr kumimoji="0" sz="2400" b="1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ra</a:t>
            </a:r>
            <a:endParaRPr kumimoji="0" sz="24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ourier New"/>
              <a:ea typeface="微软雅黑"/>
              <a:cs typeface="Courier New"/>
            </a:endParaRPr>
          </a:p>
          <a:p>
            <a:pPr marL="0" marR="0" lvl="0" indent="0" algn="l" defTabSz="4572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    </a:t>
            </a:r>
            <a:r>
              <a:rPr kumimoji="0" sz="2400" b="1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csrrd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   $a0, 0x5             # ESTAT -&gt; $a0</a:t>
            </a:r>
          </a:p>
          <a:p>
            <a:pPr marL="0" marR="0" lvl="0" indent="0" algn="l" defTabSz="4572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    </a:t>
            </a:r>
            <a:r>
              <a:rPr kumimoji="0" sz="2400" b="1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csrrd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   $a1, 0x6             # ERA   -&gt; $a1</a:t>
            </a:r>
          </a:p>
          <a:p>
            <a:pPr marL="0" marR="0" lvl="0" indent="0" algn="l" defTabSz="4572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    bl      </a:t>
            </a:r>
            <a:r>
              <a:rPr kumimoji="0" sz="2400" b="1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exception_handler</a:t>
            </a:r>
            <a:endParaRPr kumimoji="0" sz="24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ourier New"/>
              <a:ea typeface="微软雅黑"/>
              <a:cs typeface="Courier New"/>
            </a:endParaRPr>
          </a:p>
          <a:p>
            <a:pPr marL="0" marR="0" lvl="0" indent="0" algn="l" defTabSz="4572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    </a:t>
            </a:r>
            <a:r>
              <a:rPr kumimoji="0" sz="2400" b="1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csrwr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   $a0, 0x6             # </a:t>
            </a:r>
            <a:r>
              <a:rPr kumimoji="0" sz="2400" b="1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写回新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 ERA</a:t>
            </a:r>
          </a:p>
          <a:p>
            <a:pPr marL="0" marR="0" lvl="0" indent="0" algn="l" defTabSz="4572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    </a:t>
            </a:r>
            <a:r>
              <a:rPr kumimoji="0" sz="2400" b="1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ld.d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 $ra,$sp,24  </a:t>
            </a:r>
            <a:r>
              <a:rPr kumimoji="0" sz="2400" b="1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addi.d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 $sp,$sp,32  # </a:t>
            </a:r>
            <a:r>
              <a:rPr kumimoji="0" sz="2400" b="1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恢复+收栈，ertn返回</a:t>
            </a:r>
            <a:endParaRPr kumimoji="0" sz="24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ourier New"/>
              <a:ea typeface="微软雅黑"/>
              <a:cs typeface="Courier New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457200" y="5532120"/>
            <a:ext cx="2708910" cy="8229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6E3EC"/>
            </a:solidFill>
          </a:ln>
          <a:effectLst>
            <a:outerShdw blurRad="63500" dist="25400" dir="54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76072" y="5532120"/>
            <a:ext cx="2471166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①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伸栈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  <a:p>
            <a:pPr marL="0" marR="0" lvl="0" indent="0" algn="ctr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保存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 $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ra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3303270" y="5532120"/>
            <a:ext cx="2708910" cy="8229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6E3EC"/>
            </a:solidFill>
          </a:ln>
          <a:effectLst>
            <a:outerShdw blurRad="63500" dist="25400" dir="54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422142" y="5532120"/>
            <a:ext cx="2471166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1" i="0" u="none" strike="noStrike" kern="1200" cap="none" spc="0" normalizeH="0" baseline="0" noProof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② 读CSR</a:t>
            </a:r>
            <a:endParaRPr kumimoji="0" sz="2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  <a:p>
            <a:pPr marL="0" marR="0" lvl="0" indent="0" algn="ctr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ESTAT/ERA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6149340" y="5532120"/>
            <a:ext cx="2708910" cy="8229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6E3EC"/>
            </a:solidFill>
          </a:ln>
          <a:effectLst>
            <a:outerShdw blurRad="63500" dist="25400" dir="54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268212" y="5532120"/>
            <a:ext cx="2471166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1" i="0" u="none" strike="noStrike" kern="1200" cap="none" spc="0" normalizeH="0" baseline="0" noProof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③ 调用</a:t>
            </a:r>
            <a:endParaRPr kumimoji="0" sz="2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  <a:p>
            <a:pPr marL="0" marR="0" lvl="0" indent="0" algn="ctr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bl handler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8995410" y="5532120"/>
            <a:ext cx="2708910" cy="8229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6E3EC"/>
            </a:solidFill>
          </a:ln>
          <a:effectLst>
            <a:outerShdw blurRad="63500" dist="25400" dir="54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9114282" y="5532120"/>
            <a:ext cx="2471166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1" i="0" u="none" strike="noStrike" kern="1200" cap="none" spc="0" normalizeH="0" baseline="0" noProof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④ 写回</a:t>
            </a:r>
            <a:endParaRPr kumimoji="0" sz="2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  <a:p>
            <a:pPr marL="0" marR="0" lvl="0" indent="0" algn="ctr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csrwr+ertn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Flow · bl 怎么跳进 C 函数</a:t>
            </a:r>
            <a:endParaRPr kumimoji="0" sz="2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000" b="1" i="0" u="none" strike="noStrike" kern="1200" cap="none" spc="0" normalizeH="0" baseline="0" noProof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/>
                <a:ea typeface="微软雅黑"/>
                <a:cs typeface="Cambria"/>
              </a:rPr>
              <a:t>bl exception_handler：汇编怎么调用 C 函数</a:t>
            </a:r>
            <a:endParaRPr kumimoji="0" sz="3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mbria"/>
              <a:ea typeface="微软雅黑"/>
              <a:cs typeface="Cambria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112471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bl exception_handler 怎么从一句汇编跳进 C 函数？中间要经过三步配合。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457200" y="2651760"/>
            <a:ext cx="3383280" cy="13716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6E3EC"/>
            </a:solidFill>
          </a:ln>
          <a:effectLst>
            <a:outerShdw blurRad="63500" dist="25400" dir="54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76072" y="2651760"/>
            <a:ext cx="3145536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1" i="0" u="none" strike="noStrike" kern="1200" cap="none" spc="0" normalizeH="0" baseline="0" noProof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汇编器</a:t>
            </a:r>
            <a:endParaRPr kumimoji="0" sz="2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  <a:p>
            <a:pPr marL="0" marR="0" lvl="0" indent="0" algn="ctr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只留一个占位符号引用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  <p:sp>
        <p:nvSpPr>
          <p:cNvPr id="8" name="Right Arrow 7"/>
          <p:cNvSpPr/>
          <p:nvPr/>
        </p:nvSpPr>
        <p:spPr>
          <a:xfrm>
            <a:off x="3886200" y="3185160"/>
            <a:ext cx="457200" cy="30480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389120" y="2651760"/>
            <a:ext cx="3383280" cy="13716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6E3EC"/>
            </a:solidFill>
          </a:ln>
          <a:effectLst>
            <a:outerShdw blurRad="63500" dist="25400" dir="54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507992" y="2651760"/>
            <a:ext cx="3145536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1" i="0" u="none" strike="noStrike" kern="1200" cap="none" spc="0" normalizeH="0" baseline="0" noProof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链接器</a:t>
            </a:r>
            <a:endParaRPr kumimoji="0" sz="2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  <a:p>
            <a:pPr marL="0" marR="0" lvl="0" indent="0" algn="ctr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解析成真实的入口地址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  <p:sp>
        <p:nvSpPr>
          <p:cNvPr id="11" name="Right Arrow 10"/>
          <p:cNvSpPr/>
          <p:nvPr/>
        </p:nvSpPr>
        <p:spPr>
          <a:xfrm>
            <a:off x="7818120" y="3185160"/>
            <a:ext cx="457200" cy="30480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8321040" y="2651760"/>
            <a:ext cx="3383280" cy="1371600"/>
          </a:xfrm>
          <a:prstGeom prst="roundRect">
            <a:avLst>
              <a:gd name="adj" fmla="val 7692"/>
            </a:avLst>
          </a:prstGeom>
          <a:solidFill>
            <a:srgbClr val="0A4A6E"/>
          </a:solidFill>
          <a:ln>
            <a:noFill/>
          </a:ln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439912" y="2651760"/>
            <a:ext cx="3145536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调用约定</a:t>
            </a:r>
            <a:endParaRPr kumimoji="0" sz="2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  <a:p>
            <a:pPr marL="0" marR="0" lvl="0" indent="0" algn="ctr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双方都认 $a0~$a7、$ra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457200" y="4160520"/>
            <a:ext cx="11247120" cy="2103120"/>
          </a:xfrm>
          <a:prstGeom prst="roundRect">
            <a:avLst>
              <a:gd name="adj" fmla="val 3447"/>
            </a:avLst>
          </a:prstGeom>
          <a:solidFill>
            <a:srgbClr val="EAF3F8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85800" y="4297680"/>
            <a:ext cx="1078992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600" b="1" i="0" u="none" strike="noStrike" kern="1200" cap="none" spc="0" normalizeH="0" baseline="0" noProof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关键结论</a:t>
            </a:r>
            <a:endParaRPr kumimoji="0" sz="26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  <a:p>
            <a:pPr marL="0" marR="0" lvl="0" indent="0" algn="l" defTabSz="4572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全程没有人临时翻译或转换，靠的是双方共享同一套寄存器摆放规矩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  <a:p>
            <a:pPr marL="0" marR="0" lvl="0" indent="0" algn="l" defTabSz="4572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这套规矩就是 LP64 调用约定：$a0-$a7 传参、$a0 带回返回值、$ra 存返回地址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315200" y="6355080"/>
            <a:ext cx="43888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第 3 部分 / 5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1371600" y="4114800"/>
            <a:ext cx="4572000" cy="4572000"/>
          </a:xfrm>
          <a:prstGeom prst="ellipse">
            <a:avLst/>
          </a:prstGeom>
          <a:solidFill>
            <a:srgbClr val="0A4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/>
                <a:ea typeface="微软雅黑"/>
                <a:cs typeface="Cambria"/>
              </a:rPr>
              <a:t>板书总结</a:t>
            </a:r>
            <a:endParaRPr kumimoji="0" sz="3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mbria"/>
              <a:ea typeface="微软雅黑"/>
              <a:cs typeface="Cambria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10881360" cy="3291840"/>
          </a:xfrm>
          <a:prstGeom prst="roundRect">
            <a:avLst>
              <a:gd name="adj" fmla="val 2222"/>
            </a:avLst>
          </a:prstGeom>
          <a:solidFill>
            <a:srgbClr val="0B1E3B"/>
          </a:solidFill>
          <a:ln>
            <a:noFill/>
          </a:ln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6112" y="1517904"/>
            <a:ext cx="10369296" cy="2999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exception_entry 先伸栈保存 $ra，为 bl 腾出返回地址寄存器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  <a:p>
            <a:pPr marL="0" marR="0" lvl="0" indent="0" algn="l" defTabSz="4572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csrrd 读出 ESTAT（异常类型）与 ERA（触发时 PC），交给 C 函数处理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  <a:p>
            <a:pPr marL="0" marR="0" lvl="0" indent="0" algn="l" defTabSz="4572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bl 能跳进 C 函数：占位符号 + 链接器解析 + LP64 调用约定三者配合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  <a:p>
            <a:pPr marL="0" marR="0" lvl="0" indent="0" algn="l" defTabSz="4572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exception_handler 返回新 ERA，csrwr 写回后 ertn 才能正确返回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4892040"/>
            <a:ext cx="36576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F2A541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下节预告</a:t>
            </a:r>
            <a:endParaRPr kumimoji="0" sz="2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40080" y="5394960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era+4 踩坑题：如果 exception_handler 直接原样返回 era，ertn 会跳回哪里？为什么会死循环？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9692640" y="-1463040"/>
            <a:ext cx="4754880" cy="4754880"/>
          </a:xfrm>
          <a:prstGeom prst="ellipse">
            <a:avLst/>
          </a:prstGeom>
          <a:solidFill>
            <a:srgbClr val="0A4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3" name="Oval 2"/>
          <p:cNvSpPr/>
          <p:nvPr/>
        </p:nvSpPr>
        <p:spPr>
          <a:xfrm>
            <a:off x="10789920" y="4023360"/>
            <a:ext cx="3108960" cy="310896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40080" y="457200"/>
            <a:ext cx="3291840" cy="502920"/>
          </a:xfrm>
          <a:prstGeom prst="roundRect">
            <a:avLst>
              <a:gd name="adj" fmla="val 49091"/>
            </a:avLst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32918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第 4 部分</a:t>
            </a:r>
            <a:endParaRPr kumimoji="0" sz="2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058400" cy="2103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4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/>
                <a:ea typeface="微软雅黑"/>
                <a:cs typeface="Cambria"/>
              </a:rPr>
              <a:t>era+4 踩坑题 ·</a:t>
            </a:r>
            <a:endParaRPr kumimoji="0" sz="4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mbria"/>
              <a:ea typeface="微软雅黑"/>
              <a:cs typeface="Cambria"/>
            </a:endParaRPr>
          </a:p>
          <a:p>
            <a:pPr marL="0" marR="0" lvl="0" indent="0" algn="l" defTabSz="4572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4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/>
                <a:ea typeface="微软雅黑"/>
                <a:cs typeface="Cambria"/>
              </a:rPr>
              <a:t>一字之差引发的死循环</a:t>
            </a:r>
            <a:endParaRPr kumimoji="0" sz="4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mbria"/>
              <a:ea typeface="微软雅黑"/>
              <a:cs typeface="Cambria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40080" y="361188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week09 · 异常与中断处理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  <p:cxnSp>
        <p:nvCxnSpPr>
          <p:cNvPr id="8" name="Connector 7"/>
          <p:cNvCxnSpPr/>
          <p:nvPr/>
        </p:nvCxnSpPr>
        <p:spPr>
          <a:xfrm>
            <a:off x="685800" y="4251960"/>
            <a:ext cx="3291840" cy="0"/>
          </a:xfrm>
          <a:prstGeom prst="line">
            <a:avLst/>
          </a:prstGeom>
          <a:ln w="2540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0080" y="4477890"/>
            <a:ext cx="10698480" cy="91973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C7DAE6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本部分内容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C7DAE6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：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C7DAE6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  <a:p>
            <a:pPr marL="0" marR="0" lvl="0" indent="0" algn="l" defTabSz="4572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C7DAE6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原样返回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C7DAE6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 era 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C7DAE6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为何死循环、指令定长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C7DAE6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 4 字节、Task3 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C7DAE6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反向验证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Pitfall · era+4 踩坑题</a:t>
            </a:r>
            <a:endParaRPr kumimoji="0" sz="2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000" b="1" i="0" u="none" strike="noStrike" kern="1200" cap="none" spc="0" normalizeH="0" baseline="0" noProof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/>
                <a:ea typeface="微软雅黑"/>
                <a:cs typeface="Cambria"/>
              </a:rPr>
              <a:t>如果原样返回 era，会发生什么</a:t>
            </a:r>
            <a:endParaRPr kumimoji="0" sz="3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mbria"/>
              <a:ea typeface="微软雅黑"/>
              <a:cs typeface="Cambria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112471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exception_handler 如果不加处理，直接把 era 原样返回，ertn 会跳到哪里？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457200" y="2651760"/>
            <a:ext cx="274320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6E3EC"/>
            </a:solidFill>
          </a:ln>
          <a:effectLst>
            <a:outerShdw blurRad="63500" dist="25400" dir="54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76072" y="2651760"/>
            <a:ext cx="2505456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1" i="0" u="none" strike="noStrike" kern="1200" cap="none" spc="0" normalizeH="0" baseline="0" noProof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原样返回 era</a:t>
            </a:r>
            <a:endParaRPr kumimoji="0" sz="2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  <a:p>
            <a:pPr marL="0" marR="0" lvl="0" indent="0" algn="ctr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ertn 跳回 break 本身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  <p:sp>
        <p:nvSpPr>
          <p:cNvPr id="8" name="Right Arrow 7"/>
          <p:cNvSpPr/>
          <p:nvPr/>
        </p:nvSpPr>
        <p:spPr>
          <a:xfrm>
            <a:off x="3310128" y="3063240"/>
            <a:ext cx="594360" cy="36576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014216" y="2651760"/>
            <a:ext cx="3657600" cy="1188720"/>
          </a:xfrm>
          <a:prstGeom prst="roundRect">
            <a:avLst>
              <a:gd name="adj" fmla="val 7692"/>
            </a:avLst>
          </a:prstGeom>
          <a:solidFill>
            <a:srgbClr val="0A4A6E"/>
          </a:solidFill>
          <a:ln>
            <a:noFill/>
          </a:ln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133088" y="2651760"/>
            <a:ext cx="3419856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再次触发 break</a:t>
            </a:r>
            <a:endParaRPr kumimoji="0" sz="2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  <a:p>
            <a:pPr marL="0" marR="0" lvl="0" indent="0" algn="ctr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无限循环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57200" y="3977640"/>
            <a:ext cx="274320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6E3EC"/>
            </a:solidFill>
          </a:ln>
          <a:effectLst>
            <a:outerShdw blurRad="63500" dist="25400" dir="54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76072" y="3977640"/>
            <a:ext cx="2505456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1" i="0" u="none" strike="noStrike" kern="1200" cap="none" spc="0" normalizeH="0" baseline="0" noProof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返回 era + 4</a:t>
            </a:r>
            <a:endParaRPr kumimoji="0" sz="2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  <a:p>
            <a:pPr marL="0" marR="0" lvl="0" indent="0" algn="ctr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跳到下一条指令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  <p:sp>
        <p:nvSpPr>
          <p:cNvPr id="13" name="Right Arrow 12"/>
          <p:cNvSpPr/>
          <p:nvPr/>
        </p:nvSpPr>
        <p:spPr>
          <a:xfrm>
            <a:off x="3310128" y="4389120"/>
            <a:ext cx="594360" cy="36576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4014216" y="3977640"/>
            <a:ext cx="3657600" cy="1188720"/>
          </a:xfrm>
          <a:prstGeom prst="roundRect">
            <a:avLst>
              <a:gd name="adj" fmla="val 7692"/>
            </a:avLst>
          </a:prstGeom>
          <a:solidFill>
            <a:srgbClr val="0A4A6E"/>
          </a:solidFill>
          <a:ln>
            <a:noFill/>
          </a:ln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133088" y="3977640"/>
            <a:ext cx="3419856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继续正常执行</a:t>
            </a:r>
            <a:endParaRPr kumimoji="0" sz="2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  <a:p>
            <a:pPr marL="0" marR="0" lvl="0" indent="0" algn="ctr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问题解决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8229600" y="2651760"/>
            <a:ext cx="3502152" cy="3566160"/>
          </a:xfrm>
          <a:prstGeom prst="roundRect">
            <a:avLst>
              <a:gd name="adj" fmla="val 3447"/>
            </a:avLst>
          </a:prstGeom>
          <a:solidFill>
            <a:srgbClr val="EAF3F8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458200" y="2788920"/>
            <a:ext cx="3044952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600" b="1" i="0" u="none" strike="noStrike" kern="1200" cap="none" spc="0" normalizeH="0" baseline="0" noProof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为什么是 +4</a:t>
            </a:r>
            <a:endParaRPr kumimoji="0" sz="26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  <a:p>
            <a:pPr marL="0" marR="0" lvl="0" indent="0" algn="l" defTabSz="4572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指令定长 4 字节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  <a:p>
            <a:pPr marL="0" marR="0" lvl="0" indent="0" algn="l" defTabSz="4572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era+4 = 下一条指令地址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  <a:p>
            <a:pPr marL="0" marR="0" lvl="0" indent="0" algn="l" defTabSz="4572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类比：感应门，一次只开一次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7315200" y="6355080"/>
            <a:ext cx="43888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第 4 部分 / 5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1371600" y="4114800"/>
            <a:ext cx="4572000" cy="4572000"/>
          </a:xfrm>
          <a:prstGeom prst="ellipse">
            <a:avLst/>
          </a:prstGeom>
          <a:solidFill>
            <a:srgbClr val="0A4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/>
                <a:ea typeface="微软雅黑"/>
                <a:cs typeface="Cambria"/>
              </a:rPr>
              <a:t>板书总结</a:t>
            </a:r>
            <a:endParaRPr kumimoji="0" sz="3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mbria"/>
              <a:ea typeface="微软雅黑"/>
              <a:cs typeface="Cambria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10881360" cy="3291840"/>
          </a:xfrm>
          <a:prstGeom prst="roundRect">
            <a:avLst>
              <a:gd name="adj" fmla="val 2222"/>
            </a:avLst>
          </a:prstGeom>
          <a:solidFill>
            <a:srgbClr val="0B1E3B"/>
          </a:solidFill>
          <a:ln>
            <a:noFill/>
          </a:ln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6112" y="1517904"/>
            <a:ext cx="10369296" cy="2999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若 exception_handler 原样返回 era，ertn 会跳回 break 指令本身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  <a:p>
            <a:pPr marL="0" marR="0" lvl="0" indent="0" algn="l" defTabSz="4572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break 再次触发同一异常，形成死循环（串口反复打印同一行）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  <a:p>
            <a:pPr marL="0" marR="0" lvl="0" indent="0" algn="l" defTabSz="4572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本平台指令定长 4 字节，era+4 就是下一条指令的地址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  <a:p>
            <a:pPr marL="0" marR="0" lvl="0" indent="0" algn="l" defTabSz="4572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类比自动感应门：感应一次只开一次，不能对同一次触发反复响应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4892040"/>
            <a:ext cx="36576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F2A541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下节预告</a:t>
            </a:r>
            <a:endParaRPr kumimoji="0" sz="2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40080" y="5394960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exception_init：如何把 exception_entry 的地址告诉硬件？下一部分揭晓 EENTRY 寄存器。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9692640" y="-1463040"/>
            <a:ext cx="4754880" cy="4754880"/>
          </a:xfrm>
          <a:prstGeom prst="ellipse">
            <a:avLst/>
          </a:prstGeom>
          <a:solidFill>
            <a:srgbClr val="0A4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3" name="Oval 2"/>
          <p:cNvSpPr/>
          <p:nvPr/>
        </p:nvSpPr>
        <p:spPr>
          <a:xfrm>
            <a:off x="10789920" y="4023360"/>
            <a:ext cx="3108960" cy="310896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40080" y="457200"/>
            <a:ext cx="3291840" cy="502920"/>
          </a:xfrm>
          <a:prstGeom prst="roundRect">
            <a:avLst>
              <a:gd name="adj" fmla="val 49091"/>
            </a:avLst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32918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第 5 部分</a:t>
            </a:r>
            <a:endParaRPr kumimoji="0" sz="2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058400" cy="2103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4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/>
                <a:ea typeface="微软雅黑"/>
                <a:cs typeface="Cambria"/>
              </a:rPr>
              <a:t>exception_init ·</a:t>
            </a:r>
            <a:endParaRPr kumimoji="0" sz="4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mbria"/>
              <a:ea typeface="微软雅黑"/>
              <a:cs typeface="Cambria"/>
            </a:endParaRPr>
          </a:p>
          <a:p>
            <a:pPr marL="0" marR="0" lvl="0" indent="0" algn="l" defTabSz="4572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4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/>
                <a:ea typeface="微软雅黑"/>
                <a:cs typeface="Cambria"/>
              </a:rPr>
              <a:t>把入口地址交给硬件</a:t>
            </a:r>
            <a:endParaRPr kumimoji="0" sz="4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mbria"/>
              <a:ea typeface="微软雅黑"/>
              <a:cs typeface="Cambria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40080" y="361188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week09 · 异常与中断处理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  <p:cxnSp>
        <p:nvCxnSpPr>
          <p:cNvPr id="8" name="Connector 7"/>
          <p:cNvCxnSpPr/>
          <p:nvPr/>
        </p:nvCxnSpPr>
        <p:spPr>
          <a:xfrm>
            <a:off x="685800" y="4251960"/>
            <a:ext cx="3291840" cy="0"/>
          </a:xfrm>
          <a:prstGeom prst="line">
            <a:avLst/>
          </a:prstGeom>
          <a:ln w="25400">
            <a:solidFill>
              <a:srgbClr val="1C72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0080" y="443484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C7DAE6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本部分内容：exception_init 如何写 EENTRY、三个 CSR 编号回顾、酒店登记类比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Code · exception_init</a:t>
            </a:r>
            <a:endParaRPr kumimoji="0" sz="2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1" i="0" u="none" strike="noStrike" kern="1200" cap="none" spc="0" normalizeH="0" baseline="0" noProof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/>
                <a:ea typeface="微软雅黑"/>
                <a:cs typeface="Cambria"/>
              </a:rPr>
              <a:t>exception_init：把入口地址交给硬件</a:t>
            </a:r>
            <a:endParaRPr kumimoji="0" sz="2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mbria"/>
              <a:ea typeface="微软雅黑"/>
              <a:cs typeface="Cambria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exception_entry 写好了，硬件怎么知道从哪跳进来？exception_init 负责告诉硬件。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457200" y="2194560"/>
            <a:ext cx="11247120" cy="3200400"/>
          </a:xfrm>
          <a:prstGeom prst="roundRect">
            <a:avLst>
              <a:gd name="adj" fmla="val 3000"/>
            </a:avLst>
          </a:prstGeom>
          <a:solidFill>
            <a:srgbClr val="0B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85800" y="2308860"/>
            <a:ext cx="10789920" cy="29718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void exception_init(void)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/>
              <a:ea typeface="微软雅黑"/>
              <a:cs typeface="Courier New"/>
            </a:endParaRPr>
          </a:p>
          <a:p>
            <a:pPr marL="0" marR="0" lvl="0" indent="0" algn="l" defTabSz="4572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{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/>
              <a:ea typeface="微软雅黑"/>
              <a:cs typeface="Courier New"/>
            </a:endParaRPr>
          </a:p>
          <a:p>
            <a:pPr marL="0" marR="0" lvl="0" indent="0" algn="l" defTabSz="4572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    unsigned long entry =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/>
              <a:ea typeface="微软雅黑"/>
              <a:cs typeface="Courier New"/>
            </a:endParaRPr>
          </a:p>
          <a:p>
            <a:pPr marL="0" marR="0" lvl="0" indent="0" algn="l" defTabSz="4572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        (unsigned long)exception_entry;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/>
              <a:ea typeface="微软雅黑"/>
              <a:cs typeface="Courier New"/>
            </a:endParaRPr>
          </a:p>
          <a:p>
            <a:pPr marL="0" marR="0" lvl="0" indent="0" algn="l" defTabSz="4572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    __asm__ volatile(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/>
              <a:ea typeface="微软雅黑"/>
              <a:cs typeface="Courier New"/>
            </a:endParaRPr>
          </a:p>
          <a:p>
            <a:pPr marL="0" marR="0" lvl="0" indent="0" algn="l" defTabSz="4572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        "csrwr %0, 0xc" : : "r"(entry) : "memory");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/>
              <a:ea typeface="微软雅黑"/>
              <a:cs typeface="Courier New"/>
            </a:endParaRPr>
          </a:p>
          <a:p>
            <a:pPr marL="0" marR="0" lvl="0" indent="0" algn="l" defTabSz="4572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/>
                <a:ea typeface="微软雅黑"/>
                <a:cs typeface="Courier New"/>
              </a:rPr>
              <a:t>}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/>
              <a:ea typeface="微软雅黑"/>
              <a:cs typeface="Courier New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457200" y="5532120"/>
            <a:ext cx="2708910" cy="8229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6E3EC"/>
            </a:solidFill>
          </a:ln>
          <a:effectLst>
            <a:outerShdw blurRad="63500" dist="25400" dir="54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76072" y="5532120"/>
            <a:ext cx="2471166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1" i="0" u="none" strike="noStrike" kern="1200" cap="none" spc="0" normalizeH="0" baseline="0" noProof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ESTAT</a:t>
            </a:r>
            <a:endParaRPr kumimoji="0" sz="2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  <a:p>
            <a:pPr marL="0" marR="0" lvl="0" indent="0" algn="ctr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0x5 异常类型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3303270" y="5532120"/>
            <a:ext cx="2708910" cy="8229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6E3EC"/>
            </a:solidFill>
          </a:ln>
          <a:effectLst>
            <a:outerShdw blurRad="63500" dist="25400" dir="54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422142" y="5532120"/>
            <a:ext cx="2471166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1" i="0" u="none" strike="noStrike" kern="1200" cap="none" spc="0" normalizeH="0" baseline="0" noProof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ERA</a:t>
            </a:r>
            <a:endParaRPr kumimoji="0" sz="2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  <a:p>
            <a:pPr marL="0" marR="0" lvl="0" indent="0" algn="ctr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0x6 触发PC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6149340" y="5532120"/>
            <a:ext cx="2708910" cy="8229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6E3EC"/>
            </a:solidFill>
          </a:ln>
          <a:effectLst>
            <a:outerShdw blurRad="63500" dist="25400" dir="54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268212" y="5532120"/>
            <a:ext cx="2471166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1" i="0" u="none" strike="noStrike" kern="1200" cap="none" spc="0" normalizeH="0" baseline="0" noProof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EENTRY</a:t>
            </a:r>
            <a:endParaRPr kumimoji="0" sz="2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  <a:p>
            <a:pPr marL="0" marR="0" lvl="0" indent="0" algn="ctr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0xc 入口地址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8995410" y="5532120"/>
            <a:ext cx="2708910" cy="8229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6E3EC"/>
            </a:solidFill>
          </a:ln>
          <a:effectLst>
            <a:outerShdw blurRad="63500" dist="25400" dir="5400000" algn="b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9114282" y="5532120"/>
            <a:ext cx="2471166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1" i="0" u="none" strike="noStrike" kern="1200" cap="none" spc="0" normalizeH="0" baseline="0" noProof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csrwr</a:t>
            </a:r>
            <a:endParaRPr kumimoji="0" sz="2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  <a:p>
            <a:pPr marL="0" marR="0" lvl="0" indent="0" algn="ctr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写入CSR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315200" y="6355080"/>
            <a:ext cx="43888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第 5 部分 / 5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教学目标</a:t>
            </a:r>
            <a:endParaRPr kumimoji="0" sz="2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400" b="1" i="0" u="none" strike="noStrike" kern="1200" cap="none" spc="0" normalizeH="0" baseline="0" noProof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/>
                <a:ea typeface="微软雅黑"/>
                <a:cs typeface="Cambria"/>
              </a:rPr>
              <a:t>教学目标</a:t>
            </a:r>
            <a:endParaRPr kumimoji="0" sz="3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mbria"/>
              <a:ea typeface="微软雅黑"/>
              <a:cs typeface="Cambria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457200" y="1783080"/>
            <a:ext cx="1124712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9EF"/>
            </a:solidFill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6" name="Oval 5"/>
          <p:cNvSpPr/>
          <p:nvPr/>
        </p:nvSpPr>
        <p:spPr>
          <a:xfrm>
            <a:off x="658368" y="1883664"/>
            <a:ext cx="566928" cy="566928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58368" y="1883664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/>
                <a:ea typeface="微软雅黑"/>
                <a:cs typeface="Cambria"/>
              </a:rPr>
              <a:t>1</a:t>
            </a:r>
            <a:endParaRPr kumimoji="0" sz="2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mbria"/>
              <a:ea typeface="微软雅黑"/>
              <a:cs typeface="Cambria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417320" y="1783080"/>
            <a:ext cx="10058400" cy="7680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理解 exception_init 的作用：把 exception_entry 地址写入 EENTRY(0xc)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57200" y="2679192"/>
            <a:ext cx="1124712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9EF"/>
            </a:solidFill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10" name="Oval 9"/>
          <p:cNvSpPr/>
          <p:nvPr/>
        </p:nvSpPr>
        <p:spPr>
          <a:xfrm>
            <a:off x="658368" y="2779776"/>
            <a:ext cx="566928" cy="566928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58368" y="2779776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/>
                <a:ea typeface="微软雅黑"/>
                <a:cs typeface="Cambria"/>
              </a:rPr>
              <a:t>2</a:t>
            </a:r>
            <a:endParaRPr kumimoji="0" sz="2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mbria"/>
              <a:ea typeface="微软雅黑"/>
              <a:cs typeface="Cambria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417320" y="2679192"/>
            <a:ext cx="10058400" cy="7680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记住三个已学 CSR 编号：ESTAT=0x5、ERA=0x6、EENTRY=0xc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57200" y="3575304"/>
            <a:ext cx="1124712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9EF"/>
            </a:solidFill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658368" y="3675888"/>
            <a:ext cx="566928" cy="566928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58368" y="3675888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/>
                <a:ea typeface="微软雅黑"/>
                <a:cs typeface="Cambria"/>
              </a:rPr>
              <a:t>3</a:t>
            </a:r>
            <a:endParaRPr kumimoji="0" sz="2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mbria"/>
              <a:ea typeface="微软雅黑"/>
              <a:cs typeface="Cambria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417320" y="3575304"/>
            <a:ext cx="10058400" cy="7680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能用酒店登记类比解释“预先登记地址，事发时才能找到人”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457200" y="4471416"/>
            <a:ext cx="1124712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9EF"/>
            </a:solidFill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658368" y="4572000"/>
            <a:ext cx="566928" cy="566928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58368" y="4572000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/>
                <a:ea typeface="微软雅黑"/>
                <a:cs typeface="Cambria"/>
              </a:rPr>
              <a:t>4</a:t>
            </a:r>
            <a:endParaRPr kumimoji="0" sz="2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mbria"/>
              <a:ea typeface="微软雅黑"/>
              <a:cs typeface="Cambria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417320" y="4471416"/>
            <a:ext cx="10058400" cy="7680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理解 csrwr 与 csrrd 的方向差异：一个写入、一个读出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457200" y="5367528"/>
            <a:ext cx="1124712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9EF"/>
            </a:solidFill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658368" y="5468112"/>
            <a:ext cx="566928" cy="566928"/>
          </a:xfrm>
          <a:prstGeom prst="ellipse">
            <a:avLst/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58368" y="5468112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/>
                <a:ea typeface="微软雅黑"/>
                <a:cs typeface="Cambria"/>
              </a:rPr>
              <a:t>5</a:t>
            </a:r>
            <a:endParaRPr kumimoji="0" sz="2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mbria"/>
              <a:ea typeface="微软雅黑"/>
              <a:cs typeface="Cambria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417320" y="5367528"/>
            <a:ext cx="10058400" cy="7680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为后续课程（保存全部寄存器、真正的异常处理框架）做好准备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7315200" y="6355080"/>
            <a:ext cx="43888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第 5 部分 / 5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1371600" y="4114800"/>
            <a:ext cx="4572000" cy="4572000"/>
          </a:xfrm>
          <a:prstGeom prst="ellipse">
            <a:avLst/>
          </a:prstGeom>
          <a:solidFill>
            <a:srgbClr val="0A4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/>
                <a:ea typeface="微软雅黑"/>
                <a:cs typeface="Cambria"/>
              </a:rPr>
              <a:t>板书总结</a:t>
            </a:r>
            <a:endParaRPr kumimoji="0" sz="3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mbria"/>
              <a:ea typeface="微软雅黑"/>
              <a:cs typeface="Cambria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10881360" cy="3291840"/>
          </a:xfrm>
          <a:prstGeom prst="roundRect">
            <a:avLst>
              <a:gd name="adj" fmla="val 2222"/>
            </a:avLst>
          </a:prstGeom>
          <a:solidFill>
            <a:srgbClr val="0B1E3B"/>
          </a:solidFill>
          <a:ln>
            <a:noFill/>
          </a:ln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6112" y="1517904"/>
            <a:ext cx="10369296" cy="2999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exception_init 把 exception_entry 的地址写进 CSR 0xc（EENTRY）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  <a:p>
            <a:pPr marL="0" marR="0" lvl="0" indent="0" algn="l" defTabSz="4572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硬件打断时，正是查 EENTRY 才知道该跳到哪里执行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  <a:p>
            <a:pPr marL="0" marR="0" lvl="0" indent="0" algn="l" defTabSz="4572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三个 CSR 编号：ESTAT=0x5（类型）、ERA=0x6（现场PC）、EENTRY=0xc（入口）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  <a:p>
            <a:pPr marL="0" marR="0" lvl="0" indent="0" algn="l" defTabSz="4572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类比酒店登记：入住时先留紧急联系电话，事发时才能第一时间联系到人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4892040"/>
            <a:ext cx="36576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F2A541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下节预告</a:t>
            </a:r>
            <a:endParaRPr kumimoji="0" sz="2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40080" y="5394960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/>
                <a:ea typeface="微软雅黑"/>
                <a:cs typeface="Calibri"/>
              </a:rPr>
              <a:t>下节课（Week 11）：现场保存将从只存 $ra 升级为保存全部调用者保存寄存器，共 144 字节。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软雅黑"/>
              <a:cs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微软雅黑"/>
        <a:cs typeface="微软雅黑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微软雅黑"/>
        <a:cs typeface="微软雅黑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305</TotalTime>
  <Words>882</Words>
  <Application>Microsoft Office PowerPoint</Application>
  <PresentationFormat>宽屏</PresentationFormat>
  <Paragraphs>191</Paragraphs>
  <Slides>17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22" baseType="lpstr">
      <vt:lpstr>Arial</vt:lpstr>
      <vt:lpstr>Calibri</vt:lpstr>
      <vt:lpstr>Cambria</vt:lpstr>
      <vt:lpstr>Courier New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xin cai</cp:lastModifiedBy>
  <cp:revision>7</cp:revision>
  <dcterms:created xsi:type="dcterms:W3CDTF">2013-01-27T09:14:16Z</dcterms:created>
  <dcterms:modified xsi:type="dcterms:W3CDTF">2026-09-28T09:45:47Z</dcterms:modified>
  <cp:category/>
</cp:coreProperties>
</file>