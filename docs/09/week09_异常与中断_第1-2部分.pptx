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53"/>
  </p:notesMasterIdLst>
  <p:sldIdLst>
    <p:sldId id="256" r:id="rId3"/>
    <p:sldId id="257" r:id="rId4"/>
    <p:sldId id="261" r:id="rId5"/>
    <p:sldId id="262" r:id="rId6"/>
    <p:sldId id="278" r:id="rId7"/>
    <p:sldId id="279" r:id="rId8"/>
    <p:sldId id="282" r:id="rId9"/>
    <p:sldId id="258" r:id="rId10"/>
    <p:sldId id="280" r:id="rId11"/>
    <p:sldId id="260" r:id="rId12"/>
    <p:sldId id="281" r:id="rId13"/>
    <p:sldId id="263" r:id="rId14"/>
    <p:sldId id="283" r:id="rId15"/>
    <p:sldId id="284" r:id="rId16"/>
    <p:sldId id="285" r:id="rId17"/>
    <p:sldId id="265" r:id="rId18"/>
    <p:sldId id="266" r:id="rId19"/>
    <p:sldId id="267" r:id="rId20"/>
    <p:sldId id="286" r:id="rId21"/>
    <p:sldId id="287" r:id="rId22"/>
    <p:sldId id="288" r:id="rId23"/>
    <p:sldId id="289" r:id="rId24"/>
    <p:sldId id="292" r:id="rId25"/>
    <p:sldId id="293" r:id="rId26"/>
    <p:sldId id="295" r:id="rId27"/>
    <p:sldId id="301" r:id="rId28"/>
    <p:sldId id="296" r:id="rId29"/>
    <p:sldId id="297" r:id="rId30"/>
    <p:sldId id="298" r:id="rId31"/>
    <p:sldId id="299" r:id="rId32"/>
    <p:sldId id="300" r:id="rId33"/>
    <p:sldId id="302" r:id="rId34"/>
    <p:sldId id="303" r:id="rId35"/>
    <p:sldId id="304" r:id="rId36"/>
    <p:sldId id="308" r:id="rId37"/>
    <p:sldId id="305" r:id="rId38"/>
    <p:sldId id="306" r:id="rId39"/>
    <p:sldId id="294" r:id="rId40"/>
    <p:sldId id="309" r:id="rId41"/>
    <p:sldId id="310" r:id="rId42"/>
    <p:sldId id="311" r:id="rId43"/>
    <p:sldId id="312" r:id="rId44"/>
    <p:sldId id="313" r:id="rId45"/>
    <p:sldId id="314" r:id="rId46"/>
    <p:sldId id="315" r:id="rId47"/>
    <p:sldId id="316" r:id="rId48"/>
    <p:sldId id="317" r:id="rId49"/>
    <p:sldId id="318" r:id="rId50"/>
    <p:sldId id="319" r:id="rId51"/>
    <p:sldId id="320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63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8007A2-6323-40E5-8F0E-5DE974A6979F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682DA8-B971-4FA6-84EF-565F0F694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6184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682DA8-B971-4FA6-84EF-565F0F694078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390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750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6076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B1E3B"/>
                </a:solidFill>
                <a:latin typeface="Calibri"/>
                <a:ea typeface="微软雅黑"/>
                <a:cs typeface="Calibri"/>
              </a:rPr>
              <a:t>第 1 部分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082361"/>
            <a:ext cx="10058400" cy="6815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dirty="0" err="1">
                <a:solidFill>
                  <a:srgbClr val="FFFFFF"/>
                </a:solidFill>
                <a:latin typeface="Cambria"/>
                <a:ea typeface="微软雅黑"/>
                <a:cs typeface="Cambria"/>
              </a:rPr>
              <a:t>异常与中断入门</a:t>
            </a:r>
            <a:endParaRPr sz="4400" b="1" dirty="0">
              <a:latin typeface="Cambria"/>
              <a:ea typeface="微软雅黑"/>
              <a:cs typeface="Cambri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week09 · 异常与中断处理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85800" y="4251960"/>
            <a:ext cx="3291840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4348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C7DAE6"/>
                </a:solidFill>
                <a:latin typeface="Calibri"/>
                <a:ea typeface="微软雅黑"/>
                <a:cs typeface="Calibri"/>
              </a:rPr>
              <a:t>本部分内容：主动调用 vs 被打断、同步异常与异步中断的区别、二者共享的硬件跳转机制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32554"/>
            <a:ext cx="5394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Why · </a:t>
            </a:r>
            <a:endParaRPr sz="2400" b="1" dirty="0"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21895"/>
            <a:ext cx="11247120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dirty="0" err="1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为什么“代码流会被打断</a:t>
            </a:r>
            <a:r>
              <a:rPr sz="3000" b="1" dirty="0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”</a:t>
            </a:r>
            <a:endParaRPr sz="3000" b="1" dirty="0"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9197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dirty="0" err="1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以前的代码执行路径都由程序自己决定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；</a:t>
            </a:r>
            <a:endParaRPr lang="en-US" sz="2400" b="0" dirty="0">
              <a:solidFill>
                <a:srgbClr val="3E4E5C"/>
              </a:solidFill>
              <a:latin typeface="Calibri"/>
              <a:ea typeface="微软雅黑"/>
              <a:cs typeface="Calibri"/>
            </a:endParaRPr>
          </a:p>
          <a:p>
            <a:pPr algn="l">
              <a:lnSpc>
                <a:spcPct val="130000"/>
              </a:lnSpc>
            </a:pPr>
            <a:r>
              <a:rPr lang="zh-CN" altLang="en-US"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从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本课开始，代码流可能被“</a:t>
            </a:r>
            <a:r>
              <a:rPr sz="2400" b="0" dirty="0" err="1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打断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”，</a:t>
            </a:r>
            <a:r>
              <a:rPr sz="2400" b="0" dirty="0" err="1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且打断分两种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。</a:t>
            </a:r>
            <a:endParaRPr sz="2400" b="0" dirty="0"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2651760"/>
            <a:ext cx="25054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同步异常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执行指令时触发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3310128" y="3063240"/>
            <a:ext cx="59436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014216" y="265176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33088" y="2651760"/>
            <a:ext cx="34198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自己跌倒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瞬间与位置确定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397764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6072" y="3977640"/>
            <a:ext cx="25054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异步中断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外部事件通知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310128" y="4389120"/>
            <a:ext cx="59436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014216" y="39776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33088" y="3977640"/>
            <a:ext cx="34198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手机响了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随时可能发生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229600" y="2651760"/>
            <a:ext cx="3502152" cy="3566160"/>
          </a:xfrm>
          <a:prstGeom prst="roundRect">
            <a:avLst>
              <a:gd name="adj" fmla="val 3447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2788920"/>
            <a:ext cx="3044952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共同点</a:t>
            </a:r>
            <a:endParaRPr sz="2600" b="1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两者都要经过同一套硬件机制（本课程平台上共享 EENTRY）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但对“现场保存”的要求不同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400" b="0">
                <a:solidFill>
                  <a:srgbClr val="9AAABB"/>
                </a:solidFill>
                <a:latin typeface="Calibri"/>
                <a:ea typeface="微软雅黑"/>
                <a:cs typeface="Calibri"/>
              </a:rPr>
              <a:t>第 1 部分 / 2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Compare · 三条路径 (1/2)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三条路径对比：调用 / 异常 / 中断</a:t>
            </a:r>
            <a:endParaRPr sz="3000" b="1"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普通调用双方提前约好“调用约定”，自愿参与；异常/中断打断发生时毫无预兆。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148840" y="221284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94560" y="221284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普通调用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364480" y="221284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10200" y="221284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异常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580120" y="221284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25840" y="221284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中断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280720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80720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入口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148840" y="28072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94560" y="28072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bl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364480" y="28072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0200" y="28072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硬件跳到 EENTRY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80120" y="28072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25840" y="28072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硬件跳到 EENTRY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（同一向量体系）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57200" y="381304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触发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148840" y="381304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381304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主动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4480" y="381304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10200" y="381304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执行流同步检测到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580120" y="381304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25840" y="381304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外设异步通知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57200" y="481888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481888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返回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148840" y="481888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94560" y="481888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jr $ra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364480" y="481888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10200" y="481888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ertn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（回到 ERA 等）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580120" y="481888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25840" y="481888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ertn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Compare · 三条路径 (2/2)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三条路径对比：调用 / 异常 / 中断（续）</a:t>
            </a:r>
            <a:endParaRPr sz="3000" b="1">
              <a:latin typeface="Cambria"/>
              <a:ea typeface="微软雅黑"/>
              <a:cs typeface="Cambr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148840" y="166420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194560" y="166420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普通调用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364480" y="166420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10200" y="166420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异常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580120" y="166420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25840" y="166420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中断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225856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25856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现场保存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148840" y="225856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94560" y="225856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调用约定内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约定好的部分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364480" y="225856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10200" y="225856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入口需主动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保存更多状态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580120" y="225856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25840" y="225856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通常保存得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比异常更多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57200" y="326440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326440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可屏蔽性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148840" y="32644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194560" y="32644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—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364480" y="32644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10200" y="32644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视类型而定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580120" y="32644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25840" y="32644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常可屏蔽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57200" y="4270248"/>
            <a:ext cx="11247120" cy="1993392"/>
          </a:xfrm>
          <a:prstGeom prst="roundRect">
            <a:avLst>
              <a:gd name="adj" fmla="val 3447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407408"/>
            <a:ext cx="10789920" cy="1719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关键结论</a:t>
            </a:r>
            <a:endParaRPr sz="2600" b="1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调用是双方自愿的“君子协议”；异常/中断毫无预兆地打断，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入口必须主动完整保存现场——ertn 与 jr $ra 不能混为一谈。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400" b="0">
                <a:solidFill>
                  <a:srgbClr val="9AAABB"/>
                </a:solidFill>
                <a:latin typeface="Calibri"/>
                <a:ea typeface="微软雅黑"/>
                <a:cs typeface="Calibri"/>
              </a:rPr>
              <a:t>第 2 部分 / 2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简介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csrrd 指令与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 寄存器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读一读处理器状态的“另一套”寄存器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参考:龙芯架构 32 位精简版参考手册(LA32R)第 4、7 章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 是什么?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 = Control and Status Register(控制状态寄存器)。它们记录、控制处理器的运行状态——比如当前特权级、异常原因、TLB 配置等。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337560"/>
            <a:ext cx="4724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$r0 ~ $r31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做普通运算、传参数,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用 add.w、ld.w 这类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普通指令直接读写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324612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337560"/>
            <a:ext cx="4724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单独编号,不和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$r0~$r31 混在一起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只能用专门指令读写: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csrrd(读)、csrwr(写)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有多少个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按功能分类,一共二十多个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59" y="18745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基本控制状态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CRMD / PRMD / EUEN / ECFG / ESTAT / ERA / BADV / EENTRY / CPUID / SAVE0~3 / LLBCTL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127248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58" y="308893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地址翻译(TLB)相关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822960" y="363016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TLBIDX / TLBEHI / TLBELO0-1 / ASID / PGDL / PGDH / PGD / TLBRENTRY / DMW0-1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4288536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379976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定时器相关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22960" y="47914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TID / TCFG / TVAL / TICLR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以龙芯架构 32 位精简版手册(LA32R)第 7 章统计,共约 25 个 CSR;完整版 LoongArch64 手册里的 CSR 种类更多——具体编号请以官方手册为准。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权限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 访问是特权操作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csrrd / csrwr / csrxchg 都是特权指令:在用户态(PLV ≠ 0)执行会触发“指令特权等级错”例外,不是随便什么代码都能读写 CSR。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337560"/>
            <a:ext cx="11094415" cy="2194560"/>
          </a:xfrm>
          <a:prstGeom prst="roundRect">
            <a:avLst>
              <a:gd name="adj" fmla="val 4167"/>
            </a:avLst>
          </a:prstGeom>
          <a:solidFill>
            <a:srgbClr val="0B1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429000"/>
            <a:ext cx="104543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这也是为什么系统调用要先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“陷入”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到内核态——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只有切换到内核态之后,内核代码才能放心地用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csrrd/csrwr 读写 CRMD、ESTAT 这些反映处理器状态的寄存器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语法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csrrd rd, csr_num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$t0, CRMD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把编号为 CRMD 的 CSR 读到 $t0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61188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csr_num 是 CSR 的编号(常用助记符如 CRMD、ESTAT </a:t>
            </a:r>
            <a:r>
              <a:rPr kumimoji="0" lang="en-US" sz="26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代替数字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执行后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rd 里就是这个 CSR 当前的值,原寄存器内容不变。</a:t>
            </a:r>
            <a:endParaRPr kumimoji="0" lang="en-US" sz="2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489204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4983480"/>
            <a:ext cx="104543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对称的一组指令:csrrd 读、csrwr 写、csrxchg 按位替换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csrrd / csrwr / csrxchg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286000"/>
          </a:xfrm>
          <a:prstGeom prst="roundRect">
            <a:avLst>
              <a:gd name="adj" fmla="val 4800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rd, csr_num     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读:CSR -&gt; rd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csrwr   rd, csr_num     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写:rd -&gt; CSR,旧值回填 rd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csrxchg rd, rj, csr_num 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按位替换,rj 是掩码</a:t>
            </a:r>
            <a:endParaRPr kumimoji="0" lang="en-US" sz="2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57200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csrxchg 只替换 rj 中为 1 的那些位,其余位保持 CSR 原值不变——常用于“只改一两个控制位,不动其余位”的场景。</a:t>
            </a:r>
            <a:endParaRPr kumimoji="0" lang="en-US" sz="2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编号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常用 CSR 的 csr_num 是多少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CRMD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394960" y="1828800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578608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57860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PRMD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394960" y="2578608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0x1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32841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ECFG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394960" y="3328416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0x4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4078224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07822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ESTAT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5394960" y="4078224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0x5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828032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82803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5394960" y="4828032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0x6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5577840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57784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EENTRY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5394960" y="5577840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0xc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428898" y="6217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写代码时通常用助记符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(如 CRMD),汇编器会自动换算成这个数字。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位域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CRMD 里每一位管什么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0A4A6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位[1:0] PLV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3918858" y="1737360"/>
            <a:ext cx="76417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当前特权级:0 = 内核态(最高权限),数值越大权限越低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7889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位[2] IE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206240" y="2788920"/>
            <a:ext cx="7162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中断是否全局使能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0A4A6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8404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位[3] DA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4206240" y="3840480"/>
            <a:ext cx="7162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直接地址翻译模式是否开启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0A4A6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8920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位[4] PG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4206240" y="4892040"/>
            <a:ext cx="7162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分页地址翻译模式是否开启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更高位还有访存缓存属性等配置位,课程里最常用的就是这四位,尤其是 PLV。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举例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读 CRMD,看看当前特权级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468880"/>
          </a:xfrm>
          <a:prstGeom prst="roundRect">
            <a:avLst>
              <a:gd name="adj" fmla="val 4444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$t0, CRMD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读当前模式信息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andi   $t0, $t0, 0x3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取出 PLV 位(特权级)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  $t0, in_kernel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PLV=0 说明在内核态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CRMD(Current Mode Information)的低 2 位是 PLV(特权级),0 表示最高特权级(内核态)。想知道“我现在跑在哪个特权级”,就用 csrrd 把它读出来。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补充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异常发生时,硬件会自动填好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发生异常(比如系统调用陷入)时,不需要软件用 csrwr 手动写——硬件自己就把这些 CSR 填好了: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926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749040" y="2926080"/>
            <a:ext cx="76196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记录异常返回地址:处理完之后该回到哪条指令继续执行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913632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91363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3749040" y="3913632"/>
            <a:ext cx="76196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记录异常/中断的原因:这次是哪一种情况触发的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4901184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90118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CRMD 的 PLV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749040" y="4901184"/>
            <a:ext cx="76196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自动把特权级切换进内核态,不用软件自己切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548640" y="5980176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软件在异常处理里通常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只需要 csrrd 把这些值读出来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、判断该怎么处理,而不用自己去写。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类比:仪表盘上的一排指示灯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 就像汽车仪表盘上一排专用的指示灯和拨杆——水温、油量、警示灯,各自有固定位置,不能跟油门、方向盘这些“通用操作”混着用。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11094415" cy="2194560"/>
          </a:xfrm>
          <a:prstGeom prst="roundRect">
            <a:avLst>
              <a:gd name="adj" fmla="val 4167"/>
            </a:avLst>
          </a:prstGeom>
          <a:solidFill>
            <a:srgbClr val="0B1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337560"/>
            <a:ext cx="104543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csrrd 就是“看一眼仪表盘上某一个指示灯”这个动作;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csr_num 指定看哪一个,rd 是你记下读数的地方——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本身不会改变仪表盘的状态,只是读出来。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523994"/>
            <a:ext cx="3291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第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2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部分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exception_entry ·</a:t>
            </a:r>
            <a:endParaRPr kumimoji="0" sz="4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逐行精读汇编入口</a:t>
            </a:r>
            <a:endParaRPr kumimoji="0" sz="4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week09 · 异常与中断处理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85800" y="4251960"/>
            <a:ext cx="3291840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715180"/>
            <a:ext cx="10698480" cy="13998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本部分内容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C7DAE6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伸栈保存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$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ra、csrrd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读出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ESTAT/ERA、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C7DAE6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bl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如何跳进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C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函数、写回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ERA 与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ertn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Code · exception_entry 逐行精读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exception_entry：汇编入口逐行精读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打断发生后，硬件先跳到这段汇编，它必须先保护现场，再交给 C 函数处理。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11247120" cy="3730752"/>
          </a:xfrm>
          <a:prstGeom prst="roundRect">
            <a:avLst>
              <a:gd name="adj" fmla="val 3000"/>
            </a:avLst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308860"/>
            <a:ext cx="8664231" cy="329750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exception_entry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: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addi.d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sp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sp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-32 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开栈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st.d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ra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sp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24      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保存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ra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csrrd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$a0, 0x5             # ESTAT -&gt; $a0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csrrd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$a1, 0x6             # ERA   -&gt; $a1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bl  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exception_handler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csrwr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$a0, 0x6           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写回新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ERA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ld.d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$ra,$sp,24 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	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addi.d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$sp,$sp,32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恢复+收栈，ertn返回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6098178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6072" y="6098178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①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伸栈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保存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$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ra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03270" y="6098178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22142" y="6098178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② 读CSR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ESTAT/ERA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49340" y="6098178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68212" y="6098178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③ 调用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bl handler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995410" y="6098178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114282" y="6098178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④ 写回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csrwr+ertn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Flow · bl 怎么跳进 C 函数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bl exception_handler：汇编怎么调用 C 函数</a:t>
            </a:r>
            <a:endParaRPr kumimoji="0" sz="3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bl exception_handler 怎么从一句汇编跳进 C 函数？中间要经过三步配合。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3383280" cy="1371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" y="2651760"/>
            <a:ext cx="3145536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汇编器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只留一个占位符号引用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3886200" y="3185160"/>
            <a:ext cx="457200" cy="30480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89120" y="2651760"/>
            <a:ext cx="3383280" cy="1371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07992" y="2651760"/>
            <a:ext cx="3145536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链接器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解析成真实的入口地址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7818120" y="3185160"/>
            <a:ext cx="457200" cy="30480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321040" y="2651760"/>
            <a:ext cx="3383280" cy="137160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39912" y="2651760"/>
            <a:ext cx="3145536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调用约定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双方都认 $a0~$a7、$ra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11247120" cy="2103120"/>
          </a:xfrm>
          <a:prstGeom prst="roundRect">
            <a:avLst>
              <a:gd name="adj" fmla="val 3447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85800" y="4297680"/>
            <a:ext cx="107899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600" b="1" i="0" u="none" strike="noStrike" kern="1200" cap="none" spc="0" normalizeH="0" baseline="0" noProof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关键结论</a:t>
            </a:r>
            <a:endParaRPr kumimoji="0" sz="2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全程没有人临时翻译或转换，靠的是双方共享同一套寄存器摆放规矩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这套规矩就是 LP64 调用约定：$a0-$a7 传参、$a0 带回返回值、$ra 存返回地址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第 3 部分 / 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踩坑题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era + 4 踩坑题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为什么不能原样返回 era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精确异常处理完之后,ERA 该怎么写回去——实验指导书 Task3 特意设的一道坑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548640" y="5852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9 次课:异常与中断处理 · exception_handler 与 ertn 返回机制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误区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ERA 到底指向哪里?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1874520"/>
          </a:xfrm>
          <a:prstGeom prst="roundRect">
            <a:avLst>
              <a:gd name="adj" fmla="val 5854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add.w   $t0, $t1, $t2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   0                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ERA 指向这里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add.w   $t3, $t4, $t5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不是这里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break 触发异常的那一刻,PC 停在这一行——硬件把这个地址原样记进 ERA,而不是它的下一条。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4754880"/>
            <a:ext cx="536432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484632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直觉里以为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就是“中断的地方”,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处理完应该“接着往下走”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78728" y="4754880"/>
            <a:ext cx="5364328" cy="1920240"/>
          </a:xfrm>
          <a:prstGeom prst="roundRect">
            <a:avLst>
              <a:gd name="adj" fmla="val 4762"/>
            </a:avLst>
          </a:prstGeom>
          <a:solidFill>
            <a:srgbClr val="0A4A6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98768" y="484632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事实上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就是 break 指令自己的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地址,原样返回就是跳回它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问题现场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如果原样把 era 写回去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4615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$a1, 0x6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读 ERA(= break 指令地址)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      exception_handler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csrwr   $a0, 0x6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原样写回,没有 +4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ertn        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跳回 break 指令本身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ertn 跳回这条 break 指令本身,CPU 立刻又执行到它,再次触发同一个异常——陷入“触发→处理→返回原地→再次触发”的死循环,串口会不停打印同一行诊断信息。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为什么 +4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每条指令固定占 4 字节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0x9000: break   0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era 指向这里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0x9004: ... 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era + 4 指向这里,下一条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16052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本课程平台上每条指令固定占 4 字节,era + 4 就是触发异常的这条指令的下一条指令的地址。exception_handler 返回 era + 4,相当于告诉硬件:“这条引发异常的指令我已经处理完了,别再重新执行它,去执行它的下一条。”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对比延伸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中断为什么不能 +4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中断是异步事件,插在两条指令之间,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记录的是还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没来得及执行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被打断的那一条指令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</a:p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处理完中断应该让程序原样继续执行这条指令,而不是跳过它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5364328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657600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精确异常(break/syscall)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指向已经执行完的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触发指令 → 返回时 +4,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跳过它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3566160"/>
            <a:ext cx="5364328" cy="2560320"/>
          </a:xfrm>
          <a:prstGeom prst="roundRect">
            <a:avLst>
              <a:gd name="adj" fmla="val 3571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657600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异步中断(定时器等)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指向还没执行的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被打断指令 → 返回时不加,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原样接着执行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全貌先行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全貌先行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一个“能被打断”的程序长什么样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从 main() 到 ertn,把打断处理的完整链路拼起来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548640" y="5852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9 次课:异常与中断处理 · 承接 exception_entry 逐行精读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全貌图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从 main() 到 ertn 的完整链路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0" descr="/tmp/claude-0/-home-claude/fd933e86-5414-5175-aebc-c08770a8a06e/scratchpad/pptx-work/diagram/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1028" y="1783080"/>
            <a:ext cx="85496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73684F6-142E-4DF8-6E1A-A45292633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030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拆解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装配图 vs 零件内部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全貌图里,main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exception_init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主循环这一列是“装配图”——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讲的是东西摆在哪、谁先谁后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exception_entry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exception_handler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ertn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这条竖线,是前面已经拆开看过的“零件内部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4147458"/>
            <a:ext cx="5364328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4238898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装配图(这一节新讲)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main() 里先调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exception_init() 登记,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再进主循环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4147458"/>
            <a:ext cx="5364328" cy="2560320"/>
          </a:xfrm>
          <a:prstGeom prst="roundRect">
            <a:avLst>
              <a:gd name="adj" fmla="val 3571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4238898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零件内部(已经讲过)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exception_entry 读寄存器、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bl 进 C,exception_handler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处理,ertn 收尾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环环相扣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缺一环,会怎样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全貌图里的每一块都有职责;少了任何一环,打断处理这条链路就会断掉: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0A4A6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少了 exception_init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206240" y="2697480"/>
            <a:ext cx="7162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硬件不知道异常/中断该跳去哪,处理器直接失控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0A4A6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74904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少了主循环这一环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4206240" y="3749040"/>
            <a:ext cx="7162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处理完打断,也没有“可以回去做”的事情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480060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0A4A6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80060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少了使能 / 清源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206240" y="4800600"/>
            <a:ext cx="7162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中断要么根本触发不了,要么触发一次就停不下来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登记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exception_init:告诉硬件“出事了去哪找人”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3200400"/>
          </a:xfrm>
          <a:prstGeom prst="roundRect">
            <a:avLst>
              <a:gd name="adj" fmla="val 3429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exception_init(void) {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long entry =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(unsigned long)exception_entry;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__asm__ volatile("csrwr %0, 0xc"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: : "r"(entry) : "memory");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52120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这段代码把 exception_entry 的地址写进 CSR 0xc——也就是 EENTRY(异常入口地址寄存器)。这一步必须在任何异常可能发生之前完成,否则硬件“不知道该跳去哪里处理”。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入住酒店时先登记紧急电话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exception_init </a:t>
            </a:r>
            <a:r>
              <a:rPr kumimoji="0" lang="en-US" sz="3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就像入住酒店时,先在前台登记“客房若有紧急情况,请打这个电话</a:t>
            </a: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”。</a:t>
            </a:r>
          </a:p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号码必须提前登记好,火警铃一响酒店才知道该联系谁;压根没登记过,出事了也没人知道该往哪打电话</a:t>
            </a: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全貌回顾:三个关键点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这一节把“打断处理”这条链路的全貌拼完整了: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094415" cy="2468880"/>
          </a:xfrm>
          <a:prstGeom prst="roundRect">
            <a:avLst>
              <a:gd name="adj" fmla="val 3704"/>
            </a:avLst>
          </a:prstGeom>
          <a:solidFill>
            <a:srgbClr val="0B1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834640"/>
            <a:ext cx="1045433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main() 先调 exception_init() 登记 EENTRY,再进主循环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exception_entry → exception_handler → ertn 依次接力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EENTRY 必须提前登记,否则硬件“无处可去”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下一节起,继续讲中断这条支线的使能、清源等具体细节。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 </a:t>
            </a:r>
            <a:r>
              <a:rPr kumimoji="0" lang="en-US" altLang="zh-CN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·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异常的“异步版本”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week09 ·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异常与中断处理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425196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本节内容：五个核心概念、两层中断开关、清源为什么不能省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定位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异步的异常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中断：</a:t>
            </a: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异常</a:t>
            </a: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的“异步版本”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异常是 CPU 自己执行指令时触发的；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3E4E5C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中断是外部事件随时插进来的。二者走同一套硬件入口，区别在于“谁触发、何时发生”。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35661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同步异常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767328" y="397764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4370832" y="356616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70832" y="356616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自己触发，位置确定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、除零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50292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502920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异步中断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interrupt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67328" y="544068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4370832" y="502920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70832" y="502920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外部通知，随时发生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如定时器、串口收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229600" y="3566160"/>
            <a:ext cx="3502152" cy="265176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35661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共同点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同一个入口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EENTRY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同一条返回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ertn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2 / 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核心概念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中断的五个核心概念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83664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836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17320" y="1783080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中断源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定时器、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收等，谁发起“打扰”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2679192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77977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7797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17320" y="2679192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中断使能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总开关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分源开关，两层都要开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3575304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67588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6758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17320" y="3575304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中断入口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与异常向量体系相关，共用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EENTRY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5367528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5468112"/>
            <a:ext cx="566928" cy="5669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54681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417320" y="5367528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应答　处理完必须告诉硬件，否则反复触发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4471416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45720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4572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417320" y="4471416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上半部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入口尽快做完关键事，别长时间占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3 / 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40080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术语 · 上半部 / 下半部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zh-CN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中断处理拆成两段：先快后慢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471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zh-CN" alt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急的先做，慢的后做。名字来自 Linux 的 top half / bottom half。</a:t>
            </a:r>
            <a:endParaRPr lang="en-US" sz="2400" dirty="0"/>
          </a:p>
          <a:p>
            <a:pPr marL="0" indent="0">
              <a:lnSpc>
                <a:spcPct val="135000"/>
              </a:lnSpc>
              <a:buNone/>
            </a:pPr>
            <a:r>
              <a:rPr lang="zh-CN" altLang="en-US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“上 / 下”的由来：</a:t>
            </a:r>
            <a:r>
              <a:rPr lang="zh-CN" alt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上半部由硬件中断直接触发，离硬件近、紧急，画成分层图时在上面；下半部是上半部安排出去、稍后执行的后续工作，在下面。两者是先后关系，不是代码位置上的上下。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402336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40233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8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上半部  </a:t>
            </a:r>
            <a:r>
              <a:rPr lang="zh-CN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767328" y="443484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4370832" y="402336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70832" y="402336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中断一来立刻执行</a:t>
            </a:r>
            <a:endParaRPr lang="en-US" sz="2800" dirty="0"/>
          </a:p>
          <a:p>
            <a:pPr marL="0" indent="0" algn="ctr">
              <a:buNone/>
            </a:pPr>
            <a:r>
              <a:rPr lang="zh-CN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清源、读数据、记标志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7200" y="54864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548640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8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下半部  </a:t>
            </a:r>
            <a:r>
              <a:rPr lang="zh-CN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767328" y="589788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4370832" y="548640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70832" y="548640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稍后再执行</a:t>
            </a:r>
            <a:endParaRPr lang="en-US" sz="2800" dirty="0"/>
          </a:p>
          <a:p>
            <a:pPr marL="0" indent="0" algn="ctr">
              <a:buNone/>
            </a:pPr>
            <a:r>
              <a:rPr lang="zh-CN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耗时的活：解析、计算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229600" y="4023360"/>
            <a:ext cx="3502152" cy="265176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40233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CN" sz="26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为什么要拆</a:t>
            </a:r>
            <a:endParaRPr lang="en-US" sz="2600" dirty="0"/>
          </a:p>
          <a:p>
            <a:pPr marL="0" indent="0">
              <a:lnSpc>
                <a:spcPct val="130000"/>
              </a:lnSpc>
              <a:buNone/>
            </a:pPr>
            <a:r>
              <a:rPr lang="zh-CN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处理期间中断被屏蔽</a:t>
            </a:r>
            <a:endParaRPr lang="en-US" sz="2600" dirty="0"/>
          </a:p>
          <a:p>
            <a:pPr marL="0" indent="0">
              <a:lnSpc>
                <a:spcPct val="130000"/>
              </a:lnSpc>
              <a:buNone/>
            </a:pPr>
            <a:r>
              <a:rPr lang="zh-CN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不能久占 CPU</a:t>
            </a:r>
            <a:endParaRPr lang="en-US" sz="2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中断使能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两层开关：缺一不可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类比：小区大门的总门禁 + 每户房门的门禁。总门禁关了，哪户开着也没用；总门禁开着，某户自己上锁，只有这一户不被打扰。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35661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总开关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全局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767328" y="397764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4370832" y="356616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70832" y="356616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关：所有中断源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都进不来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50292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502920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分源开关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每一路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67328" y="544068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4370832" y="502920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70832" y="502920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关：只有这一路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不会来打扰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229600" y="3566160"/>
            <a:ext cx="3502152" cy="265176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35661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两层都打开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这一路中断才会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真正被响应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4 / 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应答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清源不能省：否则同一个中断反复触发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14"/>
          <p:cNvSpPr/>
          <p:nvPr/>
        </p:nvSpPr>
        <p:spPr>
          <a:xfrm>
            <a:off x="457200" y="4297680"/>
            <a:ext cx="11247120" cy="173736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15"/>
          <p:cNvSpPr/>
          <p:nvPr/>
        </p:nvSpPr>
        <p:spPr>
          <a:xfrm>
            <a:off x="685800" y="4297680"/>
            <a:ext cx="10790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与第 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节的 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踩坑是同一类错误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一个忘了挪返回地址，一个忘了告诉硬件“翻篇了”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类比：候诊号不“叫过”，屏幕会一直重复显示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16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5 / 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lab0"/>
          <p:cNvSpPr/>
          <p:nvPr/>
        </p:nvSpPr>
        <p:spPr>
          <a:xfrm>
            <a:off x="457200" y="1783080"/>
            <a:ext cx="1828800" cy="100584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labt0"/>
          <p:cNvSpPr/>
          <p:nvPr/>
        </p:nvSpPr>
        <p:spPr>
          <a:xfrm>
            <a:off x="457200" y="178308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B449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没清源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b00"/>
          <p:cNvSpPr/>
          <p:nvPr/>
        </p:nvSpPr>
        <p:spPr>
          <a:xfrm>
            <a:off x="2423160" y="1783080"/>
            <a:ext cx="2743200" cy="100584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bt00"/>
          <p:cNvSpPr/>
          <p:nvPr/>
        </p:nvSpPr>
        <p:spPr>
          <a:xfrm>
            <a:off x="2423160" y="17830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中断到来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b01"/>
          <p:cNvSpPr/>
          <p:nvPr/>
        </p:nvSpPr>
        <p:spPr>
          <a:xfrm>
            <a:off x="5806440" y="1783080"/>
            <a:ext cx="2743200" cy="100584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bt01"/>
          <p:cNvSpPr/>
          <p:nvPr/>
        </p:nvSpPr>
        <p:spPr>
          <a:xfrm>
            <a:off x="5806440" y="17830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处理程序运行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b02"/>
          <p:cNvSpPr/>
          <p:nvPr/>
        </p:nvSpPr>
        <p:spPr>
          <a:xfrm>
            <a:off x="9189720" y="1783080"/>
            <a:ext cx="2514600" cy="1005840"/>
          </a:xfrm>
          <a:prstGeom prst="roundRect">
            <a:avLst>
              <a:gd name="adj" fmla="val 7692"/>
            </a:avLst>
          </a:prstGeom>
          <a:solidFill>
            <a:srgbClr val="F2A541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bt02"/>
          <p:cNvSpPr/>
          <p:nvPr/>
        </p:nvSpPr>
        <p:spPr>
          <a:xfrm>
            <a:off x="9189720" y="178308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仍在“喊”：立刻再触发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a05257800"/>
          <p:cNvSpPr/>
          <p:nvPr/>
        </p:nvSpPr>
        <p:spPr>
          <a:xfrm>
            <a:off x="5257800" y="2103120"/>
            <a:ext cx="45720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7" name="a08641080"/>
          <p:cNvSpPr/>
          <p:nvPr/>
        </p:nvSpPr>
        <p:spPr>
          <a:xfrm>
            <a:off x="8641080" y="2103120"/>
            <a:ext cx="45720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8" name="lab1"/>
          <p:cNvSpPr/>
          <p:nvPr/>
        </p:nvSpPr>
        <p:spPr>
          <a:xfrm>
            <a:off x="457200" y="2971800"/>
            <a:ext cx="1828800" cy="100584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labt1"/>
          <p:cNvSpPr/>
          <p:nvPr/>
        </p:nvSpPr>
        <p:spPr>
          <a:xfrm>
            <a:off x="457200" y="29718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清源后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b10"/>
          <p:cNvSpPr/>
          <p:nvPr/>
        </p:nvSpPr>
        <p:spPr>
          <a:xfrm>
            <a:off x="2423160" y="2971800"/>
            <a:ext cx="2743200" cy="100584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bt10"/>
          <p:cNvSpPr/>
          <p:nvPr/>
        </p:nvSpPr>
        <p:spPr>
          <a:xfrm>
            <a:off x="2423160" y="29718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中断到来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b11"/>
          <p:cNvSpPr/>
          <p:nvPr/>
        </p:nvSpPr>
        <p:spPr>
          <a:xfrm>
            <a:off x="5806440" y="2971800"/>
            <a:ext cx="2743200" cy="100584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bt11"/>
          <p:cNvSpPr/>
          <p:nvPr/>
        </p:nvSpPr>
        <p:spPr>
          <a:xfrm>
            <a:off x="5806440" y="29718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b12"/>
          <p:cNvSpPr/>
          <p:nvPr/>
        </p:nvSpPr>
        <p:spPr>
          <a:xfrm>
            <a:off x="9189720" y="2971800"/>
            <a:ext cx="2514600" cy="100584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bt12"/>
          <p:cNvSpPr/>
          <p:nvPr/>
        </p:nvSpPr>
        <p:spPr>
          <a:xfrm>
            <a:off x="9189720" y="297180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硬件知道已处理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a15257800"/>
          <p:cNvSpPr/>
          <p:nvPr/>
        </p:nvSpPr>
        <p:spPr>
          <a:xfrm>
            <a:off x="5257800" y="3291840"/>
            <a:ext cx="45720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27" name="a18641080"/>
          <p:cNvSpPr/>
          <p:nvPr/>
        </p:nvSpPr>
        <p:spPr>
          <a:xfrm>
            <a:off x="8641080" y="3291840"/>
            <a:ext cx="457200" cy="365760"/>
          </a:xfrm>
          <a:prstGeom prst="rightArrow">
            <a:avLst/>
          </a:prstGeom>
          <a:solidFill>
            <a:srgbClr val="1C7293"/>
          </a:solidFill>
          <a:ln/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节 · 结构对比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zh-CN" sz="3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异常</a:t>
            </a:r>
            <a:r>
              <a:rPr lang="zh-CN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与</a:t>
            </a:r>
            <a:r>
              <a:rPr lang="zh-CN" sz="3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中断</a:t>
            </a:r>
            <a:r>
              <a:rPr lang="zh-CN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的代码结构对比</a:t>
            </a:r>
            <a:endParaRPr lang="en-US" sz="3400" dirty="0"/>
          </a:p>
        </p:txBody>
      </p:sp>
      <p:sp>
        <p:nvSpPr>
          <p:cNvPr id="6" name="h0"/>
          <p:cNvSpPr/>
          <p:nvPr/>
        </p:nvSpPr>
        <p:spPr>
          <a:xfrm>
            <a:off x="457200" y="1600200"/>
            <a:ext cx="2377440" cy="50292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ht0"/>
          <p:cNvSpPr/>
          <p:nvPr/>
        </p:nvSpPr>
        <p:spPr>
          <a:xfrm>
            <a:off x="457200" y="16002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步骤</a:t>
            </a:r>
            <a:endParaRPr lang="en-US" sz="2400" dirty="0"/>
          </a:p>
        </p:txBody>
      </p:sp>
      <p:sp>
        <p:nvSpPr>
          <p:cNvPr id="8" name="hb1"/>
          <p:cNvSpPr/>
          <p:nvPr/>
        </p:nvSpPr>
        <p:spPr>
          <a:xfrm>
            <a:off x="2926080" y="1600200"/>
            <a:ext cx="4160520" cy="5029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hbt1"/>
          <p:cNvSpPr/>
          <p:nvPr/>
        </p:nvSpPr>
        <p:spPr>
          <a:xfrm>
            <a:off x="2926080" y="1600200"/>
            <a:ext cx="4160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异常  exception_entry</a:t>
            </a:r>
            <a:endParaRPr lang="en-US" sz="2800" dirty="0"/>
          </a:p>
        </p:txBody>
      </p:sp>
      <p:sp>
        <p:nvSpPr>
          <p:cNvPr id="10" name="hb2"/>
          <p:cNvSpPr/>
          <p:nvPr/>
        </p:nvSpPr>
        <p:spPr>
          <a:xfrm>
            <a:off x="7132320" y="1600200"/>
            <a:ext cx="4572000" cy="502920"/>
          </a:xfrm>
          <a:prstGeom prst="roundRect">
            <a:avLst>
              <a:gd name="adj" fmla="val 7692"/>
            </a:avLst>
          </a:prstGeom>
          <a:solidFill>
            <a:srgbClr val="F2A541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hbt2"/>
          <p:cNvSpPr/>
          <p:nvPr/>
        </p:nvSpPr>
        <p:spPr>
          <a:xfrm>
            <a:off x="7132320" y="1600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中断  interrupt_entry</a:t>
            </a:r>
            <a:endParaRPr lang="en-US" sz="2800" dirty="0"/>
          </a:p>
        </p:txBody>
      </p:sp>
      <p:sp>
        <p:nvSpPr>
          <p:cNvPr id="12" name="r0"/>
          <p:cNvSpPr/>
          <p:nvPr/>
        </p:nvSpPr>
        <p:spPr>
          <a:xfrm>
            <a:off x="457200" y="219456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rt00"/>
          <p:cNvSpPr/>
          <p:nvPr/>
        </p:nvSpPr>
        <p:spPr>
          <a:xfrm>
            <a:off x="548640" y="219456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保存现场</a:t>
            </a:r>
            <a:endParaRPr lang="en-US" sz="2400" dirty="0"/>
          </a:p>
        </p:txBody>
      </p:sp>
      <p:sp>
        <p:nvSpPr>
          <p:cNvPr id="14" name="rt01"/>
          <p:cNvSpPr/>
          <p:nvPr/>
        </p:nvSpPr>
        <p:spPr>
          <a:xfrm>
            <a:off x="3017520" y="219456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只存 $ra（最小骨架）</a:t>
            </a:r>
            <a:endParaRPr lang="en-US" sz="2400" dirty="0"/>
          </a:p>
        </p:txBody>
      </p:sp>
      <p:sp>
        <p:nvSpPr>
          <p:cNvPr id="15" name="rt02"/>
          <p:cNvSpPr/>
          <p:nvPr/>
        </p:nvSpPr>
        <p:spPr>
          <a:xfrm>
            <a:off x="7223760" y="219456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 $ra、$a0-$a7、$t0-$t8 等</a:t>
            </a:r>
            <a:endParaRPr lang="en-US" sz="2400" dirty="0"/>
          </a:p>
        </p:txBody>
      </p:sp>
      <p:sp>
        <p:nvSpPr>
          <p:cNvPr id="16" name="r1"/>
          <p:cNvSpPr/>
          <p:nvPr/>
        </p:nvSpPr>
        <p:spPr>
          <a:xfrm>
            <a:off x="457200" y="278892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rt10"/>
          <p:cNvSpPr/>
          <p:nvPr/>
        </p:nvSpPr>
        <p:spPr>
          <a:xfrm>
            <a:off x="548640" y="278892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判断来源</a:t>
            </a:r>
            <a:endParaRPr lang="en-US" sz="2400" dirty="0"/>
          </a:p>
        </p:txBody>
      </p:sp>
      <p:sp>
        <p:nvSpPr>
          <p:cNvPr id="18" name="rt11"/>
          <p:cNvSpPr/>
          <p:nvPr/>
        </p:nvSpPr>
        <p:spPr>
          <a:xfrm>
            <a:off x="3017520" y="278892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ESTAT、ERA，作参数</a:t>
            </a:r>
            <a:endParaRPr lang="en-US" sz="2400" dirty="0"/>
          </a:p>
        </p:txBody>
      </p:sp>
      <p:sp>
        <p:nvSpPr>
          <p:cNvPr id="19" name="rt12"/>
          <p:cNvSpPr/>
          <p:nvPr/>
        </p:nvSpPr>
        <p:spPr>
          <a:xfrm>
            <a:off x="7223760" y="278892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ESTAT，确认是哪个源</a:t>
            </a:r>
            <a:endParaRPr lang="en-US" sz="2400" dirty="0"/>
          </a:p>
        </p:txBody>
      </p:sp>
      <p:sp>
        <p:nvSpPr>
          <p:cNvPr id="20" name="r2"/>
          <p:cNvSpPr/>
          <p:nvPr/>
        </p:nvSpPr>
        <p:spPr>
          <a:xfrm>
            <a:off x="457200" y="338328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rt20"/>
          <p:cNvSpPr/>
          <p:nvPr/>
        </p:nvSpPr>
        <p:spPr>
          <a:xfrm>
            <a:off x="548640" y="338328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处理</a:t>
            </a:r>
            <a:endParaRPr lang="en-US" sz="2400" dirty="0"/>
          </a:p>
        </p:txBody>
      </p:sp>
      <p:sp>
        <p:nvSpPr>
          <p:cNvPr id="22" name="rt21"/>
          <p:cNvSpPr/>
          <p:nvPr/>
        </p:nvSpPr>
        <p:spPr>
          <a:xfrm>
            <a:off x="3017520" y="338328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 exception_handler（C）</a:t>
            </a:r>
            <a:endParaRPr lang="en-US" sz="2400" dirty="0"/>
          </a:p>
        </p:txBody>
      </p:sp>
      <p:sp>
        <p:nvSpPr>
          <p:cNvPr id="23" name="rt22"/>
          <p:cNvSpPr/>
          <p:nvPr/>
        </p:nvSpPr>
        <p:spPr>
          <a:xfrm>
            <a:off x="7223760" y="338328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就地处理：ticks++</a:t>
            </a:r>
            <a:endParaRPr lang="en-US" sz="2400" dirty="0"/>
          </a:p>
        </p:txBody>
      </p:sp>
      <p:sp>
        <p:nvSpPr>
          <p:cNvPr id="24" name="r3"/>
          <p:cNvSpPr/>
          <p:nvPr/>
        </p:nvSpPr>
        <p:spPr>
          <a:xfrm>
            <a:off x="457200" y="397764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rt30"/>
          <p:cNvSpPr/>
          <p:nvPr/>
        </p:nvSpPr>
        <p:spPr>
          <a:xfrm>
            <a:off x="548640" y="397764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清源</a:t>
            </a:r>
            <a:endParaRPr lang="en-US" sz="2400" dirty="0"/>
          </a:p>
        </p:txBody>
      </p:sp>
      <p:sp>
        <p:nvSpPr>
          <p:cNvPr id="26" name="rt31"/>
          <p:cNvSpPr/>
          <p:nvPr/>
        </p:nvSpPr>
        <p:spPr>
          <a:xfrm>
            <a:off x="3017520" y="397764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</a:t>
            </a:r>
            <a:endParaRPr lang="en-US" sz="2400" dirty="0"/>
          </a:p>
        </p:txBody>
      </p:sp>
      <p:sp>
        <p:nvSpPr>
          <p:cNvPr id="27" name="rt32"/>
          <p:cNvSpPr/>
          <p:nvPr/>
        </p:nvSpPr>
        <p:spPr>
          <a:xfrm>
            <a:off x="7223760" y="397764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csrwr TICLR，告诉硬件翻篇</a:t>
            </a:r>
            <a:endParaRPr lang="en-US" sz="2400" dirty="0"/>
          </a:p>
        </p:txBody>
      </p:sp>
      <p:sp>
        <p:nvSpPr>
          <p:cNvPr id="28" name="r4"/>
          <p:cNvSpPr/>
          <p:nvPr/>
        </p:nvSpPr>
        <p:spPr>
          <a:xfrm>
            <a:off x="457200" y="457200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rt40"/>
          <p:cNvSpPr/>
          <p:nvPr/>
        </p:nvSpPr>
        <p:spPr>
          <a:xfrm>
            <a:off x="548640" y="457200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返回地址</a:t>
            </a:r>
            <a:endParaRPr lang="en-US" sz="2400" dirty="0"/>
          </a:p>
        </p:txBody>
      </p:sp>
      <p:sp>
        <p:nvSpPr>
          <p:cNvPr id="30" name="rt41"/>
          <p:cNvSpPr/>
          <p:nvPr/>
        </p:nvSpPr>
        <p:spPr>
          <a:xfrm>
            <a:off x="3017520" y="457200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+ 4（跳过触发指令）</a:t>
            </a:r>
            <a:endParaRPr lang="en-US" sz="2400" dirty="0"/>
          </a:p>
        </p:txBody>
      </p:sp>
      <p:sp>
        <p:nvSpPr>
          <p:cNvPr id="31" name="rt42"/>
          <p:cNvSpPr/>
          <p:nvPr/>
        </p:nvSpPr>
        <p:spPr>
          <a:xfrm>
            <a:off x="7223760" y="457200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 era（不 +4）</a:t>
            </a:r>
            <a:endParaRPr lang="en-US" sz="2400" dirty="0"/>
          </a:p>
        </p:txBody>
      </p:sp>
      <p:sp>
        <p:nvSpPr>
          <p:cNvPr id="32" name="r5"/>
          <p:cNvSpPr/>
          <p:nvPr/>
        </p:nvSpPr>
        <p:spPr>
          <a:xfrm>
            <a:off x="457200" y="516636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rt50"/>
          <p:cNvSpPr/>
          <p:nvPr/>
        </p:nvSpPr>
        <p:spPr>
          <a:xfrm>
            <a:off x="548640" y="516636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恢复现场</a:t>
            </a:r>
            <a:endParaRPr lang="en-US" sz="2400" dirty="0"/>
          </a:p>
        </p:txBody>
      </p:sp>
      <p:sp>
        <p:nvSpPr>
          <p:cNvPr id="34" name="rt51"/>
          <p:cNvSpPr/>
          <p:nvPr/>
        </p:nvSpPr>
        <p:spPr>
          <a:xfrm>
            <a:off x="3017520" y="516636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只恢复 $ra</a:t>
            </a:r>
            <a:endParaRPr lang="en-US" sz="2400" dirty="0"/>
          </a:p>
        </p:txBody>
      </p:sp>
      <p:sp>
        <p:nvSpPr>
          <p:cNvPr id="35" name="rt52"/>
          <p:cNvSpPr/>
          <p:nvPr/>
        </p:nvSpPr>
        <p:spPr>
          <a:xfrm>
            <a:off x="7223760" y="516636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恢复全部保存的寄存器</a:t>
            </a:r>
            <a:endParaRPr lang="en-US" sz="2400" dirty="0"/>
          </a:p>
        </p:txBody>
      </p:sp>
      <p:sp>
        <p:nvSpPr>
          <p:cNvPr id="36" name="r6"/>
          <p:cNvSpPr/>
          <p:nvPr/>
        </p:nvSpPr>
        <p:spPr>
          <a:xfrm>
            <a:off x="457200" y="576072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rt60"/>
          <p:cNvSpPr/>
          <p:nvPr/>
        </p:nvSpPr>
        <p:spPr>
          <a:xfrm>
            <a:off x="548640" y="576072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返回</a:t>
            </a:r>
            <a:endParaRPr lang="en-US" sz="2400" dirty="0"/>
          </a:p>
        </p:txBody>
      </p:sp>
      <p:sp>
        <p:nvSpPr>
          <p:cNvPr id="38" name="rt61"/>
          <p:cNvSpPr/>
          <p:nvPr/>
        </p:nvSpPr>
        <p:spPr>
          <a:xfrm>
            <a:off x="3017520" y="576072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ertn</a:t>
            </a:r>
            <a:endParaRPr lang="en-US" sz="2400" dirty="0"/>
          </a:p>
        </p:txBody>
      </p:sp>
      <p:sp>
        <p:nvSpPr>
          <p:cNvPr id="39" name="rt62"/>
          <p:cNvSpPr/>
          <p:nvPr/>
        </p:nvSpPr>
        <p:spPr>
          <a:xfrm>
            <a:off x="7223760" y="576072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ertn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EAF3F8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CFE8F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中断处理程序的完整写法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定时器 </a:t>
            </a:r>
            <a:r>
              <a:rPr kumimoji="0" lang="en-US" altLang="zh-CN" sz="4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tick </a:t>
            </a: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示例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week09 ·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异常与中断处理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425196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本节内容：六步格式、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、使能、入口、恢复与要点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编写格式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中断处理程序：六步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0"/>
          <p:cNvSpPr/>
          <p:nvPr/>
        </p:nvSpPr>
        <p:spPr>
          <a:xfrm>
            <a:off x="457200" y="1691640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b0"/>
          <p:cNvSpPr/>
          <p:nvPr/>
        </p:nvSpPr>
        <p:spPr>
          <a:xfrm>
            <a:off x="65836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bt0"/>
          <p:cNvSpPr/>
          <p:nvPr/>
        </p:nvSpPr>
        <p:spPr>
          <a:xfrm>
            <a:off x="658368" y="17282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x0"/>
          <p:cNvSpPr/>
          <p:nvPr/>
        </p:nvSpPr>
        <p:spPr>
          <a:xfrm>
            <a:off x="1417320" y="16916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保存现场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入口先把会被破坏的寄存器压栈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1"/>
          <p:cNvSpPr/>
          <p:nvPr/>
        </p:nvSpPr>
        <p:spPr>
          <a:xfrm>
            <a:off x="457200" y="2404872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b1"/>
          <p:cNvSpPr/>
          <p:nvPr/>
        </p:nvSpPr>
        <p:spPr>
          <a:xfrm>
            <a:off x="658368" y="24414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bt1"/>
          <p:cNvSpPr/>
          <p:nvPr/>
        </p:nvSpPr>
        <p:spPr>
          <a:xfrm>
            <a:off x="658368" y="24414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x1"/>
          <p:cNvSpPr/>
          <p:nvPr/>
        </p:nvSpPr>
        <p:spPr>
          <a:xfrm>
            <a:off x="1417320" y="240487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判断来源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读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ESTAT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：中断，还是同步异常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2"/>
          <p:cNvSpPr/>
          <p:nvPr/>
        </p:nvSpPr>
        <p:spPr>
          <a:xfrm>
            <a:off x="457200" y="3118104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b2"/>
          <p:cNvSpPr/>
          <p:nvPr/>
        </p:nvSpPr>
        <p:spPr>
          <a:xfrm>
            <a:off x="658368" y="315468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bt2"/>
          <p:cNvSpPr/>
          <p:nvPr/>
        </p:nvSpPr>
        <p:spPr>
          <a:xfrm>
            <a:off x="658368" y="3154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x2"/>
          <p:cNvSpPr/>
          <p:nvPr/>
        </p:nvSpPr>
        <p:spPr>
          <a:xfrm>
            <a:off x="1417320" y="311810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中断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ticks++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；异常调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exception_handler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c3"/>
          <p:cNvSpPr/>
          <p:nvPr/>
        </p:nvSpPr>
        <p:spPr>
          <a:xfrm>
            <a:off x="457200" y="3831336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b3"/>
          <p:cNvSpPr/>
          <p:nvPr/>
        </p:nvSpPr>
        <p:spPr>
          <a:xfrm>
            <a:off x="658368" y="3867912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bt3"/>
          <p:cNvSpPr/>
          <p:nvPr/>
        </p:nvSpPr>
        <p:spPr>
          <a:xfrm>
            <a:off x="658368" y="38679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x3"/>
          <p:cNvSpPr/>
          <p:nvPr/>
        </p:nvSpPr>
        <p:spPr>
          <a:xfrm>
            <a:off x="1417320" y="3831336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中断写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TICLR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，告诉硬件“翻篇了”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c4"/>
          <p:cNvSpPr/>
          <p:nvPr/>
        </p:nvSpPr>
        <p:spPr>
          <a:xfrm>
            <a:off x="457200" y="4544568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b4"/>
          <p:cNvSpPr/>
          <p:nvPr/>
        </p:nvSpPr>
        <p:spPr>
          <a:xfrm>
            <a:off x="658368" y="4581144"/>
            <a:ext cx="566928" cy="5669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23" name="bt4"/>
          <p:cNvSpPr/>
          <p:nvPr/>
        </p:nvSpPr>
        <p:spPr>
          <a:xfrm>
            <a:off x="658368" y="458114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x4"/>
          <p:cNvSpPr/>
          <p:nvPr/>
        </p:nvSpPr>
        <p:spPr>
          <a:xfrm>
            <a:off x="1417320" y="454456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决定返回地址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异常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；中断原样返回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c5"/>
          <p:cNvSpPr/>
          <p:nvPr/>
        </p:nvSpPr>
        <p:spPr>
          <a:xfrm>
            <a:off x="457200" y="5257800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b5"/>
          <p:cNvSpPr/>
          <p:nvPr/>
        </p:nvSpPr>
        <p:spPr>
          <a:xfrm>
            <a:off x="658368" y="529437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bt5"/>
          <p:cNvSpPr/>
          <p:nvPr/>
        </p:nvSpPr>
        <p:spPr>
          <a:xfrm>
            <a:off x="658368" y="52943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x5"/>
          <p:cNvSpPr/>
          <p:nvPr/>
        </p:nvSpPr>
        <p:spPr>
          <a:xfrm>
            <a:off x="1417320" y="5257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恢复现场并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ertn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寄存器原样恢复，硬件返回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foot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2 / 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相关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用到的控制状态寄存器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83664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836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17320" y="1783080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ESTAT 0x5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位为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：本次是定时器中断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2679192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77977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7797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17320" y="2679192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0x6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被打断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出错的指令地址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3575304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67588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6758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17320" y="3575304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CRMD 0x0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IE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（第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位）：全局中断总开关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4471416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45720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572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417320" y="4471416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ECFG 0x4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LIE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分源开关，定时器是第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5367528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5468112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54681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417320" y="5367528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TICLR 0x44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写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到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（第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位）：清源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3 / 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 </a:t>
            </a: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侧：变量与 </a:t>
            </a:r>
            <a:r>
              <a:rPr kumimoji="0" lang="en-US" altLang="zh-CN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main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457200" y="1371600"/>
            <a:ext cx="7315200" cy="50292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640080" y="1463040"/>
            <a:ext cx="7040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volatile unsigned long ticks;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main(void)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exception_init();  // ①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登记入口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timer_enable();    // ②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开两层开关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(1) {        // ③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主循环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见下页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7955280" y="1371600"/>
            <a:ext cx="3749040" cy="50292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8138160" y="1463040"/>
            <a:ext cx="338328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落在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.bss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段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volatile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不可少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中断写，主循环读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先登记，再开中断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4 / 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 </a:t>
            </a: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侧：主循环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457200" y="1371600"/>
            <a:ext cx="7315200" cy="50292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640080" y="1463040"/>
            <a:ext cx="7040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long last = 0;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(1) {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(ticks != last) {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= ticks;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printk("tick ");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printk_hex(last);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printk("\n");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7955280" y="1371600"/>
            <a:ext cx="3749040" cy="50292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8138160" y="1463040"/>
            <a:ext cx="338328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主循环是正常执行流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随时可能被打断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变了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中断来过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TCFG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见第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次课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16222E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srgbClr val="1622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注意：中间没有出现修改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的语句，但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确实改了！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5 / 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</a:t>
            </a:r>
            <a:r>
              <a:rPr kumimoji="0" lang="en-US" altLang="zh-CN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timer_enable</a:t>
            </a: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（使能）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timer_enable: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$t0, 0x4         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ECFG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     $t0, $t0, 0x800  /*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位置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：定时器分开关 *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csrwr   $t0, 0x4         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写回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$t0, 0x0         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CRMD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     $t0, $t0, 0x4    /*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位置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IE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总开关 *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csrwr   $t0, 0x0         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写回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jr      $ra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 → 改 → 写；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0x800 =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位（分开关），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0x4 =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IE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（总开关）；不直接写，免关别的开关。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7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汇编：入口 ① 保存现场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exception_entry: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①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保存现场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addi.d  $sp, $sp, -64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$ra, $sp, 56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$a0, $sp, 48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$a1, $sp, 40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$t0, $sp, 32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$t1, $sp, 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$t2, $sp, 16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开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64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字节栈帧，存下会被用到的寄存器；会被破坏的都要存。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8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汇编：入口 ② 判断来源 ③ 处理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②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判断来源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$a0, 0x5       /* ESTAT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andi    $t0, $a0, 0x800  /*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位：是定时器中断吗？ *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   $t0, 1f        /*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不是 → 同步异常 *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③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中断：就地处理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la.local $t1, ticks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$t2, $t1,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addi.d  $t2, $t2,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$t2, $t1, 0    /* ticks++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ESTAT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位为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？不是 → 跳到标号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1: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；是 → 就地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ticks++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9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汇编：入口 ④ 清源 ⑤ 中断返回地址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④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清源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     $t2, $zero,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csrwr   $t2, 0x44         /* TICLR.TI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⑤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中断：原样返回，不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$a1, 0x6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      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中断源会一直“喊”，必须清源；清源后取原始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，原样返回，不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10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汇编：入口 ③ 异常路径 ⑤ 异常返回地址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/* ③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异常：交给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函数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$a1, 0x6          /* $a0 = ESTAT, $a1 = ERA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      exception_handler  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返回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 = era + 4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⑤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异常：新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是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 + 4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    $a1, $a0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异常路径：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函数返回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+ 4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，放进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$a1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写回，跳过触发指令。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11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汇编：入口 ⑥ 恢复现场并 </a:t>
            </a:r>
            <a:r>
              <a:rPr kumimoji="0" lang="en-US" altLang="zh-CN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ertn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csrwr   $a1, 0x6          /*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写回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，供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ertn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使用 *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⑥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恢复现场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$t2, $sp, 16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$t1, $sp, 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$t0, $sp, 32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$a1, $sp, 40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$a0, $sp, 48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$ra, $sp, 56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addi.d  $sp, $sp, 64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ertn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先写回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；反序恢复寄存器；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ertn ≠ jr $ra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，还会恢复运行模式。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12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读代码后的五个要点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83664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836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17320" y="1783080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改开关位用“读 → 改一位 → 写回”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2679192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779776"/>
            <a:ext cx="566928" cy="5669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7797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17320" y="2679192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异常要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，中断原样返回不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3575304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67588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6758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17320" y="3575304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清源不能省，否则反复触发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4471416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45720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572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417320" y="4471416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在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.bss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，依赖启动时清零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5367528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5468112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54681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417320" y="5367528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用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volatile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：中断写、主循环读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13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微软雅黑"/>
        <a:cs typeface="微软雅黑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微软雅黑"/>
        <a:cs typeface="微软雅黑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1487</TotalTime>
  <Words>3928</Words>
  <Application>Microsoft Office PowerPoint</Application>
  <PresentationFormat>宽屏</PresentationFormat>
  <Paragraphs>548</Paragraphs>
  <Slides>50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50</vt:i4>
      </vt:variant>
    </vt:vector>
  </HeadingPairs>
  <TitlesOfParts>
    <vt:vector size="57" baseType="lpstr">
      <vt:lpstr>等线</vt:lpstr>
      <vt:lpstr>Arial</vt:lpstr>
      <vt:lpstr>Calibri</vt:lpstr>
      <vt:lpstr>Cambria</vt:lpstr>
      <vt:lpstr>Courier New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xin cai</cp:lastModifiedBy>
  <cp:revision>19</cp:revision>
  <dcterms:created xsi:type="dcterms:W3CDTF">2013-01-27T09:14:16Z</dcterms:created>
  <dcterms:modified xsi:type="dcterms:W3CDTF">2026-10-07T15:04:34Z</dcterms:modified>
  <cp:category/>
</cp:coreProperties>
</file>