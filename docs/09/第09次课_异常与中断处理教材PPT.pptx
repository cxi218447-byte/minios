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8" r:id="rId3"/>
    <p:sldId id="259" r:id="rId4"/>
    <p:sldId id="260" r:id="rId5"/>
    <p:sldId id="261" r:id="rId6"/>
    <p:sldId id="294" r:id="rId7"/>
    <p:sldId id="257" r:id="rId8"/>
    <p:sldId id="295" r:id="rId9"/>
    <p:sldId id="296" r:id="rId10"/>
    <p:sldId id="297" r:id="rId11"/>
    <p:sldId id="298" r:id="rId12"/>
    <p:sldId id="299" r:id="rId13"/>
    <p:sldId id="263" r:id="rId14"/>
    <p:sldId id="262" r:id="rId15"/>
    <p:sldId id="284" r:id="rId16"/>
    <p:sldId id="285" r:id="rId17"/>
    <p:sldId id="26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264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279" r:id="rId56"/>
    <p:sldId id="283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998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61520" cy="25603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次课教材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异常与中断处理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348029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两种“打断”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170989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82469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73909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同步异常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73909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自己执行某条指令时触发（如 break、除零、缺页）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679749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771189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异步中断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771189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外部事件通知（如定时器到点、串口收到字节）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914189"/>
            <a:ext cx="10881360" cy="2595782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097069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535981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正常调用</a:t>
            </a: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像主动打电话安排工作</a:t>
            </a: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</a:t>
            </a: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像自己不小心被绊倒</a:t>
            </a: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；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</a:t>
            </a: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像开会时手机突然响了——随时可能发生，与你在做什么无关。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0665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三条路径对比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2961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05701"/>
              </p:ext>
            </p:extLst>
          </p:nvPr>
        </p:nvGraphicFramePr>
        <p:xfrm>
          <a:off x="640080" y="1695370"/>
          <a:ext cx="10881360" cy="3657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普通调用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异常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中断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入口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跳到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EENTRY</a:t>
                      </a:r>
                      <a:endParaRPr lang="en-US" sz="2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跳到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EENTRY</a:t>
                      </a:r>
                      <a:endParaRPr lang="en-US" sz="2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触发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同步检测到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外设异步通知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返回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jr $ra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ertn</a:t>
                      </a:r>
                      <a:endParaRPr lang="en-US" sz="2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ertn</a:t>
                      </a:r>
                      <a:endParaRPr lang="en-US" sz="2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现场保存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约定保存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主动存更多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存得更多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可屏蔽性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视类型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常可屏蔽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为什么不能把 C 函数地址当异常向量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普通调用双方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提前约好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“谁保存什么”，是自愿参与的协议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异常/中断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打断的那一刻，代码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毫不知情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，来不及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收拾现场</a:t>
            </a: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必须主动、完整地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保存现场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，不能假设对方会自觉配合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722914"/>
            <a:ext cx="10881360" cy="2403566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6246" y="3904861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r>
              <a:rPr lang="zh-CN" alt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12609"/>
            <a:ext cx="10561320" cy="168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普通调用像两人提前约好分工</a:t>
            </a: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；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</a:t>
            </a: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</a:t>
            </a: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zh-CN" alt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像室友借用你的书桌：先拍照记下你摊开的书本、笔的摆放，去忙他自己的事，忙完再照原样摆回，你回来接着写作业。。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 $ra 与 ertn 的差异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 $ra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：软件约定的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普通函数返回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只是单纯跳转</a:t>
            </a: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（exception return）：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硬件专用指令</a:t>
            </a: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 还要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恢复特权级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中断使能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等运行模式，jr 做不到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两者不能混为一谈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61520" cy="25603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指令补充讲解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认识 CSR 与 csrrd / csrwr 指令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为看懂 exception_entry 打基础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1 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什么是 CSR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 = Control and Status Register，控制状态寄存器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跟 $a0-$a7、$t0-$t8 这些“通用寄存器”不是一回事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 专门存放硬件的状态和控制信息，不是程序自己的数据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例如：刚发生了什么异常、异常发生前 PC 停在哪、异常该跳去哪处理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498348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5166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560527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 像仪表盘，通用寄存器像后备箱——一个管状态，一个装货。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为什么不能用 ld / st 访问 CSR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 / st（含 MMIO）操作的是“内存地址空间”里的地址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 根本不在内存地址空间里，是 CPU 内部单独的一组寄存器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访问 CSR 必须用专门的指令：csrrd（读）、csrwr（写）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指令一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csrrd：把 CSR 读进通用寄存器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10149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csrrd   $a0, 0x5   /* 读 CSR 0x5 到 $a0 */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语法：csrrd 目标通用寄存器, CSR 编号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作用：把编号 0x5 这个 CSR 里的内容，复制一份到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读完之后 CSR 本身的值不变，只是“抄了一份”出来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指令二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csrwr：把通用寄存器写入 CSR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10149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csrwr   $a0, 0x6   /* 把 $a0 写进 CSR 0x6 */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语法：csrwr 通用寄存器, CSR 编号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作用：把 $a0 的值写进这个 CSR，成为它的新值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额外细节：CSR 原来的旧值，会被顺手写回 $a0——是“交换”不是单纯的写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csrwr 到底做了什么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一手交一手的“交换”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762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$a0 的新值 → 写进 CSR（CSR 更新为新值）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735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CSR 原来的旧值 → 写回 $a0（$a0 变成旧值）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160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exception_entry 只用到①，没用旧值，但要知道这是它的真实行为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166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56052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像快递柜换件：塞进新包裹，柜子同时吐出旧包裹——一手交一手。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本课用到的三个 CSR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编号、名称、作用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40080" y="2011680"/>
          <a:ext cx="1088136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名称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异常状态：这次异常是什么类型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异常返回地址：触发异常那一刻 PC 停在哪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EENTRY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异常入口地址：异常发生了该跳去哪处理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具体编号以课程讲义/手册为准，不同平台可能不同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两条指令，够看懂 exception_entry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 是 CPU 内部专门的状态/控制寄存器，不在内存地址空间里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csrrd：CSR → 通用寄存器（读一份出来，CSR 不变）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csrwr：通用寄存器 → CSR（写新值，同时把旧值换回寄存器）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记住这两条指令的语法和这三个编号，exception_entry 就能逐行看懂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520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exception_entry 精读（上）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975044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95084"/>
            <a:ext cx="10881360" cy="5410832"/>
          </a:xfrm>
          <a:prstGeom prst="roundRect">
            <a:avLst>
              <a:gd name="adj" fmla="val 2222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551116"/>
            <a:ext cx="10149840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exception_entry: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 $sp, $sp, -32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st.d    $ra, $sp, 24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csrrd   $a0, 0x5   /* ESTAT */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csrrd   $a1, 0x6   /* ERA */</a:t>
            </a:r>
          </a:p>
          <a:p>
            <a:pPr>
              <a:spcAft>
                <a:spcPts val="800"/>
              </a:spcAft>
            </a:pP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 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exception_handler</a:t>
            </a:r>
            <a:endParaRPr lang="en-US" altLang="zh-CN" sz="2400" b="1" dirty="0"/>
          </a:p>
          <a:p>
            <a:pPr>
              <a:spcAft>
                <a:spcPts val="800"/>
              </a:spcAft>
            </a:pP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csrwr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$a0, 0x6   /* 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写回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ERA */</a:t>
            </a:r>
            <a:endParaRPr lang="en-US" altLang="zh-CN" sz="2400" b="1" dirty="0"/>
          </a:p>
          <a:p>
            <a:pPr>
              <a:spcAft>
                <a:spcPts val="800"/>
              </a:spcAft>
            </a:pP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ld.d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$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24</a:t>
            </a:r>
            <a:endParaRPr lang="en-US" altLang="zh-CN" sz="2400" b="1" dirty="0"/>
          </a:p>
          <a:p>
            <a:pPr>
              <a:spcAft>
                <a:spcPts val="800"/>
              </a:spcAft>
            </a:pP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addi.d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$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32</a:t>
            </a:r>
            <a:endParaRPr lang="en-US" altLang="zh-CN" sz="2400" b="1" dirty="0"/>
          </a:p>
          <a:p>
            <a:pPr>
              <a:spcAft>
                <a:spcPts val="800"/>
              </a:spcAft>
            </a:pP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altLang="zh-CN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ertn</a:t>
            </a:r>
            <a:endParaRPr lang="en-US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伸栈并保存 $ra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为 bl 到 exception_handler 做准备：先腾出 32 字节栈空间，把 $ra 存进偏移 24 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136392"/>
            <a:ext cx="41148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addi.d $sp, $sp, -32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st.d   $ra, $sp, 24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6560" y="2331720"/>
            <a:ext cx="365760" cy="411480"/>
          </a:xfrm>
          <a:prstGeom prst="downArrow">
            <a:avLst/>
          </a:prstGeom>
          <a:solidFill>
            <a:srgbClr val="3A46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旧 $sp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2788920"/>
            <a:ext cx="1645920" cy="1371600"/>
          </a:xfrm>
          <a:prstGeom prst="rect">
            <a:avLst/>
          </a:prstGeom>
          <a:solidFill>
            <a:srgbClr val="EEF1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4160520"/>
            <a:ext cx="1645920" cy="73152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1000" y="27889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偏移 0–23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（本课未使用）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01000" y="41605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偏移 24–31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存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0" y="4983480"/>
            <a:ext cx="365760" cy="365760"/>
          </a:xfrm>
          <a:prstGeom prst="downArrow">
            <a:avLst/>
          </a:prstGeom>
          <a:solidFill>
            <a:srgbClr val="3A46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 $sp = 旧 $sp − 32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-6531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csrrd 读参数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816429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36469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392501"/>
            <a:ext cx="10149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csrrd   $a0, 0x5   /* ESTAT */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csrrd   $a1, 0x6   /* ERA */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55320" y="3182112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csrrd：把 CSR 内容读进通用寄存器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lvl="0" indent="-342900">
              <a:spcAft>
                <a:spcPts val="1600"/>
              </a:spcAft>
              <a:buSzPct val="100000"/>
              <a:buFontTx/>
              <a:buChar char="•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$a0=ESTAT（异常类型）、$a1=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ERA（触发指令地址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zh-CN" altLang="zh-CN" dirty="0"/>
              <a:t>PC 停在哪条指令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两个寄存器恰好是函数第 1、2 个参数，直接喂给 exception_handler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06CCC4A-09B3-C1BA-27D0-E8138F6DA578}"/>
              </a:ext>
            </a:extLst>
          </p:cNvPr>
          <p:cNvSpPr/>
          <p:nvPr/>
        </p:nvSpPr>
        <p:spPr>
          <a:xfrm>
            <a:off x="559693" y="4987506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59D46AA-E157-106A-76BF-8565E0D5E32F}"/>
              </a:ext>
            </a:extLst>
          </p:cNvPr>
          <p:cNvSpPr txBox="1"/>
          <p:nvPr/>
        </p:nvSpPr>
        <p:spPr>
          <a:xfrm>
            <a:off x="879733" y="517038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3E3E163-4E64-275B-3013-3EF9F22DC4C7}"/>
              </a:ext>
            </a:extLst>
          </p:cNvPr>
          <p:cNvSpPr txBox="1"/>
          <p:nvPr/>
        </p:nvSpPr>
        <p:spPr>
          <a:xfrm>
            <a:off x="879732" y="5609298"/>
            <a:ext cx="104246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 和 ERA </a:t>
            </a: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像事故现场的两块指示牌：一块写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事故类型</a:t>
            </a: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，一块写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发生地点</a:t>
            </a:r>
            <a:r>
              <a:rPr lang="en-US" sz="2400" dirty="0" err="1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。csrrd</a:t>
            </a: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就是交警到场先把牌子抄下来。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5424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exception_handler 的返回值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19500" y="3310128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5260" y="3718292"/>
            <a:ext cx="1014984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</a:t>
            </a:r>
            <a:r>
              <a:rPr lang="en-US" sz="24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exception_handler</a:t>
            </a: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long estat, unsigned long era)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printk 打印 ESTAT / ERA ...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era + 4;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b="1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3C94521-FAA7-99CB-5CD6-2BF16D224ABE}"/>
              </a:ext>
            </a:extLst>
          </p:cNvPr>
          <p:cNvSpPr/>
          <p:nvPr/>
        </p:nvSpPr>
        <p:spPr>
          <a:xfrm>
            <a:off x="529552" y="1174508"/>
            <a:ext cx="10881360" cy="1844624"/>
          </a:xfrm>
          <a:prstGeom prst="roundRect">
            <a:avLst>
              <a:gd name="adj" fmla="val 2222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C559B47-CAFF-BAB3-B5E4-05A8EF52A104}"/>
              </a:ext>
            </a:extLst>
          </p:cNvPr>
          <p:cNvSpPr txBox="1"/>
          <p:nvPr/>
        </p:nvSpPr>
        <p:spPr>
          <a:xfrm>
            <a:off x="885260" y="1174508"/>
            <a:ext cx="10149840" cy="165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exception_entry</a:t>
            </a: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cs typeface="Courier New" pitchFamily="34" charset="-120"/>
              </a:rPr>
              <a:t>    … …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bl     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exception_handler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spcAft>
                <a:spcPts val="800"/>
              </a:spcAft>
            </a:pPr>
            <a:r>
              <a:rPr lang="en-US" altLang="zh-CN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…</a:t>
            </a:r>
            <a:endParaRPr lang="en-US" sz="2400" b="1" dirty="0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C598137F-B31C-441F-1100-64E30C35BFCA}"/>
              </a:ext>
            </a:extLst>
          </p:cNvPr>
          <p:cNvCxnSpPr/>
          <p:nvPr/>
        </p:nvCxnSpPr>
        <p:spPr>
          <a:xfrm rot="16200000" flipH="1">
            <a:off x="4189962" y="2793642"/>
            <a:ext cx="1236349" cy="612949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 exception_handler：汇编怎么调用 C 函数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     exception_handler</a:t>
            </a:r>
            <a:endParaRPr lang="en-US" sz="2400" b="1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只做两件事：把返回地址存进 $ra，再跳转到目标符号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exception_handler 不是这份 .S 文件里的标签，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C 函数</a:t>
            </a: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汇编怎么跳进一段 C 代码，参数还能刚好对上？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汇编文件和 C 文件是分开翻译的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boot/start.S → 汇编器 → 一份目标文件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kernel/exception.c → 编译器 → 另一份目标文件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汇编器翻译到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exception_handler 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时，并不知道地址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只能先留一条“占位”记录：这里要跳到符号 exception_handler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920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33095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像在稿子里写“详见附录 B”——写稿人这时还不知道附录 B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印在第几页，只能先留下这个名字。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链接器把占位符号“对上号”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链接阶段：链接器把两份目标文件拼在一起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C 那边正好有个同名符号 exception_handler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函数默认按原名导出符号，不会像 C++ 那样“改名”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于是把 bl 的占位地址，回填成函数真正的地址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52578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6967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排版环节（链接）把“附录 B”这个名字和它实际的页码对上。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光对上地址还不够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双方还得“说同一种语言”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次课的调用约定（LP64 ABI）：参数放 $a0-$a7、返回值放 $a0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汇编代码和 C 编译器生成的代码，遵守的是同一套规矩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 exception_entry 敢把 $a0=ESTAT、$a1=ERA 摆好就直接 bl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920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33095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你和附录 B 的作者提前约好“材料按固定顺序摆放、结论写在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固定位置”——排版时自然就能接得上，谁都不用管对方怎么写的。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完整链路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从摆参数到跳回来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75104"/>
            <a:ext cx="10332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exception_entry：把 ESTAT/ERA 摆进 $a0 / $a1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89504"/>
            <a:ext cx="10332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bl：存返回地址到 $ra，跳去 exception_handler（链接器已对好地址）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803904"/>
            <a:ext cx="10332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exception_handler（C）：从 $a0/$a1 取参数，算出 era + 4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718304"/>
            <a:ext cx="10332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 收尾代码：把返回值放进 $a0，jr $ra 跳回 bl 之后那条指令</a:t>
            </a:r>
            <a:endParaRPr lang="en-US" sz="2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508BA70-5EBB-AD2F-2642-6A6EA3ADE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724367"/>
            <a:ext cx="4001058" cy="1133633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6CC147C-3128-1D9D-521D-1029CC36620F}"/>
              </a:ext>
            </a:extLst>
          </p:cNvPr>
          <p:cNvCxnSpPr>
            <a:cxnSpLocks/>
          </p:cNvCxnSpPr>
          <p:nvPr/>
        </p:nvCxnSpPr>
        <p:spPr>
          <a:xfrm flipH="1">
            <a:off x="3707842" y="5255288"/>
            <a:ext cx="1487156" cy="825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恢复现场并 ertn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csrwr   $a0, 0x6   /* 写回 ERA */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ld.d    $ra, $sp, 24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addi.d  $sp, $sp, 32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ertn</a:t>
            </a:r>
            <a:endParaRPr lang="en-US" sz="2400" b="1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csrwr：把 exception_handler 算出的新 ERA 写回 CSR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ld.d / addi.d：把 $ra、$sp 恢复成调用前的样子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ertn：跳到当前 CSR.ERA 所指的地址，恢复异常前的运行模式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图示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把现场物归原位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2.1 存现场的动作正好相反：先取出 $ra，再把栈指针加回去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旧 $sp</a:t>
            </a:r>
            <a:endParaRPr lang="en-US" sz="24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(恢复后)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2148840"/>
            <a:ext cx="365760" cy="411480"/>
          </a:xfrm>
          <a:prstGeom prst="upArrow">
            <a:avLst/>
          </a:prstGeom>
          <a:solidFill>
            <a:srgbClr val="3A4668"/>
          </a:solidFill>
          <a:ln/>
        </p:spPr>
      </p:sp>
      <p:sp>
        <p:nvSpPr>
          <p:cNvPr id="8" name="Shape 6"/>
          <p:cNvSpPr/>
          <p:nvPr/>
        </p:nvSpPr>
        <p:spPr>
          <a:xfrm>
            <a:off x="5394960" y="2651760"/>
            <a:ext cx="1645920" cy="1371600"/>
          </a:xfrm>
          <a:prstGeom prst="rect">
            <a:avLst/>
          </a:prstGeom>
          <a:solidFill>
            <a:srgbClr val="EEF1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4023360"/>
            <a:ext cx="1645920" cy="73152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偏移 0–23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（本课未使用）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偏移 24–31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ld.d 取出 $ra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035040" y="4846320"/>
            <a:ext cx="365760" cy="365760"/>
          </a:xfrm>
          <a:prstGeom prst="upArrow">
            <a:avLst/>
          </a:prstGeom>
          <a:solidFill>
            <a:srgbClr val="3A46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当前 $sp（恢复前）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节 · 2.5  恢复现场并 ertn  |  2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 跳去哪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不是 $ra，是当前 CSR.ERA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 跳转的目标是 CSR.ERA，不是恢复出来的 $ra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 ERA 正是 exception_handler 算好、用 csrwr 写回的新值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 还会恢复特权级、中断使能等运行模式，jr $ra 做不到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920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33095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呼应本节最初的比喻：室友忙完自己的事后，把书桌各项物品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按拍照记录一一放回原位——这正是 ertn 在做的最后一步。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节 · 2.5  恢复现场并 ertn  |  3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教学取舍：最小骨架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真实系统通常要保存远不止 $ra 这一个寄存器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$a0-$a7、$t0-$t8 若不存好，会被处理函数悄悄改写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本课只存 $ra，第 11 次课升级为完整版本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节 · 3.1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为什么不能原样返回 era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break/syscall 的 ERA 指向触发指令本身，不是下一条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原样写回 era 再 ertn，会跳回同一条指令，立刻再次触发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陷入“触发→处理→返回原地→再触发”的死循环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00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2395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像被自动门感应器卡住，处理完又被放回感应区正中央——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前脚站稳门又响了。正确做法是送到已过感应区的位置。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11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节 · 3.2-3.3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为什么是 +4，以及亲手验证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本平台每条指令固定 4 字节，era + 4 即“下一条指令地址”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告诉硬件：这条触发异常的指令已处理完，别再重新执行它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Task3 要求先改回 return era，亲眼看一遍死循环，再改回来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12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exception_init：登记“出事找谁”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76272"/>
            <a:ext cx="1014984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exception_init(void)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long entry =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(unsigned long)exception_entry;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csrwr(entry, 0xc);   /* 写 EENTRY */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13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EENTRY 必须提前登记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0xc = EENTRY，异常/中断的统一入口地址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必须在异常可能发生之前设置好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不设置：异常到来时硬件“无处可去”，后果更严重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00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2395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像入住酒店先在前台登记“紧急情况请打这个电话”——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号码必须提前登记，出事了酒店才知道联系谁。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14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中断的五个核心概念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EEF1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082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中断源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02082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定时器、UART 收等——谁发起了这次“打扰”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62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中断使能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8620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总开关 + 分源开关，两层都要打开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64845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EEF1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中断入口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703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与异常向量体系相关（本平台共用 EENTRY）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EEF1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上半部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5445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入口尽快做完关键事，别长时间占用 CPU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080" y="533095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EEF1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3858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清源/应答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538581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处理完必须告诉硬件，否则会反复触发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15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开关与门禁的比喻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01168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33472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总开关+分开关像小区大门门禁和每户房门门禁：总门禁关了，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哪户门禁开着都没用；总门禁开着，某户自己锁门，那户才不被打扰。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16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为什么“清源”不能省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没告诉硬件“处理完了”，硬件认为中断源还在喊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同一中断被反复触发，陷入“处理→又被打断→再处理”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era+4 踩坑本质相同：都是忘了“翻篇”这一步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00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2395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清源像看完医生一定要把候诊号“叫过”，不然叫号系统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以为你还没被叫到，一直重复显示你的号码。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17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中断入口骨架（示意）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3520440"/>
          </a:xfrm>
          <a:prstGeom prst="roundRect">
            <a:avLst>
              <a:gd name="adj" fmla="val 2078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1014984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interrupt_entry: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$sp, $sp, -256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st.d   $ra, $sp, 0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st.d   $a0, $sp, 8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保存需要的寄存器 ...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interrupt_handler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恢复 ...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18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为什么中断入口更重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中断可能打在任意一条指令之间，不能假设现场“恰好干净”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必须主动保存所有可能被破坏的寄存器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这个数字不重要，“主动保存会被破坏的状态”才重要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00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2395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像有人从背后突然拍你肩膀——手里的东西可能因此洒了，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对方必须先帮你定住手里的一切，处理完再原样还给你。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19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11 次课预告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本平台异常和中断实际共享同一个 EENTRY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不会另建 interrupt_entry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而是把 exception_entry 原地升级：保存全部 caller-saved 寄存器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$ra + $a0-$a7 + $t0-$t8，共 144 字节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20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定时器 tick 最小故事线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配置周期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7919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使能中断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36499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处理函数：ticks++，清源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1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05079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主循环 idle 等待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834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42239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像烤箱定时器：设定周期、启动，响铃后记一笔、按掉铃声。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21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完整例子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从使能到清源，涉及的 CSR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40080" y="1965960"/>
          <a:ext cx="1088136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 位（第 2 位）：全局中断总开关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ECFG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 位域：每个中断源的分开关，定时器对应第 11 位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TICLR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A46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定时器中断清源：写 1 到 TI 位（第 0 位）即可清除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CRMD.IE + ECFG.LIE 就是“两层开关”，TICLR 就是“清源”的具体操作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第一步：使能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对应总开关 + 分开关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ecfg;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csrrd  %0, 0x4  →  ecfg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ecfg |= (1UL &lt;&lt; 11);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csrwr  %0, 0x4  ←  ecfg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2519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ECFG 里不只有定时器这一位，还挤着其他中断源的开关位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不能直接写一个新值覆盖，会把其他已打开的开关误关掉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固定套路：读出来 → 只改需要的那一位 → 写回去（CRMD 同理）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语法拆解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内联汇编的整体结构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 volatile("csrrd %0, 0x4" : "=r"(ecfg));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0723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343400" y="3072384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关键字：接下来不是 C 代码，是汇编指令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EF1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9534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343400" y="3895344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禁止编译器把这条汇编优化掉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E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7183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"csrrd %0, 0x4"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343400" y="4718304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汇编模板：%0 是占位符，具体寄存器交给编译器挑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EF1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54126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"=r"(ecfg)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343400" y="5541264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输出操作数：结果最终存进 C 变量 ecfg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语法拆解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冒号分隔的四段结构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汇编模板 : 输出操作数 : 输入操作数 : 会被破坏的寄存器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内联汇编用冒号把整条语句分成四段（后三段可留空）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csrrd 这行只写了一个冒号：只用到“输出操作数”这一段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输入、clobber 两段留空，因为这条指令不需要额外输入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语法拆解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"=r"(ecfg) 与 %0 是怎么对上的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881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= 表示“这是一个只写的输出”，r 表示“帮我挑一个通用寄存器”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(ecfg) 表示结果最终要放进这个 C 变量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%0 指的是操作数列表里第 0 个操作数——正是这里唯一的 (ecfg)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编译器会把 %0 替换成它挑的寄存器，比如生成 csrrd $t0, 0x4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对比一下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csrwr 那一行：输入而不是输出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 volatile("csrwr %0, 0x4" : : "r"(ecfg));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"r"(ecfg) 前面没有 “=”，说明这次 ecfg 是输入（送进 CSR）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这个操作数出现在第二个冒号后面——输入操作数的位置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一读一写，靠“有没有 = 号”和“在哪个冒号后面”区分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顺带一提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1UL 是什么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ecfg |= (1UL &lt;&lt; 11);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 = unsigned（无符号），L = long（长整型）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1UL 是告诉编译器：把这个 1 当成 unsigned long，不是默认的 int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ecfg 是 64 位 unsigned long，而普通 1 默认只有 32 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移位超过 32 位时，1 &lt;&lt; 40 会溢出出错，1UL &lt;&lt; 40 则安全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第二步：处理（上）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判断是不是定时器中断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3246120"/>
          </a:xfrm>
          <a:prstGeom prst="roundRect">
            <a:avLst>
              <a:gd name="adj" fmla="val 2254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is = estat &amp; 0x1fffUL;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 &amp; (1UL &lt;&lt; 11)) {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ticks++;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(ticks % 100 == 0)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printk("tick\n");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ESTAT 低 13 位（ESTAT.IS）对应 13 个中断号，第 11 位是定时器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不需要另建 interrupt_handler，直接在 exception_handler 里加分支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第二步：处理（下）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清源，并返回 era（不是 era+4）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long one = 1;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__asm__ volatile("csrwr %0, 0x44"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: : "r"(one));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era;    /* 不是 era + 4！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 1 到 TICLR（0x44）即可清源，避免同一中断反复触发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第二步：处理（续）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不是中断，就走原来的异常逻辑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走到这里说明是同步异常（break/syscall）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printk("[exception] ESTAT=0x...");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era + 4;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和第 2-4 节讲过的逻辑完全一样，只是排在中断判断的后面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第三步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为什么这里不能 +4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break/syscall 的 ERA 指向触发指令本身，要 +4 跳过去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中断是异步事件，ERA 记录的是“还没执行、被打断”的那条指令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处理完应原样继续执行它，+4 会凭空丢掉一条指令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像朗读被插话打断：说完该接着念被打断的那个字，而不是跳到下一个字——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 是“已执行完才异常”要跳过；中断是“还没执行完就被打断”必须原样接上。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对照速查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从纸面设计到真代码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391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配置周期 → TCFG 配置定时器（第 11 次课上机实现）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9535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使能中断 → ECFG.LIE 第 11 位 + CRMD.IE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8679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处理函数 → 判断 ESTAT.IS 第 11 位，ticks++ / printk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7823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 清源 → 写 1 到 TICLR.TI，同时 return era（不是 era+4）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完整例子，几件事记住就够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使能是“读-改-写”：CRMD.IE 总开关 + ECFG.LIE 分开关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内联汇编 __asm__ volatile(模板 : 输出 : 输入 : clobber)，%0 对应操作数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处理逻辑加在 exception_handler 里，判断 ESTAT.IS 对应位即可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中断清源用 TICLR，返回用 era（不是 era+4）——和精确异常正好相反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附录：完整源代码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使能中断（ECFG + CRMD）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ecfg;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 volatile("csrrd %0, 0x4" : "=r"(ecfg));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ecfg |= (1UL &lt;&lt; 11);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 volatile("csrwr %0, 0x4" : : "r"(ecfg));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crmd;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 volatile("csrrd %0, 0x0" : "=r"(crmd));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crmd |= (1UL &lt;&lt; 2);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 volatile("csrwr %0, 0x0" : : "r"(crmd));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附录：完整源代码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exception_handler（1/3）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exception_handler(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long estat, unsigned long era)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long is = estat &amp; 0x1fffUL;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 &amp; (1UL &lt;&lt; 11)) {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ticks++;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(ticks % 100 == 0)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附录：完整源代码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exception_handler（2/3）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printk("tick\n");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unsigned long one = 1;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__asm__ volatile("csrwr %0, 0x44"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: : "r"(one));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era;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附录：完整源代码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exception_handler（3/3）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3840480"/>
          </a:xfrm>
          <a:prstGeom prst="roundRect">
            <a:avLst>
              <a:gd name="adj" fmla="val 1905"/>
            </a:avLst>
          </a:prstGeom>
          <a:solidFill>
            <a:srgbClr val="F2F4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1014984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printk("[exception] ESTAT=0x");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printk_hex(estat);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printk(" ERA=0x");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printk_hex(era);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printk("\n");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era + 4;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6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完整中断例子精读  |  17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并发与临界区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主循环与中断处理函数同时 printk → 字符交错乱码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中断处理函数就是一个“随时可能插进来”的执行流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对策：短时间关中断，操作完共享数据再打开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00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2395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关中断像数现金时先反锁房门，这段时间谁敲门都不开，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数完再开锁——但锁太久等于“中断处理要尽量短”被违反。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次课 · 异常与中断处理  |  23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先看懂、能讨论，再迎接第 10、11 次课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配合《第 9 次课实验指导书》使用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2789</Words>
  <Application>Microsoft Office PowerPoint</Application>
  <PresentationFormat>宽屏</PresentationFormat>
  <Paragraphs>535</Paragraphs>
  <Slides>56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2" baseType="lpstr"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4</cp:revision>
  <dcterms:created xsi:type="dcterms:W3CDTF">2026-09-08T13:49:25Z</dcterms:created>
  <dcterms:modified xsi:type="dcterms:W3CDTF">2026-09-13T16:26:24Z</dcterms:modified>
</cp:coreProperties>
</file>