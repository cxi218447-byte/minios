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79"/>
  </p:notesMasterIdLst>
  <p:sldIdLst>
    <p:sldId id="256" r:id="rId3"/>
    <p:sldId id="257" r:id="rId4"/>
    <p:sldId id="258" r:id="rId5"/>
    <p:sldId id="260" r:id="rId6"/>
    <p:sldId id="261" r:id="rId7"/>
    <p:sldId id="316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317" r:id="rId32"/>
    <p:sldId id="318" r:id="rId33"/>
    <p:sldId id="319" r:id="rId34"/>
    <p:sldId id="320" r:id="rId35"/>
    <p:sldId id="323" r:id="rId36"/>
    <p:sldId id="321" r:id="rId37"/>
    <p:sldId id="322" r:id="rId38"/>
    <p:sldId id="324" r:id="rId39"/>
    <p:sldId id="325" r:id="rId40"/>
    <p:sldId id="289" r:id="rId41"/>
    <p:sldId id="290" r:id="rId42"/>
    <p:sldId id="291" r:id="rId43"/>
    <p:sldId id="292" r:id="rId44"/>
    <p:sldId id="296" r:id="rId45"/>
    <p:sldId id="297" r:id="rId46"/>
    <p:sldId id="301" r:id="rId47"/>
    <p:sldId id="302" r:id="rId48"/>
    <p:sldId id="300" r:id="rId49"/>
    <p:sldId id="326" r:id="rId50"/>
    <p:sldId id="303" r:id="rId51"/>
    <p:sldId id="327" r:id="rId52"/>
    <p:sldId id="304" r:id="rId53"/>
    <p:sldId id="331" r:id="rId54"/>
    <p:sldId id="332" r:id="rId55"/>
    <p:sldId id="259" r:id="rId56"/>
    <p:sldId id="333" r:id="rId57"/>
    <p:sldId id="334" r:id="rId58"/>
    <p:sldId id="262" r:id="rId59"/>
    <p:sldId id="305" r:id="rId60"/>
    <p:sldId id="328" r:id="rId61"/>
    <p:sldId id="329" r:id="rId62"/>
    <p:sldId id="306" r:id="rId63"/>
    <p:sldId id="330" r:id="rId64"/>
    <p:sldId id="335" r:id="rId65"/>
    <p:sldId id="336" r:id="rId66"/>
    <p:sldId id="337" r:id="rId67"/>
    <p:sldId id="338" r:id="rId68"/>
    <p:sldId id="339" r:id="rId69"/>
    <p:sldId id="340" r:id="rId70"/>
    <p:sldId id="341" r:id="rId71"/>
    <p:sldId id="263" r:id="rId72"/>
    <p:sldId id="342" r:id="rId73"/>
    <p:sldId id="310" r:id="rId74"/>
    <p:sldId id="311" r:id="rId75"/>
    <p:sldId id="312" r:id="rId76"/>
    <p:sldId id="313" r:id="rId77"/>
    <p:sldId id="314" r:id="rId7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10" autoAdjust="0"/>
  </p:normalViewPr>
  <p:slideViewPr>
    <p:cSldViewPr snapToGrid="0" snapToObjects="1">
      <p:cViewPr varScale="1">
        <p:scale>
          <a:sx n="99" d="100"/>
          <a:sy n="99" d="100"/>
        </p:scale>
        <p:origin x="9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notesMaster" Target="notesMasters/notesMaster1.xml"/><Relationship Id="rId80" Type="http://schemas.openxmlformats.org/officeDocument/2006/relationships/presProps" Target="presProps.xml"/><Relationship Id="rId81" Type="http://schemas.openxmlformats.org/officeDocument/2006/relationships/viewProps" Target="viewProps.xml"/><Relationship Id="rId82" Type="http://schemas.openxmlformats.org/officeDocument/2006/relationships/theme" Target="theme/theme1.xml"/><Relationship Id="rId8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61BD73-A144-476C-855F-88E6C06EB1F0}" type="datetimeFigureOut">
              <a:rPr lang="zh-CN" altLang="en-US" smtClean="0"/>
              <a:t>2026/9/9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B344C-DC0E-477F-9E17-96BE3898CA6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086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0956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025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第 3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</a:rPr>
              <a:t>寄存器、数据表示与基础指令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8C5E0"/>
                </a:solidFill>
                <a:latin typeface="微软雅黑" panose="020B0503020204020204" charset="-122"/>
              </a:rPr>
              <a:t>系统讲完第2章+§3.1；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建议检查点：week03-regs-alu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LoongArch 汇编 ·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本课目标：第2章 + §3.1 系统讲完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16151"/>
            <a:ext cx="10972800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0">
                <a:solidFill>
                  <a:srgbClr val="22252B"/>
                </a:solidFill>
                <a:latin typeface="微软雅黑" panose="020B0503020204020204" charset="-122"/>
              </a:rPr>
              <a:t>• 第2章</a:t>
            </a:r>
          </a:p>
          <a:p>
            <a:pPr indent="457200"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分类、寄存器与LA32/64宽度、助记符、扩展、寻址概览</a:t>
            </a:r>
          </a:p>
          <a:p>
            <a:pPr algn="l">
              <a:spcAft>
                <a:spcPts val="800"/>
              </a:spcAft>
            </a:pPr>
            <a:r>
              <a:rPr sz="3000" b="0">
                <a:solidFill>
                  <a:srgbClr val="22252B"/>
                </a:solidFill>
                <a:latin typeface="微软雅黑" panose="020B0503020204020204" charset="-122"/>
              </a:rPr>
              <a:t>• §3.1.1～3.1.4：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算术→逻辑与条件→移位→位操作，每节会走读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正/负数在32/64位寄存器如何存放；溢出笔记例</a:t>
            </a:r>
          </a:p>
          <a:p>
            <a:pPr marL="342900" indent="-342900" algn="l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b="0">
                <a:solidFill>
                  <a:srgbClr val="22252B"/>
                </a:solidFill>
                <a:latin typeface="微软雅黑" panose="020B0503020204020204" charset="-122"/>
              </a:rPr>
              <a:t>	</a:t>
            </a: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make run 验收（实验从简）</a:t>
            </a:r>
          </a:p>
          <a:p>
            <a:pPr algn="l">
              <a:spcAft>
                <a:spcPts val="800"/>
              </a:spcAft>
            </a:pPr>
            <a:endParaRPr sz="2400" b="0">
              <a:solidFill>
                <a:srgbClr val="22252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本课 = 教材进度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系统讲完，不跳节；访存/浮点只点到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0907" y="1901952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793595" y="2084831"/>
            <a:ext cx="512064" cy="512064"/>
          </a:xfrm>
          <a:prstGeom prst="ellipse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93595" y="2157984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0635" y="2816352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C53A0"/>
                </a:solidFill>
                <a:latin typeface="微软雅黑" panose="020B0503020204020204" charset="-122"/>
              </a:rPr>
              <a:t>第2章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0635" y="3410711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风貌：分类
编码/寻址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8347" y="30906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微软雅黑" panose="020B050302020402020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8387" y="1901952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91075" y="2084831"/>
            <a:ext cx="512064" cy="512064"/>
          </a:xfrm>
          <a:prstGeom prst="ellipse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1075" y="2157984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8115" y="2816352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7482"/>
                </a:solidFill>
                <a:latin typeface="微软雅黑" panose="020B0503020204020204" charset="-122"/>
              </a:rPr>
              <a:t>2.1.2+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8115" y="3410711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寄存器
宽度/存放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5827" y="30906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微软雅黑" panose="020B0503020204020204" charset="-122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5867" y="1901952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88555" y="2084831"/>
            <a:ext cx="512064" cy="512064"/>
          </a:xfrm>
          <a:prstGeom prst="ellipse">
            <a:avLst/>
          </a:prstGeom>
          <a:solidFill>
            <a:srgbClr val="2A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88555" y="2157984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5595" y="2816352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A7E4E"/>
                </a:solidFill>
                <a:latin typeface="微软雅黑" panose="020B0503020204020204" charset="-122"/>
              </a:rPr>
              <a:t>§3.1 总览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5595" y="3410711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四小节
读码五步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3307" y="30906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微软雅黑" panose="020B0503020204020204" charset="-122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347" y="1901952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886035" y="2084831"/>
            <a:ext cx="512064" cy="512064"/>
          </a:xfrm>
          <a:prstGeom prst="ellipse">
            <a:avLst/>
          </a:prstGeom>
          <a:solidFill>
            <a:srgbClr val="B8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86035" y="2157984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3075" y="2816352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5F22"/>
                </a:solidFill>
                <a:latin typeface="微软雅黑" panose="020B0503020204020204" charset="-122"/>
              </a:rPr>
              <a:t>§3.1 展开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3075" y="3410711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3.1.1→3.1.4
逐步走读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第 2 章要覆盖的小节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16151"/>
            <a:ext cx="109728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• 2.1.1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指令组成与四大类（运算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/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访存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/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转移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/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特殊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）</a:t>
            </a:r>
          </a:p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• 2.1.2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寄存器与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LA32/LA64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宽度</a:t>
            </a:r>
            <a:endParaRPr sz="2400" b="0" dirty="0">
              <a:solidFill>
                <a:srgbClr val="22252B"/>
              </a:solidFill>
              <a:latin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• 2.1.3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指令定长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32 位</a:t>
            </a:r>
          </a:p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• 2.1.4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助记符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= 名 +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后缀</a:t>
            </a:r>
            <a:endParaRPr sz="2400" b="0" dirty="0">
              <a:solidFill>
                <a:srgbClr val="22252B"/>
              </a:solidFill>
              <a:latin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• 2.1.5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符号扩展（笔记表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）</a:t>
            </a:r>
          </a:p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• 2.1.6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寻址方式概览</a:t>
            </a:r>
            <a:endParaRPr sz="2400" b="0" dirty="0">
              <a:solidFill>
                <a:srgbClr val="22252B"/>
              </a:solidFill>
              <a:latin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• 2.2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C→可执行文件链路（一页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2.1.1 指令组成与四大类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RISC：Load-Store；运算主要对寄存器/立即数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44751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44751"/>
            <a:ext cx="109728" cy="4572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609343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微软雅黑" panose="020B0503020204020204" charset="-122"/>
              </a:rPr>
              <a:t>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39112"/>
            <a:ext cx="4983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操作码：做什么
• 操作数：对谁做
• 源 / 目的操作数
• 指令定长 32 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44751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44751"/>
            <a:ext cx="109728" cy="4572000"/>
          </a:xfrm>
          <a:prstGeom prst="rect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B56AE8E-1CA1-CB6F-7523-F53766A69220}"/>
              </a:ext>
            </a:extLst>
          </p:cNvPr>
          <p:cNvSpPr txBox="1"/>
          <p:nvPr/>
        </p:nvSpPr>
        <p:spPr>
          <a:xfrm>
            <a:off x="6713002" y="1489668"/>
            <a:ext cx="44930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zh-CN" altLang="zh-CN" sz="2400" dirty="0"/>
              <a:t>典型的RISC设计风格，</a:t>
            </a:r>
            <a:endParaRPr lang="en-US" altLang="zh-CN" sz="2400" dirty="0"/>
          </a:p>
          <a:p>
            <a:pPr rtl="0">
              <a:buNone/>
            </a:pPr>
            <a:r>
              <a:rPr lang="zh-CN" altLang="zh-CN" sz="2400" dirty="0"/>
              <a:t>所有指令占用固定的32位宽度，便于译码和流水线设计。</a:t>
            </a:r>
          </a:p>
          <a:p>
            <a:pPr rtl="0">
              <a:buNone/>
            </a:pPr>
            <a:r>
              <a:rPr lang="zh-CN" altLang="zh-CN" sz="2400" dirty="0"/>
              <a:t>补充说明：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zh-CN" altLang="zh-CN" sz="2400" b="1" dirty="0"/>
              <a:t>指令编码长度</a:t>
            </a:r>
            <a:r>
              <a:rPr lang="zh-CN" altLang="zh-CN" sz="2400" dirty="0"/>
              <a:t>，和CPU是32位还是64位架构是两回事。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zh-CN" altLang="zh-CN" sz="2400" dirty="0"/>
              <a:t>目前主流的龙芯处理器（如3A5000等）采用的是 </a:t>
            </a:r>
            <a:r>
              <a:rPr lang="zh-CN" altLang="zh-CN" sz="2400" b="1" dirty="0"/>
              <a:t>LoongArch64</a:t>
            </a:r>
            <a:r>
              <a:rPr lang="zh-CN" altLang="zh-CN" sz="2400" dirty="0"/>
              <a:t>，即64位指令集架构（寄存器、地址空间等是64位），但其指令编码依然是32位定长。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2.1.1 指令组成与四大类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RISC：Load-Store；运算主要对寄存器/立即数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44625"/>
            <a:ext cx="10873105" cy="219964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0855" y="1444625"/>
            <a:ext cx="76200" cy="2214245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609343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微软雅黑" panose="020B0503020204020204" charset="-122"/>
              </a:rPr>
              <a:t>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105" y="2038985"/>
            <a:ext cx="10045065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•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操作码：做什么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
•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操作数：对谁做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
• 源 /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目的操作数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
•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指令定长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32 位</a:t>
            </a:r>
          </a:p>
        </p:txBody>
      </p:sp>
      <p:graphicFrame>
        <p:nvGraphicFramePr>
          <p:cNvPr id="14" name="表格 13"/>
          <p:cNvGraphicFramePr/>
          <p:nvPr>
            <p:extLst>
              <p:ext uri="{D42A27DB-BD31-4B8C-83A1-F6EECF244321}">
                <p14:modId xmlns:p14="http://schemas.microsoft.com/office/powerpoint/2010/main" val="4142765925"/>
              </p:ext>
            </p:extLst>
          </p:nvPr>
        </p:nvGraphicFramePr>
        <p:xfrm>
          <a:off x="713105" y="4293235"/>
          <a:ext cx="10665460" cy="795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6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6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6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663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54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/>
                        <a:t>addi.d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$r3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/>
                        <a:t>$r3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600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B2849289-9DFE-DDAC-96C0-B237DBB1ABD4}"/>
              </a:ext>
            </a:extLst>
          </p:cNvPr>
          <p:cNvSpPr txBox="1"/>
          <p:nvPr/>
        </p:nvSpPr>
        <p:spPr>
          <a:xfrm>
            <a:off x="1612669" y="555290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操作码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2A7D8EF-FC54-28C3-F4C1-6FD12C968063}"/>
              </a:ext>
            </a:extLst>
          </p:cNvPr>
          <p:cNvSpPr txBox="1"/>
          <p:nvPr/>
        </p:nvSpPr>
        <p:spPr>
          <a:xfrm>
            <a:off x="3937909" y="5577840"/>
            <a:ext cx="7251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操作数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2.1.2 寄存器是什么：机器自带固定格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技术收回：CPU 内高速存储，指令直接读写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44751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44751"/>
            <a:ext cx="109728" cy="4572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609343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微软雅黑" panose="020B0503020204020204" charset="-122"/>
              </a:rPr>
              <a:t>像什么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39112"/>
            <a:ext cx="4983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收银机钱箱分币格
• 格焊在机器上，不搬家
• 格固定，里面数可变
• 计算器显示窗同类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44751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44751"/>
            <a:ext cx="109728" cy="4572000"/>
          </a:xfrm>
          <a:prstGeom prst="rect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609343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7482"/>
                </a:solidFill>
                <a:latin typeface="微软雅黑" panose="020B0503020204020204" charset="-122"/>
              </a:rPr>
              <a:t>不像什么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039112"/>
            <a:ext cx="4983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不是便利贴（可撕可贴）
• 不是变量名（账本人名）
• 不是身后快递柜（内存）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寄存器 ≠ 变量名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编译器把「人名」装进固定格或内存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44751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44751"/>
            <a:ext cx="109728" cy="4572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609343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微软雅黑" panose="020B0503020204020204" charset="-122"/>
              </a:rPr>
              <a:t>变量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39112"/>
            <a:ext cx="4983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程序员起的名字
• 可以很多
• 编译器决定放哪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44751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44751"/>
            <a:ext cx="109728" cy="4572000"/>
          </a:xfrm>
          <a:prstGeom prst="rect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609343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7482"/>
                </a:solidFill>
                <a:latin typeface="微软雅黑" panose="020B0503020204020204" charset="-122"/>
              </a:rPr>
              <a:t>寄存器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039112"/>
            <a:ext cx="4983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$t0/$a0 是格编号
• 数量有限（32 个 GR）
• 同一时刻一个值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必须记住的寄存器（总表）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课堂举例优先写 r0/r1/r4/r12；对照源码再认 $a0/$t0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36192"/>
          <a:ext cx="111556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ABI名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r 编号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角色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说明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$zero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r0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恒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st.b r0, 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$ra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返回地址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bl 写入；jr 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$sp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栈指针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_start 设栈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$a0–$a7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r4–r11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参数/返回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返回值多在 r4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$t0–$t8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r12–r20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临时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中间结果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复习：第1–2次课源码里谁出现了？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合上电脑能指着 start.S 口头点名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666980"/>
              </p:ext>
            </p:extLst>
          </p:nvPr>
        </p:nvGraphicFramePr>
        <p:xfrm>
          <a:off x="502920" y="1536192"/>
          <a:ext cx="111556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0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7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寄存器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位置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在干什么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r3($sp)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_start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la.global 设栈顶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r1($ra)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bl / jr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调用与返回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r12 r13($t0 $t1)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clear_bss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bss 起止指针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r0($zero)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st.b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提供恒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r4–r6($a0–$a2)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调用/string.S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 err="1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参数与返回</a:t>
                      </a:r>
                      <a:endParaRPr sz="2400" b="0" dirty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复习：场景题——该用哪个寄存器？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课堂可遮住「首选」列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36192"/>
          <a:ext cx="11155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6611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场景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首选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为什么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函数第1个参数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r4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ABI 亦写 $a0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函数返回值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r4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返回值主要在 r4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(a+b) 中间和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r12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临时；ABI 亦写 $t0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清零写0的源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r0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恒0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6611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调用后回来续跑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bl 写入返回地址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614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进入C前设栈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栈指针；ABI $sp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复习：三组最易混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78992"/>
            <a:ext cx="109728" cy="4572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2435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微软雅黑" panose="020B0503020204020204" charset="-122"/>
              </a:rPr>
              <a:t>r1 vs r4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73352"/>
            <a:ext cx="4983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r1($ra)：回到哪条指令
• r4($a0)：函数算出的数
• 位置 ≠ 数值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78992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078992"/>
            <a:ext cx="109728" cy="4572000"/>
          </a:xfrm>
          <a:prstGeom prst="rect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243584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7482"/>
                </a:solidFill>
                <a:latin typeface="微软雅黑" panose="020B0503020204020204" charset="-122"/>
              </a:rPr>
              <a:t>r12 vs r4 vs r0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673352"/>
            <a:ext cx="4983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r12($t0)：临时合计
• r4($a0)：参数/返回
• r0($zero)：焊死的0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22252B"/>
                </a:solidFill>
                <a:latin typeface="微软雅黑" panose="020B0503020204020204" charset="-122"/>
              </a:rPr>
              <a:t>$</a:t>
            </a:r>
            <a:r>
              <a:rPr sz="3200" b="1" dirty="0" err="1">
                <a:solidFill>
                  <a:srgbClr val="22252B"/>
                </a:solidFill>
                <a:latin typeface="微软雅黑" panose="020B0503020204020204" charset="-122"/>
              </a:rPr>
              <a:t>ra：续做断点</a:t>
            </a:r>
            <a:endParaRPr sz="3200" b="1" dirty="0">
              <a:solidFill>
                <a:srgbClr val="22252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$ra=指令位置；$a0=返回数值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44751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44751"/>
            <a:ext cx="109728" cy="4572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609343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微软雅黑" panose="020B0503020204020204" charset="-122"/>
              </a:rPr>
              <a:t>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39112"/>
            <a:ext cx="4983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地理来源/哪间教室
• 和返回值 $a0 混淆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44751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44751"/>
            <a:ext cx="109728" cy="4572000"/>
          </a:xfrm>
          <a:prstGeom prst="rect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609343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7482"/>
                </a:solidFill>
                <a:latin typeface="微软雅黑" panose="020B0503020204020204" charset="-122"/>
              </a:rPr>
              <a:t>正确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039112"/>
            <a:ext cx="4983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写作业做到 3-(2)
• 电话=调用；记下断点=$ra
• 挂断按题号续写=jr $ra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寄存器口诀（带走）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16151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r0 永远零；r3 指栈顶；r1 记断点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r4 起传参返回；r12 起做临时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格是零件，不是便利贴；ABI 名=$别名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下一步：格有多深？比特怎么解释？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寄存器宽度：LA32 vs LA64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名字可相同，格子深度不同（笔记 2.1.2）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460126"/>
              </p:ext>
            </p:extLst>
          </p:nvPr>
        </p:nvGraphicFramePr>
        <p:xfrm>
          <a:off x="631767" y="1536192"/>
          <a:ext cx="11026832" cy="327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39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6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16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项目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LA32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LA64（本课）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GR 数量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32 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同样 32 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每个 GR 宽度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32 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64 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FR 宽度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64 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64 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别名 $a0/$t0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有，格深 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 err="1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有，格深</a:t>
                      </a:r>
                      <a:r>
                        <a:rPr sz="2400" b="0" dirty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 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D13FA382-BE2C-6EAA-2BE6-3A27BBCD3BCB}"/>
              </a:ext>
            </a:extLst>
          </p:cNvPr>
          <p:cNvSpPr txBox="1"/>
          <p:nvPr/>
        </p:nvSpPr>
        <p:spPr>
          <a:xfrm>
            <a:off x="631766" y="5175533"/>
            <a:ext cx="112471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     （</a:t>
            </a:r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1</a:t>
            </a:r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）</a:t>
            </a:r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32</a:t>
            </a:r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 个整数通用寄存器（ </a:t>
            </a:r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General-purpose Register</a:t>
            </a:r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，</a:t>
            </a:r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GR </a:t>
            </a:r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），</a:t>
            </a:r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$r0 ~ $r31</a:t>
            </a:r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；</a:t>
            </a:r>
            <a:br>
              <a:rPr lang="en-US" altLang="zh-CN" sz="2400" b="1" dirty="0"/>
            </a:br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     </a:t>
            </a:r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（</a:t>
            </a:r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2</a:t>
            </a:r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）</a:t>
            </a:r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32 </a:t>
            </a:r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个浮寄存器（ </a:t>
            </a:r>
            <a:r>
              <a:rPr lang="en-US" altLang="zh-CN" sz="2400" b="1" i="0" dirty="0" err="1">
                <a:solidFill>
                  <a:srgbClr val="4D4D4D"/>
                </a:solidFill>
                <a:effectLst/>
                <a:latin typeface="-apple-system"/>
              </a:rPr>
              <a:t>Floatingl</a:t>
            </a:r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-point Register</a:t>
            </a:r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，</a:t>
            </a:r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FR </a:t>
            </a:r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）， </a:t>
            </a:r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$f0 ~ $f31</a:t>
            </a:r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；</a:t>
            </a:r>
            <a:endParaRPr lang="zh-CN" altLang="en-US" sz="240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完整走读：宽度如何改变 add.w 取数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笔记：LA64 r5=SignExtend(r2[31:0]+r1[31:0])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21924" y="1667581"/>
            <a:ext cx="5852160" cy="753965"/>
          </a:xfrm>
          <a:prstGeom prst="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rtlCol="0" anchor="ctr"/>
          <a:lstStyle/>
          <a:p>
            <a:pPr>
              <a:spcAft>
                <a:spcPts val="400"/>
              </a:spcAft>
            </a:pPr>
            <a:r>
              <a:rPr sz="3000" b="0" dirty="0" err="1">
                <a:solidFill>
                  <a:srgbClr val="EEF1F6"/>
                </a:solidFill>
                <a:latin typeface="Consolas" panose="020B0609020204030204"/>
              </a:rPr>
              <a:t>add.w</a:t>
            </a:r>
            <a:r>
              <a:rPr sz="3000" b="0" dirty="0">
                <a:solidFill>
                  <a:srgbClr val="EEF1F6"/>
                </a:solidFill>
                <a:latin typeface="Consolas" panose="020B0609020204030204"/>
              </a:rPr>
              <a:t>  r5, r2, r1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338" y="2804907"/>
            <a:ext cx="10648604" cy="3585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① 目标：r5 ← r2 与 r1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按「</a:t>
            </a:r>
            <a:r>
              <a:rPr sz="2400" b="0" i="1" dirty="0" err="1">
                <a:solidFill>
                  <a:srgbClr val="FF0000"/>
                </a:solidFill>
                <a:latin typeface="微软雅黑" panose="020B0503020204020204" charset="-122"/>
              </a:rPr>
              <a:t>字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」相加</a:t>
            </a:r>
            <a:endParaRPr sz="2400" b="0" dirty="0">
              <a:solidFill>
                <a:srgbClr val="22252B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② LA32：格本身 32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位，整格相加写回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r5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③ LA64：格 64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位，但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add.w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规定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：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  ·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取数：只用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r2[31:0]、r1[31:0]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  · 计算：32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位加法得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tmp32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  · 写回：r5 =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SignExtend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(tmp32, 64)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④ 高 32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位由</a:t>
            </a:r>
            <a:r>
              <a:rPr sz="2400" b="0" dirty="0" err="1">
                <a:solidFill>
                  <a:srgbClr val="FF0000"/>
                </a:solidFill>
                <a:latin typeface="微软雅黑" panose="020B0503020204020204" charset="-122"/>
              </a:rPr>
              <a:t>符号扩展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填满，不是保留旧值</a:t>
            </a:r>
            <a:endParaRPr sz="2400" b="0" dirty="0">
              <a:solidFill>
                <a:srgbClr val="22252B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⑤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add.d：取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/算/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写全是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64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位整格</a:t>
            </a:r>
            <a:endParaRPr sz="2400" b="0" dirty="0">
              <a:solidFill>
                <a:srgbClr val="22252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寄存器里比特怎么读：有符号 vs 无符号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16151"/>
            <a:ext cx="109728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0" dirty="0">
                <a:solidFill>
                  <a:srgbClr val="22252B"/>
                </a:solidFill>
                <a:latin typeface="微软雅黑" panose="020B0503020204020204" charset="-122"/>
              </a:rPr>
              <a:t>• </a:t>
            </a:r>
            <a:r>
              <a:rPr sz="2800" b="0" dirty="0" err="1">
                <a:solidFill>
                  <a:srgbClr val="22252B"/>
                </a:solidFill>
                <a:latin typeface="微软雅黑" panose="020B0503020204020204" charset="-122"/>
              </a:rPr>
              <a:t>寄存器只存比特串</a:t>
            </a:r>
            <a:r>
              <a:rPr sz="2800" b="0" dirty="0">
                <a:solidFill>
                  <a:srgbClr val="22252B"/>
                </a:solidFill>
                <a:latin typeface="微软雅黑" panose="020B0503020204020204" charset="-122"/>
              </a:rPr>
              <a:t>；「正/</a:t>
            </a:r>
            <a:r>
              <a:rPr sz="2800" b="0" dirty="0" err="1">
                <a:solidFill>
                  <a:srgbClr val="22252B"/>
                </a:solidFill>
                <a:latin typeface="微软雅黑" panose="020B0503020204020204" charset="-122"/>
              </a:rPr>
              <a:t>负」是解释规则</a:t>
            </a:r>
            <a:endParaRPr sz="2800" b="0" dirty="0">
              <a:solidFill>
                <a:srgbClr val="22252B"/>
              </a:solidFill>
              <a:latin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lang="en-US" sz="2800" b="0" dirty="0">
                <a:solidFill>
                  <a:srgbClr val="22252B"/>
                </a:solidFill>
                <a:latin typeface="微软雅黑" panose="020B0503020204020204" charset="-122"/>
              </a:rPr>
              <a:t>	</a:t>
            </a:r>
            <a:r>
              <a:rPr sz="2800" b="0" dirty="0">
                <a:solidFill>
                  <a:srgbClr val="22252B"/>
                </a:solidFill>
                <a:latin typeface="微软雅黑" panose="020B0503020204020204" charset="-122"/>
              </a:rPr>
              <a:t>• </a:t>
            </a:r>
            <a:r>
              <a:rPr sz="2800" b="0" dirty="0" err="1">
                <a:solidFill>
                  <a:srgbClr val="22252B"/>
                </a:solidFill>
                <a:latin typeface="微软雅黑" panose="020B0503020204020204" charset="-122"/>
              </a:rPr>
              <a:t>有符号：补码；最高位常为符号位</a:t>
            </a:r>
            <a:endParaRPr sz="2800" b="0" dirty="0">
              <a:solidFill>
                <a:srgbClr val="22252B"/>
              </a:solidFill>
              <a:latin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lang="en-US" sz="2800" b="0" dirty="0">
                <a:solidFill>
                  <a:srgbClr val="22252B"/>
                </a:solidFill>
                <a:latin typeface="微软雅黑" panose="020B0503020204020204" charset="-122"/>
              </a:rPr>
              <a:t>	</a:t>
            </a:r>
            <a:r>
              <a:rPr sz="2800" b="0" dirty="0">
                <a:solidFill>
                  <a:srgbClr val="22252B"/>
                </a:solidFill>
                <a:latin typeface="微软雅黑" panose="020B0503020204020204" charset="-122"/>
              </a:rPr>
              <a:t>• 无符号：0～2^n-1，没有负数</a:t>
            </a:r>
          </a:p>
          <a:p>
            <a:pPr algn="l">
              <a:spcAft>
                <a:spcPts val="800"/>
              </a:spcAft>
            </a:pPr>
            <a:r>
              <a:rPr sz="2800" b="0" dirty="0">
                <a:solidFill>
                  <a:srgbClr val="22252B"/>
                </a:solidFill>
                <a:latin typeface="微软雅黑" panose="020B0503020204020204" charset="-122"/>
              </a:rPr>
              <a:t>• </a:t>
            </a:r>
            <a:r>
              <a:rPr sz="2800" b="0" dirty="0" err="1">
                <a:solidFill>
                  <a:srgbClr val="22252B"/>
                </a:solidFill>
                <a:latin typeface="微软雅黑" panose="020B0503020204020204" charset="-122"/>
              </a:rPr>
              <a:t>同一串比特，两种读法可以完全不同</a:t>
            </a:r>
            <a:endParaRPr sz="2800" b="0" dirty="0">
              <a:solidFill>
                <a:srgbClr val="22252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32 位寄存器：正数怎么存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正数：最高位=0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78701"/>
              </p:ext>
            </p:extLst>
          </p:nvPr>
        </p:nvGraphicFramePr>
        <p:xfrm>
          <a:off x="502920" y="1536192"/>
          <a:ext cx="111556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十进制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32 位 hex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说明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0x00000000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全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0x00000001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最低位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0x0000000A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符号位=0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2147483647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0x7FFFFFFF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 err="1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最大正</a:t>
                      </a:r>
                      <a:endParaRPr sz="2400" b="0" dirty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32 位寄存器：负数怎么存（补码）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负数：最高位=1；-x = 取反(x)+1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36192"/>
          <a:ext cx="111556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十进制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32 位 hex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说明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0xFFFFFFFF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全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0xFFFFFFFE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笔记溢出结果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-2147483648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0x80000000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最小负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同比特无符号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0xFFFFFFFE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读成 4294967294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完整走读：-2 的补码（对齐笔记）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笔记 add.w 溢出结果 0xfffffffe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444751"/>
            <a:ext cx="5852160" cy="1408593"/>
          </a:xfrm>
          <a:prstGeom prst="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rtlCol="0" anchor="ctr"/>
          <a:lstStyle/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# r5 = 0xFFFFFFFE  →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有符号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44751"/>
            <a:ext cx="539496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sz="2800" b="0" dirty="0">
                <a:solidFill>
                  <a:srgbClr val="22252B"/>
                </a:solidFill>
                <a:latin typeface="微软雅黑" panose="020B0503020204020204" charset="-122"/>
              </a:rPr>
              <a:t>-2</a:t>
            </a:r>
            <a:r>
              <a:rPr lang="zh-CN" altLang="en-US" sz="2800" b="0" dirty="0">
                <a:solidFill>
                  <a:srgbClr val="22252B"/>
                </a:solidFill>
                <a:latin typeface="微软雅黑" panose="020B0503020204020204" charset="-122"/>
              </a:rPr>
              <a:t>补码求取步骤：</a:t>
            </a:r>
            <a:endParaRPr lang="en-US" sz="2800" b="0" dirty="0">
              <a:solidFill>
                <a:srgbClr val="22252B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2800" b="0" dirty="0">
                <a:solidFill>
                  <a:srgbClr val="22252B"/>
                </a:solidFill>
                <a:latin typeface="微软雅黑" panose="020B0503020204020204" charset="-122"/>
              </a:rPr>
              <a:t>① </a:t>
            </a:r>
            <a:r>
              <a:rPr sz="2800" b="0" dirty="0" err="1">
                <a:solidFill>
                  <a:srgbClr val="22252B"/>
                </a:solidFill>
                <a:latin typeface="微软雅黑" panose="020B0503020204020204" charset="-122"/>
              </a:rPr>
              <a:t>先写</a:t>
            </a:r>
            <a:r>
              <a:rPr sz="2800" b="0" dirty="0">
                <a:solidFill>
                  <a:srgbClr val="22252B"/>
                </a:solidFill>
                <a:latin typeface="微软雅黑" panose="020B0503020204020204" charset="-122"/>
              </a:rPr>
              <a:t> +2 = 0x00000002</a:t>
            </a:r>
          </a:p>
          <a:p>
            <a:pPr algn="l">
              <a:spcAft>
                <a:spcPts val="600"/>
              </a:spcAft>
            </a:pPr>
            <a:r>
              <a:rPr sz="2800" b="0" dirty="0">
                <a:solidFill>
                  <a:srgbClr val="22252B"/>
                </a:solidFill>
                <a:latin typeface="微软雅黑" panose="020B0503020204020204" charset="-122"/>
              </a:rPr>
              <a:t>② </a:t>
            </a:r>
            <a:r>
              <a:rPr sz="2800" b="0" dirty="0" err="1">
                <a:solidFill>
                  <a:srgbClr val="22252B"/>
                </a:solidFill>
                <a:latin typeface="微软雅黑" panose="020B0503020204020204" charset="-122"/>
              </a:rPr>
              <a:t>按位取反</a:t>
            </a:r>
            <a:r>
              <a:rPr sz="2800" b="0" dirty="0">
                <a:solidFill>
                  <a:srgbClr val="22252B"/>
                </a:solidFill>
                <a:latin typeface="微软雅黑" panose="020B0503020204020204" charset="-122"/>
              </a:rPr>
              <a:t> = 0xFFFFFFFD</a:t>
            </a:r>
          </a:p>
          <a:p>
            <a:pPr algn="l">
              <a:spcAft>
                <a:spcPts val="600"/>
              </a:spcAft>
            </a:pPr>
            <a:r>
              <a:rPr sz="2800" b="0" dirty="0">
                <a:solidFill>
                  <a:srgbClr val="22252B"/>
                </a:solidFill>
                <a:latin typeface="微软雅黑" panose="020B0503020204020204" charset="-122"/>
              </a:rPr>
              <a:t>③ 再 +1 = 0xFFFFFFFE</a:t>
            </a:r>
          </a:p>
          <a:p>
            <a:pPr algn="l">
              <a:spcAft>
                <a:spcPts val="600"/>
              </a:spcAft>
            </a:pPr>
            <a:r>
              <a:rPr sz="2800" b="0" dirty="0">
                <a:solidFill>
                  <a:srgbClr val="22252B"/>
                </a:solidFill>
                <a:latin typeface="微软雅黑" panose="020B0503020204020204" charset="-122"/>
              </a:rPr>
              <a:t>④ </a:t>
            </a:r>
            <a:r>
              <a:rPr sz="2800" b="0" dirty="0" err="1">
                <a:solidFill>
                  <a:srgbClr val="22252B"/>
                </a:solidFill>
                <a:latin typeface="微软雅黑" panose="020B0503020204020204" charset="-122"/>
              </a:rPr>
              <a:t>有符号读</a:t>
            </a:r>
            <a:r>
              <a:rPr sz="2800" b="0" dirty="0">
                <a:solidFill>
                  <a:srgbClr val="22252B"/>
                </a:solidFill>
                <a:latin typeface="微软雅黑" panose="020B0503020204020204" charset="-122"/>
              </a:rPr>
              <a:t>：-2</a:t>
            </a:r>
            <a:endParaRPr lang="en-US" sz="2800" b="0" dirty="0">
              <a:solidFill>
                <a:srgbClr val="22252B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2800" b="0" dirty="0">
                <a:solidFill>
                  <a:srgbClr val="22252B"/>
                </a:solidFill>
                <a:latin typeface="微软雅黑" panose="020B0503020204020204" charset="-122"/>
              </a:rPr>
              <a:t>⑤ 无符号读：4294967294</a:t>
            </a:r>
          </a:p>
          <a:p>
            <a:pPr algn="l">
              <a:spcAft>
                <a:spcPts val="600"/>
              </a:spcAft>
            </a:pPr>
            <a:r>
              <a:rPr sz="2800" b="0" dirty="0">
                <a:solidFill>
                  <a:srgbClr val="22252B"/>
                </a:solidFill>
                <a:latin typeface="微软雅黑" panose="020B0503020204020204" charset="-122"/>
              </a:rPr>
              <a:t>⑥ </a:t>
            </a:r>
            <a:r>
              <a:rPr sz="2800" b="0" dirty="0" err="1">
                <a:solidFill>
                  <a:srgbClr val="22252B"/>
                </a:solidFill>
                <a:latin typeface="微软雅黑" panose="020B0503020204020204" charset="-122"/>
              </a:rPr>
              <a:t>比特相同，读法不同</a:t>
            </a:r>
            <a:r>
              <a:rPr lang="zh-CN" altLang="en-US" sz="2800" b="0" dirty="0">
                <a:solidFill>
                  <a:srgbClr val="22252B"/>
                </a:solidFill>
                <a:latin typeface="微软雅黑" panose="020B0503020204020204" charset="-122"/>
              </a:rPr>
              <a:t>，值不同</a:t>
            </a:r>
            <a:endParaRPr sz="2800" b="0" dirty="0">
              <a:solidFill>
                <a:srgbClr val="22252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64 位寄存器：同样数值如何铺满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LA64 深格：正数高位常 0，负数高位常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001536"/>
              </p:ext>
            </p:extLst>
          </p:nvPr>
        </p:nvGraphicFramePr>
        <p:xfrm>
          <a:off x="502920" y="1536192"/>
          <a:ext cx="111556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十进制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64 位 hex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相对 32 位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</a:t>
                      </a:r>
                      <a:r>
                        <a:rPr sz="2400" b="0" dirty="0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00000000</a:t>
                      </a:r>
                      <a:r>
                        <a:rPr sz="2400" b="0" dirty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0000000A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高 32 位补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</a:t>
                      </a:r>
                      <a:r>
                        <a:rPr sz="2400" b="0" dirty="0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FFFFFFFF</a:t>
                      </a:r>
                      <a:r>
                        <a:rPr sz="2400" b="0" dirty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FFFFFFFF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高 32 位补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0xFFFFFFFFFFFFFFFE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 LA64 </a:t>
                      </a:r>
                      <a:r>
                        <a:rPr sz="2400" b="0" dirty="0" err="1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溢出结果</a:t>
                      </a:r>
                      <a:endParaRPr sz="2400" b="0" dirty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0x7FFFFFFF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0x000000007FFFFFFF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 err="1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正数高位补</a:t>
                      </a:r>
                      <a:r>
                        <a:rPr sz="2400" b="0" dirty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CFF5EE2C-9F95-5E2E-0C0B-DC5A0A4B8CCA}"/>
              </a:ext>
            </a:extLst>
          </p:cNvPr>
          <p:cNvSpPr txBox="1"/>
          <p:nvPr/>
        </p:nvSpPr>
        <p:spPr>
          <a:xfrm>
            <a:off x="502919" y="5404703"/>
            <a:ext cx="1098526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FF0000"/>
                </a:solidFill>
                <a:effectLst/>
                <a:latin typeface="-apple-system"/>
              </a:rPr>
              <a:t>LA64 </a:t>
            </a:r>
            <a:r>
              <a:rPr lang="zh-CN" altLang="en-US" sz="2800" b="0" i="0" dirty="0">
                <a:solidFill>
                  <a:srgbClr val="FF0000"/>
                </a:solidFill>
                <a:effectLst/>
                <a:latin typeface="-apple-system"/>
              </a:rPr>
              <a:t>架构下的 </a:t>
            </a:r>
            <a:r>
              <a:rPr lang="en-US" altLang="zh-CN" sz="2800" b="0" i="0" dirty="0">
                <a:solidFill>
                  <a:srgbClr val="FF0000"/>
                </a:solidFill>
                <a:effectLst/>
                <a:latin typeface="-apple-system"/>
              </a:rPr>
              <a:t>32 </a:t>
            </a:r>
            <a:r>
              <a:rPr lang="zh-CN" altLang="en-US" sz="2800" b="0" i="0" dirty="0">
                <a:solidFill>
                  <a:srgbClr val="FF0000"/>
                </a:solidFill>
                <a:effectLst/>
                <a:latin typeface="-apple-system"/>
              </a:rPr>
              <a:t>位操作数计算指令中：</a:t>
            </a:r>
            <a:endParaRPr lang="en-US" altLang="zh-CN" sz="2800" b="0" i="0" dirty="0">
              <a:solidFill>
                <a:srgbClr val="FF0000"/>
              </a:solidFill>
              <a:effectLst/>
              <a:latin typeface="-apple-system"/>
            </a:endParaRPr>
          </a:p>
          <a:p>
            <a:r>
              <a:rPr lang="zh-CN" altLang="en-US" sz="2800" b="1" i="0" dirty="0">
                <a:solidFill>
                  <a:srgbClr val="FF0000"/>
                </a:solidFill>
                <a:effectLst/>
                <a:latin typeface="-apple-system"/>
              </a:rPr>
              <a:t>计算结果通常也需要先进行 </a:t>
            </a:r>
            <a:r>
              <a:rPr lang="en-US" altLang="zh-CN" sz="2800" b="1" i="0" dirty="0">
                <a:solidFill>
                  <a:srgbClr val="FF0000"/>
                </a:solidFill>
                <a:effectLst/>
                <a:latin typeface="-apple-system"/>
              </a:rPr>
              <a:t>64 </a:t>
            </a:r>
            <a:r>
              <a:rPr lang="zh-CN" altLang="en-US" sz="2800" b="1" i="0" dirty="0">
                <a:solidFill>
                  <a:srgbClr val="FF0000"/>
                </a:solidFill>
                <a:effectLst/>
                <a:latin typeface="-apple-system"/>
              </a:rPr>
              <a:t>位符号扩展再写入目的寄存器</a:t>
            </a:r>
            <a:r>
              <a:rPr lang="zh-CN" altLang="en-US" sz="2800" b="0" i="0" dirty="0">
                <a:solidFill>
                  <a:srgbClr val="FF0000"/>
                </a:solidFill>
                <a:effectLst/>
                <a:latin typeface="-apple-system"/>
              </a:rPr>
              <a:t>。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32 位形态 → 64 位格：符号扩展 vs 零扩展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4A525E"/>
                </a:solidFill>
                <a:latin typeface="微软雅黑" panose="020B0503020204020204" charset="-122"/>
              </a:rPr>
              <a:t>LA64 的 .w </a:t>
            </a:r>
            <a:r>
              <a:rPr sz="2400" b="0" dirty="0" err="1">
                <a:solidFill>
                  <a:srgbClr val="4A525E"/>
                </a:solidFill>
                <a:latin typeface="微软雅黑" panose="020B0503020204020204" charset="-122"/>
              </a:rPr>
              <a:t>写回用符号扩展；</a:t>
            </a:r>
            <a:r>
              <a:rPr sz="2400" b="0" dirty="0" err="1">
                <a:solidFill>
                  <a:srgbClr val="FF0000"/>
                </a:solidFill>
                <a:latin typeface="微软雅黑" panose="020B0503020204020204" charset="-122"/>
              </a:rPr>
              <a:t>andi</a:t>
            </a:r>
            <a:r>
              <a:rPr sz="2400" b="0" dirty="0">
                <a:solidFill>
                  <a:srgbClr val="FF0000"/>
                </a:solidFill>
                <a:latin typeface="微软雅黑" panose="020B0503020204020204" charset="-122"/>
              </a:rPr>
              <a:t> </a:t>
            </a:r>
            <a:r>
              <a:rPr sz="2400" b="0" dirty="0" err="1">
                <a:solidFill>
                  <a:srgbClr val="FF0000"/>
                </a:solidFill>
                <a:latin typeface="微软雅黑" panose="020B0503020204020204" charset="-122"/>
              </a:rPr>
              <a:t>等位操作偏零扩展</a:t>
            </a:r>
            <a:endParaRPr sz="2400" b="0" dirty="0">
              <a:solidFill>
                <a:srgbClr val="FF0000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36192"/>
          <a:ext cx="111556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32 位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符号扩展到 64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零扩展到 64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0x0000000A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0x000000000000000A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相同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0xFFFFFFFF (-1)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0xFFFFFFFFFFFFFFFF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0x00000000FFFFFFFF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0xFFFFFFFE (-2)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0xFFFFFFFFFFFFFFFE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0x00000000FFFFFFFE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0x80000000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0xFFFFFFFF80000000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0x0000000080000000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无符号：同一比特的另一种读法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先问：有符号读还是无符号读？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44751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44751"/>
            <a:ext cx="109728" cy="4572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609343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微软雅黑" panose="020B0503020204020204" charset="-122"/>
              </a:rPr>
              <a:t>32 位无符号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39112"/>
            <a:ext cx="4983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0xFFFFFFFF → 4294967295
• 0xFFFFFFFE → 4294967294
• 0x80000000 → 2147483648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44751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44751"/>
            <a:ext cx="109728" cy="4572000"/>
          </a:xfrm>
          <a:prstGeom prst="rect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609343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7482"/>
                </a:solidFill>
                <a:latin typeface="微软雅黑" panose="020B0503020204020204" charset="-122"/>
              </a:rPr>
              <a:t>指令联系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039112"/>
            <a:ext cx="49834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•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比较长度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/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地址：slt</a:t>
            </a:r>
            <a:r>
              <a:rPr sz="2400" b="0" dirty="0" err="1">
                <a:solidFill>
                  <a:srgbClr val="FF0000"/>
                </a:solidFill>
                <a:latin typeface="微软雅黑" panose="020B0503020204020204" charset="-122"/>
              </a:rPr>
              <a:t>u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
•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有符号比较：slt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
•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先约定读法再比大小</a:t>
            </a:r>
            <a:endParaRPr sz="2400" b="0" dirty="0">
              <a:solidFill>
                <a:srgbClr val="22252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 err="1">
                <a:solidFill>
                  <a:srgbClr val="22252B"/>
                </a:solidFill>
                <a:latin typeface="微软雅黑" panose="020B0503020204020204" charset="-122"/>
              </a:rPr>
              <a:t>总表：正</a:t>
            </a:r>
            <a:r>
              <a:rPr sz="3200" b="1" dirty="0">
                <a:solidFill>
                  <a:srgbClr val="22252B"/>
                </a:solidFill>
                <a:latin typeface="微软雅黑" panose="020B0503020204020204" charset="-122"/>
              </a:rPr>
              <a:t>/负 × 32/64 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无符号时比特可相同，十进制读法变成大正数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1678353"/>
              </p:ext>
            </p:extLst>
          </p:nvPr>
        </p:nvGraphicFramePr>
        <p:xfrm>
          <a:off x="502920" y="1536192"/>
          <a:ext cx="111556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值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32 位有符号存放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64 位有符号存放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+10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0x0000000A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0x000000000000000A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0xFFFFFFFF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0xFFFFFFFFFFFFFFFF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-2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0xFFFFFFFE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0xFFFFFFFFFFFFFFFE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最大正32</a:t>
                      </a:r>
                      <a:r>
                        <a:rPr lang="zh-CN" altLang="en-US" sz="2400" b="0" dirty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位数</a:t>
                      </a:r>
                      <a:endParaRPr sz="2400" b="0" dirty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0x7FFFFFFF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400" b="0" dirty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0x000000007FFFFFFF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读代码五步（后面每条指令都用）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16151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① 执行前：相关寄存器当前值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② 本条读谁？立即数多少？做什么运算？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③ 写出算式（如 3+5=8）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④ 执行后：谁变了？谁没变？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⑤ 若有跳转：下一条去哪？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§3.1 运算指令总览（3.1.1～3.1.4 系统展开）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下面严格按 1→8 展开，并逐步跟算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461457"/>
              </p:ext>
            </p:extLst>
          </p:nvPr>
        </p:nvGraphicFramePr>
        <p:xfrm>
          <a:off x="502920" y="1536192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顺序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类别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代表指令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本课落点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算术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add/sub/mul/addi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alu_expr / mul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逻辑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andi（笔记0x7f0）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alu_low8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条件赋值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slt/sltu/maskeqz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alu_slt+笔记min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移位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slli.d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alu_slli1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位操作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ext.w.h（笔记）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alu_extb 验收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访存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st.b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clear_bss 点到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转移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bl/jr/beq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start.S 点到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杂项/浮点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idle / fadd.s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浮点第4次课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A908D26-89C2-A797-94DD-AE20649FD574}"/>
              </a:ext>
            </a:extLst>
          </p:cNvPr>
          <p:cNvSpPr txBox="1"/>
          <p:nvPr/>
        </p:nvSpPr>
        <p:spPr>
          <a:xfrm>
            <a:off x="502920" y="6324739"/>
            <a:ext cx="2258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具体指令表格 见 </a:t>
            </a:r>
            <a:r>
              <a:rPr lang="en-US" altLang="zh-CN" dirty="0"/>
              <a:t>P29</a:t>
            </a:r>
            <a:endParaRPr lang="zh-CN" alt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助记符后缀与取数宽度（进指令前先认）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先后缀，再有/无符号，再读十进制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36192"/>
          <a:ext cx="111556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后缀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宽度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指令例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.b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8 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st.b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.h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16 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ext.w.h / ld.h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.w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32 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add.w（教材多）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.d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64 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本课 add.d/addi.d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 err="1">
                <a:solidFill>
                  <a:srgbClr val="FF0000"/>
                </a:solidFill>
                <a:latin typeface="微软雅黑" panose="020B0503020204020204" charset="-122"/>
              </a:rPr>
              <a:t>立即数预备：</a:t>
            </a:r>
            <a:r>
              <a:rPr sz="3200" b="1" dirty="0" err="1">
                <a:solidFill>
                  <a:srgbClr val="22252B"/>
                </a:solidFill>
                <a:latin typeface="微软雅黑" panose="020B0503020204020204" charset="-122"/>
              </a:rPr>
              <a:t>si</a:t>
            </a:r>
            <a:r>
              <a:rPr sz="3200" b="1" dirty="0">
                <a:solidFill>
                  <a:srgbClr val="22252B"/>
                </a:solidFill>
                <a:latin typeface="微软雅黑" panose="020B0503020204020204" charset="-122"/>
              </a:rPr>
              <a:t> 与 </a:t>
            </a:r>
            <a:r>
              <a:rPr sz="3200" b="1" dirty="0" err="1">
                <a:solidFill>
                  <a:srgbClr val="22252B"/>
                </a:solidFill>
                <a:latin typeface="微软雅黑" panose="020B0503020204020204" charset="-122"/>
              </a:rPr>
              <a:t>ui、大小装法</a:t>
            </a:r>
            <a:endParaRPr sz="3200" b="1" dirty="0">
              <a:solidFill>
                <a:srgbClr val="22252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细节在各类指令例子里再走读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44751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44751"/>
            <a:ext cx="109728" cy="4572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609343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微软雅黑" panose="020B0503020204020204" charset="-122"/>
              </a:rPr>
              <a:t>小立即数 / 逻辑 imm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39112"/>
            <a:ext cx="4983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addi：si12 有符号扩展
• 教材：addi rd,r0,imm(&lt;12bit)
• andi/ori：ui12 位模式
• 笔记 andi：0x7f0 &amp; 3 →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44751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44751"/>
            <a:ext cx="109728" cy="4572000"/>
          </a:xfrm>
          <a:prstGeom prst="rect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609343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7482"/>
                </a:solidFill>
                <a:latin typeface="微软雅黑" panose="020B0503020204020204" charset="-122"/>
              </a:rPr>
              <a:t>大立即数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039112"/>
            <a:ext cx="4983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lu12i.w + ori（笔记步骤）
• 伪指令 li.w / li.d
• 实验不要求手写拼装
• 口头要会解释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§3.1.1 算术运算（系统）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E85037A-14E4-85B0-E3C9-C6A76BCF4F43}"/>
              </a:ext>
            </a:extLst>
          </p:cNvPr>
          <p:cNvSpPr txBox="1"/>
          <p:nvPr/>
        </p:nvSpPr>
        <p:spPr>
          <a:xfrm>
            <a:off x="615141" y="1363287"/>
            <a:ext cx="112471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例子</a:t>
            </a:r>
            <a:r>
              <a:rPr lang="en-US" altLang="zh-CN" sz="2800" dirty="0"/>
              <a:t>3.1 </a:t>
            </a:r>
          </a:p>
          <a:p>
            <a:endParaRPr lang="en-US" altLang="zh-CN" sz="2800" dirty="0"/>
          </a:p>
          <a:p>
            <a:r>
              <a:rPr lang="zh-CN" altLang="en-US" sz="2800" dirty="0"/>
              <a:t>add.w	</a:t>
            </a:r>
            <a:r>
              <a:rPr lang="en-US" altLang="zh-CN" sz="2800" dirty="0"/>
              <a:t>	</a:t>
            </a:r>
            <a:r>
              <a:rPr lang="zh-CN" altLang="en-US" sz="2800" dirty="0"/>
              <a:t>r5, r2, r1		# LA32: r5 = r2 +1</a:t>
            </a:r>
          </a:p>
          <a:p>
            <a:r>
              <a:rPr lang="zh-CN" altLang="en-US" sz="2800" dirty="0"/>
              <a:t>add.</a:t>
            </a:r>
            <a:r>
              <a:rPr lang="zh-CN" altLang="en-US" sz="2800" dirty="0">
                <a:solidFill>
                  <a:srgbClr val="FF0000"/>
                </a:solidFill>
              </a:rPr>
              <a:t>w</a:t>
            </a:r>
            <a:r>
              <a:rPr lang="zh-CN" altLang="en-US" sz="2800" dirty="0"/>
              <a:t>	</a:t>
            </a:r>
            <a:r>
              <a:rPr lang="en-US" altLang="zh-CN" sz="2800" dirty="0"/>
              <a:t>	</a:t>
            </a:r>
            <a:r>
              <a:rPr lang="zh-CN" altLang="en-US" sz="2800" dirty="0"/>
              <a:t>r5, r2, r1		# LA64: r5[63:0] = </a:t>
            </a:r>
            <a:r>
              <a:rPr lang="zh-CN" altLang="en-US" sz="2800" dirty="0">
                <a:solidFill>
                  <a:srgbClr val="FF0000"/>
                </a:solidFill>
              </a:rPr>
              <a:t>SignExtend</a:t>
            </a:r>
            <a:r>
              <a:rPr lang="zh-CN" altLang="en-US" sz="2800" dirty="0"/>
              <a:t>( r2[31:0] + r1[31:0] )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9BE331-CC77-02B6-FB1D-43EC890E7A8A}"/>
              </a:ext>
            </a:extLst>
          </p:cNvPr>
          <p:cNvSpPr txBox="1"/>
          <p:nvPr/>
        </p:nvSpPr>
        <p:spPr>
          <a:xfrm>
            <a:off x="332508" y="4207272"/>
            <a:ext cx="109977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     （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1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）</a:t>
            </a:r>
            <a:r>
              <a:rPr lang="en-US" altLang="zh-CN" sz="2800" b="0" i="0" dirty="0">
                <a:solidFill>
                  <a:srgbClr val="FF0000"/>
                </a:solidFill>
                <a:effectLst/>
                <a:latin typeface="-apple-system"/>
              </a:rPr>
              <a:t>LA64 </a:t>
            </a:r>
            <a:r>
              <a:rPr lang="zh-CN" altLang="en-US" sz="2800" b="0" i="0" dirty="0">
                <a:solidFill>
                  <a:srgbClr val="FF0000"/>
                </a:solidFill>
                <a:effectLst/>
                <a:latin typeface="-apple-system"/>
              </a:rPr>
              <a:t>架构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下 </a:t>
            </a:r>
            <a:r>
              <a:rPr lang="en-US" altLang="zh-CN" sz="2800" b="0" i="0" dirty="0" err="1">
                <a:solidFill>
                  <a:srgbClr val="4D4D4D"/>
                </a:solidFill>
                <a:effectLst/>
                <a:latin typeface="-apple-system"/>
              </a:rPr>
              <a:t>add.w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运算结果需要</a:t>
            </a:r>
            <a:r>
              <a:rPr lang="zh-CN" altLang="en-US" sz="2800" b="0" i="0" dirty="0">
                <a:solidFill>
                  <a:srgbClr val="FF0000"/>
                </a:solidFill>
                <a:effectLst/>
                <a:latin typeface="-apple-system"/>
              </a:rPr>
              <a:t>符号扩展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后写入目的寄存器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7A448-4210-E6C2-6613-BA348D03C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88FEA0-A340-6322-DAA2-2BF7BC676F70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5DAF8C-A784-4ACF-7F02-F0B6708DF107}"/>
              </a:ext>
            </a:extLst>
          </p:cNvPr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§3.1.1 算术运算（系统）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45505E-7D37-90CE-CA67-3E7E4B78C9F6}"/>
              </a:ext>
            </a:extLst>
          </p:cNvPr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49E786-1C6F-4736-4482-558148FC9CC1}"/>
              </a:ext>
            </a:extLst>
          </p:cNvPr>
          <p:cNvSpPr txBox="1"/>
          <p:nvPr/>
        </p:nvSpPr>
        <p:spPr>
          <a:xfrm>
            <a:off x="0" y="1070991"/>
            <a:ext cx="109977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      （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2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）溢出问题</a:t>
            </a:r>
            <a:endParaRPr lang="zh-CN" altLang="en-US" sz="2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391EDF-2540-0289-8738-2EB80D365231}"/>
              </a:ext>
            </a:extLst>
          </p:cNvPr>
          <p:cNvSpPr txBox="1"/>
          <p:nvPr/>
        </p:nvSpPr>
        <p:spPr>
          <a:xfrm>
            <a:off x="621793" y="1800765"/>
            <a:ext cx="10375944" cy="89255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zh-CN" altLang="en-US" sz="2600" dirty="0">
                <a:solidFill>
                  <a:schemeClr val="bg1"/>
                </a:solidFill>
              </a:rPr>
              <a:t>add.w	r5, r1, r1		# LA32:  r1 = 0x7fffffff</a:t>
            </a:r>
            <a:r>
              <a:rPr lang="en-US" altLang="zh-CN" sz="2600" dirty="0">
                <a:solidFill>
                  <a:schemeClr val="bg1"/>
                </a:solidFill>
              </a:rPr>
              <a:t>	</a:t>
            </a:r>
            <a:r>
              <a:rPr lang="zh-CN" altLang="en-US" sz="2600" dirty="0">
                <a:solidFill>
                  <a:schemeClr val="bg1"/>
                </a:solidFill>
              </a:rPr>
              <a:t> r5 = 0xfffffffe ( -2 )</a:t>
            </a:r>
          </a:p>
          <a:p>
            <a:r>
              <a:rPr lang="zh-CN" altLang="en-US" sz="2600" dirty="0">
                <a:solidFill>
                  <a:schemeClr val="bg1"/>
                </a:solidFill>
              </a:rPr>
              <a:t>add.w	r5, r1, r1		# LA62:  r1 = 0x7fffffff</a:t>
            </a:r>
            <a:r>
              <a:rPr lang="en-US" altLang="zh-CN" sz="2600" dirty="0">
                <a:solidFill>
                  <a:schemeClr val="bg1"/>
                </a:solidFill>
              </a:rPr>
              <a:t>	</a:t>
            </a:r>
            <a:r>
              <a:rPr lang="zh-CN" altLang="en-US" sz="2600" dirty="0">
                <a:solidFill>
                  <a:schemeClr val="bg1"/>
                </a:solidFill>
              </a:rPr>
              <a:t> r5 = 0xfffffffffffffffe ( -2 )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2256F10-218E-F459-9212-1D563313DDFA}"/>
              </a:ext>
            </a:extLst>
          </p:cNvPr>
          <p:cNvSpPr txBox="1"/>
          <p:nvPr/>
        </p:nvSpPr>
        <p:spPr>
          <a:xfrm>
            <a:off x="621792" y="3216032"/>
            <a:ext cx="10799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LA32: </a:t>
            </a:r>
            <a:r>
              <a:rPr lang="zh-CN" altLang="en-US" sz="2400" dirty="0"/>
              <a:t>r1 = 0x7fffffff = 2147483647    ：</a:t>
            </a:r>
            <a:r>
              <a:rPr lang="en-US" altLang="zh-CN" sz="2400" dirty="0"/>
              <a:t>r5=r1+r1=0x7fffffff + 0x7fffffff= 0xfffffffe=-2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C976C20-283B-03F4-3E3B-38FB22834516}"/>
              </a:ext>
            </a:extLst>
          </p:cNvPr>
          <p:cNvSpPr txBox="1"/>
          <p:nvPr/>
        </p:nvSpPr>
        <p:spPr>
          <a:xfrm>
            <a:off x="621793" y="4041439"/>
            <a:ext cx="101348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LA64</a:t>
            </a:r>
            <a:r>
              <a:rPr lang="zh-CN" altLang="en-US" sz="2400" dirty="0"/>
              <a:t>：仍然只进行 </a:t>
            </a:r>
            <a:r>
              <a:rPr lang="en-US" altLang="zh-CN" sz="2400" dirty="0"/>
              <a:t>32 </a:t>
            </a:r>
            <a:r>
              <a:rPr lang="zh-CN" altLang="en-US" sz="2400" dirty="0"/>
              <a:t>位加法</a:t>
            </a:r>
            <a:r>
              <a:rPr lang="en-US" altLang="zh-CN" sz="2400" dirty="0"/>
              <a:t>,</a:t>
            </a:r>
            <a:r>
              <a:rPr lang="zh-CN" altLang="en-US" sz="2400" dirty="0"/>
              <a:t>结果</a:t>
            </a:r>
            <a:r>
              <a:rPr lang="en-US" altLang="zh-CN" sz="2400" dirty="0"/>
              <a:t>0xfffffffe</a:t>
            </a:r>
            <a:r>
              <a:rPr lang="zh-CN" altLang="en-US" sz="2400" dirty="0"/>
              <a:t>，将 </a:t>
            </a:r>
            <a:r>
              <a:rPr lang="en-US" altLang="zh-CN" sz="2400" dirty="0"/>
              <a:t>32 </a:t>
            </a:r>
            <a:r>
              <a:rPr lang="zh-CN" altLang="en-US" sz="2400" dirty="0"/>
              <a:t>位结果</a:t>
            </a:r>
            <a:r>
              <a:rPr lang="zh-CN" altLang="en-US" sz="2400" b="1" dirty="0"/>
              <a:t>符号扩展</a:t>
            </a:r>
            <a:r>
              <a:rPr lang="zh-CN" altLang="en-US" sz="2400" dirty="0"/>
              <a:t>到 </a:t>
            </a:r>
            <a:r>
              <a:rPr lang="en-US" altLang="zh-CN" sz="2400" dirty="0"/>
              <a:t>64 </a:t>
            </a:r>
            <a:r>
              <a:rPr lang="zh-CN" altLang="en-US" sz="2400" dirty="0"/>
              <a:t>位0xfffffffffffffffe </a:t>
            </a:r>
          </a:p>
        </p:txBody>
      </p:sp>
    </p:spTree>
    <p:extLst>
      <p:ext uri="{BB962C8B-B14F-4D97-AF65-F5344CB8AC3E}">
        <p14:creationId xmlns:p14="http://schemas.microsoft.com/office/powerpoint/2010/main" val="7219820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55943-EB0A-D984-A8E3-C9295EE4F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8C7840-5194-3B1A-2913-82AC60025CF9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9C224-25EA-7845-9B46-C0DC80DD6EA7}"/>
              </a:ext>
            </a:extLst>
          </p:cNvPr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§3.1.1 算术运算（系统）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C8CC18-39EF-B570-FE71-8EAF330697DC}"/>
              </a:ext>
            </a:extLst>
          </p:cNvPr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D60A231-F098-72F5-F7CC-38FF4F7F7DE9}"/>
              </a:ext>
            </a:extLst>
          </p:cNvPr>
          <p:cNvSpPr txBox="1"/>
          <p:nvPr/>
        </p:nvSpPr>
        <p:spPr>
          <a:xfrm>
            <a:off x="0" y="1070991"/>
            <a:ext cx="109977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      （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2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）溢出问题</a:t>
            </a:r>
            <a:endParaRPr lang="zh-CN" altLang="en-US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C2DA9F-CA18-CD2A-853F-2D862D6423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1" r="4478"/>
          <a:stretch>
            <a:fillRect/>
          </a:stretch>
        </p:blipFill>
        <p:spPr>
          <a:xfrm>
            <a:off x="498763" y="1617916"/>
            <a:ext cx="11405061" cy="1840057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6F25AEE-9F06-9966-D799-208C887D70F7}"/>
              </a:ext>
            </a:extLst>
          </p:cNvPr>
          <p:cNvSpPr txBox="1"/>
          <p:nvPr/>
        </p:nvSpPr>
        <p:spPr>
          <a:xfrm>
            <a:off x="457200" y="3740577"/>
            <a:ext cx="11072553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600" b="0" i="0" dirty="0">
                <a:solidFill>
                  <a:srgbClr val="4D4D4D"/>
                </a:solidFill>
                <a:effectLst/>
                <a:latin typeface="-apple-system"/>
              </a:rPr>
              <a:t>ARM </a:t>
            </a:r>
            <a:r>
              <a:rPr lang="zh-CN" altLang="en-US" sz="2600" b="0" i="0" dirty="0">
                <a:solidFill>
                  <a:srgbClr val="4D4D4D"/>
                </a:solidFill>
                <a:effectLst/>
                <a:latin typeface="-apple-system"/>
              </a:rPr>
              <a:t>有专门程序状态寄存器（ </a:t>
            </a:r>
            <a:r>
              <a:rPr lang="en-US" altLang="zh-CN" sz="2600" b="0" i="0" dirty="0">
                <a:solidFill>
                  <a:srgbClr val="4D4D4D"/>
                </a:solidFill>
                <a:effectLst/>
                <a:latin typeface="-apple-system"/>
              </a:rPr>
              <a:t>Current Program Status Register</a:t>
            </a:r>
            <a:r>
              <a:rPr lang="zh-CN" altLang="en-US" sz="2600" b="0" i="0" dirty="0">
                <a:solidFill>
                  <a:srgbClr val="4D4D4D"/>
                </a:solidFill>
                <a:effectLst/>
                <a:latin typeface="-apple-system"/>
              </a:rPr>
              <a:t>，</a:t>
            </a:r>
            <a:r>
              <a:rPr lang="en-US" altLang="zh-CN" sz="2600" b="0" i="0" dirty="0">
                <a:solidFill>
                  <a:srgbClr val="4D4D4D"/>
                </a:solidFill>
                <a:effectLst/>
                <a:latin typeface="-apple-system"/>
              </a:rPr>
              <a:t>CPSR </a:t>
            </a:r>
            <a:r>
              <a:rPr lang="zh-CN" altLang="en-US" sz="2600" b="0" i="0" dirty="0">
                <a:solidFill>
                  <a:srgbClr val="4D4D4D"/>
                </a:solidFill>
                <a:effectLst/>
                <a:latin typeface="-apple-system"/>
              </a:rPr>
              <a:t>）用于保存进位、正负、溢出标志等运算结果状态信息。</a:t>
            </a:r>
            <a:endParaRPr lang="en-US" altLang="zh-CN" sz="2600" b="0" i="0" dirty="0">
              <a:solidFill>
                <a:srgbClr val="4D4D4D"/>
              </a:solidFill>
              <a:effectLst/>
              <a:latin typeface="-apple-system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600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en-US" altLang="zh-CN" sz="2600" b="0" i="0" dirty="0" err="1">
                <a:solidFill>
                  <a:srgbClr val="4D4D4D"/>
                </a:solidFill>
                <a:effectLst/>
                <a:latin typeface="-apple-system"/>
              </a:rPr>
              <a:t>LoongArch</a:t>
            </a:r>
            <a:r>
              <a:rPr lang="en-US" altLang="zh-CN" sz="2600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sz="2600" b="0" i="0" dirty="0">
                <a:solidFill>
                  <a:srgbClr val="4D4D4D"/>
                </a:solidFill>
                <a:effectLst/>
                <a:latin typeface="-apple-system"/>
              </a:rPr>
              <a:t>没有，但可通过</a:t>
            </a:r>
            <a:r>
              <a:rPr lang="zh-CN" altLang="en-US" sz="2600" b="0" i="0" dirty="0">
                <a:solidFill>
                  <a:srgbClr val="FF0000"/>
                </a:solidFill>
                <a:effectLst/>
                <a:latin typeface="-apple-system"/>
              </a:rPr>
              <a:t>目的寄存器</a:t>
            </a:r>
            <a:r>
              <a:rPr lang="zh-CN" altLang="en-US" sz="2600" b="0" i="0" dirty="0">
                <a:solidFill>
                  <a:srgbClr val="4D4D4D"/>
                </a:solidFill>
                <a:effectLst/>
                <a:latin typeface="-apple-system"/>
              </a:rPr>
              <a:t>和</a:t>
            </a:r>
            <a:r>
              <a:rPr lang="zh-CN" altLang="en-US" sz="2600" b="0" i="0" dirty="0">
                <a:solidFill>
                  <a:srgbClr val="FF0000"/>
                </a:solidFill>
                <a:effectLst/>
                <a:latin typeface="-apple-system"/>
              </a:rPr>
              <a:t>源寄存器</a:t>
            </a:r>
            <a:r>
              <a:rPr lang="zh-CN" altLang="en-US" sz="2600" b="0" i="0" dirty="0">
                <a:solidFill>
                  <a:srgbClr val="4D4D4D"/>
                </a:solidFill>
                <a:effectLst/>
                <a:latin typeface="-apple-system"/>
              </a:rPr>
              <a:t>的</a:t>
            </a:r>
            <a:r>
              <a:rPr lang="zh-CN" altLang="en-US" sz="2600" b="0" i="0" dirty="0">
                <a:solidFill>
                  <a:srgbClr val="FF0000"/>
                </a:solidFill>
                <a:effectLst/>
                <a:latin typeface="-apple-system"/>
              </a:rPr>
              <a:t>符号位</a:t>
            </a:r>
            <a:r>
              <a:rPr lang="zh-CN" altLang="en-US" sz="2600" b="0" i="0" dirty="0">
                <a:solidFill>
                  <a:srgbClr val="4D4D4D"/>
                </a:solidFill>
                <a:effectLst/>
                <a:latin typeface="-apple-system"/>
              </a:rPr>
              <a:t>是否</a:t>
            </a:r>
            <a:r>
              <a:rPr lang="zh-CN" altLang="en-US" sz="2600" b="0" i="0" dirty="0">
                <a:solidFill>
                  <a:srgbClr val="FF0000"/>
                </a:solidFill>
                <a:effectLst/>
                <a:latin typeface="-apple-system"/>
              </a:rPr>
              <a:t>一致</a:t>
            </a:r>
            <a:r>
              <a:rPr lang="zh-CN" altLang="en-US" sz="2600" b="0" i="0" dirty="0">
                <a:solidFill>
                  <a:srgbClr val="4D4D4D"/>
                </a:solidFill>
                <a:effectLst/>
                <a:latin typeface="-apple-system"/>
              </a:rPr>
              <a:t>来判断。</a:t>
            </a:r>
            <a:endParaRPr lang="zh-CN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0372827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ED165-3312-900F-D2B5-47B54949E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27AC0D-DF62-7255-AEBD-B8B61DECF9D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8351C-F590-700D-AE2E-F71B1FAC6129}"/>
              </a:ext>
            </a:extLst>
          </p:cNvPr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§3.1.1 算术运算（系统）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9D7453-D9AD-603A-41FC-0366B3A0E3C2}"/>
              </a:ext>
            </a:extLst>
          </p:cNvPr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9D73AC4-AE13-D0CA-CE28-829959E0B4B1}"/>
              </a:ext>
            </a:extLst>
          </p:cNvPr>
          <p:cNvSpPr txBox="1"/>
          <p:nvPr/>
        </p:nvSpPr>
        <p:spPr>
          <a:xfrm>
            <a:off x="0" y="1070991"/>
            <a:ext cx="109977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       （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3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）立即数（ </a:t>
            </a:r>
            <a:r>
              <a:rPr lang="en-US" altLang="zh-CN" sz="2800" b="0" i="0" dirty="0" err="1">
                <a:solidFill>
                  <a:srgbClr val="4D4D4D"/>
                </a:solidFill>
                <a:effectLst/>
                <a:latin typeface="-apple-system"/>
              </a:rPr>
              <a:t>imm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）的 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32 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位加法运算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68B05C-15BF-948C-C429-A0DDCE1CE3F6}"/>
              </a:ext>
            </a:extLst>
          </p:cNvPr>
          <p:cNvSpPr txBox="1"/>
          <p:nvPr/>
        </p:nvSpPr>
        <p:spPr>
          <a:xfrm>
            <a:off x="1030779" y="1866519"/>
            <a:ext cx="61181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imm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&lt; 12 bit       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例子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3.4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5052A18-8AE1-4C12-210B-5A102FBCC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779" y="2665202"/>
            <a:ext cx="9842268" cy="83764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1D911DC-F611-DB25-30F5-A9BA1AF8D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779" y="3877267"/>
            <a:ext cx="5151486" cy="837640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E63F02F-8B23-02CF-6B6B-3BFABC58B36B}"/>
              </a:ext>
            </a:extLst>
          </p:cNvPr>
          <p:cNvCxnSpPr/>
          <p:nvPr/>
        </p:nvCxnSpPr>
        <p:spPr>
          <a:xfrm>
            <a:off x="5436524" y="3429000"/>
            <a:ext cx="0" cy="4482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5F898A0-27F6-5792-95AD-D244C83BDB44}"/>
              </a:ext>
            </a:extLst>
          </p:cNvPr>
          <p:cNvSpPr txBox="1"/>
          <p:nvPr/>
        </p:nvSpPr>
        <p:spPr>
          <a:xfrm>
            <a:off x="1082317" y="5193552"/>
            <a:ext cx="10160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指令在表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3-1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中指出了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，立即数范围：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[-2048,2048],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超出该范围则出错</a:t>
            </a:r>
            <a:endParaRPr lang="zh-CN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6617752-7414-1CC2-F494-22F6A875077D}"/>
              </a:ext>
            </a:extLst>
          </p:cNvPr>
          <p:cNvSpPr txBox="1"/>
          <p:nvPr/>
        </p:nvSpPr>
        <p:spPr>
          <a:xfrm>
            <a:off x="1082317" y="5960578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数大于这个范围该如何做？</a:t>
            </a:r>
          </a:p>
        </p:txBody>
      </p:sp>
    </p:spTree>
    <p:extLst>
      <p:ext uri="{BB962C8B-B14F-4D97-AF65-F5344CB8AC3E}">
        <p14:creationId xmlns:p14="http://schemas.microsoft.com/office/powerpoint/2010/main" val="1289856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F4993-5462-3035-2E10-CF8FA7CB8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D86C125C-B754-7A82-7B25-32A32C983326}"/>
              </a:ext>
            </a:extLst>
          </p:cNvPr>
          <p:cNvSpPr txBox="1"/>
          <p:nvPr/>
        </p:nvSpPr>
        <p:spPr>
          <a:xfrm>
            <a:off x="548109" y="4786114"/>
            <a:ext cx="3636818" cy="19645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/>
              <a:t>lu12i.w</a:t>
            </a:r>
            <a:r>
              <a:rPr lang="en-US" altLang="zh-CN" sz="2800" dirty="0"/>
              <a:t>	</a:t>
            </a:r>
            <a:r>
              <a:rPr lang="zh-CN" altLang="en-US" sz="2800" dirty="0"/>
              <a:t>	r1, </a:t>
            </a:r>
            <a:r>
              <a:rPr lang="en-US" altLang="zh-CN" sz="2800" dirty="0"/>
              <a:t>0x1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ori		</a:t>
            </a:r>
            <a:r>
              <a:rPr lang="en-US" altLang="zh-CN" sz="2800" dirty="0"/>
              <a:t>		</a:t>
            </a:r>
            <a:r>
              <a:rPr lang="zh-CN" altLang="en-US" sz="2800" dirty="0"/>
              <a:t>r1, r1, </a:t>
            </a:r>
            <a:r>
              <a:rPr lang="en-US" altLang="zh-CN" sz="2800" dirty="0"/>
              <a:t>0x2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r>
              <a:rPr lang="zh-CN" altLang="en-US" sz="2800" dirty="0"/>
              <a:t>add.w	</a:t>
            </a:r>
            <a:r>
              <a:rPr lang="en-US" altLang="zh-CN" sz="2800" dirty="0"/>
              <a:t>		</a:t>
            </a:r>
            <a:r>
              <a:rPr lang="zh-CN" altLang="en-US" sz="2800" dirty="0"/>
              <a:t>r5, r2, r1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3198A3-79A6-F38A-D2C9-367D3FEDF69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3EFDD6-5523-ED03-5DF6-B852482A589D}"/>
              </a:ext>
            </a:extLst>
          </p:cNvPr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§3.1.1 算术运算（系统）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EE082C-AEF6-0D79-92C6-14E3300C663B}"/>
              </a:ext>
            </a:extLst>
          </p:cNvPr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9EAD46-41C8-8A79-EC54-21F650D3760C}"/>
              </a:ext>
            </a:extLst>
          </p:cNvPr>
          <p:cNvSpPr txBox="1"/>
          <p:nvPr/>
        </p:nvSpPr>
        <p:spPr>
          <a:xfrm>
            <a:off x="0" y="1070991"/>
            <a:ext cx="109977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       （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3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）立即数（ </a:t>
            </a:r>
            <a:r>
              <a:rPr lang="en-US" altLang="zh-CN" sz="2800" b="0" i="0" dirty="0" err="1">
                <a:solidFill>
                  <a:srgbClr val="4D4D4D"/>
                </a:solidFill>
                <a:effectLst/>
                <a:latin typeface="-apple-system"/>
              </a:rPr>
              <a:t>imm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）的 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32 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位加法运算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D6D0DF3-AC61-2608-B136-A2DD02C6B528}"/>
              </a:ext>
            </a:extLst>
          </p:cNvPr>
          <p:cNvSpPr txBox="1"/>
          <p:nvPr/>
        </p:nvSpPr>
        <p:spPr>
          <a:xfrm>
            <a:off x="1030778" y="1866519"/>
            <a:ext cx="105821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de-DE" altLang="zh-CN" sz="2400" dirty="0"/>
              <a:t>12 bit &lt; imm &lt; 32 bit		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例子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3.5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：加立即数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4098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0x1002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6C1535-EFE0-E5D5-A1FD-C3DF0E7BF7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952"/>
          <a:stretch>
            <a:fillRect/>
          </a:stretch>
        </p:blipFill>
        <p:spPr>
          <a:xfrm>
            <a:off x="548109" y="2349349"/>
            <a:ext cx="5547891" cy="2156147"/>
          </a:xfrm>
          <a:prstGeom prst="rect">
            <a:avLst/>
          </a:prstGeom>
        </p:spPr>
      </p:pic>
      <p:sp>
        <p:nvSpPr>
          <p:cNvPr id="10" name="对话气泡: 矩形 9">
            <a:extLst>
              <a:ext uri="{FF2B5EF4-FFF2-40B4-BE49-F238E27FC236}">
                <a16:creationId xmlns:a16="http://schemas.microsoft.com/office/drawing/2014/main" id="{820CD170-69ED-4FE3-096D-F11EB3F4BD02}"/>
              </a:ext>
            </a:extLst>
          </p:cNvPr>
          <p:cNvSpPr/>
          <p:nvPr/>
        </p:nvSpPr>
        <p:spPr>
          <a:xfrm>
            <a:off x="5498868" y="4819746"/>
            <a:ext cx="5050116" cy="614138"/>
          </a:xfrm>
          <a:prstGeom prst="wedgeRectCallout">
            <a:avLst>
              <a:gd name="adj1" fmla="val -81821"/>
              <a:gd name="adj2" fmla="val 2964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将</a:t>
            </a:r>
            <a:r>
              <a:rPr lang="en-US" altLang="zh-CN" dirty="0"/>
              <a:t>4086</a:t>
            </a:r>
            <a:r>
              <a:rPr lang="zh-CN" altLang="en-US" dirty="0"/>
              <a:t>高</a:t>
            </a:r>
            <a:r>
              <a:rPr lang="en-US" altLang="zh-CN" dirty="0"/>
              <a:t>20</a:t>
            </a:r>
            <a:r>
              <a:rPr lang="zh-CN" altLang="en-US" dirty="0"/>
              <a:t>位放入寄存器的 </a:t>
            </a:r>
            <a:r>
              <a:rPr lang="en-US" altLang="zh-CN" b="1" dirty="0"/>
              <a:t>[31:12] </a:t>
            </a:r>
            <a:r>
              <a:rPr lang="zh-CN" altLang="en-US" b="1" dirty="0"/>
              <a:t>位</a:t>
            </a:r>
            <a:r>
              <a:rPr lang="zh-CN" altLang="en-US" dirty="0"/>
              <a:t>，低 </a:t>
            </a:r>
            <a:r>
              <a:rPr lang="en-US" altLang="zh-CN" dirty="0"/>
              <a:t>12 </a:t>
            </a:r>
            <a:r>
              <a:rPr lang="zh-CN" altLang="en-US" dirty="0"/>
              <a:t>位补 </a:t>
            </a:r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8" name="对话气泡: 矩形 17">
            <a:extLst>
              <a:ext uri="{FF2B5EF4-FFF2-40B4-BE49-F238E27FC236}">
                <a16:creationId xmlns:a16="http://schemas.microsoft.com/office/drawing/2014/main" id="{88A14EF5-82CE-59EA-2E0D-388824DA5A56}"/>
              </a:ext>
            </a:extLst>
          </p:cNvPr>
          <p:cNvSpPr/>
          <p:nvPr/>
        </p:nvSpPr>
        <p:spPr>
          <a:xfrm>
            <a:off x="5651268" y="5461301"/>
            <a:ext cx="5050116" cy="614138"/>
          </a:xfrm>
          <a:prstGeom prst="wedgeRectCallout">
            <a:avLst>
              <a:gd name="adj1" fmla="val -81821"/>
              <a:gd name="adj2" fmla="val 2964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将低位</a:t>
            </a:r>
            <a:r>
              <a:rPr lang="en-US" altLang="zh-CN" dirty="0"/>
              <a:t>002</a:t>
            </a:r>
            <a:r>
              <a:rPr lang="zh-CN" altLang="en-US" dirty="0"/>
              <a:t>跟</a:t>
            </a:r>
            <a:r>
              <a:rPr lang="en-US" altLang="zh-CN" dirty="0"/>
              <a:t>r1</a:t>
            </a:r>
            <a:r>
              <a:rPr lang="zh-CN" altLang="en-US" dirty="0"/>
              <a:t>低</a:t>
            </a:r>
            <a:r>
              <a:rPr lang="en-US" altLang="zh-CN" b="1" dirty="0"/>
              <a:t>12] </a:t>
            </a:r>
            <a:r>
              <a:rPr lang="zh-CN" altLang="en-US" b="1" dirty="0"/>
              <a:t>位或运算，凑出</a:t>
            </a:r>
            <a:r>
              <a:rPr lang="en-US" altLang="zh-CN" b="1" dirty="0"/>
              <a:t>0x1002</a:t>
            </a:r>
            <a:endParaRPr lang="zh-CN" altLang="en-US" dirty="0"/>
          </a:p>
        </p:txBody>
      </p:sp>
      <p:sp>
        <p:nvSpPr>
          <p:cNvPr id="19" name="对话气泡: 矩形 18">
            <a:extLst>
              <a:ext uri="{FF2B5EF4-FFF2-40B4-BE49-F238E27FC236}">
                <a16:creationId xmlns:a16="http://schemas.microsoft.com/office/drawing/2014/main" id="{EE896B95-2168-3FF0-35C8-A51C65E2CD61}"/>
              </a:ext>
            </a:extLst>
          </p:cNvPr>
          <p:cNvSpPr/>
          <p:nvPr/>
        </p:nvSpPr>
        <p:spPr>
          <a:xfrm>
            <a:off x="5803668" y="6097153"/>
            <a:ext cx="5050116" cy="614138"/>
          </a:xfrm>
          <a:prstGeom prst="wedgeRectCallout">
            <a:avLst>
              <a:gd name="adj1" fmla="val -81821"/>
              <a:gd name="adj2" fmla="val 2964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400" dirty="0"/>
              <a:t>R5=r2+4086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4913647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9CDBF-120F-DD49-A795-BF77B3534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8CDF5F-9025-C4A6-62CE-5ADB447D522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54FFFD-7439-E0A9-7D99-ED8C8A25CEB7}"/>
              </a:ext>
            </a:extLst>
          </p:cNvPr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§3.1.1 算术运算（系统）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24F7D6-013B-369E-BBF4-DBE8627756D1}"/>
              </a:ext>
            </a:extLst>
          </p:cNvPr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93DC8E6-AA16-A934-834B-963297FA0A9E}"/>
              </a:ext>
            </a:extLst>
          </p:cNvPr>
          <p:cNvSpPr txBox="1"/>
          <p:nvPr/>
        </p:nvSpPr>
        <p:spPr>
          <a:xfrm>
            <a:off x="0" y="1070991"/>
            <a:ext cx="109977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       （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4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）立即数（ </a:t>
            </a:r>
            <a:r>
              <a:rPr lang="en-US" altLang="zh-CN" sz="2800" b="0" i="0" dirty="0" err="1">
                <a:solidFill>
                  <a:srgbClr val="4D4D4D"/>
                </a:solidFill>
                <a:effectLst/>
                <a:latin typeface="-apple-system"/>
              </a:rPr>
              <a:t>imm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）的加载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8F54F0A-8669-ABB0-4A99-83EE33CDCC79}"/>
              </a:ext>
            </a:extLst>
          </p:cNvPr>
          <p:cNvSpPr txBox="1"/>
          <p:nvPr/>
        </p:nvSpPr>
        <p:spPr>
          <a:xfrm>
            <a:off x="1030778" y="1866519"/>
            <a:ext cx="105821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de-DE" altLang="zh-CN" sz="2400" dirty="0"/>
              <a:t>imm &lt; 12 bit		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对话气泡: 矩形 12">
            <a:extLst>
              <a:ext uri="{FF2B5EF4-FFF2-40B4-BE49-F238E27FC236}">
                <a16:creationId xmlns:a16="http://schemas.microsoft.com/office/drawing/2014/main" id="{F21DE61E-FB8E-D63A-4427-F9863B6F9F81}"/>
              </a:ext>
            </a:extLst>
          </p:cNvPr>
          <p:cNvSpPr/>
          <p:nvPr/>
        </p:nvSpPr>
        <p:spPr>
          <a:xfrm>
            <a:off x="8050260" y="3461180"/>
            <a:ext cx="3398027" cy="614138"/>
          </a:xfrm>
          <a:prstGeom prst="wedgeRectCallout">
            <a:avLst>
              <a:gd name="adj1" fmla="val -79864"/>
              <a:gd name="adj2" fmla="val -70520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直接用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A31E391-F342-4011-7CC5-F6E81F18B9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777" y="2600492"/>
            <a:ext cx="9966959" cy="79632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9BF1D5A-8895-0391-E678-61261450B8B7}"/>
              </a:ext>
            </a:extLst>
          </p:cNvPr>
          <p:cNvSpPr txBox="1"/>
          <p:nvPr/>
        </p:nvSpPr>
        <p:spPr>
          <a:xfrm>
            <a:off x="1082658" y="3844485"/>
            <a:ext cx="61181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de-DE" altLang="zh-CN" dirty="0"/>
              <a:t>2</a:t>
            </a:r>
            <a:r>
              <a:rPr lang="zh-CN" altLang="en-US" dirty="0"/>
              <a:t>）</a:t>
            </a:r>
            <a:r>
              <a:rPr lang="de-DE" altLang="zh-CN" dirty="0"/>
              <a:t>12 bit &lt; imm &lt; 32 bit</a:t>
            </a:r>
            <a:endParaRPr lang="zh-CN" altLang="en-US" dirty="0"/>
          </a:p>
        </p:txBody>
      </p:sp>
      <p:sp>
        <p:nvSpPr>
          <p:cNvPr id="16" name="对话气泡: 矩形 15">
            <a:extLst>
              <a:ext uri="{FF2B5EF4-FFF2-40B4-BE49-F238E27FC236}">
                <a16:creationId xmlns:a16="http://schemas.microsoft.com/office/drawing/2014/main" id="{139652BD-4498-F920-51CB-E787AD1C98E7}"/>
              </a:ext>
            </a:extLst>
          </p:cNvPr>
          <p:cNvSpPr/>
          <p:nvPr/>
        </p:nvSpPr>
        <p:spPr>
          <a:xfrm>
            <a:off x="6562763" y="4767737"/>
            <a:ext cx="5050116" cy="614138"/>
          </a:xfrm>
          <a:prstGeom prst="wedgeRectCallout">
            <a:avLst>
              <a:gd name="adj1" fmla="val -58447"/>
              <a:gd name="adj2" fmla="val 1881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高</a:t>
            </a:r>
            <a:r>
              <a:rPr lang="en-US" altLang="zh-CN" dirty="0"/>
              <a:t>20</a:t>
            </a:r>
            <a:r>
              <a:rPr lang="zh-CN" altLang="en-US" dirty="0"/>
              <a:t>位放入寄存器的 </a:t>
            </a:r>
            <a:r>
              <a:rPr lang="en-US" altLang="zh-CN" b="1" dirty="0"/>
              <a:t>[31:12] </a:t>
            </a:r>
            <a:r>
              <a:rPr lang="zh-CN" altLang="en-US" b="1" dirty="0"/>
              <a:t>位</a:t>
            </a:r>
            <a:r>
              <a:rPr lang="zh-CN" altLang="en-US" dirty="0"/>
              <a:t>，低 </a:t>
            </a:r>
            <a:r>
              <a:rPr lang="en-US" altLang="zh-CN" dirty="0"/>
              <a:t>12 </a:t>
            </a:r>
            <a:r>
              <a:rPr lang="zh-CN" altLang="en-US" dirty="0"/>
              <a:t>位补 </a:t>
            </a:r>
            <a:r>
              <a:rPr lang="en-US" altLang="zh-CN" dirty="0"/>
              <a:t>0</a:t>
            </a:r>
            <a:endParaRPr lang="zh-CN" altLang="en-US" dirty="0"/>
          </a:p>
        </p:txBody>
      </p:sp>
      <p:sp>
        <p:nvSpPr>
          <p:cNvPr id="17" name="对话气泡: 矩形 16">
            <a:extLst>
              <a:ext uri="{FF2B5EF4-FFF2-40B4-BE49-F238E27FC236}">
                <a16:creationId xmlns:a16="http://schemas.microsoft.com/office/drawing/2014/main" id="{29AF0B48-563C-6C67-BFF9-D3C017A485E1}"/>
              </a:ext>
            </a:extLst>
          </p:cNvPr>
          <p:cNvSpPr/>
          <p:nvPr/>
        </p:nvSpPr>
        <p:spPr>
          <a:xfrm>
            <a:off x="6654204" y="5677066"/>
            <a:ext cx="5050116" cy="614138"/>
          </a:xfrm>
          <a:prstGeom prst="wedgeRectCallout">
            <a:avLst>
              <a:gd name="adj1" fmla="val -57130"/>
              <a:gd name="adj2" fmla="val -40742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将低</a:t>
            </a:r>
            <a:r>
              <a:rPr lang="en-US" altLang="zh-CN" dirty="0"/>
              <a:t>12</a:t>
            </a:r>
            <a:r>
              <a:rPr lang="zh-CN" altLang="en-US" dirty="0"/>
              <a:t>跟</a:t>
            </a:r>
            <a:r>
              <a:rPr lang="en-US" altLang="zh-CN" dirty="0" err="1"/>
              <a:t>rd</a:t>
            </a:r>
            <a:r>
              <a:rPr lang="zh-CN" altLang="en-US" dirty="0"/>
              <a:t>低</a:t>
            </a:r>
            <a:r>
              <a:rPr lang="en-US" altLang="zh-CN" b="1" dirty="0"/>
              <a:t>12] </a:t>
            </a:r>
            <a:r>
              <a:rPr lang="zh-CN" altLang="en-US" b="1" dirty="0"/>
              <a:t>位或运算</a:t>
            </a: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DF751AE-A59B-3606-C796-A04ABB022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66" y="4767737"/>
            <a:ext cx="5329863" cy="13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8591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60A9F-DF85-8504-ABC0-49C28EB84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F15523-AC76-4A5D-47AF-82F3A1667A26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BD6F01-A71B-2855-AD51-BAB27F809565}"/>
              </a:ext>
            </a:extLst>
          </p:cNvPr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§3.1.1 算术运算（系统）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E8CBC1-B626-A46D-808F-76E80DC25636}"/>
              </a:ext>
            </a:extLst>
          </p:cNvPr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AA6EB7-4817-E844-E9D4-0B6396FEEE15}"/>
              </a:ext>
            </a:extLst>
          </p:cNvPr>
          <p:cNvSpPr txBox="1"/>
          <p:nvPr/>
        </p:nvSpPr>
        <p:spPr>
          <a:xfrm>
            <a:off x="0" y="1070991"/>
            <a:ext cx="109977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       （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4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）立即数（ </a:t>
            </a:r>
            <a:r>
              <a:rPr lang="en-US" altLang="zh-CN" sz="2800" b="0" i="0" dirty="0" err="1">
                <a:solidFill>
                  <a:srgbClr val="4D4D4D"/>
                </a:solidFill>
                <a:effectLst/>
                <a:latin typeface="-apple-system"/>
              </a:rPr>
              <a:t>imm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）的加载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CF23AD5-5632-1417-95BC-626076AE976A}"/>
              </a:ext>
            </a:extLst>
          </p:cNvPr>
          <p:cNvSpPr txBox="1"/>
          <p:nvPr/>
        </p:nvSpPr>
        <p:spPr>
          <a:xfrm>
            <a:off x="1030778" y="1866519"/>
            <a:ext cx="105821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de-DE" altLang="zh-CN" sz="2400" dirty="0"/>
              <a:t>32 bit &lt; imm &lt; 52 bit		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70875A5-CDCA-1A10-3598-F48461D461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227"/>
          <a:stretch>
            <a:fillRect/>
          </a:stretch>
        </p:blipFill>
        <p:spPr>
          <a:xfrm>
            <a:off x="457200" y="2665202"/>
            <a:ext cx="6508865" cy="2409824"/>
          </a:xfrm>
          <a:prstGeom prst="rect">
            <a:avLst/>
          </a:prstGeom>
        </p:spPr>
      </p:pic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0356FA98-5CD2-3C3A-7514-E4A76E49AA5A}"/>
              </a:ext>
            </a:extLst>
          </p:cNvPr>
          <p:cNvSpPr/>
          <p:nvPr/>
        </p:nvSpPr>
        <p:spPr>
          <a:xfrm>
            <a:off x="8544590" y="2974668"/>
            <a:ext cx="3068289" cy="614138"/>
          </a:xfrm>
          <a:prstGeom prst="wedgeRectCallout">
            <a:avLst>
              <a:gd name="adj1" fmla="val -81821"/>
              <a:gd name="adj2" fmla="val 2964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低</a:t>
            </a:r>
            <a:r>
              <a:rPr lang="en-US" altLang="zh-CN" dirty="0"/>
              <a:t>32</a:t>
            </a:r>
            <a:r>
              <a:rPr lang="zh-CN" altLang="en-US" dirty="0"/>
              <a:t>位加载</a:t>
            </a:r>
          </a:p>
        </p:txBody>
      </p:sp>
      <p:sp>
        <p:nvSpPr>
          <p:cNvPr id="12" name="右大括号 11">
            <a:extLst>
              <a:ext uri="{FF2B5EF4-FFF2-40B4-BE49-F238E27FC236}">
                <a16:creationId xmlns:a16="http://schemas.microsoft.com/office/drawing/2014/main" id="{569BE36C-7C3D-3260-ACB5-F9664595EDCE}"/>
              </a:ext>
            </a:extLst>
          </p:cNvPr>
          <p:cNvSpPr/>
          <p:nvPr/>
        </p:nvSpPr>
        <p:spPr>
          <a:xfrm>
            <a:off x="6966065" y="2974668"/>
            <a:ext cx="498764" cy="109856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对话气泡: 矩形 12">
            <a:extLst>
              <a:ext uri="{FF2B5EF4-FFF2-40B4-BE49-F238E27FC236}">
                <a16:creationId xmlns:a16="http://schemas.microsoft.com/office/drawing/2014/main" id="{440677CD-D35B-8934-C4D6-3CFC63766CB1}"/>
              </a:ext>
            </a:extLst>
          </p:cNvPr>
          <p:cNvSpPr/>
          <p:nvPr/>
        </p:nvSpPr>
        <p:spPr>
          <a:xfrm>
            <a:off x="8214852" y="4186896"/>
            <a:ext cx="3398027" cy="614138"/>
          </a:xfrm>
          <a:prstGeom prst="wedgeRectCallout">
            <a:avLst>
              <a:gd name="adj1" fmla="val -81821"/>
              <a:gd name="adj2" fmla="val 2964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高</a:t>
            </a:r>
            <a:r>
              <a:rPr lang="en-US" altLang="zh-CN" dirty="0"/>
              <a:t>20</a:t>
            </a:r>
            <a:r>
              <a:rPr lang="zh-CN" altLang="en-US" dirty="0"/>
              <a:t>位加载，并于低</a:t>
            </a:r>
            <a:r>
              <a:rPr lang="en-US" altLang="zh-CN" dirty="0"/>
              <a:t>32</a:t>
            </a:r>
            <a:r>
              <a:rPr lang="zh-CN" altLang="en-US" dirty="0"/>
              <a:t>位拼接</a:t>
            </a:r>
          </a:p>
        </p:txBody>
      </p:sp>
    </p:spTree>
    <p:extLst>
      <p:ext uri="{BB962C8B-B14F-4D97-AF65-F5344CB8AC3E}">
        <p14:creationId xmlns:p14="http://schemas.microsoft.com/office/powerpoint/2010/main" val="42007654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F5DF6-355C-FEB6-B111-6D1E14789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29384C-85E4-5A5A-DC0B-8463D72690AD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9C6378-8E06-AFF4-DC5C-B4D17635E7CE}"/>
              </a:ext>
            </a:extLst>
          </p:cNvPr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§3.1.1 算术运算（系统）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3AC2C7-0653-43C2-9BC6-B641AF441532}"/>
              </a:ext>
            </a:extLst>
          </p:cNvPr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512E16B-1E74-A713-15AA-6E46DDE0FD69}"/>
              </a:ext>
            </a:extLst>
          </p:cNvPr>
          <p:cNvSpPr txBox="1"/>
          <p:nvPr/>
        </p:nvSpPr>
        <p:spPr>
          <a:xfrm>
            <a:off x="0" y="1070991"/>
            <a:ext cx="109977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       （</a:t>
            </a:r>
            <a:r>
              <a:rPr lang="en-US" altLang="zh-CN" sz="2800" dirty="0">
                <a:solidFill>
                  <a:srgbClr val="4D4D4D"/>
                </a:solidFill>
                <a:latin typeface="-apple-system"/>
              </a:rPr>
              <a:t>4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）立即数（ </a:t>
            </a:r>
            <a:r>
              <a:rPr lang="en-US" altLang="zh-CN" sz="2800" b="0" i="0" dirty="0" err="1">
                <a:solidFill>
                  <a:srgbClr val="4D4D4D"/>
                </a:solidFill>
                <a:effectLst/>
                <a:latin typeface="-apple-system"/>
              </a:rPr>
              <a:t>imm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）的 加载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E448434-1071-9C9A-25E3-188112BF70DC}"/>
              </a:ext>
            </a:extLst>
          </p:cNvPr>
          <p:cNvSpPr txBox="1"/>
          <p:nvPr/>
        </p:nvSpPr>
        <p:spPr>
          <a:xfrm>
            <a:off x="1030778" y="1866519"/>
            <a:ext cx="105821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de-DE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de-DE" altLang="zh-CN" sz="2400" dirty="0"/>
              <a:t>2 bit &lt; imm 	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对话气泡: 矩形 7">
            <a:extLst>
              <a:ext uri="{FF2B5EF4-FFF2-40B4-BE49-F238E27FC236}">
                <a16:creationId xmlns:a16="http://schemas.microsoft.com/office/drawing/2014/main" id="{46EF322E-440A-6D2D-1F6E-90FEC3947029}"/>
              </a:ext>
            </a:extLst>
          </p:cNvPr>
          <p:cNvSpPr/>
          <p:nvPr/>
        </p:nvSpPr>
        <p:spPr>
          <a:xfrm>
            <a:off x="8544590" y="2974668"/>
            <a:ext cx="3068289" cy="614138"/>
          </a:xfrm>
          <a:prstGeom prst="wedgeRectCallout">
            <a:avLst>
              <a:gd name="adj1" fmla="val -81821"/>
              <a:gd name="adj2" fmla="val 2964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低</a:t>
            </a:r>
            <a:r>
              <a:rPr lang="en-US" altLang="zh-CN" dirty="0"/>
              <a:t>52</a:t>
            </a:r>
            <a:r>
              <a:rPr lang="zh-CN" altLang="en-US" dirty="0"/>
              <a:t>位加载</a:t>
            </a:r>
          </a:p>
        </p:txBody>
      </p:sp>
      <p:sp>
        <p:nvSpPr>
          <p:cNvPr id="12" name="右大括号 11">
            <a:extLst>
              <a:ext uri="{FF2B5EF4-FFF2-40B4-BE49-F238E27FC236}">
                <a16:creationId xmlns:a16="http://schemas.microsoft.com/office/drawing/2014/main" id="{09B22CE7-8AE1-A05B-4C9B-C22AFCB779B4}"/>
              </a:ext>
            </a:extLst>
          </p:cNvPr>
          <p:cNvSpPr/>
          <p:nvPr/>
        </p:nvSpPr>
        <p:spPr>
          <a:xfrm>
            <a:off x="6966065" y="2665201"/>
            <a:ext cx="498764" cy="164079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对话气泡: 矩形 12">
            <a:extLst>
              <a:ext uri="{FF2B5EF4-FFF2-40B4-BE49-F238E27FC236}">
                <a16:creationId xmlns:a16="http://schemas.microsoft.com/office/drawing/2014/main" id="{B11A14EB-FBCC-64B7-E383-D1D144AAF520}"/>
              </a:ext>
            </a:extLst>
          </p:cNvPr>
          <p:cNvSpPr/>
          <p:nvPr/>
        </p:nvSpPr>
        <p:spPr>
          <a:xfrm>
            <a:off x="8214852" y="4186896"/>
            <a:ext cx="3398027" cy="614138"/>
          </a:xfrm>
          <a:prstGeom prst="wedgeRectCallout">
            <a:avLst>
              <a:gd name="adj1" fmla="val -81821"/>
              <a:gd name="adj2" fmla="val 2964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高</a:t>
            </a:r>
            <a:r>
              <a:rPr lang="en-US" altLang="zh-CN" dirty="0"/>
              <a:t>12</a:t>
            </a:r>
            <a:r>
              <a:rPr lang="zh-CN" altLang="en-US" dirty="0"/>
              <a:t>位加载，并于低</a:t>
            </a:r>
            <a:r>
              <a:rPr lang="en-US" altLang="zh-CN" dirty="0"/>
              <a:t>52</a:t>
            </a:r>
            <a:r>
              <a:rPr lang="zh-CN" altLang="en-US" dirty="0"/>
              <a:t>位拼接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A3EA1D4-A03B-A41C-189D-760837320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57" y="2503497"/>
            <a:ext cx="5951701" cy="260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9162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C248E-D7DA-BAC6-7E10-946AB8162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925984-1700-57CB-9082-310A66862DA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E6F08A-F5A1-2FB9-1302-5D6CA8CC0397}"/>
              </a:ext>
            </a:extLst>
          </p:cNvPr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§3.1.1 算术运算（系统）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63C784-D393-96FB-D9EE-3538CC49C081}"/>
              </a:ext>
            </a:extLst>
          </p:cNvPr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4FE8F08-803B-87FE-0AD7-7945E8E00543}"/>
              </a:ext>
            </a:extLst>
          </p:cNvPr>
          <p:cNvSpPr txBox="1"/>
          <p:nvPr/>
        </p:nvSpPr>
        <p:spPr>
          <a:xfrm>
            <a:off x="0" y="1070991"/>
            <a:ext cx="109977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       （</a:t>
            </a:r>
            <a:r>
              <a:rPr lang="en-US" altLang="zh-CN" sz="2800" dirty="0">
                <a:solidFill>
                  <a:srgbClr val="4D4D4D"/>
                </a:solidFill>
                <a:latin typeface="-apple-system"/>
              </a:rPr>
              <a:t>4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）立即数（ </a:t>
            </a:r>
            <a:r>
              <a:rPr lang="en-US" altLang="zh-CN" sz="2800" b="0" i="0" dirty="0" err="1">
                <a:solidFill>
                  <a:srgbClr val="4D4D4D"/>
                </a:solidFill>
                <a:effectLst/>
                <a:latin typeface="-apple-system"/>
              </a:rPr>
              <a:t>imm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）的 加载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539A17-CC55-99C5-F9AC-99AB30E87F3D}"/>
              </a:ext>
            </a:extLst>
          </p:cNvPr>
          <p:cNvSpPr txBox="1"/>
          <p:nvPr/>
        </p:nvSpPr>
        <p:spPr>
          <a:xfrm>
            <a:off x="897774" y="186651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因此，立即数加载非常麻烦，增加了伪指令：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7329631-32CA-D2FA-8960-E73540B11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295" y="2665202"/>
            <a:ext cx="5724265" cy="1786554"/>
          </a:xfrm>
          <a:prstGeom prst="rect">
            <a:avLst/>
          </a:prstGeom>
        </p:spPr>
      </p:pic>
      <p:sp>
        <p:nvSpPr>
          <p:cNvPr id="11" name="对话气泡: 矩形 10">
            <a:extLst>
              <a:ext uri="{FF2B5EF4-FFF2-40B4-BE49-F238E27FC236}">
                <a16:creationId xmlns:a16="http://schemas.microsoft.com/office/drawing/2014/main" id="{0F24BCF5-A246-D84D-53F2-5AB10AF0FBDB}"/>
              </a:ext>
            </a:extLst>
          </p:cNvPr>
          <p:cNvSpPr/>
          <p:nvPr/>
        </p:nvSpPr>
        <p:spPr>
          <a:xfrm>
            <a:off x="7567709" y="2600492"/>
            <a:ext cx="3068289" cy="614138"/>
          </a:xfrm>
          <a:prstGeom prst="wedgeRectCallout">
            <a:avLst>
              <a:gd name="adj1" fmla="val -81821"/>
              <a:gd name="adj2" fmla="val 2964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32</a:t>
            </a:r>
            <a:r>
              <a:rPr lang="zh-CN" altLang="en-US" dirty="0"/>
              <a:t>位以内加载</a:t>
            </a:r>
          </a:p>
        </p:txBody>
      </p:sp>
      <p:sp>
        <p:nvSpPr>
          <p:cNvPr id="14" name="对话气泡: 矩形 13">
            <a:extLst>
              <a:ext uri="{FF2B5EF4-FFF2-40B4-BE49-F238E27FC236}">
                <a16:creationId xmlns:a16="http://schemas.microsoft.com/office/drawing/2014/main" id="{3E89DE9A-197E-6B10-4914-EC2071921100}"/>
              </a:ext>
            </a:extLst>
          </p:cNvPr>
          <p:cNvSpPr/>
          <p:nvPr/>
        </p:nvSpPr>
        <p:spPr>
          <a:xfrm>
            <a:off x="7237971" y="3812720"/>
            <a:ext cx="3398027" cy="614138"/>
          </a:xfrm>
          <a:prstGeom prst="wedgeRectCallout">
            <a:avLst>
              <a:gd name="adj1" fmla="val -81821"/>
              <a:gd name="adj2" fmla="val 2964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64</a:t>
            </a:r>
            <a:r>
              <a:rPr lang="zh-CN" altLang="en-US" dirty="0"/>
              <a:t>位加载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E97D1B-5E1A-6362-1723-6DFE34A1E0A4}"/>
              </a:ext>
            </a:extLst>
          </p:cNvPr>
          <p:cNvSpPr txBox="1"/>
          <p:nvPr/>
        </p:nvSpPr>
        <p:spPr>
          <a:xfrm>
            <a:off x="1050174" y="5024948"/>
            <a:ext cx="81868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汇编器直接根据数据情况帮我们对应回前面四种翻译过来。</a:t>
            </a:r>
            <a:endParaRPr lang="en-US" altLang="zh-C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前面导入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4098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数值可直接写为：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6602126-3684-46D0-7AF6-8B1791A47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589810"/>
            <a:ext cx="4742411" cy="97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1252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B4363-8DE6-F1D2-7AC0-5E31E1BDC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276763-2F3D-9F2C-3EC5-BEFDA680343F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B3B0D-73DE-FDF7-12CD-7617138A2D23}"/>
              </a:ext>
            </a:extLst>
          </p:cNvPr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§3.1.1 算术运算（系统）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80AB06-F42B-6CC2-8144-ED684D4A086E}"/>
              </a:ext>
            </a:extLst>
          </p:cNvPr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8157087-C123-A762-88C9-17E516070DF7}"/>
              </a:ext>
            </a:extLst>
          </p:cNvPr>
          <p:cNvSpPr txBox="1"/>
          <p:nvPr/>
        </p:nvSpPr>
        <p:spPr>
          <a:xfrm>
            <a:off x="615143" y="1108505"/>
            <a:ext cx="109977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(5) 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带移位的 </a:t>
            </a:r>
            <a:r>
              <a:rPr lang="en-US" altLang="zh-CN" sz="2800" b="0" i="0" dirty="0">
                <a:solidFill>
                  <a:srgbClr val="4D4D4D"/>
                </a:solidFill>
                <a:effectLst/>
                <a:latin typeface="-apple-system"/>
              </a:rPr>
              <a:t>64 </a:t>
            </a:r>
            <a:r>
              <a:rPr lang="zh-CN" altLang="en-US" sz="2800" b="0" i="0" dirty="0">
                <a:solidFill>
                  <a:srgbClr val="4D4D4D"/>
                </a:solidFill>
                <a:effectLst/>
                <a:latin typeface="-apple-system"/>
              </a:rPr>
              <a:t>位数加法运算</a:t>
            </a:r>
            <a:endParaRPr lang="zh-CN" altLang="en-US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9F7098-4B4E-48BF-866E-9CEBE8708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43" y="1833052"/>
            <a:ext cx="11089177" cy="106361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FE1D455-5449-C1B4-424D-6A229F46C316}"/>
              </a:ext>
            </a:extLst>
          </p:cNvPr>
          <p:cNvSpPr txBox="1"/>
          <p:nvPr/>
        </p:nvSpPr>
        <p:spPr>
          <a:xfrm>
            <a:off x="3831772" y="3079334"/>
            <a:ext cx="83602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R4 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左移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位，再与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r5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相加，结果存入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r5</a:t>
            </a:r>
            <a:endParaRPr lang="zh-CN" altLang="en-US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5500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完整走读：(a+b)-c（用 r 编号写）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讲解用 r*；对照 miniOS 时再看 $a0/$t0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444751"/>
            <a:ext cx="5684520" cy="4663440"/>
          </a:xfrm>
          <a:prstGeom prst="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rtlCol="0" anchor="ctr"/>
          <a:lstStyle/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# 设 a=3,b=5,c=2 →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结果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6</a:t>
            </a: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# r4=a, r5=b, r6=c, r12=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临时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, r1=$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ra</a:t>
            </a:r>
            <a:endParaRPr sz="2400" b="0" dirty="0">
              <a:solidFill>
                <a:srgbClr val="EEF1F6"/>
              </a:solidFill>
              <a:latin typeface="Consolas" panose="020B0609020204030204"/>
            </a:endParaRP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</a:t>
            </a: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add.d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 r12, r4, r5</a:t>
            </a: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sub.d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 r4, r12, r6</a:t>
            </a: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jr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    r1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44751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① 前：r4=3 r5=5 r6=2 r12=?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②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add.d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r12,r4,r5：读3与5，算3+5=8，写r12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  后：r4=3 r5=5 r6=2 r12=8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③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sub.d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r4,r12,r6：读8与2，算8-2=6，写r4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  后：r4=6 r5=5 r6=2 r12=8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④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jr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r1：按 r1(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返回地址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)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回到调用者</a:t>
            </a:r>
            <a:endParaRPr sz="2400" b="0" dirty="0">
              <a:solidFill>
                <a:srgbClr val="22252B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⑤ 用 r12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作临时，避免先毁掉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r4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里的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a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⑥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本课源码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ABI：$a0=$r4 $a1=$r5 $a2=$r6 $t0=$r12 $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ra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=$r1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执行过程表：(a+b)-c（r 编号）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每一行=执行完该指令后的快照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36192"/>
          <a:ext cx="106984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步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指令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计算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r4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r5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r6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r12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入口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add.d r12,r4,r5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3+5=8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sub.d r4,r12,r6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8-2=6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jr 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返回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微软雅黑" panose="020B0503020204020204" charset="-122"/>
                        </a:rP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为什么必须用临时寄存器 r12？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多个临时 r 避免中间结果互踩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444751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44751"/>
            <a:ext cx="109728" cy="4572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609343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微软雅黑" panose="020B0503020204020204" charset="-122"/>
              </a:rPr>
              <a:t>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39112"/>
            <a:ext cx="4983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直接覆盖 r4 里的 a
• 后面还要用 a 就丢了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44751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44751"/>
            <a:ext cx="109728" cy="4572000"/>
          </a:xfrm>
          <a:prstGeom prst="rect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609343"/>
            <a:ext cx="4983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7482"/>
                </a:solidFill>
                <a:latin typeface="微软雅黑" panose="020B0503020204020204" charset="-122"/>
              </a:rPr>
              <a:t>正确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039112"/>
            <a:ext cx="4983480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中间和进 r12
• 最后再写结果 r4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完整走读：mul.d（6×7）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5852160" cy="4663440"/>
          </a:xfrm>
          <a:prstGeom prst="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rtlCol="0" anchor="ctr"/>
          <a:lstStyle/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 panose="020B0609020204030204"/>
              </a:rPr>
              <a:t># 设 r4=6, r5=7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 panose="020B0609020204030204"/>
              </a:rPr>
              <a:t>mul.d  r4, r4, r5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 panose="020B0609020204030204"/>
              </a:rPr>
              <a:t># 结果 r4=42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 panose="020B0609020204030204"/>
              </a:rPr>
              <a:t># 本课验收串同此计算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78992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① 前：r4=6 r5=7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② 读 r4 与 r5，计算 6×7=42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③ 写 r4=42（覆盖原 6）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④ r5 仍为 7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⑤ 调用约定下 r4 也常作返回值($a0)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⑥ 点名 div.d/mod.d；大积见 mulh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22252B"/>
                </a:solidFill>
                <a:latin typeface="微软雅黑" panose="020B0503020204020204" charset="-122"/>
              </a:rPr>
              <a:t>§3.1.2 </a:t>
            </a:r>
            <a:r>
              <a:rPr sz="3200" b="1" dirty="0" err="1">
                <a:solidFill>
                  <a:srgbClr val="22252B"/>
                </a:solidFill>
                <a:latin typeface="微软雅黑" panose="020B0503020204020204" charset="-122"/>
              </a:rPr>
              <a:t>逻辑运算</a:t>
            </a:r>
            <a:endParaRPr sz="3200" b="1" dirty="0">
              <a:solidFill>
                <a:srgbClr val="22252B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E5B2E31F-05FC-C713-37AE-548D3E70A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4834500"/>
              </p:ext>
            </p:extLst>
          </p:nvPr>
        </p:nvGraphicFramePr>
        <p:xfrm>
          <a:off x="644236" y="924402"/>
          <a:ext cx="10781608" cy="599151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91592">
                  <a:extLst>
                    <a:ext uri="{9D8B030D-6E8A-4147-A177-3AD203B41FA5}">
                      <a16:colId xmlns:a16="http://schemas.microsoft.com/office/drawing/2014/main" val="3133797713"/>
                    </a:ext>
                  </a:extLst>
                </a:gridCol>
                <a:gridCol w="7390016">
                  <a:extLst>
                    <a:ext uri="{9D8B030D-6E8A-4147-A177-3AD203B41FA5}">
                      <a16:colId xmlns:a16="http://schemas.microsoft.com/office/drawing/2014/main" val="415718095"/>
                    </a:ext>
                  </a:extLst>
                </a:gridCol>
              </a:tblGrid>
              <a:tr h="19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指令格式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功能简述</a:t>
                      </a:r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3181099264"/>
                  </a:ext>
                </a:extLst>
              </a:tr>
              <a:tr h="19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and rd, rj, rk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逻辑与，</a:t>
                      </a:r>
                      <a:r>
                        <a:rPr lang="en-US" sz="2000"/>
                        <a:t>rd = rj &amp; rk</a:t>
                      </a:r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2301010987"/>
                  </a:ext>
                </a:extLst>
              </a:tr>
              <a:tr h="19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or rd, rj, rk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逻辑或，</a:t>
                      </a:r>
                      <a:r>
                        <a:rPr lang="en-US" sz="2000"/>
                        <a:t>rd = rj | rk</a:t>
                      </a:r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1453545656"/>
                  </a:ext>
                </a:extLst>
              </a:tr>
              <a:tr h="19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nor rd, rj, rk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逻辑或非，</a:t>
                      </a:r>
                      <a:r>
                        <a:rPr lang="en-US" sz="2000"/>
                        <a:t>rd = ~(rj | rk)</a:t>
                      </a:r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2652743255"/>
                  </a:ext>
                </a:extLst>
              </a:tr>
              <a:tr h="19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xor rd, rj, rk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逻辑异或，</a:t>
                      </a:r>
                      <a:r>
                        <a:rPr lang="en-US" sz="2000"/>
                        <a:t>rd = rj ^ rk</a:t>
                      </a:r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336020813"/>
                  </a:ext>
                </a:extLst>
              </a:tr>
              <a:tr h="19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andn rd, rj, rk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取反逻辑与，</a:t>
                      </a:r>
                      <a:r>
                        <a:rPr lang="en-US" altLang="zh-CN" sz="2000"/>
                        <a:t>rd = rj &amp; (~rk)</a:t>
                      </a:r>
                      <a:endParaRPr lang="zh-CN" altLang="en-US" sz="2000"/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2019775732"/>
                  </a:ext>
                </a:extLst>
              </a:tr>
              <a:tr h="19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orn rd, rj, rk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取反逻辑或，</a:t>
                      </a:r>
                      <a:r>
                        <a:rPr lang="en-US" altLang="zh-CN" sz="2000"/>
                        <a:t>rd = rj | (~rk)</a:t>
                      </a:r>
                      <a:endParaRPr lang="zh-CN" altLang="en-US" sz="2000"/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364000099"/>
                  </a:ext>
                </a:extLst>
              </a:tr>
              <a:tr h="333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andi rd, rj, ui12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带立即数的逻辑与，</a:t>
                      </a:r>
                      <a:r>
                        <a:rPr lang="en-US" altLang="zh-CN" sz="2000"/>
                        <a:t>rd = rj &amp; ui12</a:t>
                      </a:r>
                      <a:endParaRPr lang="zh-CN" altLang="en-US" sz="2000"/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3357670587"/>
                  </a:ext>
                </a:extLst>
              </a:tr>
              <a:tr h="333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ori rd, rj, ui12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带立即数的逻辑或，</a:t>
                      </a:r>
                      <a:r>
                        <a:rPr lang="en-US" altLang="zh-CN" sz="2000"/>
                        <a:t>rd = rj | ui12</a:t>
                      </a:r>
                      <a:endParaRPr lang="zh-CN" altLang="en-US" sz="2000"/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3029011732"/>
                  </a:ext>
                </a:extLst>
              </a:tr>
              <a:tr h="333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xori rd, rj, ui12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带立即数的逻辑异或，</a:t>
                      </a:r>
                      <a:r>
                        <a:rPr lang="en-US" altLang="zh-CN" sz="2000"/>
                        <a:t>rd = rj ^ ui12</a:t>
                      </a:r>
                      <a:endParaRPr lang="zh-CN" altLang="en-US" sz="2000"/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4207697084"/>
                  </a:ext>
                </a:extLst>
              </a:tr>
              <a:tr h="333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slt rd, rj, rk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有符号小于比较，</a:t>
                      </a:r>
                      <a:r>
                        <a:rPr lang="en-US" altLang="zh-CN" sz="2000" dirty="0" err="1"/>
                        <a:t>rd</a:t>
                      </a:r>
                      <a:r>
                        <a:rPr lang="en-US" altLang="zh-CN" sz="2000" dirty="0"/>
                        <a:t> = (</a:t>
                      </a:r>
                      <a:r>
                        <a:rPr lang="en-US" altLang="zh-CN" sz="2000" dirty="0" err="1"/>
                        <a:t>rj</a:t>
                      </a:r>
                      <a:r>
                        <a:rPr lang="en-US" altLang="zh-CN" sz="2000" dirty="0"/>
                        <a:t> &lt; </a:t>
                      </a:r>
                      <a:r>
                        <a:rPr lang="en-US" altLang="zh-CN" sz="2000" dirty="0" err="1"/>
                        <a:t>rk</a:t>
                      </a:r>
                      <a:r>
                        <a:rPr lang="en-US" altLang="zh-CN" sz="2000" dirty="0"/>
                        <a:t>) ? 1 : 0</a:t>
                      </a:r>
                      <a:endParaRPr lang="zh-CN" altLang="en-US" sz="2000" dirty="0"/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4017815231"/>
                  </a:ext>
                </a:extLst>
              </a:tr>
              <a:tr h="333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sltu rd, rj, rk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无符号小于比较，</a:t>
                      </a:r>
                      <a:r>
                        <a:rPr lang="en-US" altLang="zh-CN" sz="2000" dirty="0" err="1"/>
                        <a:t>rd</a:t>
                      </a:r>
                      <a:r>
                        <a:rPr lang="en-US" altLang="zh-CN" sz="2000" dirty="0"/>
                        <a:t> = (</a:t>
                      </a:r>
                      <a:r>
                        <a:rPr lang="en-US" altLang="zh-CN" sz="2000" dirty="0" err="1"/>
                        <a:t>rj</a:t>
                      </a:r>
                      <a:r>
                        <a:rPr lang="en-US" altLang="zh-CN" sz="2000" dirty="0"/>
                        <a:t> &lt; </a:t>
                      </a:r>
                      <a:r>
                        <a:rPr lang="en-US" altLang="zh-CN" sz="2000" dirty="0" err="1"/>
                        <a:t>rk</a:t>
                      </a:r>
                      <a:r>
                        <a:rPr lang="en-US" altLang="zh-CN" sz="2000" dirty="0"/>
                        <a:t>) ? 1 : 0</a:t>
                      </a:r>
                      <a:endParaRPr lang="zh-CN" altLang="en-US" sz="2000" dirty="0"/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3372427167"/>
                  </a:ext>
                </a:extLst>
              </a:tr>
              <a:tr h="333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slti rd, rj, si12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带立即数的有符号小于比较，</a:t>
                      </a:r>
                      <a:r>
                        <a:rPr lang="en-US" altLang="zh-CN" sz="2000"/>
                        <a:t>rd = (rj &lt; si12) ? 1 : 0</a:t>
                      </a:r>
                      <a:endParaRPr lang="zh-CN" altLang="en-US" sz="2000"/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388515456"/>
                  </a:ext>
                </a:extLst>
              </a:tr>
              <a:tr h="333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sltui rd, rj, si12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带立即数的无符号小于比较，</a:t>
                      </a:r>
                      <a:r>
                        <a:rPr lang="en-US" altLang="zh-CN" sz="2000"/>
                        <a:t>rd = (rj &lt; si12) ? 1 : 0</a:t>
                      </a:r>
                      <a:endParaRPr lang="zh-CN" altLang="en-US" sz="2000"/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4237353211"/>
                  </a:ext>
                </a:extLst>
              </a:tr>
              <a:tr h="333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maskeqz rd, rj, rk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/>
                        <a:t>条件赋值，</a:t>
                      </a:r>
                      <a:r>
                        <a:rPr lang="en-US" altLang="zh-CN" sz="2000"/>
                        <a:t>rd = (rk == 0) ? 0 : rj</a:t>
                      </a:r>
                      <a:endParaRPr lang="zh-CN" altLang="en-US" sz="2000"/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38720684"/>
                  </a:ext>
                </a:extLst>
              </a:tr>
              <a:tr h="333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masknez rd, rj, rk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条件赋值，</a:t>
                      </a:r>
                      <a:r>
                        <a:rPr lang="en-US" altLang="zh-CN" sz="2000" dirty="0" err="1"/>
                        <a:t>rd</a:t>
                      </a:r>
                      <a:r>
                        <a:rPr lang="en-US" altLang="zh-CN" sz="2000" dirty="0"/>
                        <a:t> = (</a:t>
                      </a:r>
                      <a:r>
                        <a:rPr lang="en-US" altLang="zh-CN" sz="2000" dirty="0" err="1"/>
                        <a:t>rk</a:t>
                      </a:r>
                      <a:r>
                        <a:rPr lang="en-US" altLang="zh-CN" sz="2000" dirty="0"/>
                        <a:t> != 0) ? 0 : </a:t>
                      </a:r>
                      <a:r>
                        <a:rPr lang="en-US" altLang="zh-CN" sz="2000" dirty="0" err="1"/>
                        <a:t>rj</a:t>
                      </a:r>
                      <a:endParaRPr lang="zh-CN" altLang="en-US" sz="2000" dirty="0"/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1539073054"/>
                  </a:ext>
                </a:extLst>
              </a:tr>
              <a:tr h="190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nop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dirty="0"/>
                        <a:t>空操作，不执行实际数据处理</a:t>
                      </a:r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1369639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完整走读：andi（笔记 r2=0x7f0）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339042" y="1293045"/>
            <a:ext cx="9513916" cy="1772273"/>
          </a:xfrm>
          <a:prstGeom prst="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rtlCol="0" anchor="ctr"/>
          <a:lstStyle/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# 若 r2 == 0x7f0</a:t>
            </a:r>
          </a:p>
          <a:p>
            <a:pPr>
              <a:spcAft>
                <a:spcPts val="400"/>
              </a:spcAft>
            </a:pP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andi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 r5, r2, 3</a:t>
            </a: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#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期望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r5 =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2421" y="3421103"/>
            <a:ext cx="8079972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① 前：r2=0x7f0，r5=?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② 0x7f0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末几位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：…1111 0000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③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立即数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3 = 0b11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④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按位与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：…0000 &amp; …0011 = 0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⑤ 写 r5=0（笔记结果）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⑥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验收串另有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0x1234&amp;0xff=0x34（运行对照）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22252B"/>
                </a:solidFill>
                <a:latin typeface="微软雅黑" panose="020B0503020204020204" charset="-122"/>
              </a:rPr>
              <a:t>例</a:t>
            </a:r>
            <a:r>
              <a:rPr lang="en-US" altLang="zh-CN" sz="3200" b="1" dirty="0">
                <a:solidFill>
                  <a:srgbClr val="22252B"/>
                </a:solidFill>
                <a:latin typeface="微软雅黑" panose="020B0503020204020204" charset="-122"/>
              </a:rPr>
              <a:t>3.8</a:t>
            </a:r>
            <a:r>
              <a:rPr sz="3200" b="1" dirty="0">
                <a:solidFill>
                  <a:srgbClr val="22252B"/>
                </a:solidFill>
                <a:latin typeface="微软雅黑" panose="020B0503020204020204" charset="-122"/>
              </a:rPr>
              <a:t>： </a:t>
            </a:r>
            <a:r>
              <a:rPr lang="en-US" sz="3200" b="1" dirty="0">
                <a:solidFill>
                  <a:srgbClr val="22252B"/>
                </a:solidFill>
                <a:latin typeface="微软雅黑" panose="020B0503020204020204" charset="-122"/>
              </a:rPr>
              <a:t>a=(</a:t>
            </a:r>
            <a:r>
              <a:rPr lang="en-US" sz="3200" b="1" dirty="0" err="1">
                <a:solidFill>
                  <a:srgbClr val="22252B"/>
                </a:solidFill>
                <a:latin typeface="微软雅黑" panose="020B0503020204020204" charset="-122"/>
              </a:rPr>
              <a:t>b</a:t>
            </a:r>
            <a:r>
              <a:rPr lang="en-US" sz="3200" b="1" dirty="0" err="1">
                <a:solidFill>
                  <a:srgbClr val="22252B"/>
                </a:solidFill>
                <a:latin typeface="微软雅黑" panose="020B0503020204020204" charset="-122"/>
                <a:sym typeface="Symbol" panose="05050102010706020507" pitchFamily="18" charset="2"/>
              </a:rPr>
              <a:t></a:t>
            </a:r>
            <a:r>
              <a:rPr lang="en-US" sz="3200" b="1" dirty="0" err="1">
                <a:solidFill>
                  <a:srgbClr val="22252B"/>
                </a:solidFill>
                <a:latin typeface="微软雅黑" panose="020B0503020204020204" charset="-122"/>
              </a:rPr>
              <a:t>c</a:t>
            </a:r>
            <a:r>
              <a:rPr lang="en-US" sz="3200" b="1" dirty="0">
                <a:solidFill>
                  <a:srgbClr val="22252B"/>
                </a:solidFill>
                <a:latin typeface="微软雅黑" panose="020B0503020204020204" charset="-122"/>
              </a:rPr>
              <a:t>)? b:c               </a:t>
            </a:r>
            <a:r>
              <a:rPr lang="zh-CN" altLang="en-US" sz="3200" b="1" dirty="0">
                <a:solidFill>
                  <a:srgbClr val="22252B"/>
                </a:solidFill>
                <a:latin typeface="微软雅黑" panose="020B0503020204020204" charset="-122"/>
              </a:rPr>
              <a:t>取</a:t>
            </a:r>
            <a:r>
              <a:rPr lang="en-US" altLang="zh-CN" sz="3200" b="1" dirty="0">
                <a:solidFill>
                  <a:srgbClr val="22252B"/>
                </a:solidFill>
                <a:latin typeface="微软雅黑" panose="020B0503020204020204" charset="-122"/>
              </a:rPr>
              <a:t>b</a:t>
            </a:r>
            <a:r>
              <a:rPr lang="zh-CN" altLang="en-US" sz="3200" b="1" dirty="0">
                <a:solidFill>
                  <a:srgbClr val="22252B"/>
                </a:solidFill>
                <a:latin typeface="微软雅黑" panose="020B0503020204020204" charset="-122"/>
              </a:rPr>
              <a:t>、</a:t>
            </a:r>
            <a:r>
              <a:rPr lang="en-US" altLang="zh-CN" sz="3200" b="1" dirty="0">
                <a:solidFill>
                  <a:srgbClr val="22252B"/>
                </a:solidFill>
                <a:latin typeface="微软雅黑" panose="020B0503020204020204" charset="-122"/>
              </a:rPr>
              <a:t>c</a:t>
            </a:r>
            <a:r>
              <a:rPr lang="zh-CN" altLang="en-US" sz="3200" b="1" dirty="0">
                <a:solidFill>
                  <a:srgbClr val="22252B"/>
                </a:solidFill>
                <a:latin typeface="微软雅黑" panose="020B0503020204020204" charset="-122"/>
              </a:rPr>
              <a:t>中的最小值</a:t>
            </a:r>
            <a:endParaRPr sz="3200" b="1" dirty="0">
              <a:solidFill>
                <a:srgbClr val="22252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221226"/>
            <a:ext cx="11155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400" b="0" dirty="0">
                <a:solidFill>
                  <a:srgbClr val="4A525E"/>
                </a:solidFill>
                <a:latin typeface="微软雅黑" panose="020B0503020204020204" charset="-122"/>
              </a:rPr>
              <a:t>任务：</a:t>
            </a:r>
            <a:r>
              <a:rPr sz="2400" b="0" dirty="0">
                <a:solidFill>
                  <a:srgbClr val="4A525E"/>
                </a:solidFill>
                <a:latin typeface="微软雅黑" panose="020B0503020204020204" charset="-122"/>
              </a:rPr>
              <a:t>换 b=5,c=3 </a:t>
            </a:r>
            <a:r>
              <a:rPr sz="2400" b="0" dirty="0" err="1">
                <a:solidFill>
                  <a:srgbClr val="4A525E"/>
                </a:solidFill>
                <a:latin typeface="微软雅黑" panose="020B0503020204020204" charset="-122"/>
              </a:rPr>
              <a:t>自推一表</a:t>
            </a:r>
            <a:endParaRPr sz="2400" b="0" dirty="0">
              <a:solidFill>
                <a:srgbClr val="4A525E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3060062"/>
            <a:ext cx="5852160" cy="2778130"/>
          </a:xfrm>
          <a:prstGeom prst="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rtlCol="0" anchor="ctr"/>
          <a:lstStyle/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# a=(b&lt;c)?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b:c</a:t>
            </a:r>
            <a:endParaRPr sz="2400" b="0" dirty="0">
              <a:solidFill>
                <a:srgbClr val="EEF1F6"/>
              </a:solidFill>
              <a:latin typeface="Consolas" panose="020B0609020204030204"/>
            </a:endParaRP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# r4=b=3, r5=c=5, r6=a</a:t>
            </a:r>
          </a:p>
          <a:p>
            <a:pPr>
              <a:spcAft>
                <a:spcPts val="400"/>
              </a:spcAft>
            </a:pP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slt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     r12, r4, r5</a:t>
            </a:r>
          </a:p>
          <a:p>
            <a:pPr>
              <a:spcAft>
                <a:spcPts val="400"/>
              </a:spcAft>
            </a:pP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maskeqz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 r4,  r4, r12</a:t>
            </a:r>
          </a:p>
          <a:p>
            <a:pPr>
              <a:spcAft>
                <a:spcPts val="400"/>
              </a:spcAft>
            </a:pP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masknez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 r12, r5, r12</a:t>
            </a: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or       r6,  r4, r12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3434057"/>
            <a:ext cx="53949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① 前：r4</a:t>
            </a:r>
            <a:r>
              <a:rPr lang="en-US" sz="2400" b="0" dirty="0">
                <a:solidFill>
                  <a:srgbClr val="22252B"/>
                </a:solidFill>
                <a:latin typeface="微软雅黑" panose="020B0503020204020204" charset="-122"/>
              </a:rPr>
              <a:t>(b)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=3 r5</a:t>
            </a:r>
            <a:r>
              <a:rPr lang="en-US" sz="2400" b="0" dirty="0">
                <a:solidFill>
                  <a:srgbClr val="22252B"/>
                </a:solidFill>
                <a:latin typeface="微软雅黑" panose="020B0503020204020204" charset="-122"/>
              </a:rPr>
              <a:t>(c)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=5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② </a:t>
            </a:r>
            <a:r>
              <a:rPr sz="2400" b="0" dirty="0" err="1">
                <a:solidFill>
                  <a:srgbClr val="FF0000"/>
                </a:solidFill>
                <a:latin typeface="微软雅黑" panose="020B0503020204020204" charset="-122"/>
              </a:rPr>
              <a:t>slt</a:t>
            </a:r>
            <a:r>
              <a:rPr sz="2400" b="0" dirty="0">
                <a:solidFill>
                  <a:srgbClr val="FF0000"/>
                </a:solidFill>
                <a:latin typeface="微软雅黑" panose="020B0503020204020204" charset="-122"/>
              </a:rPr>
              <a:t>：</a:t>
            </a:r>
            <a:r>
              <a:rPr lang="zh-CN" altLang="en-US" sz="2400" b="0" dirty="0">
                <a:solidFill>
                  <a:srgbClr val="FF0000"/>
                </a:solidFill>
                <a:latin typeface="微软雅黑" panose="020B0503020204020204" charset="-122"/>
              </a:rPr>
              <a:t>条件赋值</a:t>
            </a:r>
            <a:r>
              <a:rPr lang="en-US" altLang="zh-CN" sz="2400" dirty="0">
                <a:solidFill>
                  <a:srgbClr val="22252B"/>
                </a:solidFill>
                <a:latin typeface="微软雅黑" panose="020B0503020204020204" charset="-122"/>
              </a:rPr>
              <a:t>r4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&lt;</a:t>
            </a:r>
            <a:r>
              <a:rPr lang="en-US" sz="2400" b="0" dirty="0">
                <a:solidFill>
                  <a:srgbClr val="22252B"/>
                </a:solidFill>
                <a:latin typeface="微软雅黑" panose="020B0503020204020204" charset="-122"/>
              </a:rPr>
              <a:t>r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5 → r12=1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③ maskeqz：r12≠0 → r4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保持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3</a:t>
            </a:r>
            <a:r>
              <a:rPr lang="en-US" sz="2400" b="0" dirty="0">
                <a:solidFill>
                  <a:srgbClr val="22252B"/>
                </a:solidFill>
                <a:latin typeface="微软雅黑" panose="020B0503020204020204" charset="-122"/>
              </a:rPr>
              <a:t>(b)</a:t>
            </a:r>
            <a:endParaRPr sz="2400" b="0" dirty="0">
              <a:solidFill>
                <a:srgbClr val="22252B"/>
              </a:solidFill>
              <a:latin typeface="微软雅黑" panose="020B0503020204020204" charset="-122"/>
            </a:endParaRP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④ masknez：r12≠0 → r12=0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⑤ or：3|0=3 → a=min=3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643AD8E-53D4-DE1E-203D-C3493837A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214521"/>
              </p:ext>
            </p:extLst>
          </p:nvPr>
        </p:nvGraphicFramePr>
        <p:xfrm>
          <a:off x="544749" y="1436822"/>
          <a:ext cx="10781608" cy="124020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391592">
                  <a:extLst>
                    <a:ext uri="{9D8B030D-6E8A-4147-A177-3AD203B41FA5}">
                      <a16:colId xmlns:a16="http://schemas.microsoft.com/office/drawing/2014/main" val="798378828"/>
                    </a:ext>
                  </a:extLst>
                </a:gridCol>
                <a:gridCol w="7390016">
                  <a:extLst>
                    <a:ext uri="{9D8B030D-6E8A-4147-A177-3AD203B41FA5}">
                      <a16:colId xmlns:a16="http://schemas.microsoft.com/office/drawing/2014/main" val="97657591"/>
                    </a:ext>
                  </a:extLst>
                </a:gridCol>
              </a:tblGrid>
              <a:tr h="367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slt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rd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rj</a:t>
                      </a:r>
                      <a:r>
                        <a:rPr lang="en-US" sz="2400" dirty="0"/>
                        <a:t>, </a:t>
                      </a:r>
                      <a:r>
                        <a:rPr lang="en-US" sz="2400" dirty="0" err="1"/>
                        <a:t>rk</a:t>
                      </a:r>
                      <a:endParaRPr lang="en-US" sz="2400" dirty="0"/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有符号小于比较，</a:t>
                      </a:r>
                      <a:r>
                        <a:rPr lang="en-US" altLang="zh-CN" sz="2400" dirty="0" err="1"/>
                        <a:t>rd</a:t>
                      </a:r>
                      <a:r>
                        <a:rPr lang="en-US" altLang="zh-CN" sz="2400" dirty="0"/>
                        <a:t> = (</a:t>
                      </a:r>
                      <a:r>
                        <a:rPr lang="en-US" altLang="zh-CN" sz="2400" dirty="0" err="1"/>
                        <a:t>rj</a:t>
                      </a:r>
                      <a:r>
                        <a:rPr lang="en-US" altLang="zh-CN" sz="2400" dirty="0"/>
                        <a:t> &lt; </a:t>
                      </a:r>
                      <a:r>
                        <a:rPr lang="en-US" altLang="zh-CN" sz="2400" dirty="0" err="1"/>
                        <a:t>rk</a:t>
                      </a:r>
                      <a:r>
                        <a:rPr lang="en-US" altLang="zh-CN" sz="2400" dirty="0"/>
                        <a:t>) ? 1 : 0</a:t>
                      </a:r>
                      <a:endParaRPr lang="zh-CN" altLang="en-US" sz="2400" dirty="0"/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3511775454"/>
                  </a:ext>
                </a:extLst>
              </a:tr>
              <a:tr h="333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maskeqz rd, rj, rk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条件赋值，</a:t>
                      </a:r>
                      <a:r>
                        <a:rPr lang="en-US" altLang="zh-CN" sz="2400" dirty="0" err="1"/>
                        <a:t>rd</a:t>
                      </a:r>
                      <a:r>
                        <a:rPr lang="en-US" altLang="zh-CN" sz="2400" dirty="0"/>
                        <a:t> = (</a:t>
                      </a:r>
                      <a:r>
                        <a:rPr lang="en-US" altLang="zh-CN" sz="2400" dirty="0" err="1"/>
                        <a:t>rk</a:t>
                      </a:r>
                      <a:r>
                        <a:rPr lang="en-US" altLang="zh-CN" sz="2400" dirty="0"/>
                        <a:t> == 0) ? 0 : </a:t>
                      </a:r>
                      <a:r>
                        <a:rPr lang="en-US" altLang="zh-CN" sz="2400" dirty="0" err="1"/>
                        <a:t>rj</a:t>
                      </a:r>
                      <a:endParaRPr lang="zh-CN" altLang="en-US" sz="2400" dirty="0"/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1515145937"/>
                  </a:ext>
                </a:extLst>
              </a:tr>
              <a:tr h="3334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masknez rd, rj, rk</a:t>
                      </a:r>
                    </a:p>
                  </a:txBody>
                  <a:tcPr marL="47642" marR="47642" marT="23821" marB="238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条件赋值，</a:t>
                      </a:r>
                      <a:r>
                        <a:rPr lang="en-US" altLang="zh-CN" sz="2400" dirty="0" err="1"/>
                        <a:t>rd</a:t>
                      </a:r>
                      <a:r>
                        <a:rPr lang="en-US" altLang="zh-CN" sz="2400" dirty="0"/>
                        <a:t> = (</a:t>
                      </a:r>
                      <a:r>
                        <a:rPr lang="en-US" altLang="zh-CN" sz="2400" dirty="0" err="1"/>
                        <a:t>rk</a:t>
                      </a:r>
                      <a:r>
                        <a:rPr lang="en-US" altLang="zh-CN" sz="2400" dirty="0"/>
                        <a:t> != 0) ? 0 : </a:t>
                      </a:r>
                      <a:r>
                        <a:rPr lang="en-US" altLang="zh-CN" sz="2400" dirty="0" err="1"/>
                        <a:t>rj</a:t>
                      </a:r>
                      <a:endParaRPr lang="zh-CN" altLang="en-US" sz="2400" dirty="0"/>
                    </a:p>
                  </a:txBody>
                  <a:tcPr marL="47642" marR="47642" marT="23821" marB="23821" anchor="ctr"/>
                </a:tc>
                <a:extLst>
                  <a:ext uri="{0D108BD9-81ED-4DB2-BD59-A6C34878D82A}">
                    <a16:rowId xmlns:a16="http://schemas.microsoft.com/office/drawing/2014/main" val="31457822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执行过程表：min 例 b=3,c=5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612830"/>
              </p:ext>
            </p:extLst>
          </p:nvPr>
        </p:nvGraphicFramePr>
        <p:xfrm>
          <a:off x="502920" y="1170432"/>
          <a:ext cx="10607040" cy="39319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479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1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2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06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1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chemeClr val="tx1"/>
                          </a:solidFill>
                        </a:rPr>
                        <a:t>步</a:t>
                      </a:r>
                      <a:endParaRPr sz="2400" b="1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1" dirty="0" err="1">
                          <a:solidFill>
                            <a:schemeClr val="tx1"/>
                          </a:solidFill>
                        </a:rPr>
                        <a:t>指令</a:t>
                      </a:r>
                      <a:endParaRPr sz="2400" b="1" dirty="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chemeClr val="tx1"/>
                          </a:solidFill>
                        </a:rPr>
                        <a:t>计算/含义</a:t>
                      </a:r>
                      <a:endParaRPr sz="2400" b="1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chemeClr val="tx1"/>
                          </a:solidFill>
                        </a:rPr>
                        <a:t>r4</a:t>
                      </a:r>
                      <a:endParaRPr sz="2400" b="1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chemeClr val="tx1"/>
                          </a:solidFill>
                        </a:rPr>
                        <a:t>r5</a:t>
                      </a:r>
                      <a:endParaRPr sz="2400" b="1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chemeClr val="tx1"/>
                          </a:solidFill>
                        </a:rPr>
                        <a:t>r12</a:t>
                      </a:r>
                      <a:endParaRPr sz="2400" b="1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1" dirty="0">
                          <a:solidFill>
                            <a:schemeClr val="tx1"/>
                          </a:solidFill>
                        </a:rPr>
                        <a:t>r6</a:t>
                      </a:r>
                      <a:endParaRPr sz="2400" b="1" dirty="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0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入口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b=3,c=5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3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5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?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?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1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lang="en-US" altLang="zh-CN" sz="2400" b="0" dirty="0" err="1">
                          <a:solidFill>
                            <a:schemeClr val="tx1"/>
                          </a:solidFill>
                        </a:rPr>
                        <a:t>slt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</a:rPr>
                        <a:t>   r12, r4, r5</a:t>
                      </a:r>
                      <a:endParaRPr lang="en-US" altLang="zh-CN" sz="2400" b="0" dirty="0">
                        <a:solidFill>
                          <a:schemeClr val="tx1"/>
                        </a:solidFill>
                        <a:latin typeface="Consolas" panose="020B060902020403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2252B"/>
                          </a:solidFill>
                        </a:rPr>
                        <a:t>3&lt;5→1</a:t>
                      </a:r>
                      <a:endParaRPr sz="2400" b="0" dirty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3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5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1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?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2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dirty="0" err="1">
                          <a:solidFill>
                            <a:schemeClr val="tx1"/>
                          </a:solidFill>
                          <a:latin typeface="Consolas" panose="020B0609020204030204"/>
                        </a:rPr>
                        <a:t>maskeqz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Consolas" panose="020B0609020204030204"/>
                        </a:rPr>
                        <a:t>  r4,  r4, r12</a:t>
                      </a:r>
                      <a:endParaRPr sz="2400" b="0" dirty="0">
                        <a:solidFill>
                          <a:schemeClr val="tx1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r12≠0→r4=b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3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5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1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?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3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lang="en-US" altLang="zh-CN" sz="2400" b="0" dirty="0" err="1">
                          <a:solidFill>
                            <a:schemeClr val="tx1"/>
                          </a:solidFill>
                          <a:latin typeface="Consolas" panose="020B0609020204030204"/>
                        </a:rPr>
                        <a:t>masknez</a:t>
                      </a: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Consolas" panose="020B0609020204030204"/>
                        </a:rPr>
                        <a:t>  r12, r5, r12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r12≠0→r12=0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3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5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0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?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4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400"/>
                        </a:spcAft>
                      </a:pPr>
                      <a:r>
                        <a:rPr lang="en-US" altLang="zh-CN" sz="2400" b="0" dirty="0">
                          <a:solidFill>
                            <a:schemeClr val="tx1"/>
                          </a:solidFill>
                          <a:latin typeface="Consolas" panose="020B0609020204030204"/>
                        </a:rPr>
                        <a:t>or   r6,  r4, r12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3|0=3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3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5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</a:rPr>
                        <a:t>0</a:t>
                      </a:r>
                      <a:endParaRPr sz="2400" b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2400" b="0" dirty="0">
                          <a:solidFill>
                            <a:srgbClr val="22252B"/>
                          </a:solidFill>
                        </a:rPr>
                        <a:t>3</a:t>
                      </a:r>
                      <a:endParaRPr sz="2400" b="0" dirty="0">
                        <a:solidFill>
                          <a:srgbClr val="22252B"/>
                        </a:solidFill>
                        <a:latin typeface="微软雅黑" panose="020B050302020402020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slt 与 sltu 必须分清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6583680" cy="2656429"/>
          </a:xfrm>
          <a:prstGeom prst="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rtlCol="0" anchor="ctr"/>
          <a:lstStyle/>
          <a:p>
            <a:pPr>
              <a:spcAft>
                <a:spcPts val="400"/>
              </a:spcAft>
            </a:pP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slt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 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rd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,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rj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,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rk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  #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有符号</a:t>
            </a:r>
            <a:endParaRPr sz="2400" b="0" dirty="0">
              <a:solidFill>
                <a:srgbClr val="EEF1F6"/>
              </a:solidFill>
              <a:latin typeface="Consolas" panose="020B0609020204030204"/>
            </a:endParaRPr>
          </a:p>
          <a:p>
            <a:pPr>
              <a:spcAft>
                <a:spcPts val="400"/>
              </a:spcAft>
            </a:pP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sltu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rd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,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rj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,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rk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  #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无符号</a:t>
            </a:r>
            <a:endParaRPr sz="2400" b="0" dirty="0">
              <a:solidFill>
                <a:srgbClr val="EEF1F6"/>
              </a:solidFill>
              <a:latin typeface="Consolas" panose="020B0609020204030204"/>
            </a:endParaRP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# 最高位为1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的无符号大正数</a:t>
            </a:r>
            <a:endParaRPr sz="2400" b="0" dirty="0">
              <a:solidFill>
                <a:srgbClr val="EEF1F6"/>
              </a:solidFill>
              <a:latin typeface="Consolas" panose="020B0609020204030204"/>
            </a:endParaRP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# 用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slt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会当负数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→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大小可能颠倒</a:t>
            </a:r>
            <a:endParaRPr sz="2400" b="0" dirty="0">
              <a:solidFill>
                <a:srgbClr val="EEF1F6"/>
              </a:solidFill>
              <a:latin typeface="Consolas" panose="020B0609020204030204"/>
            </a:endParaRP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#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地址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/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长度多用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sltu</a:t>
            </a:r>
            <a:endParaRPr sz="2400" b="0" dirty="0">
              <a:solidFill>
                <a:srgbClr val="EEF1F6"/>
              </a:solidFill>
              <a:latin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0" y="1170432"/>
            <a:ext cx="4389120" cy="14055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•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先约定有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/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无符号</a:t>
            </a:r>
            <a:endParaRPr sz="2400" b="0" dirty="0">
              <a:solidFill>
                <a:srgbClr val="22252B"/>
              </a:solidFill>
              <a:latin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•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还有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slti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/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sltui</a:t>
            </a:r>
            <a:endParaRPr sz="2400" b="0" dirty="0">
              <a:solidFill>
                <a:srgbClr val="22252B"/>
              </a:solidFill>
              <a:latin typeface="微软雅黑" panose="020B0503020204020204" charset="-122"/>
            </a:endParaRPr>
          </a:p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•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不是可省略的点名</a:t>
            </a:r>
            <a:endParaRPr sz="2400" b="0" dirty="0">
              <a:solidFill>
                <a:srgbClr val="22252B"/>
              </a:solidFill>
              <a:latin typeface="微软雅黑" panose="020B050302020402020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7EB2C0-93DB-8627-96E3-7A529093A977}"/>
              </a:ext>
            </a:extLst>
          </p:cNvPr>
          <p:cNvSpPr txBox="1"/>
          <p:nvPr/>
        </p:nvSpPr>
        <p:spPr>
          <a:xfrm>
            <a:off x="607979" y="4105232"/>
            <a:ext cx="61186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空指令 </a:t>
            </a:r>
            <a:r>
              <a:rPr lang="en-US" altLang="zh-CN" sz="2400" b="1" i="0" dirty="0" err="1">
                <a:solidFill>
                  <a:srgbClr val="4D4D4D"/>
                </a:solidFill>
                <a:effectLst/>
                <a:latin typeface="-apple-system"/>
              </a:rPr>
              <a:t>nop</a:t>
            </a:r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的使用</a:t>
            </a:r>
            <a:endParaRPr lang="zh-CN" altLang="en-US" sz="24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99EE9FE-9105-50F1-ABAF-E254AFD74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35" y="4798595"/>
            <a:ext cx="5984840" cy="86348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7A8B554-E272-146C-E48A-58EF4006E4D5}"/>
              </a:ext>
            </a:extLst>
          </p:cNvPr>
          <p:cNvSpPr txBox="1"/>
          <p:nvPr/>
        </p:nvSpPr>
        <p:spPr>
          <a:xfrm>
            <a:off x="741834" y="5943600"/>
            <a:ext cx="109624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看上去没有什么功能实现，仅为占据 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4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字节的指令码位置并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将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PC </a:t>
            </a:r>
            <a:r>
              <a:rPr lang="zh-CN" altLang="en-US" b="0" i="0" dirty="0">
                <a:solidFill>
                  <a:srgbClr val="FF0000"/>
                </a:solidFill>
                <a:effectLst/>
                <a:latin typeface="-apple-system"/>
              </a:rPr>
              <a:t>加 </a:t>
            </a:r>
            <a:r>
              <a:rPr lang="en-US" altLang="zh-CN" b="0" i="0" dirty="0">
                <a:solidFill>
                  <a:srgbClr val="FF0000"/>
                </a:solidFill>
                <a:effectLst/>
                <a:latin typeface="-apple-system"/>
              </a:rPr>
              <a:t>4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，但是 </a:t>
            </a:r>
            <a:r>
              <a:rPr lang="en-US" altLang="zh-CN" b="0" i="0" dirty="0" err="1">
                <a:solidFill>
                  <a:srgbClr val="4D4D4D"/>
                </a:solidFill>
                <a:effectLst/>
                <a:latin typeface="-apple-system"/>
              </a:rPr>
              <a:t>nop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指令却有实际的使用意义，例如编译器中常用 </a:t>
            </a:r>
            <a:r>
              <a:rPr lang="en-US" altLang="zh-CN" b="1" i="0" dirty="0" err="1">
                <a:solidFill>
                  <a:srgbClr val="4D4D4D"/>
                </a:solidFill>
                <a:effectLst/>
                <a:latin typeface="-apple-system"/>
              </a:rPr>
              <a:t>nop</a:t>
            </a:r>
            <a:r>
              <a:rPr lang="en-US" altLang="zh-CN" b="1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b="1" i="0" dirty="0">
                <a:solidFill>
                  <a:srgbClr val="4D4D4D"/>
                </a:solidFill>
                <a:effectLst/>
                <a:latin typeface="-apple-system"/>
              </a:rPr>
              <a:t>指令来保证内存对齐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FC9A5-ACA2-80ED-C2A3-0350195D9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2608E34-9E5D-0FF6-C3BF-A5F6F58074A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A3765-82AC-E060-DE88-DA59A8B03D1B}"/>
              </a:ext>
            </a:extLst>
          </p:cNvPr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slt 与 sltu 必须分清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FE99CA-9138-FEF2-33DC-69BE696697E4}"/>
              </a:ext>
            </a:extLst>
          </p:cNvPr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5E1DE0-7E57-0609-A0FD-109D09CD8144}"/>
              </a:ext>
            </a:extLst>
          </p:cNvPr>
          <p:cNvSpPr txBox="1"/>
          <p:nvPr/>
        </p:nvSpPr>
        <p:spPr>
          <a:xfrm>
            <a:off x="607979" y="1218781"/>
            <a:ext cx="61186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空指令 </a:t>
            </a:r>
            <a:r>
              <a:rPr lang="en-US" altLang="zh-CN" sz="2400" b="1" i="0" dirty="0" err="1">
                <a:solidFill>
                  <a:srgbClr val="4D4D4D"/>
                </a:solidFill>
                <a:effectLst/>
                <a:latin typeface="-apple-system"/>
              </a:rPr>
              <a:t>nop</a:t>
            </a:r>
            <a:r>
              <a:rPr lang="en-US" altLang="zh-CN" sz="2400" b="1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zh-CN" altLang="en-US" sz="2400" b="1" i="0" dirty="0">
                <a:solidFill>
                  <a:srgbClr val="4D4D4D"/>
                </a:solidFill>
                <a:effectLst/>
                <a:latin typeface="-apple-system"/>
              </a:rPr>
              <a:t>的使用</a:t>
            </a:r>
            <a:endParaRPr lang="zh-CN" altLang="en-US" sz="24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0A11C1-CF58-7375-0A93-CC2EADDBD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512" y="1056132"/>
            <a:ext cx="5984840" cy="86348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0A518D2-C09C-90C3-6DE1-D9F8CA10F662}"/>
              </a:ext>
            </a:extLst>
          </p:cNvPr>
          <p:cNvSpPr txBox="1"/>
          <p:nvPr/>
        </p:nvSpPr>
        <p:spPr>
          <a:xfrm>
            <a:off x="343812" y="2476500"/>
            <a:ext cx="11247120" cy="33462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NOP 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指令本身无实际操作，仅占用 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字节指令码位置，并将 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（程序计数器）加 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实际用途：编译器用来保证内存对齐。</a:t>
            </a:r>
            <a:endParaRPr lang="en-US" altLang="zh-C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龙芯平台对齐要求：函数起始地址需 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字节对齐（可被 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整除）。</a:t>
            </a:r>
            <a:endParaRPr lang="en-US" altLang="zh-CN" sz="24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编译器处理方式：若函数最后一条指令（多为跳转指令）的地址未满足 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16 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字节对齐，编译器会在其后插入 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条 </a:t>
            </a:r>
            <a:r>
              <a:rPr lang="en-US" altLang="zh-C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NOP</a:t>
            </a:r>
            <a:r>
              <a:rPr lang="zh-CN" altLang="en-US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，确保下一个函数起始地址对齐。</a:t>
            </a:r>
          </a:p>
        </p:txBody>
      </p:sp>
    </p:spTree>
    <p:extLst>
      <p:ext uri="{BB962C8B-B14F-4D97-AF65-F5344CB8AC3E}">
        <p14:creationId xmlns:p14="http://schemas.microsoft.com/office/powerpoint/2010/main" val="3049501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§3.1.3 移位运算（系统）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16E0C3B-627A-D925-3957-33FC2DB54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262875"/>
              </p:ext>
            </p:extLst>
          </p:nvPr>
        </p:nvGraphicFramePr>
        <p:xfrm>
          <a:off x="632451" y="1056132"/>
          <a:ext cx="9954014" cy="5320614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501399">
                  <a:extLst>
                    <a:ext uri="{9D8B030D-6E8A-4147-A177-3AD203B41FA5}">
                      <a16:colId xmlns:a16="http://schemas.microsoft.com/office/drawing/2014/main" val="3456911147"/>
                    </a:ext>
                  </a:extLst>
                </a:gridCol>
                <a:gridCol w="6452615">
                  <a:extLst>
                    <a:ext uri="{9D8B030D-6E8A-4147-A177-3AD203B41FA5}">
                      <a16:colId xmlns:a16="http://schemas.microsoft.com/office/drawing/2014/main" val="3356363020"/>
                    </a:ext>
                  </a:extLst>
                </a:gridCol>
              </a:tblGrid>
              <a:tr h="174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指令格式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功能简述</a:t>
                      </a:r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1658826800"/>
                  </a:ext>
                </a:extLst>
              </a:tr>
              <a:tr h="304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sll.w rd, rj, rk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32 </a:t>
                      </a:r>
                      <a:r>
                        <a:rPr lang="zh-CN" altLang="en-US" sz="2400"/>
                        <a:t>位逻辑左移，</a:t>
                      </a:r>
                      <a:r>
                        <a:rPr lang="en-US" altLang="zh-CN" sz="2400"/>
                        <a:t>rd = rj &lt;&lt; rk[4:0]</a:t>
                      </a:r>
                      <a:endParaRPr lang="zh-CN" altLang="en-US" sz="2400"/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1438928630"/>
                  </a:ext>
                </a:extLst>
              </a:tr>
              <a:tr h="304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sll.d rd, rj, rk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64 </a:t>
                      </a:r>
                      <a:r>
                        <a:rPr lang="zh-CN" altLang="en-US" sz="2400"/>
                        <a:t>位逻辑左移，</a:t>
                      </a:r>
                      <a:r>
                        <a:rPr lang="en-US" altLang="zh-CN" sz="2400"/>
                        <a:t>rd = rj &lt;&lt; rk[5:0]</a:t>
                      </a:r>
                      <a:endParaRPr lang="zh-CN" altLang="en-US" sz="2400"/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3992438942"/>
                  </a:ext>
                </a:extLst>
              </a:tr>
              <a:tr h="304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slli.w rd, rj, ui5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32 </a:t>
                      </a:r>
                      <a:r>
                        <a:rPr lang="zh-CN" altLang="en-US" sz="2400"/>
                        <a:t>位立即数逻辑左移，</a:t>
                      </a:r>
                      <a:r>
                        <a:rPr lang="en-US" altLang="zh-CN" sz="2400"/>
                        <a:t>rd = rj &lt;&lt; ui5</a:t>
                      </a:r>
                      <a:endParaRPr lang="zh-CN" altLang="en-US" sz="2400"/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3657060384"/>
                  </a:ext>
                </a:extLst>
              </a:tr>
              <a:tr h="304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slli.d rd, rj, ui6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64 </a:t>
                      </a:r>
                      <a:r>
                        <a:rPr lang="zh-CN" altLang="en-US" sz="2400"/>
                        <a:t>位立即数逻辑左移，</a:t>
                      </a:r>
                      <a:r>
                        <a:rPr lang="en-US" altLang="zh-CN" sz="2400"/>
                        <a:t>rd = rj &lt;&lt; ui6</a:t>
                      </a:r>
                      <a:endParaRPr lang="zh-CN" altLang="en-US" sz="2400"/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2986432086"/>
                  </a:ext>
                </a:extLst>
              </a:tr>
              <a:tr h="304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srl.w rd, rj, rk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32 </a:t>
                      </a:r>
                      <a:r>
                        <a:rPr lang="zh-CN" altLang="en-US" sz="2400"/>
                        <a:t>位逻辑右移，</a:t>
                      </a:r>
                      <a:r>
                        <a:rPr lang="en-US" altLang="zh-CN" sz="2400"/>
                        <a:t>rd = rj &gt;&gt; rk[4:0]</a:t>
                      </a:r>
                      <a:endParaRPr lang="zh-CN" altLang="en-US" sz="2400"/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2637324151"/>
                  </a:ext>
                </a:extLst>
              </a:tr>
              <a:tr h="304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srl.d rd, rj, rk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64 </a:t>
                      </a:r>
                      <a:r>
                        <a:rPr lang="zh-CN" altLang="en-US" sz="2400"/>
                        <a:t>位逻辑右移，</a:t>
                      </a:r>
                      <a:r>
                        <a:rPr lang="en-US" altLang="zh-CN" sz="2400"/>
                        <a:t>rd = rj &gt;&gt; rk[5:0]</a:t>
                      </a:r>
                      <a:endParaRPr lang="zh-CN" altLang="en-US" sz="2400"/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3681030715"/>
                  </a:ext>
                </a:extLst>
              </a:tr>
              <a:tr h="304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srli.w rd, rj, ui5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32 </a:t>
                      </a:r>
                      <a:r>
                        <a:rPr lang="zh-CN" altLang="en-US" sz="2400"/>
                        <a:t>位立即数逻辑右移，</a:t>
                      </a:r>
                      <a:r>
                        <a:rPr lang="en-US" altLang="zh-CN" sz="2400"/>
                        <a:t>rd = rj &gt;&gt; ui5</a:t>
                      </a:r>
                      <a:endParaRPr lang="zh-CN" altLang="en-US" sz="2400"/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789945741"/>
                  </a:ext>
                </a:extLst>
              </a:tr>
              <a:tr h="304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srli.d rd, rj, ui6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64 </a:t>
                      </a:r>
                      <a:r>
                        <a:rPr lang="zh-CN" altLang="en-US" sz="2400"/>
                        <a:t>位立即数逻辑右移，</a:t>
                      </a:r>
                      <a:r>
                        <a:rPr lang="en-US" altLang="zh-CN" sz="2400"/>
                        <a:t>rd = rj &gt;&gt; ui6</a:t>
                      </a:r>
                      <a:endParaRPr lang="zh-CN" altLang="en-US" sz="2400"/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4196187684"/>
                  </a:ext>
                </a:extLst>
              </a:tr>
              <a:tr h="304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sra.w rd, rj, rk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32 </a:t>
                      </a:r>
                      <a:r>
                        <a:rPr lang="zh-CN" altLang="en-US" sz="2400"/>
                        <a:t>位算术右移，</a:t>
                      </a:r>
                      <a:r>
                        <a:rPr lang="en-US" sz="2400"/>
                        <a:t>rd = rj &gt;&gt; rk[4:0]</a:t>
                      </a:r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3912797463"/>
                  </a:ext>
                </a:extLst>
              </a:tr>
              <a:tr h="304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sra.d rd, rj, rk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64 </a:t>
                      </a:r>
                      <a:r>
                        <a:rPr lang="zh-CN" altLang="en-US" sz="2400"/>
                        <a:t>位算术右移，</a:t>
                      </a:r>
                      <a:r>
                        <a:rPr lang="en-US" sz="2400"/>
                        <a:t>rd = rj &gt;&gt; rk[5:0]</a:t>
                      </a:r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590652325"/>
                  </a:ext>
                </a:extLst>
              </a:tr>
              <a:tr h="304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srai.w rd, rj, ui5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32 </a:t>
                      </a:r>
                      <a:r>
                        <a:rPr lang="zh-CN" altLang="en-US" sz="2400"/>
                        <a:t>位立即数算术右移，</a:t>
                      </a:r>
                      <a:r>
                        <a:rPr lang="en-US" altLang="zh-CN" sz="2400"/>
                        <a:t>rd = rj &gt;&gt; ui5</a:t>
                      </a:r>
                      <a:endParaRPr lang="zh-CN" altLang="en-US" sz="2400"/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2077312977"/>
                  </a:ext>
                </a:extLst>
              </a:tr>
              <a:tr h="304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srai.d rd, rj, ui6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64 </a:t>
                      </a:r>
                      <a:r>
                        <a:rPr lang="zh-CN" altLang="en-US" sz="2400" dirty="0"/>
                        <a:t>位立即数算术右移，</a:t>
                      </a:r>
                      <a:r>
                        <a:rPr lang="en-US" altLang="zh-CN" sz="2400" dirty="0" err="1"/>
                        <a:t>rd</a:t>
                      </a:r>
                      <a:r>
                        <a:rPr lang="en-US" altLang="zh-CN" sz="2400" dirty="0"/>
                        <a:t> = </a:t>
                      </a:r>
                      <a:r>
                        <a:rPr lang="en-US" altLang="zh-CN" sz="2400" dirty="0" err="1"/>
                        <a:t>rj</a:t>
                      </a:r>
                      <a:r>
                        <a:rPr lang="en-US" altLang="zh-CN" sz="2400" dirty="0"/>
                        <a:t> &gt;&gt; ui6</a:t>
                      </a:r>
                      <a:endParaRPr lang="zh-CN" altLang="en-US" sz="2400" dirty="0"/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38965685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1EC2E-D1D2-411F-C5BF-7945086F6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8BD7F1-0090-8DEC-85B0-51B914A5053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7CED5B-BFA4-6713-A899-C078ED55D915}"/>
              </a:ext>
            </a:extLst>
          </p:cNvPr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§3.1.3 移位运算（系统）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8F4A1E-6F18-EAC5-77F6-E95C5A4E2AD9}"/>
              </a:ext>
            </a:extLst>
          </p:cNvPr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6D4343C-209E-3C19-B099-4FC2BD5ADC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913279"/>
              </p:ext>
            </p:extLst>
          </p:nvPr>
        </p:nvGraphicFramePr>
        <p:xfrm>
          <a:off x="746751" y="1347829"/>
          <a:ext cx="9954014" cy="204639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501399">
                  <a:extLst>
                    <a:ext uri="{9D8B030D-6E8A-4147-A177-3AD203B41FA5}">
                      <a16:colId xmlns:a16="http://schemas.microsoft.com/office/drawing/2014/main" val="3456911147"/>
                    </a:ext>
                  </a:extLst>
                </a:gridCol>
                <a:gridCol w="6452615">
                  <a:extLst>
                    <a:ext uri="{9D8B030D-6E8A-4147-A177-3AD203B41FA5}">
                      <a16:colId xmlns:a16="http://schemas.microsoft.com/office/drawing/2014/main" val="3356363020"/>
                    </a:ext>
                  </a:extLst>
                </a:gridCol>
              </a:tblGrid>
              <a:tr h="174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指令格式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功能简述</a:t>
                      </a:r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1658826800"/>
                  </a:ext>
                </a:extLst>
              </a:tr>
              <a:tr h="174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rotr.w rd, rj, rk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32 </a:t>
                      </a:r>
                      <a:r>
                        <a:rPr lang="zh-CN" altLang="en-US" sz="2400" dirty="0"/>
                        <a:t>位循环右移</a:t>
                      </a:r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2652716379"/>
                  </a:ext>
                </a:extLst>
              </a:tr>
              <a:tr h="174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rotr.d rd, rj, rk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64 </a:t>
                      </a:r>
                      <a:r>
                        <a:rPr lang="zh-CN" altLang="en-US" sz="2400"/>
                        <a:t>位循环右移</a:t>
                      </a:r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2859196034"/>
                  </a:ext>
                </a:extLst>
              </a:tr>
              <a:tr h="174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rotri.w rd, rj, ui5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32 </a:t>
                      </a:r>
                      <a:r>
                        <a:rPr lang="zh-CN" altLang="en-US" sz="2400"/>
                        <a:t>位立即数循环右移</a:t>
                      </a:r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3183161379"/>
                  </a:ext>
                </a:extLst>
              </a:tr>
              <a:tr h="1740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rotri.d rd, rj, ui6</a:t>
                      </a:r>
                    </a:p>
                  </a:txBody>
                  <a:tcPr marL="43519" marR="43519" marT="21759" marB="2175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64 </a:t>
                      </a:r>
                      <a:r>
                        <a:rPr lang="zh-CN" altLang="en-US" sz="2400" dirty="0"/>
                        <a:t>位立即数循环右移</a:t>
                      </a:r>
                    </a:p>
                  </a:txBody>
                  <a:tcPr marL="43519" marR="43519" marT="21759" marB="21759" anchor="ctr"/>
                </a:tc>
                <a:extLst>
                  <a:ext uri="{0D108BD9-81ED-4DB2-BD59-A6C34878D82A}">
                    <a16:rowId xmlns:a16="http://schemas.microsoft.com/office/drawing/2014/main" val="709322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9543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完整走读：slli.d（5&lt;&lt;1）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5852160" cy="1588008"/>
          </a:xfrm>
          <a:prstGeom prst="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rtlCol="0" anchor="ctr"/>
          <a:lstStyle/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# 设 r4=5</a:t>
            </a:r>
          </a:p>
          <a:p>
            <a:pPr>
              <a:spcAft>
                <a:spcPts val="400"/>
              </a:spcAft>
            </a:pP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slli.d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 r4, r4, 1</a:t>
            </a: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#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结果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r4=10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78992"/>
            <a:ext cx="53949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① 前：r4=5 = 0b…0101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②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逻辑左移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 1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位，</a:t>
            </a:r>
            <a:r>
              <a:rPr sz="2400" b="0" dirty="0" err="1">
                <a:solidFill>
                  <a:srgbClr val="FF0000"/>
                </a:solidFill>
                <a:latin typeface="微软雅黑" panose="020B0503020204020204" charset="-122"/>
              </a:rPr>
              <a:t>低位补</a:t>
            </a:r>
            <a:r>
              <a:rPr sz="2400" b="0" dirty="0">
                <a:solidFill>
                  <a:srgbClr val="FF0000"/>
                </a:solidFill>
                <a:latin typeface="微软雅黑" panose="020B0503020204020204" charset="-122"/>
              </a:rPr>
              <a:t> 0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③ 0b…0101&lt;&lt;1 = 0b…1010 = 10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④ 写 r4=10</a:t>
            </a:r>
          </a:p>
          <a:p>
            <a:pPr algn="l">
              <a:spcAft>
                <a:spcPts val="6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⑤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其它寄存器不变</a:t>
            </a:r>
            <a:endParaRPr sz="2400" b="0" dirty="0">
              <a:solidFill>
                <a:srgbClr val="22252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188720"/>
            <a:ext cx="2926080" cy="29260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28016" cy="56692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示例一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基本逻辑运算：and / or / xor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A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按位与 / 按位或 / 按位异或，逐位独立运算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91672" cy="2798064"/>
          </a:xfrm>
          <a:prstGeom prst="roundRect">
            <a:avLst>
              <a:gd name="adj" fmla="val 3922"/>
            </a:avLst>
          </a:prstGeom>
          <a:solidFill>
            <a:srgbClr val="141B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04872"/>
            <a:ext cx="104515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 = 0000 1111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FA3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(0x0F)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r5 = 0011 0011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FA3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(0x33)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r6, r4, r5   →  r6 = 0000 0011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(0x03)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 r7, r4, r5   →  r7 = 0011 1111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(0x3F)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 r8, r4, r5   →  r8 = 0011 1100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(0x3C)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221224"/>
            <a:ext cx="11091672" cy="18288"/>
          </a:xfrm>
          <a:prstGeom prst="rect">
            <a:avLst/>
          </a:prstGeom>
          <a:solidFill>
            <a:srgbClr val="E3E8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33095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同为1才为1(and)；有1就为1(or)；不同才为1(xor)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188720"/>
            <a:ext cx="2926080" cy="29260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28016" cy="56692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示例二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取反逻辑运算：andn / orn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A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andn: rd = rj &amp; (~rk)　　orn: rd = rj | (~rk)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91672" cy="2798064"/>
          </a:xfrm>
          <a:prstGeom prst="roundRect">
            <a:avLst>
              <a:gd name="adj" fmla="val 3922"/>
            </a:avLst>
          </a:prstGeom>
          <a:solidFill>
            <a:srgbClr val="141B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04872"/>
            <a:ext cx="104515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  = 0000 1111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FA3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(0x0F)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r5  = 0011 0011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FA3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(0x33)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FA3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~r5 = 1100 1100   (0xCC，仅供理解)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andn r9,  r4, r5  →  r9  = 0000 1100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(0x0C)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orn  r10, r4, r5  →  r10 = 1100 1111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(0xCF)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221224"/>
            <a:ext cx="11091672" cy="18288"/>
          </a:xfrm>
          <a:prstGeom prst="rect">
            <a:avLst/>
          </a:prstGeom>
          <a:solidFill>
            <a:srgbClr val="E3E8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33095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先对 rk 逐位取反，再与/或 rj —— 常用于按位清除或保留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188720"/>
            <a:ext cx="2926080" cy="29260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28016" cy="56692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示例三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带立即数的逻辑运算：andi / ori / xori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A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ui12 为 12 位无符号立即数，常用于位掩码操作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91672" cy="2340864"/>
          </a:xfrm>
          <a:prstGeom prst="roundRect">
            <a:avLst>
              <a:gd name="adj" fmla="val 4688"/>
            </a:avLst>
          </a:prstGeom>
          <a:solidFill>
            <a:srgbClr val="141B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04872"/>
            <a:ext cx="104515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 = 0000 1111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FA3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(0x0F)，掩码 ui12 = 0x30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andi r11, r4, 0x30  →  r11 = 0x00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清零指定位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  r12, r4, 0x30  →  r12 = 0x3F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置位指定位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xori r13, r4, 0x30  →  r13 = 0x3F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翻转指定位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4764024"/>
            <a:ext cx="11091672" cy="18288"/>
          </a:xfrm>
          <a:prstGeom prst="rect">
            <a:avLst/>
          </a:prstGeom>
          <a:solidFill>
            <a:srgbClr val="E3E8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87375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andi 清零 / ori 置位 / xori 翻转 —— 未涉及的位始终保持不变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188720"/>
            <a:ext cx="2926080" cy="29260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28016" cy="56692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示例四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比较指令：slt / sltu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A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同一组比特位，有符号与无符号的比较结果可能不同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91672" cy="2340864"/>
          </a:xfrm>
          <a:prstGeom prst="roundRect">
            <a:avLst>
              <a:gd name="adj" fmla="val 4688"/>
            </a:avLst>
          </a:prstGeom>
          <a:solidFill>
            <a:srgbClr val="141B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04872"/>
            <a:ext cx="104515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r14 = 0xFFFFFFFF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FA3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(有符号 = -1，无符号 = 4294967295)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r15 = 0x00000001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FA3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(= 1)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slt  r16, r14, r15  →  r16 = 1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(有符号: 成立)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sltu r17, r14, r15  →  r17 = 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(无符号: 不成立)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4764024"/>
            <a:ext cx="11091672" cy="18288"/>
          </a:xfrm>
          <a:prstGeom prst="rect">
            <a:avLst/>
          </a:prstGeom>
          <a:solidFill>
            <a:srgbClr val="E3E8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87375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同样的比特位，符号解释不同，比较结果就可能相反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188720"/>
            <a:ext cx="2926080" cy="29260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28016" cy="56692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示例五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条件赋值：maskeqz / masknez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A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根据 rk 是否为 0，决定保留 rj 还是清零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91672" cy="3255264"/>
          </a:xfrm>
          <a:prstGeom prst="roundRect">
            <a:avLst>
              <a:gd name="adj" fmla="val 3371"/>
            </a:avLst>
          </a:prstGeom>
          <a:solidFill>
            <a:srgbClr val="141B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04872"/>
            <a:ext cx="1045159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r18 = 100, r19 = 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FA3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(rj = 100，rk = 0)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maskeqz r20, r18, r19  →  r20 =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masknez r21, r18, r19  →  r21 = 100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r19 = 5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FA3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(rj 不变，rk 不为 0)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maskeqz r20, r18, r19  →  r20 = 100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masknez r21, r18, r19  →  r21 =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5678424"/>
            <a:ext cx="11091672" cy="18288"/>
          </a:xfrm>
          <a:prstGeom prst="rect">
            <a:avLst/>
          </a:prstGeom>
          <a:solidFill>
            <a:srgbClr val="E3E8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578815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maskeqz 在 rk 不为 0 时保留 rj，为 0 时清零；masknez 恰好相反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188720"/>
            <a:ext cx="2926080" cy="29260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28016" cy="56692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综合例题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无分支条件选择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A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实现 res = (c 不为 0) ? a : b，全程不使用跳转指令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设　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= r4 = 100　　b = r5 = 200　　c = r6 (条件寄存器)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11091672" cy="1883664"/>
          </a:xfrm>
          <a:prstGeom prst="roundRect">
            <a:avLst>
              <a:gd name="adj" fmla="val 5825"/>
            </a:avLst>
          </a:prstGeom>
          <a:solidFill>
            <a:srgbClr val="141B4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07792"/>
            <a:ext cx="10451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maskeqz t1, a, c   →  t1 = 100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masknez t2, b, c   →  t2 =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     res, t1, t2  →  res = 100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791456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A4A6B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若 c = 0：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 = 0，t2 = 200，res = 200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294376"/>
            <a:ext cx="11091672" cy="18288"/>
          </a:xfrm>
          <a:prstGeom prst="rect">
            <a:avLst/>
          </a:prstGeom>
          <a:solidFill>
            <a:srgbClr val="E3E8F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5404104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 始终选中正确分支 —— 等价于三目运算符，且没有分支预测开销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§3.1.4 位操作（系统）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16151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• 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扩展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/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计数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/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拼接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/</a:t>
            </a:r>
            <a:r>
              <a:rPr sz="2400" b="0" dirty="0" err="1">
                <a:solidFill>
                  <a:srgbClr val="22252B"/>
                </a:solidFill>
                <a:latin typeface="微软雅黑" panose="020B0503020204020204" charset="-122"/>
              </a:rPr>
              <a:t>逆序等（教材表</a:t>
            </a:r>
            <a:r>
              <a:rPr sz="2400" b="0" dirty="0">
                <a:solidFill>
                  <a:srgbClr val="22252B"/>
                </a:solidFill>
                <a:latin typeface="微软雅黑" panose="020B0503020204020204" charset="-122"/>
              </a:rPr>
              <a:t>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8EDABA-CC34-D6FB-F56E-9FEBDA7D4CCF}"/>
              </a:ext>
            </a:extLst>
          </p:cNvPr>
          <p:cNvSpPr txBox="1"/>
          <p:nvPr/>
        </p:nvSpPr>
        <p:spPr>
          <a:xfrm>
            <a:off x="647695" y="1956707"/>
            <a:ext cx="10957569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600" b="0" i="0" dirty="0">
                <a:solidFill>
                  <a:srgbClr val="4D4D4D"/>
                </a:solidFill>
                <a:effectLst/>
                <a:latin typeface="-apple-system"/>
              </a:rPr>
              <a:t>位操作：高位符号扩展、按条件计数、指定位数的数据拼接和提取、按条件逆序、指定位置的替换等。</a:t>
            </a:r>
            <a:endParaRPr lang="en-US" altLang="zh-CN" sz="2600" b="0" i="0" dirty="0">
              <a:solidFill>
                <a:srgbClr val="4D4D4D"/>
              </a:solidFill>
              <a:effectLst/>
              <a:latin typeface="-apple-system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600" b="0" i="0" dirty="0">
                <a:solidFill>
                  <a:srgbClr val="FF0000"/>
                </a:solidFill>
                <a:effectLst/>
                <a:latin typeface="-apple-system"/>
              </a:rPr>
              <a:t>位操作指令仅在 </a:t>
            </a:r>
            <a:r>
              <a:rPr lang="en-US" altLang="zh-CN" sz="2600" b="0" i="0" dirty="0">
                <a:solidFill>
                  <a:srgbClr val="FF0000"/>
                </a:solidFill>
                <a:effectLst/>
                <a:latin typeface="-apple-system"/>
              </a:rPr>
              <a:t>LA64 </a:t>
            </a:r>
            <a:r>
              <a:rPr lang="zh-CN" altLang="en-US" sz="2600" b="0" i="0" dirty="0">
                <a:solidFill>
                  <a:srgbClr val="FF0000"/>
                </a:solidFill>
                <a:effectLst/>
                <a:latin typeface="-apple-system"/>
              </a:rPr>
              <a:t>架构下被支持。</a:t>
            </a:r>
            <a:endParaRPr lang="zh-CN" altLang="en-US" sz="2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6C7A7-5A1F-2A1F-C352-CD11C3A97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30A161-FF2E-0190-9307-DB5A02D03E56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62135B-849E-4DBF-9D87-893A4BED5356}"/>
              </a:ext>
            </a:extLst>
          </p:cNvPr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§3.1.4 位操作（系统）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F161BD-0EB0-A6FE-CCD5-5B1528AC257E}"/>
              </a:ext>
            </a:extLst>
          </p:cNvPr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A4C209D-7ED6-8566-76A9-3C43213E6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469574"/>
              </p:ext>
            </p:extLst>
          </p:nvPr>
        </p:nvGraphicFramePr>
        <p:xfrm>
          <a:off x="704850" y="1303166"/>
          <a:ext cx="10908030" cy="512033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600450">
                  <a:extLst>
                    <a:ext uri="{9D8B030D-6E8A-4147-A177-3AD203B41FA5}">
                      <a16:colId xmlns:a16="http://schemas.microsoft.com/office/drawing/2014/main" val="2888539574"/>
                    </a:ext>
                  </a:extLst>
                </a:gridCol>
                <a:gridCol w="7307580">
                  <a:extLst>
                    <a:ext uri="{9D8B030D-6E8A-4147-A177-3AD203B41FA5}">
                      <a16:colId xmlns:a16="http://schemas.microsoft.com/office/drawing/2014/main" val="4179519522"/>
                    </a:ext>
                  </a:extLst>
                </a:gridCol>
              </a:tblGrid>
              <a:tr h="122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指令格式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功能简述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3951401847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ext.w.b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符号扩展：</a:t>
                      </a:r>
                      <a:r>
                        <a:rPr lang="en-US" sz="2400"/>
                        <a:t>rd = SignExtend(rj[7:0])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2325647359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ext.w.h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符号扩展：</a:t>
                      </a:r>
                      <a:r>
                        <a:rPr lang="en-US" sz="2400"/>
                        <a:t>rd = SignExtend(rj[15:0])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3512436743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clo.w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统计 </a:t>
                      </a:r>
                      <a:r>
                        <a:rPr lang="en-US" altLang="zh-CN" sz="2400"/>
                        <a:t>rj[31:0]</a:t>
                      </a:r>
                      <a:r>
                        <a:rPr lang="zh-CN" altLang="en-US" sz="2400"/>
                        <a:t> 从高位开始连续 </a:t>
                      </a:r>
                      <a:r>
                        <a:rPr lang="en-US" altLang="zh-CN" sz="2400"/>
                        <a:t>1</a:t>
                      </a:r>
                      <a:r>
                        <a:rPr lang="zh-CN" altLang="en-US" sz="2400"/>
                        <a:t> 的数量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2334548965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clz.w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统计 </a:t>
                      </a:r>
                      <a:r>
                        <a:rPr lang="en-US" altLang="zh-CN" sz="2400"/>
                        <a:t>rj[31:0]</a:t>
                      </a:r>
                      <a:r>
                        <a:rPr lang="zh-CN" altLang="en-US" sz="2400"/>
                        <a:t> 从高位开始连续 </a:t>
                      </a:r>
                      <a:r>
                        <a:rPr lang="en-US" altLang="zh-CN" sz="2400"/>
                        <a:t>0</a:t>
                      </a:r>
                      <a:r>
                        <a:rPr lang="zh-CN" altLang="en-US" sz="2400"/>
                        <a:t> 的数量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4059770255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cto.w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统计 </a:t>
                      </a:r>
                      <a:r>
                        <a:rPr lang="en-US" altLang="zh-CN" sz="2400"/>
                        <a:t>rj[31:0]</a:t>
                      </a:r>
                      <a:r>
                        <a:rPr lang="zh-CN" altLang="en-US" sz="2400"/>
                        <a:t> 从低位开始连续 </a:t>
                      </a:r>
                      <a:r>
                        <a:rPr lang="en-US" altLang="zh-CN" sz="2400"/>
                        <a:t>1</a:t>
                      </a:r>
                      <a:r>
                        <a:rPr lang="zh-CN" altLang="en-US" sz="2400"/>
                        <a:t> 的数量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2977344090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ctz.w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统计 </a:t>
                      </a:r>
                      <a:r>
                        <a:rPr lang="en-US" altLang="zh-CN" sz="2400"/>
                        <a:t>rj[31:0]</a:t>
                      </a:r>
                      <a:r>
                        <a:rPr lang="zh-CN" altLang="en-US" sz="2400"/>
                        <a:t> 从低位开始连续 </a:t>
                      </a:r>
                      <a:r>
                        <a:rPr lang="en-US" altLang="zh-CN" sz="2400"/>
                        <a:t>0</a:t>
                      </a:r>
                      <a:r>
                        <a:rPr lang="zh-CN" altLang="en-US" sz="2400"/>
                        <a:t> 的数量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2052920951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clo.d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统计 </a:t>
                      </a:r>
                      <a:r>
                        <a:rPr lang="en-US" altLang="zh-CN" sz="2400"/>
                        <a:t>rj[63:0]</a:t>
                      </a:r>
                      <a:r>
                        <a:rPr lang="zh-CN" altLang="en-US" sz="2400"/>
                        <a:t> 从高位开始连续 </a:t>
                      </a:r>
                      <a:r>
                        <a:rPr lang="en-US" altLang="zh-CN" sz="2400"/>
                        <a:t>1</a:t>
                      </a:r>
                      <a:r>
                        <a:rPr lang="zh-CN" altLang="en-US" sz="2400"/>
                        <a:t> 的数量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654372225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clz.d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统计 </a:t>
                      </a:r>
                      <a:r>
                        <a:rPr lang="en-US" altLang="zh-CN" sz="2400"/>
                        <a:t>rj[63:0]</a:t>
                      </a:r>
                      <a:r>
                        <a:rPr lang="zh-CN" altLang="en-US" sz="2400"/>
                        <a:t> 从高位开始连续 </a:t>
                      </a:r>
                      <a:r>
                        <a:rPr lang="en-US" altLang="zh-CN" sz="2400"/>
                        <a:t>0</a:t>
                      </a:r>
                      <a:r>
                        <a:rPr lang="zh-CN" altLang="en-US" sz="2400"/>
                        <a:t> 的数量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2729442509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cto.d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统计 </a:t>
                      </a:r>
                      <a:r>
                        <a:rPr lang="en-US" altLang="zh-CN" sz="2400"/>
                        <a:t>rj[63:0]</a:t>
                      </a:r>
                      <a:r>
                        <a:rPr lang="zh-CN" altLang="en-US" sz="2400"/>
                        <a:t> 从低位开始连续 </a:t>
                      </a:r>
                      <a:r>
                        <a:rPr lang="en-US" altLang="zh-CN" sz="2400"/>
                        <a:t>1</a:t>
                      </a:r>
                      <a:r>
                        <a:rPr lang="zh-CN" altLang="en-US" sz="2400"/>
                        <a:t> 的数量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1423828956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ctz.d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统计 </a:t>
                      </a:r>
                      <a:r>
                        <a:rPr lang="en-US" altLang="zh-CN" sz="2400"/>
                        <a:t>rj[63:0]</a:t>
                      </a:r>
                      <a:r>
                        <a:rPr lang="zh-CN" altLang="en-US" sz="2400"/>
                        <a:t> 从低位开始连续 </a:t>
                      </a:r>
                      <a:r>
                        <a:rPr lang="en-US" altLang="zh-CN" sz="2400"/>
                        <a:t>0</a:t>
                      </a:r>
                      <a:r>
                        <a:rPr lang="zh-CN" altLang="en-US" sz="2400"/>
                        <a:t> 的数量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2578114615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bytepick.w rd, rj, rk, sa2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拼接 </a:t>
                      </a:r>
                      <a:r>
                        <a:rPr lang="en-US" altLang="zh-CN" sz="2400"/>
                        <a:t>rk[31:0]</a:t>
                      </a:r>
                      <a:r>
                        <a:rPr lang="zh-CN" altLang="en-US" sz="2400"/>
                        <a:t> 与 </a:t>
                      </a:r>
                      <a:r>
                        <a:rPr lang="en-US" altLang="zh-CN" sz="2400"/>
                        <a:t>rj[31:0]</a:t>
                      </a:r>
                      <a:r>
                        <a:rPr lang="zh-CN" altLang="en-US" sz="2400"/>
                        <a:t>，截取 </a:t>
                      </a:r>
                      <a:r>
                        <a:rPr lang="en-US" altLang="zh-CN" sz="2400"/>
                        <a:t>32 </a:t>
                      </a:r>
                      <a:r>
                        <a:rPr lang="zh-CN" altLang="en-US" sz="2400"/>
                        <a:t>位并符号扩展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63689040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bytepick.d rd, rj, rk, sa3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拼接 </a:t>
                      </a:r>
                      <a:r>
                        <a:rPr lang="en-US" sz="2400" dirty="0" err="1"/>
                        <a:t>rk</a:t>
                      </a:r>
                      <a:r>
                        <a:rPr lang="en-US" sz="2400" dirty="0"/>
                        <a:t>[63:0] </a:t>
                      </a:r>
                      <a:r>
                        <a:rPr lang="zh-CN" altLang="en-US" sz="2400" dirty="0"/>
                        <a:t>与 </a:t>
                      </a:r>
                      <a:r>
                        <a:rPr lang="en-US" sz="2400" dirty="0" err="1"/>
                        <a:t>rj</a:t>
                      </a:r>
                      <a:r>
                        <a:rPr lang="en-US" sz="2400" dirty="0"/>
                        <a:t>[63:0]，</a:t>
                      </a:r>
                      <a:r>
                        <a:rPr lang="zh-CN" altLang="en-US" sz="2400" dirty="0"/>
                        <a:t>截取 </a:t>
                      </a:r>
                      <a:r>
                        <a:rPr lang="en-US" altLang="zh-CN" sz="2400" dirty="0"/>
                        <a:t>64 </a:t>
                      </a:r>
                      <a:r>
                        <a:rPr lang="zh-CN" altLang="en-US" sz="2400" dirty="0"/>
                        <a:t>位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4078092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34532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7B5E4-2B33-A91B-2EE2-9D6E0DC8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B2D040C-6308-DDF5-288E-9C28710DCB0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596C58-135B-D414-4368-B00344532E45}"/>
              </a:ext>
            </a:extLst>
          </p:cNvPr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§3.1.4 位操作（系统）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7C660C-18EA-9DF3-1AA7-6F12EAC52C2E}"/>
              </a:ext>
            </a:extLst>
          </p:cNvPr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68FC85F-7811-A307-CE63-AE892D87A0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385048"/>
              </p:ext>
            </p:extLst>
          </p:nvPr>
        </p:nvGraphicFramePr>
        <p:xfrm>
          <a:off x="581025" y="1082948"/>
          <a:ext cx="10908030" cy="551420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3600450">
                  <a:extLst>
                    <a:ext uri="{9D8B030D-6E8A-4147-A177-3AD203B41FA5}">
                      <a16:colId xmlns:a16="http://schemas.microsoft.com/office/drawing/2014/main" val="2888539574"/>
                    </a:ext>
                  </a:extLst>
                </a:gridCol>
                <a:gridCol w="7307580">
                  <a:extLst>
                    <a:ext uri="{9D8B030D-6E8A-4147-A177-3AD203B41FA5}">
                      <a16:colId xmlns:a16="http://schemas.microsoft.com/office/drawing/2014/main" val="4179519522"/>
                    </a:ext>
                  </a:extLst>
                </a:gridCol>
              </a:tblGrid>
              <a:tr h="122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指令格式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功能简述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3951401847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revb.2h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 dirty="0"/>
                        <a:t>32 </a:t>
                      </a:r>
                      <a:r>
                        <a:rPr lang="zh-CN" altLang="en-US" sz="2400" dirty="0"/>
                        <a:t>位数按半字分组，各半字内部字节逆序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8803490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revb.4h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64 </a:t>
                      </a:r>
                      <a:r>
                        <a:rPr lang="zh-CN" altLang="en-US" sz="2400"/>
                        <a:t>位数按半字分组，各半字内部字节逆序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3682647685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revb.2w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64 </a:t>
                      </a:r>
                      <a:r>
                        <a:rPr lang="zh-CN" altLang="en-US" sz="2400"/>
                        <a:t>位数按字分组，各字内部字节逆序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2554493314"/>
                  </a:ext>
                </a:extLst>
              </a:tr>
              <a:tr h="122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revb.d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64 </a:t>
                      </a:r>
                      <a:r>
                        <a:rPr lang="zh-CN" altLang="en-US" sz="2400"/>
                        <a:t>位数 </a:t>
                      </a:r>
                      <a:r>
                        <a:rPr lang="en-US" altLang="zh-CN" sz="2400"/>
                        <a:t>8 </a:t>
                      </a:r>
                      <a:r>
                        <a:rPr lang="zh-CN" altLang="en-US" sz="2400"/>
                        <a:t>个字节整体逆序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2989490670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revh.2w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64 </a:t>
                      </a:r>
                      <a:r>
                        <a:rPr lang="zh-CN" altLang="en-US" sz="2400"/>
                        <a:t>位数按字分组，各字内部半字逆序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521464787"/>
                  </a:ext>
                </a:extLst>
              </a:tr>
              <a:tr h="122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revh.d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64 </a:t>
                      </a:r>
                      <a:r>
                        <a:rPr lang="zh-CN" altLang="en-US" sz="2400"/>
                        <a:t>位数 </a:t>
                      </a:r>
                      <a:r>
                        <a:rPr lang="en-US" altLang="zh-CN" sz="2400"/>
                        <a:t>4 </a:t>
                      </a:r>
                      <a:r>
                        <a:rPr lang="zh-CN" altLang="en-US" sz="2400"/>
                        <a:t>个半字整体逆序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1166472418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bitrev.4b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32 </a:t>
                      </a:r>
                      <a:r>
                        <a:rPr lang="zh-CN" altLang="en-US" sz="2400"/>
                        <a:t>位数按字节分组，各字节内部位逆序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3820448185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bitrev.8b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64 </a:t>
                      </a:r>
                      <a:r>
                        <a:rPr lang="zh-CN" altLang="en-US" sz="2400"/>
                        <a:t>位数按字节分组，各字节内部位逆序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3714839640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bitrev.w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32 </a:t>
                      </a:r>
                      <a:r>
                        <a:rPr lang="zh-CN" altLang="en-US" sz="2400"/>
                        <a:t>位数 </a:t>
                      </a:r>
                      <a:r>
                        <a:rPr lang="en-US" altLang="zh-CN" sz="2400"/>
                        <a:t>32 </a:t>
                      </a:r>
                      <a:r>
                        <a:rPr lang="zh-CN" altLang="en-US" sz="2400"/>
                        <a:t>个位整体逆序，并符号扩展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29960177"/>
                  </a:ext>
                </a:extLst>
              </a:tr>
              <a:tr h="1228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bitrev.d rd, rj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2400"/>
                        <a:t>64 </a:t>
                      </a:r>
                      <a:r>
                        <a:rPr lang="zh-CN" altLang="en-US" sz="2400"/>
                        <a:t>位数 </a:t>
                      </a:r>
                      <a:r>
                        <a:rPr lang="en-US" altLang="zh-CN" sz="2400"/>
                        <a:t>64 </a:t>
                      </a:r>
                      <a:r>
                        <a:rPr lang="zh-CN" altLang="en-US" sz="2400"/>
                        <a:t>个位整体逆序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1172238666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bstrins.w rd, rj, msbw, lsbw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/>
                        <a:t>将 </a:t>
                      </a:r>
                      <a:r>
                        <a:rPr lang="en-US" sz="2400"/>
                        <a:t>rj </a:t>
                      </a:r>
                      <a:r>
                        <a:rPr lang="zh-CN" altLang="en-US" sz="2400"/>
                        <a:t>指定位段替换到 </a:t>
                      </a:r>
                      <a:r>
                        <a:rPr lang="en-US" sz="2400"/>
                        <a:t>rd[msbw:lsbw]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3120012131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bstrins.d rd, rj, msbd, lsbd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将 </a:t>
                      </a:r>
                      <a:r>
                        <a:rPr lang="en-US" sz="2400" dirty="0" err="1"/>
                        <a:t>rj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指定位段替换到 </a:t>
                      </a:r>
                      <a:r>
                        <a:rPr lang="en-US" sz="2400" dirty="0" err="1"/>
                        <a:t>rd</a:t>
                      </a:r>
                      <a:r>
                        <a:rPr lang="en-US" sz="2400" dirty="0"/>
                        <a:t>[</a:t>
                      </a:r>
                      <a:r>
                        <a:rPr lang="en-US" sz="2400" dirty="0" err="1"/>
                        <a:t>msbd:lsbd</a:t>
                      </a:r>
                      <a:r>
                        <a:rPr lang="en-US" sz="2400" dirty="0"/>
                        <a:t>]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2750647672"/>
                  </a:ext>
                </a:extLst>
              </a:tr>
              <a:tr h="2168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bstrpick.w rd, rj, msbw, lsbw</a:t>
                      </a:r>
                    </a:p>
                  </a:txBody>
                  <a:tcPr marL="28112" marR="28112" marT="14056" marB="1405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400" dirty="0"/>
                        <a:t>从 </a:t>
                      </a:r>
                      <a:r>
                        <a:rPr lang="en-US" sz="2400" dirty="0" err="1"/>
                        <a:t>rj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中提取 </a:t>
                      </a:r>
                      <a:r>
                        <a:rPr lang="en-US" sz="2400" dirty="0" err="1"/>
                        <a:t>msbw:lsbw</a:t>
                      </a:r>
                      <a:r>
                        <a:rPr lang="en-US" sz="2400" dirty="0"/>
                        <a:t> </a:t>
                      </a:r>
                      <a:r>
                        <a:rPr lang="zh-CN" altLang="en-US" sz="2400" dirty="0"/>
                        <a:t>位段</a:t>
                      </a:r>
                    </a:p>
                  </a:txBody>
                  <a:tcPr marL="28112" marR="28112" marT="14056" marB="14056" anchor="ctr"/>
                </a:tc>
                <a:extLst>
                  <a:ext uri="{0D108BD9-81ED-4DB2-BD59-A6C34878D82A}">
                    <a16:rowId xmlns:a16="http://schemas.microsoft.com/office/drawing/2014/main" val="3401104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33618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 err="1">
                <a:solidFill>
                  <a:srgbClr val="22252B"/>
                </a:solidFill>
                <a:latin typeface="微软雅黑" panose="020B0503020204020204" charset="-122"/>
              </a:rPr>
              <a:t>完整走读：ext.w.h</a:t>
            </a:r>
            <a:endParaRPr sz="3200" b="1" dirty="0">
              <a:solidFill>
                <a:srgbClr val="22252B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078992"/>
            <a:ext cx="5852160" cy="4663440"/>
          </a:xfrm>
          <a:prstGeom prst="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rtlCol="0" anchor="ctr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 panose="020B0609020204030204"/>
              </a:rPr>
              <a:t># 笔记：r4 == 0x000000000000FFFA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 panose="020B0609020204030204"/>
              </a:rPr>
              <a:t>ext.w.h  r5, r4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 panose="020B0609020204030204"/>
              </a:rPr>
              <a:t># r5 == 0xFFFFFFFFFFFFFFFA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78992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① 前：r4 低 16 位=0xFFFA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② 半字最高位为 1 → 当作负数半字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③ 符号扩展：高位全部填 1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④ 写 r5=0xFFFFFFFFFFFFFFFA（笔记）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⑤ 不是零扩展成 0x0000…FFFA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⑥ andi 只做按位与，不做符号扩展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95C7A-A45C-9B6D-418E-509F7218C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F1EACD-8374-5815-DDC3-E2DB1B22FC0A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B5F82-F090-0942-1D79-E183DEF5A78B}"/>
              </a:ext>
            </a:extLst>
          </p:cNvPr>
          <p:cNvSpPr txBox="1"/>
          <p:nvPr/>
        </p:nvSpPr>
        <p:spPr>
          <a:xfrm>
            <a:off x="457200" y="292608"/>
            <a:ext cx="111556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/>
              <a:t>以字为组按字节逆序，可用于尾端转换</a:t>
            </a:r>
            <a:endParaRPr sz="2800" b="1" dirty="0">
              <a:solidFill>
                <a:srgbClr val="22252B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773B5E-5E80-9B97-49B4-7CB5E1FBCC4A}"/>
              </a:ext>
            </a:extLst>
          </p:cNvPr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926860-2DC2-8B82-1F67-DAC846EBA4AC}"/>
              </a:ext>
            </a:extLst>
          </p:cNvPr>
          <p:cNvSpPr/>
          <p:nvPr/>
        </p:nvSpPr>
        <p:spPr>
          <a:xfrm>
            <a:off x="411480" y="1879092"/>
            <a:ext cx="11155680" cy="1184148"/>
          </a:xfrm>
          <a:prstGeom prst="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rtlCol="0" anchor="ctr"/>
          <a:lstStyle/>
          <a:p>
            <a:pPr>
              <a:spcAft>
                <a:spcPts val="400"/>
              </a:spcAft>
            </a:pPr>
            <a:r>
              <a:rPr lang="pt-BR" sz="2400">
                <a:solidFill>
                  <a:srgbClr val="EEF1F6"/>
                </a:solidFill>
                <a:latin typeface="Consolas" panose="020B0609020204030204"/>
              </a:rPr>
              <a:t>revb.2w		r5, r1	# r5 = 0x11FF00EE_33DD22CC</a:t>
            </a:r>
            <a:endParaRPr lang="pt-BR" sz="2400" dirty="0">
              <a:solidFill>
                <a:srgbClr val="EEF1F6"/>
              </a:solidFill>
              <a:latin typeface="Consolas" panose="020B0609020204030204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6CA9FA-EA89-C2D3-6658-4C55ABDE9175}"/>
              </a:ext>
            </a:extLst>
          </p:cNvPr>
          <p:cNvSpPr txBox="1"/>
          <p:nvPr/>
        </p:nvSpPr>
        <p:spPr>
          <a:xfrm>
            <a:off x="2057400" y="1034426"/>
            <a:ext cx="612457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pt-BR" altLang="zh-CN" sz="2600" dirty="0">
                <a:solidFill>
                  <a:srgbClr val="FF0000"/>
                </a:solidFill>
                <a:latin typeface="Consolas" panose="020B0609020204030204"/>
              </a:rPr>
              <a:t>if r1 == 0xEE00FF11_CC22DD33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20012A1-4DF0-2D51-FF5B-12E5915F0846}"/>
              </a:ext>
            </a:extLst>
          </p:cNvPr>
          <p:cNvCxnSpPr>
            <a:cxnSpLocks/>
          </p:cNvCxnSpPr>
          <p:nvPr/>
        </p:nvCxnSpPr>
        <p:spPr>
          <a:xfrm>
            <a:off x="6553200" y="1408175"/>
            <a:ext cx="990600" cy="7254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2674EF8-8B8C-B33A-9F96-60B9AEBC0A1F}"/>
              </a:ext>
            </a:extLst>
          </p:cNvPr>
          <p:cNvCxnSpPr/>
          <p:nvPr/>
        </p:nvCxnSpPr>
        <p:spPr>
          <a:xfrm>
            <a:off x="5276850" y="1408175"/>
            <a:ext cx="0" cy="8778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56491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828800"/>
            <a:ext cx="5943600" cy="5943600"/>
          </a:xfrm>
          <a:prstGeom prst="ellipse">
            <a:avLst/>
          </a:prstGeom>
          <a:solidFill>
            <a:srgbClr val="27337A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4206240"/>
            <a:ext cx="5029200" cy="5029200"/>
          </a:xfrm>
          <a:prstGeom prst="ellipse">
            <a:avLst/>
          </a:prstGeom>
          <a:solidFill>
            <a:srgbClr val="27337A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LoongArch 汇编 · 指令详解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位操作指令补充例题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符号扩展 · 计数 · 位段提取/插入 · 字节与位反转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188720"/>
            <a:ext cx="2926080" cy="29260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28016" cy="56692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示例一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符号扩展：ext.w.b / ext.w.h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A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把字节/半字按符号位扩展为完整字长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91672" cy="2340864"/>
          </a:xfrm>
          <a:prstGeom prst="roundRect">
            <a:avLst>
              <a:gd name="adj" fmla="val 4688"/>
            </a:avLst>
          </a:prstGeom>
          <a:solidFill>
            <a:srgbClr val="141B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04872"/>
            <a:ext cx="104515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 = 0x00000080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FA3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(低字节 = 0x80，即 -128)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ext.w.b r5, r4  →  r5 = 0xFFFFFF80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(= -128)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r6 = 0x00008000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FA3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(低半字 = 0x8000，即 -32768)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ext.w.h r7, r6  →  r7 = 0xFFFF8000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(= -32768)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4764024"/>
            <a:ext cx="11091672" cy="18288"/>
          </a:xfrm>
          <a:prstGeom prst="rect">
            <a:avLst/>
          </a:prstGeom>
          <a:solidFill>
            <a:srgbClr val="E3E8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87375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最高有效位是 1 就用 1 填充高位，否则用 0 填充 —— 保持数值不变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188720"/>
            <a:ext cx="2926080" cy="29260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28016" cy="56692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示例二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计数指令：clz.w / ctz.w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A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统计最高位/最低位的 1 之前有多少个连续的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91672" cy="1883664"/>
          </a:xfrm>
          <a:prstGeom prst="roundRect">
            <a:avLst>
              <a:gd name="adj" fmla="val 5825"/>
            </a:avLst>
          </a:prstGeom>
          <a:solidFill>
            <a:srgbClr val="141B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04872"/>
            <a:ext cx="10451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r8 = 0x00000058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FA3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(二进制 ...0101 1000)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clz.w r9,  r8  →  r9  = 25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最高位 1 前有 25 个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ctz.w r10, r8  →  r10 = 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最低位 1 前有 3 个 0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4306824"/>
            <a:ext cx="11091672" cy="18288"/>
          </a:xfrm>
          <a:prstGeom prst="rect">
            <a:avLst/>
          </a:prstGeom>
          <a:solidFill>
            <a:srgbClr val="E3E8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41655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clz 从高位数、ctz 从低位数 —— 常用于快速定位最高/最低置位位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188720"/>
            <a:ext cx="2926080" cy="29260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28016" cy="56692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示例三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位段提取：bstrpick.w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A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bstrpick.w rd, rj, msbw, lsbw → rd = 零扩展 rj[msbw:lsbw]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91672" cy="1426464"/>
          </a:xfrm>
          <a:prstGeom prst="roundRect">
            <a:avLst>
              <a:gd name="adj" fmla="val 7692"/>
            </a:avLst>
          </a:prstGeom>
          <a:solidFill>
            <a:srgbClr val="141B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04872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 = 0x1234ABCD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FA3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(设备状态寄存器)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bstrpick.w r5, r4, 15, 8  →  r5 = 0x000000AB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849624"/>
            <a:ext cx="11091672" cy="18288"/>
          </a:xfrm>
          <a:prstGeom prst="rect">
            <a:avLst/>
          </a:prstGeom>
          <a:solidFill>
            <a:srgbClr val="E3E8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95935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一条指令即可从任意位置截取任意宽度的位段，并自动零扩展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188720"/>
            <a:ext cx="2926080" cy="29260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28016" cy="56692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示例四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位段插入：bstrins.w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A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bstrins.w rd, rj, msbw, lsbw → rd[msbw:lsbw] = rj 的低位，其余不变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91672" cy="1426464"/>
          </a:xfrm>
          <a:prstGeom prst="roundRect">
            <a:avLst>
              <a:gd name="adj" fmla="val 7692"/>
            </a:avLst>
          </a:prstGeom>
          <a:solidFill>
            <a:srgbClr val="141B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04872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r4 = 0x1234ABCD, r6 = 0x00000005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bstrins.w r4, r6, 15, 8  →  r4 = 0x123405CD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849624"/>
            <a:ext cx="11091672" cy="18288"/>
          </a:xfrm>
          <a:prstGeom prst="rect">
            <a:avLst/>
          </a:prstGeom>
          <a:solidFill>
            <a:srgbClr val="E3E8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95935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只改写指定位段，其余位保持原值 —— 天然适合修改寄存器中的某个字段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188720"/>
            <a:ext cx="2926080" cy="29260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28016" cy="56692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示例五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字节序反转：revb.2h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A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分别反转高、低半字内部的两个字节顺序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91672" cy="1426464"/>
          </a:xfrm>
          <a:prstGeom prst="roundRect">
            <a:avLst>
              <a:gd name="adj" fmla="val 7692"/>
            </a:avLst>
          </a:prstGeom>
          <a:solidFill>
            <a:srgbClr val="141B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04872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r7 = 0x12345678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revb.2h r8, r7  →  r8 = 0x34127856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每个半字内部换序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849624"/>
            <a:ext cx="11091672" cy="18288"/>
          </a:xfrm>
          <a:prstGeom prst="rect">
            <a:avLst/>
          </a:prstGeom>
          <a:solidFill>
            <a:srgbClr val="E3E8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95935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0x5678→0x7856，0x1234→0x3412 —— 常用于大小端字节序转换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188720"/>
            <a:ext cx="2926080" cy="29260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28016" cy="56692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示例六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位反转：bitrev.4b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A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把每个字节内部的 8 个比特顺序左右翻转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11091672" cy="1426464"/>
          </a:xfrm>
          <a:prstGeom prst="roundRect">
            <a:avLst>
              <a:gd name="adj" fmla="val 7692"/>
            </a:avLst>
          </a:prstGeom>
          <a:solidFill>
            <a:srgbClr val="141B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04872"/>
            <a:ext cx="10451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r9 = 0x4D4D4D4D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FA3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(每字节都是 0100 1101)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bitrev.4b r10, r9  →  r10 = 0xB2B2B2B2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(1011 0010)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849624"/>
            <a:ext cx="11091672" cy="18288"/>
          </a:xfrm>
          <a:prstGeom prst="rect">
            <a:avLst/>
          </a:prstGeom>
          <a:solidFill>
            <a:srgbClr val="E3E8F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95935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个字节各自独立翻转比特顺序，字节之间的相对位置不变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1188720"/>
            <a:ext cx="2926080" cy="2926080"/>
          </a:xfrm>
          <a:prstGeom prst="ellipse">
            <a:avLst/>
          </a:prstGeom>
          <a:solidFill>
            <a:srgbClr val="CADCF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11480"/>
            <a:ext cx="128016" cy="56692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1148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综合例题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24128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修改并验证寄存器字段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627632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3A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只用两条指令替换指定位段的值，再读回验证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A4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设　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r4 = 0x1234ABCD　为设备状态寄存器，需把 [11:8] 位改成 0x7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11091672" cy="1883664"/>
          </a:xfrm>
          <a:prstGeom prst="roundRect">
            <a:avLst>
              <a:gd name="adj" fmla="val 5825"/>
            </a:avLst>
          </a:prstGeom>
          <a:solidFill>
            <a:srgbClr val="141B4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53512"/>
            <a:ext cx="104515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r5 = 0x00000007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FA3D6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(新的字段值)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bstrins.w r4, r5, 11, 8  →  r4 = 0x1234A7CD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bstrpick.w r6, r4, 11, 8  →  r6 = 0x00000007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454"/>
                </a:solidFill>
                <a:effectLst/>
                <a:uLnTx/>
                <a:uFillTx/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读回验证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855464"/>
            <a:ext cx="11091672" cy="18288"/>
          </a:xfrm>
          <a:prstGeom prst="rect">
            <a:avLst/>
          </a:prstGeom>
          <a:solidFill>
            <a:srgbClr val="E3E8F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965192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对比上节课的 andi + ori 两步清零/置位，bstrins.w 一条指令即可完成位段替换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5486400" cy="5486400"/>
          </a:xfrm>
          <a:prstGeom prst="ellipse">
            <a:avLst/>
          </a:prstGeom>
          <a:solidFill>
            <a:srgbClr val="27337A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小结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755648"/>
            <a:ext cx="201168" cy="20116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6459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符号扩展　　ext.w.b / ext.w.h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2441448"/>
            <a:ext cx="201168" cy="20116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3317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计数运算　　clz.w / ctz.w（还有 clo.w / cto.w）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3127248"/>
            <a:ext cx="201168" cy="20116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0175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位段提取　　bstrpick.w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3813048"/>
            <a:ext cx="201168" cy="20116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3703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位段插入　　bstrins.w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4498848"/>
            <a:ext cx="201168" cy="201168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4389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ADC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字节/位反转　revb.2h / bitrev.4b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课堂 Demo 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4124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微软雅黑" panose="020B0503020204020204" charset="-122"/>
              </a:rPr>
              <a:t>实验从简：以跑通为主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09647" y="1901952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142335" y="2084831"/>
            <a:ext cx="512064" cy="512064"/>
          </a:xfrm>
          <a:prstGeom prst="ellipse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42335" y="2157984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9375" y="2816352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C53A0"/>
                </a:solidFill>
                <a:latin typeface="微软雅黑" panose="020B0503020204020204" charset="-122"/>
              </a:rPr>
              <a:t>regs_alu.S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9375" y="3410711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算术逻辑
等可跑例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087" y="30906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微软雅黑" panose="020B0503020204020204" charset="-122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07127" y="1901952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839815" y="2084831"/>
            <a:ext cx="512064" cy="512064"/>
          </a:xfrm>
          <a:prstGeom prst="ellipse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39815" y="2157984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6855" y="2816352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7482"/>
                </a:solidFill>
                <a:latin typeface="微软雅黑" panose="020B0503020204020204" charset="-122"/>
              </a:rPr>
              <a:t>start.S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6855" y="3410711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访存/转移
点到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4567" y="3090672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微软雅黑" panose="020B0503020204020204" charset="-122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04607" y="1901952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37295" y="2084831"/>
            <a:ext cx="512064" cy="512064"/>
          </a:xfrm>
          <a:prstGeom prst="ellipse">
            <a:avLst/>
          </a:prstGeom>
          <a:solidFill>
            <a:srgbClr val="2A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37295" y="2157984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4335" y="2816352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A7E4E"/>
                </a:solidFill>
                <a:latin typeface="微软雅黑" panose="020B0503020204020204" charset="-122"/>
              </a:rPr>
              <a:t>make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4335" y="3410711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串口
验收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预期串口（必须真跑）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6583680" cy="4572000"/>
          </a:xfrm>
          <a:prstGeom prst="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164592" rtlCol="0" anchor="ctr"/>
          <a:lstStyle/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Hello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miniOS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on LoongArch64</a:t>
            </a: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data section ok</a:t>
            </a:r>
          </a:p>
          <a:p>
            <a:pPr>
              <a:spcAft>
                <a:spcPts val="400"/>
              </a:spcAft>
            </a:pP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bss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section cleared</a:t>
            </a:r>
          </a:p>
          <a:p>
            <a:pPr>
              <a:spcAft>
                <a:spcPts val="400"/>
              </a:spcAft>
            </a:pP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arith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add/sub: (3+5)-2 = 6</a:t>
            </a:r>
          </a:p>
          <a:p>
            <a:pPr>
              <a:spcAft>
                <a:spcPts val="400"/>
              </a:spcAft>
            </a:pP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arith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mul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: 6*7 = 42</a:t>
            </a: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logic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andi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: 0x1234 &amp; 0xff = 0x34</a:t>
            </a: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shift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slli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: 5&lt;&lt;1 = 10</a:t>
            </a:r>
          </a:p>
          <a:p>
            <a:pPr>
              <a:spcAft>
                <a:spcPts val="400"/>
              </a:spcAft>
            </a:pP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cond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slt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: (3&lt;5) = 1</a:t>
            </a: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bit </a:t>
            </a:r>
            <a:r>
              <a:rPr sz="2400" b="0" dirty="0" err="1">
                <a:solidFill>
                  <a:srgbClr val="EEF1F6"/>
                </a:solidFill>
                <a:latin typeface="Consolas" panose="020B0609020204030204"/>
              </a:rPr>
              <a:t>ext.w.b</a:t>
            </a: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: 0x7f -&gt; 127</a:t>
            </a: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...</a:t>
            </a:r>
          </a:p>
          <a:p>
            <a:pPr>
              <a:spcAft>
                <a:spcPts val="400"/>
              </a:spcAft>
            </a:pPr>
            <a:r>
              <a:rPr sz="2400" b="0" dirty="0">
                <a:solidFill>
                  <a:srgbClr val="EEF1F6"/>
                </a:solidFill>
                <a:latin typeface="Consolas" panose="020B0609020204030204"/>
              </a:rPr>
              <a:t>week03-regs-alu check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170432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禁止编造输出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讲解用笔记原例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串口数字=运行对照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完整见 lab.md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实验从简 + AI 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16151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Task1：make run 验收串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Task2：对照表 + alu_expr 四步快照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Task3：口头问笔记原例（宽度/溢出/andi/mask…）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禁止编造串口；细节以课堂走读为准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易错清单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16151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寄存器当便利贴；$ra 当地理来源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忘记 LA32 格深32 / LA64 格深64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LA64 上 .w 当整格64位加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addi 的 si 与 andi 的 ui 混淆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同一比特有符号/无符号乱读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只念助记符不写执行前后值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微软雅黑" panose="020B0503020204020204" charset="-122"/>
              </a:rPr>
              <a:t>本节收束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教材第2章 + §3.1.1～3.1.4 系统讲完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LA64 格深64；.w 取低32并符号扩展写回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每条代表指令五步走读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22252B"/>
                </a:solidFill>
                <a:latin typeface="微软雅黑" panose="020B0503020204020204" charset="-122"/>
              </a:rPr>
              <a:t>• §3.2 访存与第4章浮点：第4次课精讲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l">
          <a:defRPr sz="2400" b="0" i="0" dirty="0" err="1">
            <a:effectLst/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</TotalTime>
  <Words>6261</Words>
  <Application>Microsoft Office PowerPoint</Application>
  <PresentationFormat>宽屏</PresentationFormat>
  <Paragraphs>900</Paragraphs>
  <Slides>76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76</vt:i4>
      </vt:variant>
    </vt:vector>
  </HeadingPairs>
  <TitlesOfParts>
    <vt:vector size="87" baseType="lpstr">
      <vt:lpstr>-apple-system</vt:lpstr>
      <vt:lpstr>等线</vt:lpstr>
      <vt:lpstr>微软雅黑</vt:lpstr>
      <vt:lpstr>Arial</vt:lpstr>
      <vt:lpstr>Calibri</vt:lpstr>
      <vt:lpstr>Cambria</vt:lpstr>
      <vt:lpstr>Consolas</vt:lpstr>
      <vt:lpstr>Courier New</vt:lpstr>
      <vt:lpstr>Times New Roman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xin cai</cp:lastModifiedBy>
  <cp:revision>19</cp:revision>
  <dcterms:created xsi:type="dcterms:W3CDTF">2013-01-27T09:14:00Z</dcterms:created>
  <dcterms:modified xsi:type="dcterms:W3CDTF">2026-09-09T12:46:46Z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7F019E6A075043B197564A80D4FA1646_12</vt:lpwstr>
  </property>
</Properties>
</file>