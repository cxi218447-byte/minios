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85" r:id="rId9"/>
    <p:sldId id="286" r:id="rId10"/>
    <p:sldId id="287" r:id="rId11"/>
    <p:sldId id="288" r:id="rId12"/>
    <p:sldId id="289" r:id="rId13"/>
    <p:sldId id="290" r:id="rId14"/>
    <p:sldId id="291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71" r:id="rId23"/>
    <p:sldId id="292" r:id="rId24"/>
    <p:sldId id="293" r:id="rId25"/>
    <p:sldId id="294" r:id="rId26"/>
    <p:sldId id="295" r:id="rId27"/>
    <p:sldId id="272" r:id="rId28"/>
    <p:sldId id="273" r:id="rId29"/>
    <p:sldId id="274" r:id="rId30"/>
    <p:sldId id="296" r:id="rId31"/>
    <p:sldId id="275" r:id="rId32"/>
    <p:sldId id="297" r:id="rId33"/>
    <p:sldId id="276" r:id="rId34"/>
    <p:sldId id="277" r:id="rId35"/>
    <p:sldId id="278" r:id="rId36"/>
    <p:sldId id="279" r:id="rId37"/>
    <p:sldId id="283" r:id="rId38"/>
    <p:sldId id="284" r:id="rId39"/>
    <p:sldId id="280" r:id="rId40"/>
    <p:sldId id="281" r:id="rId41"/>
    <p:sldId id="282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66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0316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上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515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LoongArch ABI 介绍：</a:t>
            </a:r>
            <a:endParaRPr lang="en-US" sz="3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数据类型与寄存器约定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第五章 LoongArch ABI（上）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434340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781069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 err="1">
                <a:solidFill>
                  <a:srgbClr val="C7D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本部分内容</a:t>
            </a:r>
            <a:r>
              <a:rPr lang="en-US" sz="2400" dirty="0">
                <a:solidFill>
                  <a:srgbClr val="C7D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C7D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是什么、数据类型与对齐、通用寄存器约定、浮点寄存器约定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 · ABI 简介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什么是 ABI？龙芯的三套 ABI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ABI（Application Binary Interface，应用程序二进制接口）定义了二进制代码中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数据结构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函数的格式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及访问方式，使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不同二进制模块之间可以正确交互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——它是编译器、汇编器、链接器共同遵守的“二进制契约”。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9184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LP64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83280" y="3291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指针、寄存器都是 64 位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200" y="4279392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279392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LPX32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383280" y="4279392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指针 32 位、寄存器 64 位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5266944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5266944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LP32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383280" y="5266944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指针、寄存器都是 32 位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上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 · ABI 简介（补充）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形象理解 ABI：不同语言写的代码如何握手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C、Rust、汇编……只要各自编译出的二进制代码都遵守同一套 ABI（寄存器怎么用、参数放哪、栈怎么摆），它们就能互相调用，即使源代码语言完全不同。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3291840" cy="685800"/>
          </a:xfrm>
          <a:prstGeom prst="roundRect">
            <a:avLst>
              <a:gd name="adj" fmla="val 13333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432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编译器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468880" y="3429000"/>
            <a:ext cx="3630168" cy="685800"/>
          </a:xfrm>
          <a:prstGeom prst="line">
            <a:avLst/>
          </a:prstGeom>
          <a:noFill/>
          <a:ln w="19050">
            <a:solidFill>
              <a:srgbClr val="3E4E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2743200"/>
            <a:ext cx="3291840" cy="685800"/>
          </a:xfrm>
          <a:prstGeom prst="roundRect">
            <a:avLst>
              <a:gd name="adj" fmla="val 13333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7432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汇编代码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035040" y="3429000"/>
            <a:ext cx="64008" cy="685800"/>
          </a:xfrm>
          <a:prstGeom prst="line">
            <a:avLst/>
          </a:prstGeom>
          <a:noFill/>
          <a:ln w="19050">
            <a:solidFill>
              <a:srgbClr val="3E4E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2743200"/>
            <a:ext cx="3291840" cy="685800"/>
          </a:xfrm>
          <a:prstGeom prst="roundRect">
            <a:avLst>
              <a:gd name="adj" fmla="val 13333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0" y="27432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编译器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 flipH="1">
            <a:off x="6099048" y="3429000"/>
            <a:ext cx="3502152" cy="685800"/>
          </a:xfrm>
          <a:prstGeom prst="line">
            <a:avLst/>
          </a:prstGeom>
          <a:noFill/>
          <a:ln w="19050">
            <a:solidFill>
              <a:srgbClr val="3E4E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3128" y="411480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53128" y="411480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 契约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943600" y="4937760"/>
            <a:ext cx="301752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9" name="Shape 17"/>
          <p:cNvSpPr/>
          <p:nvPr/>
        </p:nvSpPr>
        <p:spPr>
          <a:xfrm>
            <a:off x="4453128" y="5212080"/>
            <a:ext cx="3291840" cy="640080"/>
          </a:xfrm>
          <a:prstGeom prst="roundRect">
            <a:avLst>
              <a:gd name="adj" fmla="val 14286"/>
            </a:avLst>
          </a:prstGeom>
          <a:solidFill>
            <a:srgbClr val="F2A541"/>
          </a:solidFill>
          <a:ln/>
        </p:spPr>
      </p:sp>
      <p:sp>
        <p:nvSpPr>
          <p:cNvPr id="20" name="Text 18"/>
          <p:cNvSpPr/>
          <p:nvPr/>
        </p:nvSpPr>
        <p:spPr>
          <a:xfrm>
            <a:off x="4453128" y="52120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寄存器 / 栈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简介 · 补充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 · ABI 简介（补充）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生活化比喻：ABI 就像电源插座标准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864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91640"/>
            <a:ext cx="5486400" cy="777240"/>
          </a:xfrm>
          <a:prstGeom prst="roundRect">
            <a:avLst>
              <a:gd name="adj" fmla="val 14118"/>
            </a:avLst>
          </a:prstGeom>
          <a:solidFill>
            <a:srgbClr val="C1443C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solidFill>
            <a:srgbClr val="C1443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没有插座标准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49377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每个厂商都用自己的插头，同一插座插不进别家电器，只能单独布线。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691640"/>
            <a:ext cx="54864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691640"/>
            <a:ext cx="5486400" cy="777240"/>
          </a:xfrm>
          <a:prstGeom prst="roundRect">
            <a:avLst>
              <a:gd name="adj" fmla="val 14118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103120"/>
            <a:ext cx="54864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6916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有了插座标准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83680" y="2560320"/>
            <a:ext cx="49377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不管电器是什么牌子，只要插头尺寸、电压符合国标，插上就能用。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11247120" cy="2103120"/>
          </a:xfrm>
          <a:prstGeom prst="roundRect">
            <a:avLst>
              <a:gd name="adj" fmla="val 4348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160520"/>
            <a:ext cx="10698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对应到程序里：
</a:t>
            </a: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插头尺寸、电压对应 ABI 的参数寄存器、栈布局；电器品牌对应 C、Rust、汇编等语言。按 ABI 编译，C 程序就能调用汇编写的函数——如本课 add_f。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简介 · 补充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· 数据类型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数据类型的大小与对齐</a:t>
            </a:r>
            <a:endParaRPr lang="en-US" sz="2800" dirty="0"/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D2ED34A4-AA60-DF11-2581-EC67FD86C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385416"/>
              </p:ext>
            </p:extLst>
          </p:nvPr>
        </p:nvGraphicFramePr>
        <p:xfrm>
          <a:off x="457200" y="1580380"/>
          <a:ext cx="11177335" cy="46939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672841">
                  <a:extLst>
                    <a:ext uri="{9D8B030D-6E8A-4147-A177-3AD203B41FA5}">
                      <a16:colId xmlns:a16="http://schemas.microsoft.com/office/drawing/2014/main" val="3064189748"/>
                    </a:ext>
                  </a:extLst>
                </a:gridCol>
                <a:gridCol w="1798093">
                  <a:extLst>
                    <a:ext uri="{9D8B030D-6E8A-4147-A177-3AD203B41FA5}">
                      <a16:colId xmlns:a16="http://schemas.microsoft.com/office/drawing/2014/main" val="2033719330"/>
                    </a:ext>
                  </a:extLst>
                </a:gridCol>
                <a:gridCol w="2235467">
                  <a:extLst>
                    <a:ext uri="{9D8B030D-6E8A-4147-A177-3AD203B41FA5}">
                      <a16:colId xmlns:a16="http://schemas.microsoft.com/office/drawing/2014/main" val="4065790213"/>
                    </a:ext>
                  </a:extLst>
                </a:gridCol>
                <a:gridCol w="2235467">
                  <a:extLst>
                    <a:ext uri="{9D8B030D-6E8A-4147-A177-3AD203B41FA5}">
                      <a16:colId xmlns:a16="http://schemas.microsoft.com/office/drawing/2014/main" val="76426776"/>
                    </a:ext>
                  </a:extLst>
                </a:gridCol>
                <a:gridCol w="2235467">
                  <a:extLst>
                    <a:ext uri="{9D8B030D-6E8A-4147-A177-3AD203B41FA5}">
                      <a16:colId xmlns:a16="http://schemas.microsoft.com/office/drawing/2014/main" val="4807538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C/C++ 语言数据类型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LA64 大小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LA64 对齐方式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LA32 大小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LA32 对齐方式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739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bool/char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3289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short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3748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61046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long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2617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long long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921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void*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6205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__int128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06385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float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1733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double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3254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long double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 dirty="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200" dirty="0"/>
                        <a:t>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905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· 数据类型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数据类型的大小与对齐（浮点 / 宽类型）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02920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C/C++ 类型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0" y="1783080"/>
            <a:ext cx="310896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17830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大小（字节）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595360" y="1783080"/>
            <a:ext cx="310896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0" y="17830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对齐方式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502920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5603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486400" y="2560320"/>
            <a:ext cx="31089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77840" y="256032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595360" y="2560320"/>
            <a:ext cx="31089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256032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3337560"/>
            <a:ext cx="50292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3375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5486400" y="3337560"/>
            <a:ext cx="31089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333756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595360" y="3337560"/>
            <a:ext cx="31089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0" y="333756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502920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1148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__int128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5486400" y="4114800"/>
            <a:ext cx="31089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77840" y="41148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8595360" y="4114800"/>
            <a:ext cx="31089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0" y="41148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457200" y="4892040"/>
            <a:ext cx="50292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8920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double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5486400" y="4892040"/>
            <a:ext cx="31089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89204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8595360" y="4892040"/>
            <a:ext cx="31089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0" y="489204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457200" y="580644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80644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__int128 与 long double 都是 16 字节：在 LA64 上需要 2 个寄存器才能装下，LA32 上则需要 4 个。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上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5.1.2 · 数据对齐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数据对齐：编译器如何摆放变量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自然对齐：地址必须是数据类型大小的倍数。LoongArch 硬件支持非对齐访问，但编译器会自动补齐以获得更好性能。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980944"/>
            <a:ext cx="46085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声明顺序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438144"/>
            <a:ext cx="460857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 cVar;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  iVar;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sVar;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 lVar;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806440" y="2834640"/>
            <a:ext cx="2880360" cy="5486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283464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地址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686800" y="2834640"/>
            <a:ext cx="2880360" cy="5486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0" y="283464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变量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806440" y="3383280"/>
            <a:ext cx="2880360" cy="5486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33832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0x...070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686800" y="3383280"/>
            <a:ext cx="2880360" cy="5486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33832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cVar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806440" y="3931920"/>
            <a:ext cx="2880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97880" y="393192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0x...074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686800" y="3931920"/>
            <a:ext cx="2880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0" y="393192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iVar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806440" y="4480560"/>
            <a:ext cx="2880360" cy="5486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7880" y="44805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0x...078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686800" y="4480560"/>
            <a:ext cx="2880360" cy="5486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0" y="44805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sVar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5806440" y="5029200"/>
            <a:ext cx="2880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97880" y="50292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0x...080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8686800" y="5029200"/>
            <a:ext cx="2880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0" y="50292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lVar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457200" y="5806440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806440"/>
            <a:ext cx="10789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sVar 到 lVar 隔了 8 字节——为了让 8 字节的 lVar 对齐，编译器插入了填充。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上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42062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思考题 · 答案讲解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8813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声明顺序 vs 数据对齐：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省空间的设计意图被谁吃掉了？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补充 · 结构体内存对齐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43484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61772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本课件内容：两道思考题 + 完整答案推导，讲清楚“选小类型”和“声明顺序”这两条经验为什么必须一起用。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Q1 · 声明顺序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思考题 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同样的四个字段 char、int、short、long，只是声明顺序不同。这个结构体最终占用的内存大小，会不会因为顺序不同而不一样？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5532120" cy="3108960"/>
          </a:xfrm>
          <a:prstGeom prst="roundRect">
            <a:avLst>
              <a:gd name="adj" fmla="val 2353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43814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版本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895344"/>
            <a:ext cx="502005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声明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 cVar;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  iVar;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sVar;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 lVar;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3291840"/>
            <a:ext cx="5532120" cy="3108960"/>
          </a:xfrm>
          <a:prstGeom prst="roundRect">
            <a:avLst>
              <a:gd name="adj" fmla="val 2353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28232" y="343814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版本 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28232" y="3895344"/>
            <a:ext cx="502005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声明 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 lVar;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  iVar;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sVar;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 cVar;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思考题 · Q1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A1 · 逐字段推导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答案 1 · 版本 A：从小到大声明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每个字段的起始 offset，必须是该字段大小的倍数——不满足就插入填充。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86000"/>
            <a:ext cx="34619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056278" y="2286000"/>
            <a:ext cx="382402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~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880299" y="2286000"/>
            <a:ext cx="368686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char（1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816352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FCEAEA"/>
          </a:solidFill>
          <a:ln w="12700">
            <a:solidFill>
              <a:srgbClr val="C144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816352"/>
            <a:ext cx="34619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443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(pad)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056278" y="2816352"/>
            <a:ext cx="382402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~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880299" y="2816352"/>
            <a:ext cx="368686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144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填充（空洞）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346704"/>
            <a:ext cx="34619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056278" y="3346704"/>
            <a:ext cx="382402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~ 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880299" y="3346704"/>
            <a:ext cx="368686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int（4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877056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877056"/>
            <a:ext cx="34619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056278" y="3877056"/>
            <a:ext cx="382402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~ 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880299" y="3877056"/>
            <a:ext cx="368686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short（2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4407408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FCEAEA"/>
          </a:solidFill>
          <a:ln w="12700">
            <a:solidFill>
              <a:srgbClr val="C144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407408"/>
            <a:ext cx="34619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443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(pad)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056278" y="4407408"/>
            <a:ext cx="382402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~ 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880299" y="4407408"/>
            <a:ext cx="368686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144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填充（空洞）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4937760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937760"/>
            <a:ext cx="34619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056278" y="4937760"/>
            <a:ext cx="382402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~ 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880299" y="4937760"/>
            <a:ext cx="3686861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long（8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5559552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FCEAEA"/>
          </a:solidFill>
          <a:ln w="12700">
            <a:solidFill>
              <a:srgbClr val="C144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59552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B1E1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数据 15 字节 + 填充 9 字节 = 总共 24 字节。填充比 short 和 int 加起来还多！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思考题 · 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A1 · 逐字段推导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答案 1 · 版本 B：从大到小声明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同样的字段，同样的规则，只是把大的放前面。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530352"/>
          </a:xfrm>
          <a:prstGeom prst="roundRect">
            <a:avLst>
              <a:gd name="adj" fmla="val 10345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331720"/>
            <a:ext cx="346191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056278" y="2331720"/>
            <a:ext cx="382402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~ 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880299" y="2331720"/>
            <a:ext cx="368686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long（8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11247120" cy="530352"/>
          </a:xfrm>
          <a:prstGeom prst="roundRect">
            <a:avLst>
              <a:gd name="adj" fmla="val 10345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953512"/>
            <a:ext cx="346191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056278" y="2953512"/>
            <a:ext cx="382402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~ 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880299" y="2953512"/>
            <a:ext cx="368686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int（4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11247120" cy="530352"/>
          </a:xfrm>
          <a:prstGeom prst="roundRect">
            <a:avLst>
              <a:gd name="adj" fmla="val 10345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575304"/>
            <a:ext cx="346191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056278" y="3575304"/>
            <a:ext cx="382402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~ 14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880299" y="3575304"/>
            <a:ext cx="368686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short（2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4197096"/>
            <a:ext cx="11247120" cy="530352"/>
          </a:xfrm>
          <a:prstGeom prst="roundRect">
            <a:avLst>
              <a:gd name="adj" fmla="val 10345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197096"/>
            <a:ext cx="346191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056278" y="4197096"/>
            <a:ext cx="382402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~ 15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880299" y="4197096"/>
            <a:ext cx="368686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char（1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4818888"/>
            <a:ext cx="11247120" cy="530352"/>
          </a:xfrm>
          <a:prstGeom prst="roundRect">
            <a:avLst>
              <a:gd name="adj" fmla="val 10345"/>
            </a:avLst>
          </a:prstGeom>
          <a:solidFill>
            <a:srgbClr val="FCEAEA"/>
          </a:solidFill>
          <a:ln w="12700">
            <a:solidFill>
              <a:srgbClr val="C144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818888"/>
            <a:ext cx="346191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443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(pad)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056278" y="4818888"/>
            <a:ext cx="382402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~ 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880299" y="4818888"/>
            <a:ext cx="3686861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144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填充（空洞）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553212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55321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C5D7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数据 15 字节 + 填充仅 1 字节（尾部凑整）= 总共 16 字节。比版本 A 省了 8 字节，正好 1/3。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思考题 · 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Q2 · 为什么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思考题 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版本 B（从大到小）里，每个字段的 offset 都刚好是自己大小的倍数，一次填充都没插。这是巧合，还是背后有必然的规律？为什么？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65760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A5A0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提示：C 语言内置类型的大小（1、2、4、8）都是 2 的幂。2 的幂之间有什么特殊的整除关系？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思考题 · Q2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A2 · 核心原理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答案 2 · 大的 2 的幂，一定整除小的 2 的幂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只要“前面摆的东西”都比“现在要摆的”大（或相等），前面占用的总字节数，就一定是当前字段大小的整数倍——因为大的 2 的幂本来就能整除小的 2 的幂。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9718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iVar offset 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0" y="297180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 = 8×1，是 4 的倍数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758184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sVar offset 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0" y="3758184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12 = 8+4，两者都是 2 的倍数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4544568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4544568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cVar offset 14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0" y="4544568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对齐要求是 1，永远满足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5404104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404104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反过来，从小到大排：char(1) 后面接 int(4)，offset 1 不是 4 的倍数，就必须往后补到 offset 4 —— 这就是 padding 的来源。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思考题 · A2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结论：两条经验必须一起用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2834640"/>
          </a:xfrm>
          <a:prstGeom prst="roundRect">
            <a:avLst>
              <a:gd name="adj" fmla="val 258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563624"/>
            <a:ext cx="103692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只选小类型 ≠ 一定省空间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选小类型 + 从大到小声明 = 真正省空间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本例：24 字节 → 16 字节，省 1/3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452628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0A4A6E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5262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边界提醒：结构体末尾常有“尾部填充”，把总大小凑成最大对齐要求的整数倍（本例凑到 8 的倍数）。这是为了让结构体数组里每个元素都能正确对齐，不管声明顺序怎么排都躲不掉。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60807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8FA9B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这个坑在系统编程里很经典，常被称为 struct packing / 结构体重排优化。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5.2.1 · 寄存器约定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通用寄存器使用约定（一）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8288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286000" y="18288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0" y="18288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常量寄存器，值恒为 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27889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286000" y="27889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0" y="278892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函数返回地址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37490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286000" y="37490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572000" y="374904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线程局部存储（TLS）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470916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470916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286000" y="47091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572000" y="470916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栈指针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566928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EAF3F8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5800" y="56692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r4~r11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286000" y="56692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a0~a7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572000" y="566928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参数寄存器（a0/a1 兼作 v0/v1 返回值）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5.2.1 · 寄存器约定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通用寄存器使用约定（二）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8288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r12~r20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t0~t8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临时寄存器（调用者保存）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27889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743200" y="27889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0" y="278892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保留寄存器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374904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743200" y="37490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fp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029200" y="37490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帧指针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470916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470916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r23~r31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743200" y="47091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s0~s8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029200" y="470916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保存寄存器（被调用者保存）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576072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76072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下一页详细区分 t 系列与 s 系列的“调用者保存 / 被调用者保存”具体含义。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5.2.1 · zero 寄存器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寄存器：常量 0 与 move 伪指令的由来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不管写入什么值，读 zero 永远得到 0。可以用它省去加载立即数 0 的操作，也是 move 伪指令的实现基础。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88036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02666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书中例子：用 zero 求相反数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483864"/>
            <a:ext cx="50200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sub.w   t5, zero, t4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相当于 t5 = 0 - t4 = -t4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172200" y="288036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28232" y="302666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的真实展开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28232" y="3483864"/>
            <a:ext cx="50200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t0, t1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&lt;=&gt;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  t0, t1, zero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525780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5257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书中原话：龙芯官方手册中并不存在 move </a:t>
            </a:r>
            <a:r>
              <a:rPr lang="en-US" sz="2400" dirty="0" err="1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zh-CN" altLang="en-US" sz="240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宏指令</a:t>
            </a:r>
            <a:r>
              <a:rPr lang="en-US" sz="240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)，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 move 的操作码与 or 相同，move rd, rj &lt;=&gt; or rd, rj, zero。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5.2.1 · 参数与返回值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函数调用寄存器：a0~a7、v0~v1、ra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a0~a7 传前 8 个整型/指针参数；a0、a1（别名 v0、v1）兼作返回值；ra 保存函数返回地址。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4114800"/>
          </a:xfrm>
          <a:prstGeom prst="roundRect">
            <a:avLst>
              <a:gd name="adj" fmla="val 1778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75234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书中例子：int ret = add(2, 3);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209544"/>
            <a:ext cx="1073505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add.w   a0, a0, a1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jirl    zero, ra, 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li.w    a0, 0x2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li.w    a1, 0x3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      add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5.2.1 · 临时/保存寄存器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系列 vs s 系列：谁负责保存旧值？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4864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37360"/>
            <a:ext cx="5486400" cy="777240"/>
          </a:xfrm>
          <a:prstGeom prst="roundRect">
            <a:avLst>
              <a:gd name="adj" fmla="val 14118"/>
            </a:avLst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148840"/>
            <a:ext cx="54864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 ~ t8（临时）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9377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函数内部可随便用，使用前不用考虑保存旧值——由调用者（Caller）自己负责保存。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54864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37360"/>
            <a:ext cx="5486400" cy="777240"/>
          </a:xfrm>
          <a:prstGeom prst="roundRect">
            <a:avLst>
              <a:gd name="adj" fmla="val 14118"/>
            </a:avLst>
          </a:prstGeom>
          <a:solidFill>
            <a:srgbClr val="0A4A6E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148840"/>
            <a:ext cx="5486400" cy="365760"/>
          </a:xfrm>
          <a:prstGeom prst="rect">
            <a:avLst/>
          </a:prstGeom>
          <a:solidFill>
            <a:srgbClr val="0A4A6E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73736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 ~ s8（保存）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83680" y="2606040"/>
            <a:ext cx="49377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当前函数如果要用，必须先把旧值存到栈上，返回前再恢复——由被调用者（Callee）负责保存。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11247120" cy="2468880"/>
          </a:xfrm>
          <a:prstGeom prst="roundRect">
            <a:avLst>
              <a:gd name="adj" fmla="val 2963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435254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被调用者保存 s0 的典型写法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3232" y="4809744"/>
            <a:ext cx="107350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s0, sp, 32   # 保存旧值到栈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s0, sp, 32   # 返回前恢复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上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5.2.1 · tp / sp / fp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tp（线程局部存储）与 sp / fp（函数栈）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tp（线程局部存储）：
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指向当前线程的 TLS 区域，用于快速定位线程私有变量（如 libc 的 errno）。通常由 libc 维护，用户程序最好不要用。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8404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/ fp（函数栈）：
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函数栈是先进后出的动态存储空间，用于保存局部变量和相关寄存器；sp、fp 记录每个函数栈帧的起止位置。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上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5.2.2 · 浮点寄存器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浮点寄存器（FR）使用约定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1247120" cy="704088"/>
          </a:xfrm>
          <a:prstGeom prst="roundRect">
            <a:avLst>
              <a:gd name="adj" fmla="val 1168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920240"/>
            <a:ext cx="2743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f0 ~ f7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566160" y="1920240"/>
            <a:ext cx="301752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fa0 ~ fa7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0" y="1920240"/>
            <a:ext cx="466344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参数寄存器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2761488"/>
            <a:ext cx="11247120" cy="704088"/>
          </a:xfrm>
          <a:prstGeom prst="roundRect">
            <a:avLst>
              <a:gd name="adj" fmla="val 1168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2761488"/>
            <a:ext cx="2743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f0 ~ f1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66160" y="2761488"/>
            <a:ext cx="301752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fv0 ~ fv1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766560" y="2761488"/>
            <a:ext cx="466344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函数返回值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602736"/>
            <a:ext cx="11247120" cy="704088"/>
          </a:xfrm>
          <a:prstGeom prst="roundRect">
            <a:avLst>
              <a:gd name="adj" fmla="val 1168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3602736"/>
            <a:ext cx="2743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 ~ f23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566160" y="3602736"/>
            <a:ext cx="301752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ft0 ~ ft15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766560" y="3602736"/>
            <a:ext cx="466344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临时寄存器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4443984"/>
            <a:ext cx="11247120" cy="704088"/>
          </a:xfrm>
          <a:prstGeom prst="roundRect">
            <a:avLst>
              <a:gd name="adj" fmla="val 1168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4443984"/>
            <a:ext cx="27432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f24 ~ f31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566160" y="4443984"/>
            <a:ext cx="301752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fs0 ~ fs7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766560" y="4443984"/>
            <a:ext cx="466344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保存寄存器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5422392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422392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命名规律和通用寄存器一致：a→参数、v→返回值、t→临时、s→保存，只是前面多了个 f。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上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698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LoongArch ABI 介绍：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函数调用约定与系统调用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第五章 LoongArch ABI（下）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34340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3492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本部分内容：参数传递规则、返回值规则、函数栈布局、系统调用约定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基础概念 · 定义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标量（scalar）vs 聚合类型（aggregate）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37360"/>
            <a:ext cx="5486400" cy="777240"/>
          </a:xfrm>
          <a:prstGeom prst="roundRect">
            <a:avLst>
              <a:gd name="adj" fmla="val 14118"/>
            </a:avLst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148840"/>
            <a:ext cx="54864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标量类型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49377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一个变量只装一个值。整数、浮点数、指针、枚举都是标量——不管这个值占几个字节，它始终是“一个”值。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37360"/>
            <a:ext cx="5486400" cy="777240"/>
          </a:xfrm>
          <a:prstGeom prst="roundRect">
            <a:avLst>
              <a:gd name="adj" fmla="val 14118"/>
            </a:avLst>
          </a:prstGeom>
          <a:solidFill>
            <a:srgbClr val="0A4A6E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148840"/>
            <a:ext cx="5486400" cy="365760"/>
          </a:xfrm>
          <a:prstGeom prst="rect">
            <a:avLst/>
          </a:prstGeom>
          <a:solidFill>
            <a:srgbClr val="0A4A6E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73736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聚合类型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651760"/>
            <a:ext cx="49377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一个变量把好几个值捆在一起。结构体、数组、联合体都是聚合类型——访问时要指定“取哪一个成员/哪一项”。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11247120" cy="1234440"/>
          </a:xfrm>
          <a:prstGeom prst="roundRect">
            <a:avLst>
              <a:gd name="adj" fmla="val 7407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709160"/>
            <a:ext cx="10789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记忆法：能不能直接回答“这个变量的值是多少”——能直接给出一个数/地址的是标量；得先答“取哪个成员”的是聚合类型。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标量概念 · 定义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基础概念 · 分类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语言里的标量类型清单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73736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整型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200400" y="17373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char, short, int, long, long long, _Bool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624328"/>
            <a:ext cx="1124712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624328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浮点型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00400" y="262432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float, double, long double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1124712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511296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指针型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200400" y="3511296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int*, char*, void*, 函数指针……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200" y="4398264"/>
            <a:ext cx="1124712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4398264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枚举型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200400" y="4398264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Color { RED, GREEN, BLUE };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5376672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EAF3F8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376672"/>
            <a:ext cx="10789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这四类的共同点：不管底层占 1、2、4、8 还是 16 字节，一个变量永远只存一个值。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标量概念 · 分类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基础概念 · 举例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举例对比：一个标量变量 vs 一个聚合变量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532120" cy="3657600"/>
          </a:xfrm>
          <a:prstGeom prst="roundRect">
            <a:avLst>
              <a:gd name="adj" fmla="val 2000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88366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标量：int x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13232" y="2340864"/>
            <a:ext cx="50200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 = 5;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x 就是“一个值”：5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问 x 是多少？答案唯一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532120" cy="3657600"/>
          </a:xfrm>
          <a:prstGeom prst="roundRect">
            <a:avLst>
              <a:gd name="adj" fmla="val 2000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28232" y="188366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聚合：struct Point 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28232" y="2340864"/>
            <a:ext cx="50200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x;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y;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p = {3, 4};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取哪个成员？x 还是 y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562356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5623560"/>
            <a:ext cx="10789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本身不是一个可以直接回答的值——它是 x=3 和 y=4 拼在一起的“容器”，这正是 ABI 给结构体单独定规则的原因。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标量概念 · 举例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基础概念 · 回顾 ABI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回到 ABI：为什么标量和聚合体分开定规则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1247120" cy="1508760"/>
          </a:xfrm>
          <a:prstGeom prst="roundRect">
            <a:avLst>
              <a:gd name="adj" fmla="val 5455"/>
            </a:avLst>
          </a:prstGeom>
          <a:solidFill>
            <a:srgbClr val="EAF3F8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9385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标量参数传递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2450592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只看“这一个值”占多少位宽：≤XLEN 单寄存器，≤2×XLEN 一对寄存器，再大就引用传递。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1124712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358444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聚合体（结构体）传递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85800" y="4096512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先看“总宽度”分档，规则形式上像标量，但背后是好几个成员拼出来的宽度，不是一个值本身的宽度。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521208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212080"/>
            <a:ext cx="10789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一句话：标量是“不可再分的值”，聚合体是“标量拼出来的容器”——理解了这一层，ABI 里两套并行的传参规则就不再是死记硬背。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标量概念 · 回顾 ABI</a:t>
            </a:r>
            <a:endParaRPr lang="en-US" sz="24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976EE9A-9FB5-7FD1-8747-D7854BB3C4B7}"/>
              </a:ext>
            </a:extLst>
          </p:cNvPr>
          <p:cNvSpPr txBox="1"/>
          <p:nvPr/>
        </p:nvSpPr>
        <p:spPr>
          <a:xfrm>
            <a:off x="3474720" y="3083022"/>
            <a:ext cx="777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rgbClr val="FF0000"/>
                </a:solidFill>
              </a:rPr>
              <a:t>LP32 ABI 下 </a:t>
            </a:r>
            <a:r>
              <a:rPr lang="en-US" altLang="zh-CN" dirty="0">
                <a:solidFill>
                  <a:srgbClr val="FF0000"/>
                </a:solidFill>
              </a:rPr>
              <a:t>X</a:t>
            </a:r>
            <a:r>
              <a:rPr lang="zh-CN" altLang="zh-CN" dirty="0">
                <a:solidFill>
                  <a:srgbClr val="FF0000"/>
                </a:solidFill>
              </a:rPr>
              <a:t>LEN=32 位；LPX32</a:t>
            </a:r>
            <a:r>
              <a:rPr lang="en-US" altLang="zh-CN" dirty="0">
                <a:solidFill>
                  <a:srgbClr val="FF0000"/>
                </a:solidFill>
              </a:rPr>
              <a:t>/</a:t>
            </a:r>
            <a:r>
              <a:rPr lang="zh-CN" altLang="zh-CN" dirty="0">
                <a:solidFill>
                  <a:srgbClr val="FF0000"/>
                </a:solidFill>
              </a:rPr>
              <a:t> LP64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zh-CN" altLang="en-US" dirty="0">
                <a:solidFill>
                  <a:srgbClr val="FF0000"/>
                </a:solidFill>
              </a:rPr>
              <a:t>是</a:t>
            </a:r>
            <a:r>
              <a:rPr lang="zh-CN" altLang="zh-CN" dirty="0">
                <a:solidFill>
                  <a:srgbClr val="FF0000"/>
                </a:solidFill>
              </a:rPr>
              <a:t>64 位</a:t>
            </a:r>
            <a:r>
              <a:rPr lang="zh-CN" altLang="en-US" dirty="0">
                <a:solidFill>
                  <a:srgbClr val="FF0000"/>
                </a:solidFill>
              </a:rPr>
              <a:t>；</a:t>
            </a:r>
            <a:r>
              <a:rPr lang="en-US" altLang="zh-CN" dirty="0">
                <a:solidFill>
                  <a:srgbClr val="FF0000"/>
                </a:solidFill>
              </a:rPr>
              <a:t>FLEN</a:t>
            </a:r>
            <a:r>
              <a:rPr lang="zh-CN" altLang="en-US" dirty="0">
                <a:solidFill>
                  <a:srgbClr val="FF0000"/>
                </a:solidFill>
              </a:rPr>
              <a:t>全部标准均</a:t>
            </a:r>
            <a:r>
              <a:rPr lang="zh-CN" altLang="zh-CN" dirty="0">
                <a:solidFill>
                  <a:srgbClr val="FF0000"/>
                </a:solidFill>
              </a:rPr>
              <a:t>是 64 位。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5.3.1 · 参数传递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标量参数传递：按位宽分三种情况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659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位宽 ≤ XLEN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用单个寄存器传；寄存器不够则上栈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33375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XLEN &lt; 位宽 ≤ 2×XLEN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384048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用一对寄存器传（不够则半栈半寄存器）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47091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位宽 &gt; 2×XLEN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31520" y="521208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通过引用传递，参数列表里换成地址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5.3.1 · 参数传递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常见参数序列使用的寄存器（书中节选）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411480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3931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参数列表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0" y="1737360"/>
            <a:ext cx="713232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737360"/>
            <a:ext cx="6949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使用的寄存器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11480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359152"/>
            <a:ext cx="3931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n1, n2, n3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0" y="2359152"/>
            <a:ext cx="713232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59152"/>
            <a:ext cx="6949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a0, a1, a2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980944"/>
            <a:ext cx="41148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980944"/>
            <a:ext cx="3931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d1, d2, d3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0" y="2980944"/>
            <a:ext cx="7132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980944"/>
            <a:ext cx="6949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fa0, fa1, fa2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3602736"/>
            <a:ext cx="411480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602736"/>
            <a:ext cx="3931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n1, d1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0" y="3602736"/>
            <a:ext cx="713232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602736"/>
            <a:ext cx="6949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a0, fa0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4224528"/>
            <a:ext cx="41148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224528"/>
            <a:ext cx="3931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n1, n2, d1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0" y="4224528"/>
            <a:ext cx="7132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4224528"/>
            <a:ext cx="6949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a0, a1, fa0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411480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846320"/>
            <a:ext cx="3931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d1, n1, d2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0" y="4846320"/>
            <a:ext cx="713232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4846320"/>
            <a:ext cx="6949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fa0, a0, fa1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553212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532120"/>
            <a:ext cx="10789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 = 整型（byte/short/int/long），d = 双精度浮点（double），s = 单精度浮点（float）。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5.3.1 · 参数传递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超过 8 个整型参数：剩下的用栈传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书中例子：test(0,1,2,3,4,5,6,7,8,9) —— 前 8 个用 a0~a7，第 9、10 个上调用者的栈。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273552" y="274320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73552" y="2743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89904" y="274320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9904" y="2743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906256" y="274320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06256" y="2743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74904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73552" y="374904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73552" y="374904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89904" y="374904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9904" y="374904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a6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906256" y="374904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06256" y="374904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a7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4846320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84632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C729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sp+0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484632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C729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sp+8 =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585216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8521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这里的 sp 指调用者（Caller）的栈指针。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9494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5.3.1· </a:t>
            </a:r>
            <a:r>
              <a:rPr lang="en-US" altLang="zh-CN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参数传递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整型和指针类型参数传递：strncmp 例子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83794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书中例子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13232" y="2295144"/>
            <a:ext cx="10735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 = strncmp("hello", "Hello World", 5);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112471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306324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920240" y="306324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 of "hello"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0" y="30632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第一个字符串指针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112471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8862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920240" y="38862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 of "Hello World"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498080" y="38862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第二个字符串指针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4709160"/>
            <a:ext cx="112471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470916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920240" y="47091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498080" y="470916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整型参数（比较长度）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57200" y="566928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669280"/>
            <a:ext cx="10789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关键点：a0、a1 放的不是字符串内容，而是字符串首字符的内存地址——指针参数≤GRLEN 位，规则上和普通整型完全一样，用单个寄存器传递。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5.3.1 · 参数传递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结构体（聚合体）作为参数传递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1188720"/>
          </a:xfrm>
          <a:prstGeom prst="roundRect">
            <a:avLst>
              <a:gd name="adj" fmla="val 7692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规则和标量类似，按“结构体总宽度”分档：≤XLEN 用单寄存器；≤2×XLEN 用一对寄存器；再大就通过引用（传地址）。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063240"/>
            <a:ext cx="11247120" cy="3703320"/>
          </a:xfrm>
          <a:prstGeom prst="roundRect">
            <a:avLst>
              <a:gd name="adj" fmla="val 1975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20954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书中例子：≤ 2×XLEN 的结构体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666744"/>
            <a:ext cx="10735056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things 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v1;   // 'a'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 v2;   // 14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 v3;   // 256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a0 = {'a', 14}   a1 = {256}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5.3.1· </a:t>
            </a:r>
            <a:r>
              <a:rPr lang="en-US" altLang="zh-CN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参数传递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大于 2×GRLEN </a:t>
            </a:r>
            <a:r>
              <a:rPr lang="en-US" sz="2700" b="1" dirty="0" err="1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的结构体参数传递</a:t>
            </a:r>
            <a:r>
              <a:rPr lang="zh-CN" altLang="en-US" sz="27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（适用于浮点数）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规则：位宽 &gt; 2×GRLEN 时通过引用传递，参数列表里换成地址。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2651760"/>
          </a:xfrm>
          <a:prstGeom prst="roundRect">
            <a:avLst>
              <a:gd name="adj" fmla="val 275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238658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书中例子（总大小 24 字节 &gt; 2×GRLEN=16）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3232" y="2843784"/>
            <a:ext cx="107350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things {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v1; int v2; int v3; long v4;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= {'a', 14, 256, 6792};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5074920"/>
            <a:ext cx="2121408" cy="1051560"/>
          </a:xfrm>
          <a:prstGeom prst="roundRect">
            <a:avLst>
              <a:gd name="adj" fmla="val 6957"/>
            </a:avLst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50749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
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sp+0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706624" y="5074920"/>
            <a:ext cx="21214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61488" y="50749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sp+0
</a:t>
            </a:r>
            <a:r>
              <a:rPr lang="en-US" sz="2400" b="1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956048" y="5074920"/>
            <a:ext cx="21214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50749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sp+4
</a:t>
            </a:r>
            <a:r>
              <a:rPr lang="en-US" sz="2400" b="1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205472" y="5074920"/>
            <a:ext cx="21214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0336" y="50749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sp+8
</a:t>
            </a:r>
            <a:r>
              <a:rPr lang="en-US" sz="2400" b="1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256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54896" y="5074920"/>
            <a:ext cx="21214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0" y="50749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sp+16
</a:t>
            </a:r>
            <a:r>
              <a:rPr lang="en-US" sz="2400" b="1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6792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6263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存的是地址，不是数据——被调用者能通过它读写调用者栈上的原始数据。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5.3.2 · 返回值传递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kumimoji="0" 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函数返回值传递规则</a:t>
            </a:r>
            <a:r>
              <a:rPr lang="en-US" altLang="zh-CN" sz="28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（a0/a1 </a:t>
            </a:r>
            <a:r>
              <a:rPr lang="en-US" altLang="zh-CN" sz="2800" dirty="0" err="1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兼作</a:t>
            </a:r>
            <a:r>
              <a:rPr lang="en-US" altLang="zh-CN" sz="28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v0/v1 </a:t>
            </a:r>
            <a:r>
              <a:rPr lang="en-US" altLang="zh-CN" sz="2800" dirty="0" err="1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返回值</a:t>
            </a:r>
            <a:r>
              <a:rPr lang="en-US" altLang="zh-CN" sz="28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73736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整型 / 指针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126480" y="173736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51460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浮点（单 / 双精度）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126480" y="251460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fv0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29184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结构体（≤2 个浮点成员）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126480" y="329184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fv0、fv1 依次存放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406908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结构体（≤2 个整型成员）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126480" y="406908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v0、v1 依次存放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484632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结构体（&gt;16 字节）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26480" y="484632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通过引用传递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576072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7607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long double（128 位）用 fv0 + fv1 一起存放。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5.4 · 函数栈布局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函数栈布局：向下增长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ABI 规定：函数栈向下增长（朝更低地址）；sp 应对齐到 16 字节边界；栈上传递的第一个实参位于 sp 偏移 0 处，后面的参数存储在更高地址。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926080" y="3611880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0A4A6E"/>
          </a:solidFill>
          <a:ln/>
        </p:spPr>
      </p:sp>
      <p:sp>
        <p:nvSpPr>
          <p:cNvPr id="8" name="Text 6"/>
          <p:cNvSpPr/>
          <p:nvPr/>
        </p:nvSpPr>
        <p:spPr>
          <a:xfrm>
            <a:off x="2926080" y="3611880"/>
            <a:ext cx="6035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ra（返回地址）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926080" y="4197096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4197096"/>
            <a:ext cx="6035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fp（帧指针）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926080" y="4782312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4782312"/>
            <a:ext cx="6035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局部变量（s0~s7）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926080" y="5367528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2926080" y="5367528"/>
            <a:ext cx="6035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参数区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098280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高地址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098280" y="576986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低地址（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5.4 · 函数栈实例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函数栈实例：默认编译（保留 fp）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548640"/>
          </a:xfrm>
          <a:prstGeom prst="roundRect">
            <a:avLst>
              <a:gd name="adj" fmla="val 16667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书中例子：normal() 调用 nested() 传 9 个参数，默认编译下的汇编。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47120" cy="4343400"/>
          </a:xfrm>
          <a:prstGeom prst="roundRect">
            <a:avLst>
              <a:gd name="adj" fmla="val 1684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2374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gcc test_fp.c -S（默认，无优化）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2980944"/>
            <a:ext cx="1073505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$sp,$sp,-32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st.d   $ra,$sp,24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st.d   $fp,$sp,16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$fp,$sp,32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     nested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  $ra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5.4 · 函数栈实例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函数栈实例：-O2 优化后（去掉 fp）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-O2 优化后，编译器发现栈帧大小编译期可确定，就省掉了 fp 和非必要的保存/恢复指令。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11247120" cy="4069080"/>
          </a:xfrm>
          <a:prstGeom prst="roundRect">
            <a:avLst>
              <a:gd name="adj" fmla="val 1798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84378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gcc test_fp.c -O2 -S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300984"/>
            <a:ext cx="1073505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$sp,$sp,-32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st.d   $ra,$sp,24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     nested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ld.d   $ra,$sp,24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$sp,$sp,32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  $ra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· bl / jirl 与 ra（补充）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举例：嵌套调用为什么要保存 ra？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FCEAEA"/>
          </a:solidFill>
          <a:ln w="12700">
            <a:solidFill>
              <a:srgbClr val="C144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8B1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 会把返回地址写入 r1（ra）。如果 inner 内部再用 bl 调用 deeper，r1 会被覆盖——outer 记的返回点就丢了。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8895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错误示范：忘记保存 ra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3467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outer: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      inner       # r1 = A（返回地址）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      deeper      # r1 被覆盖成 B！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jirl    r0, r1, 0   # 跳到 B，不是 A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outer 再也回不去了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补充 · bl / jirl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· bl / jirl 与 ra（补充）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举例：正确写法——先保存，再恢复 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在自己再调用别的函数之前，先把 r1 存到栈上；等 deeper 返回后，再恢复 r1，最后才跳回 outer。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3566160"/>
          </a:xfrm>
          <a:prstGeom prst="roundRect">
            <a:avLst>
              <a:gd name="adj" fmla="val 20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70662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正确写法：st.d 保存、ld.d 恢复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163824"/>
            <a:ext cx="107350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st.d    r1, sp, 8    # 保存 A 到栈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      deeper       # r1 变成 B，没关系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ld.d    r1, sp, 8    # 恢复 A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jirl    r0, r1, 0    # 跳回 A，正确返回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补充 · bl / jirl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5.5 · 系统调用约定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系统调用约定：a7 传号，a0~a6 传参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82880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a7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0" y="182880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系统调用号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8803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 ~ a6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0" y="2880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系统调用参数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9319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65760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同时也是返回值（调用后 a0~a6 可能被破坏）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5074920"/>
            <a:ext cx="10789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不同于普通函数调用约定：系统调用回来后，a0~a6 的值可能被破坏，不保证保留。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5.5 · 系统调用例子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系统调用例子：sys_write 输出字符串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sys_write 系统调用号是 64：fd=1（stdout）、字符串地址、字符串长度。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47120" cy="3246120"/>
          </a:xfrm>
          <a:prstGeom prst="roundRect">
            <a:avLst>
              <a:gd name="adj" fmla="val 2254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2374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syscall_test.S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2980944"/>
            <a:ext cx="1073505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li.d  $a7, 64          # sys_write 调用号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li.d  $a0, 1           # fd = stdout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la.local $a1, .LC0     # 字符串地址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li.d  $a2, 12          # 字符串长度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syscall 0              # 系统调用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760720"/>
            <a:ext cx="1124712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7607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运行结果：Hello World —— 完全没有调用 libc 的 printf，直接走内核接口。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132320" y="6355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ABI 介绍 · 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ABI 要点总结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3931920"/>
          </a:xfrm>
          <a:prstGeom prst="roundRect">
            <a:avLst>
              <a:gd name="adj" fmla="val 1860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517904"/>
            <a:ext cx="103692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寄存器：a0~a7 传参，v0~v1 返回值，ra 存返回地址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系列调用者保存，s 系列被调用者保存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参数超 8 个、结构体超 2×XLEN，都改用栈或引用传递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函数栈向下增长，sp/fp 记录栈帧边界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系统调用：a7 传号，a0~a6 传参，a0 也传返回值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4864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这些约定就是编译器、汇编器、内核默默遵守的“潜规则”——理解了它们，看反汇编、写内嵌汇编、调试栈溢出都会更有底气。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2844</Words>
  <Application>Microsoft Office PowerPoint</Application>
  <PresentationFormat>宽屏</PresentationFormat>
  <Paragraphs>566</Paragraphs>
  <Slides>41</Slides>
  <Notes>41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7" baseType="lpstr">
      <vt:lpstr>等线</vt:lpstr>
      <vt:lpstr>Arial</vt:lpstr>
      <vt:lpstr>Calibri</vt:lpstr>
      <vt:lpstr>Cambria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11</cp:revision>
  <dcterms:created xsi:type="dcterms:W3CDTF">2026-08-31T08:31:51Z</dcterms:created>
  <dcterms:modified xsi:type="dcterms:W3CDTF">2026-09-03T01:59:05Z</dcterms:modified>
</cp:coreProperties>
</file>