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71" r:id="rId23"/>
    <p:sldId id="292" r:id="rId24"/>
    <p:sldId id="293" r:id="rId25"/>
    <p:sldId id="294" r:id="rId26"/>
    <p:sldId id="295" r:id="rId27"/>
    <p:sldId id="272" r:id="rId28"/>
    <p:sldId id="273" r:id="rId29"/>
    <p:sldId id="274" r:id="rId30"/>
    <p:sldId id="296" r:id="rId31"/>
    <p:sldId id="275" r:id="rId32"/>
    <p:sldId id="297" r:id="rId33"/>
    <p:sldId id="276" r:id="rId34"/>
    <p:sldId id="277" r:id="rId35"/>
    <p:sldId id="278" r:id="rId36"/>
    <p:sldId id="279" r:id="rId37"/>
    <p:sldId id="283" r:id="rId38"/>
    <p:sldId id="284" r:id="rId39"/>
    <p:sldId id="298" r:id="rId40"/>
    <p:sldId id="280" r:id="rId41"/>
    <p:sldId id="281" r:id="rId42"/>
    <p:sldId id="282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31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LoongArch ABI 介绍：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数据类型与寄存器约定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 LoongArch ABI（上）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81069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 err="1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本部分内容</a:t>
            </a:r>
            <a:r>
              <a:rPr lang="en-US" sz="240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是什么、数据类型与对齐、通用寄存器约定、浮点寄存器约定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· ABI 简介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什么是 ABI？龙芯的三套 ABI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ABI（Application Binary Interface，应用程序二进制接口）定义了二进制代码中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数据结构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函数的格式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及访问方式，使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不同二进制模块之间可以正确交互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——它是编译器、汇编器、链接器共同遵守的“二进制契约”。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291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32918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指针、寄存器都是 64 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4279392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27939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LPX32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427939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 32 位、寄存器 64 位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5266944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526694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LP32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5266944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指针、寄存器都是 32 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· ABI 简介（补充）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形象理解 ABI：不同语言写的代码如何握手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C、Rust、汇编……只要各自编译出的二进制代码都遵守同一套 ABI（寄存器怎么用、参数放哪、栈怎么摆），它们就能互相调用，即使源代码语言完全不同。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编译器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68880" y="3429000"/>
            <a:ext cx="3630168" cy="685800"/>
          </a:xfrm>
          <a:prstGeom prst="line">
            <a:avLst/>
          </a:prstGeom>
          <a:noFill/>
          <a:ln w="19050">
            <a:solidFill>
              <a:srgbClr val="3E4E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74320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743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汇编代码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0" y="3429000"/>
            <a:ext cx="64008" cy="685800"/>
          </a:xfrm>
          <a:prstGeom prst="line">
            <a:avLst/>
          </a:prstGeom>
          <a:noFill/>
          <a:ln w="19050">
            <a:solidFill>
              <a:srgbClr val="3E4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743200"/>
            <a:ext cx="329184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743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编译器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 flipH="1">
            <a:off x="6099048" y="3429000"/>
            <a:ext cx="3502152" cy="685800"/>
          </a:xfrm>
          <a:prstGeom prst="line">
            <a:avLst/>
          </a:prstGeom>
          <a:noFill/>
          <a:ln w="19050">
            <a:solidFill>
              <a:srgbClr val="3E4E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411480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0A4A6E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53128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 契约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943600" y="4937760"/>
            <a:ext cx="301752" cy="228600"/>
          </a:xfrm>
          <a:prstGeom prst="downArrow">
            <a:avLst/>
          </a:prstGeom>
          <a:solidFill>
            <a:srgbClr val="3E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53128" y="521208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4453128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寄存器 / 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简介 · 补充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· ABI 简介（补充）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生活化比喻：ABI 就像电源插座标准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C1443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没有插座标准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每个厂商都用自己的插头，同一插座插不进别家电器，只能单独布线。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916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103120"/>
            <a:ext cx="54864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916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有了插座标准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不管电器是什么牌子，只要插头尺寸、电压符合国标，插上就能用。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2103120"/>
          </a:xfrm>
          <a:prstGeom prst="roundRect">
            <a:avLst>
              <a:gd name="adj" fmla="val 4348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对应到程序里：
</a:t>
            </a: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插头尺寸、电压对应 ABI 的参数寄存器、栈布局；电器品牌对应 C、Rust、汇编等语言。按 ABI 编译，C 程序就能调用汇编写的函数——如本课 add_f。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简介 · 补充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· 数据类型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数据类型的大小与对齐</a:t>
            </a:r>
            <a:endParaRPr lang="en-US" sz="2800" dirty="0"/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D2ED34A4-AA60-DF11-2581-EC67FD86C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385416"/>
              </p:ext>
            </p:extLst>
          </p:nvPr>
        </p:nvGraphicFramePr>
        <p:xfrm>
          <a:off x="457200" y="1580380"/>
          <a:ext cx="11177335" cy="46939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72841">
                  <a:extLst>
                    <a:ext uri="{9D8B030D-6E8A-4147-A177-3AD203B41FA5}">
                      <a16:colId xmlns:a16="http://schemas.microsoft.com/office/drawing/2014/main" val="3064189748"/>
                    </a:ext>
                  </a:extLst>
                </a:gridCol>
                <a:gridCol w="1798093">
                  <a:extLst>
                    <a:ext uri="{9D8B030D-6E8A-4147-A177-3AD203B41FA5}">
                      <a16:colId xmlns:a16="http://schemas.microsoft.com/office/drawing/2014/main" val="2033719330"/>
                    </a:ext>
                  </a:extLst>
                </a:gridCol>
                <a:gridCol w="2235467">
                  <a:extLst>
                    <a:ext uri="{9D8B030D-6E8A-4147-A177-3AD203B41FA5}">
                      <a16:colId xmlns:a16="http://schemas.microsoft.com/office/drawing/2014/main" val="4065790213"/>
                    </a:ext>
                  </a:extLst>
                </a:gridCol>
                <a:gridCol w="2235467">
                  <a:extLst>
                    <a:ext uri="{9D8B030D-6E8A-4147-A177-3AD203B41FA5}">
                      <a16:colId xmlns:a16="http://schemas.microsoft.com/office/drawing/2014/main" val="76426776"/>
                    </a:ext>
                  </a:extLst>
                </a:gridCol>
                <a:gridCol w="2235467">
                  <a:extLst>
                    <a:ext uri="{9D8B030D-6E8A-4147-A177-3AD203B41FA5}">
                      <a16:colId xmlns:a16="http://schemas.microsoft.com/office/drawing/2014/main" val="4807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C/C++ 语言数据类型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LA64 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LA64 对齐方式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LA32 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LA32 对齐方式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39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bool/char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289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74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104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61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long 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21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void*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20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__int128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638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733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254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long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2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05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· 数据类型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数据类型的大小与对齐（浮点 / 宽类型）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类型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0" y="1783080"/>
            <a:ext cx="310896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大小（字节）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95360" y="1783080"/>
            <a:ext cx="3108960" cy="7772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对齐方式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02920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0" y="2560320"/>
            <a:ext cx="31089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5603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595360" y="2560320"/>
            <a:ext cx="31089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5603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0" y="333756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337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595360" y="333756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337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502920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14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__int128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486400" y="4114800"/>
            <a:ext cx="31089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4114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595360" y="4114800"/>
            <a:ext cx="3108960" cy="7772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4114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double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486400" y="489204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892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595360" y="489204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92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457200" y="58064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8064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__int128 与 long double 都是 16 字节：在 LA64 上需要 2 个寄存器才能装下，LA32 上则需要 4 个。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5.1.2 · 数据对齐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数据对齐：编译器如何摆放变量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自然对齐：地址必须是数据类型大小的倍数。LoongArch 硬件支持非对齐访问，但编译器会自动补齐以获得更好性能。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980944"/>
            <a:ext cx="4608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声明顺序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438144"/>
            <a:ext cx="46085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cVar;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iVar;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sVar;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lVar;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806440" y="2834640"/>
            <a:ext cx="2880360" cy="5486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2834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地址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0" y="2834640"/>
            <a:ext cx="2880360" cy="548640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2834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06440" y="3383280"/>
            <a:ext cx="2880360" cy="5486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0x...070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0" y="3383280"/>
            <a:ext cx="2880360" cy="5486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806440" y="3931920"/>
            <a:ext cx="2880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0x...074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0" y="3931920"/>
            <a:ext cx="2880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931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iVar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806440" y="4480560"/>
            <a:ext cx="2880360" cy="5486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4480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0x...078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686800" y="4480560"/>
            <a:ext cx="2880360" cy="548640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4480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sVar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806440" y="5029200"/>
            <a:ext cx="2880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5029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0x...080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686800" y="5029200"/>
            <a:ext cx="2880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5029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lVar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57200" y="58064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80644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 到 lVar 隔了 8 字节——为了让 8 字节的 lVar 对齐，编译器插入了填充。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42062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答案讲解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声明顺序 vs 数据对齐：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省空间的设计意图被谁吃掉了？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补充 · 结构体内存对齐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Q1 · 声明顺序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思考题 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同样的四个字段 char、int、short、long，只是声明顺序不同。这个结构体最终占用的内存大小，会不会因为顺序不同而不一样？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43814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版本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895344"/>
            <a:ext cx="50200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声明 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cVar;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iVar;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sVar;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lVar;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329184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343814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版本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28232" y="3895344"/>
            <a:ext cx="50200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声明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lVar;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iVar;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sVar;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cVar;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Q1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 · 逐字段推导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答案 1 · 版本 A：从小到大声明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每个字段的起始 offset，必须是该字段大小的倍数——不满足就插入填充。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56278" y="2286000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80299" y="2286000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char（1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FCEAEA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(pad)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56278" y="2816352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~ 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80299" y="2816352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填充（空洞）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46704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56278" y="3346704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~ 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80299" y="3346704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int（4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77056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56278" y="3877056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~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80299" y="3877056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short（2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FCEAEA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07408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(pad)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56278" y="4407408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~ 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80299" y="4407408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填充（空洞）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47120" cy="438912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937760"/>
            <a:ext cx="34619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56278" y="4937760"/>
            <a:ext cx="382402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~ 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80299" y="4937760"/>
            <a:ext cx="368686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long（8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559552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CEAEA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55955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B1E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 15 字节 + 填充 9 字节 = 总共 24 字节。填充比 short 和 int 加起来还多！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A1 · 逐字段推导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答案 1 · 版本 B：从大到小声明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同样的字段，同样的规则，只是把大的放前面。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346191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56278" y="2331720"/>
            <a:ext cx="3824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80299" y="2331720"/>
            <a:ext cx="36868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long（8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53512"/>
            <a:ext cx="346191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56278" y="2953512"/>
            <a:ext cx="3824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~ 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80299" y="2953512"/>
            <a:ext cx="36868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int（4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75304"/>
            <a:ext cx="346191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56278" y="3575304"/>
            <a:ext cx="3824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~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80299" y="3575304"/>
            <a:ext cx="36868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short（2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197096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97096"/>
            <a:ext cx="346191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56278" y="4197096"/>
            <a:ext cx="3824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~ 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80299" y="4197096"/>
            <a:ext cx="36868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char（1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818888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CEAEA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818888"/>
            <a:ext cx="346191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(pad)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56278" y="4818888"/>
            <a:ext cx="3824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~ 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80299" y="4818888"/>
            <a:ext cx="36868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144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填充（空洞）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5321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5D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 15 字节 + 填充仅 1 字节（尾部凑整）= 总共 16 字节。比版本 A 省了 8 字节，正好 1/3。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Q2 · 为什么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思考题 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版本 B（从大到小）里，每个字段的 offset 都刚好是自己大小的倍数，一次填充都没插。这是巧合，还是背后有必然的规律？为什么？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A5A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提示：C 语言内置类型的大小（1、2、4、8）都是 2 的幂。2 的幂之间有什么特殊的整除关系？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Q2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 · 核心原理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答案 2 · 大的 2 的幂，一定整除小的 2 的幂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只要“前面摆的东西”都比“现在要摆的”大（或相等），前面占用的总字节数，就一定是当前字段大小的整数倍——因为大的 2 的幂本来就能整除小的 2 的幂。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971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iVar offset 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29718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= 8×1，是 4 的倍数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758184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75818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sVar offset 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758184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 = 8+4，两者都是 2 的倍数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544568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5445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 offset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0" y="45445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对齐要求是 1，永远满足 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5404104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404104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反过来，从小到大排：char(1) 后面接 int(4)，offset 1 不是 4 的倍数，就必须往后补到 offset 4 —— 这就是 padding 的来源。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思考题 · A2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结论：两条经验必须一起用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563624"/>
            <a:ext cx="103692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只选小类型 ≠ 一定省空间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选小类型 + 从大到小声明 = 真正省空间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本例：24 字节 → 16 字节，省 1/3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A4A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边界提醒：结构体末尾常有“尾部填充”，把总大小凑成最大对齐要求的整数倍（本例凑到 8 的倍数）。这是为了让结构体数组里每个元素都能正确对齐，不管声明顺序怎么排都躲不掉。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FA9B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这个坑在系统编程里很经典，常被称为 struct packing / 结构体重排优化。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寄存器约定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通用寄存器使用约定（一）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1828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常量寄存器，值恒为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7889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函数返回地址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749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线程局部存储（TLS）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709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860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0" y="4709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栈指针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669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r4~r11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286000" y="56692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a0~a7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0" y="56692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参数寄存器（a0/a1 兼作 v0/v1 返回值）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寄存器约定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通用寄存器使用约定（二）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28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r12~r20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t0~t8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临时寄存器（调用者保存）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7889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788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0" y="2788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保留寄存器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7490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帧指针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709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r23~r31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0" y="4709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s0~s8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29200" y="47091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保存寄存器（被调用者保存）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76072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下一页详细区分 t 系列与 s 系列的“调用者保存 / 被调用者保存”具体含义。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zero 寄存器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寄存器：常量 0 与 move 伪指令的由来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不管写入什么值，读 zero 永远得到 0。可以用它省去加载立即数 0 的操作，也是 move 伪指令的实现基础。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02666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书中例子：用 zero 求相反数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483864"/>
            <a:ext cx="5020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sub.w   t5, zero, t4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相当于 t5 = 0 - t4 = -t4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72200" y="2880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302666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的真实展开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28232" y="3483864"/>
            <a:ext cx="5020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t0, t1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&lt;=&gt;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 t0, t1, zero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52578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5257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书中原话：龙芯官方手册中并不存在 move </a:t>
            </a:r>
            <a:r>
              <a:rPr lang="en-US" sz="2400" dirty="0" err="1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CN" altLang="en-US" sz="240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宏指令</a:t>
            </a:r>
            <a:r>
              <a:rPr lang="en-US" sz="240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)，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move 的操作码与 or 相同，move rd, rj &lt;=&gt; or rd, rj, zero。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参数与返回值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函数调用寄存器：a0~a7、v0~v1、ra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a0~a7 传前 8 个整型/指针参数；a0、a1（别名 v0、v1）兼作返回值；ra 保存函数返回地址。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1247120" cy="4114800"/>
          </a:xfrm>
          <a:prstGeom prst="roundRect">
            <a:avLst>
              <a:gd name="adj" fmla="val 1778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523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书中例子：int ret = add(2, 3);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209544"/>
            <a:ext cx="107350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add.w   a0, a0, a1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jirl    zero, ra, 0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li.w    a0, 0x2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li.w    a1, 0x3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 add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临时/保存寄存器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系列 vs s 系列：谁负责保存旧值？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 ~ t8（临时）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函数内部可随便用，使用前不用考虑保存旧值——由调用者（Caller）自己负责保存。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3736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0A4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37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 ~ s8（保存）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当前函数如果要用，必须先把旧值存到栈上，返回前再恢复——由被调用者（Callee）负责保存。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11247120" cy="2468880"/>
          </a:xfrm>
          <a:prstGeom prst="roundRect">
            <a:avLst>
              <a:gd name="adj" fmla="val 2963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43525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被调用者保存 s0 的典型写法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3232" y="4809744"/>
            <a:ext cx="10735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st.d    s0, sp, 32   # 保存旧值到栈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ld.d    s0, sp, 32   # 返回前恢复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· tp / sp / fp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tp（线程局部存储）与 sp / fp（函数栈）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tp（线程局部存储）：
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指向当前线程的 TLS 区域，用于快速定位线程私有变量（如 libc 的 errno）。通常由 libc 维护，用户程序最好不要用。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/ fp（函数栈）：
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函数栈是先进后出的动态存储空间，用于保存局部变量和相关寄存器；sp、fp 记录每个函数栈帧的起止位置。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5.2.2 · 浮点寄存器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浮点寄存器（FR）使用约定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704088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20240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f0 ~ f7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0" y="1920240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fa0 ~ fa7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0" y="1920240"/>
            <a:ext cx="46634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参数寄存器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11247120" cy="704088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761488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f0 ~ f1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2761488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fv0 ~ fv1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2761488"/>
            <a:ext cx="46634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函数返回值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602736"/>
            <a:ext cx="11247120" cy="704088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602736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~ f23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602736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ft0 ~ ft15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3602736"/>
            <a:ext cx="46634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临时寄存器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11247120" cy="704088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443984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4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f24 ~ f31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4443984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fs0 ~ fs7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4443984"/>
            <a:ext cx="46634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保存寄存器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422392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422392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命名规律和通用寄存器一致：a→参数、v→返回值、t→临时、s→保存，只是前面多了个 f。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上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LoongArch ABI 介绍：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函数调用约定与系统调用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第五章 LoongArch ABI（下）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49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本部分内容：参数传递规则、返回值规则、函数栈布局、系统调用约定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基础概念 · 定义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标量（scalar）vs 聚合类型（aggregate）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标量类型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一个变量只装一个值。整数、浮点数、指针、枚举都是标量——不管这个值占几个字节，它始终是“一个”值。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3736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0A4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37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聚合类型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一个变量把好几个值捆在一起。结构体、数组、联合体都是聚合类型——访问时要指定“取哪一个成员/哪一项”。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0916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6B5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记忆法：能不能直接回答“这个变量的值是多少”——能直接给出一个数/地址的是标量；得先答“取哪个成员”的是聚合类型。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标量概念 · 定义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基础概念 · 分类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语言里的标量类型清单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char, short, int, long, long long, _Bool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6243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浮点型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6243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float, double, long double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51129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指针型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35112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int*, char*, void*, 函数指针……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" y="4398264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39826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枚举型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439826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Color { RED, GREEN, BLUE };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5376672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EA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37667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这四类的共同点：不管底层占 1、2、4、8 还是 16 字节，一个变量永远只存一个值。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标量概念 · 分类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基础概念 · 举例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举例对比：一个标量变量 vs 一个聚合变量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8366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标量：int 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340864"/>
            <a:ext cx="50200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就是“一个值”：5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问 x 是多少？答案唯一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1883664"/>
            <a:ext cx="5020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聚合：struct Point 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28232" y="2340864"/>
            <a:ext cx="50200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y;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 = {3, 4};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取哪个成员？x 还是 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562356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62356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本身不是一个可以直接回答的值——它是 x=3 和 y=4 拼在一起的“容器”，这正是 ABI 给结构体单独定规则的原因。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标量概念 · 举例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基础概念 · 回顾 ABI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回到 ABI：为什么标量和聚合体分开定规则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508760"/>
          </a:xfrm>
          <a:prstGeom prst="roundRect">
            <a:avLst>
              <a:gd name="adj" fmla="val 5455"/>
            </a:avLst>
          </a:prstGeom>
          <a:solidFill>
            <a:srgbClr val="EAF3F8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38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标量参数传递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只看“这一个值”占多少位宽：≤XLEN 单寄存器，≤2×XLEN 一对寄存器，再大就引用传递。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124712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5844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聚合体（结构体）传递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09651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先看“总宽度”分档，规则形式上像标量，但背后是好几个成员拼出来的宽度，不是一个值本身的宽度。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21208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一句话：标量是“不可再分的值”，聚合体是“标量拼出来的容器”——理解了这一层，ABI 里两套并行的传参规则就不再是死记硬背。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标量概念 · 回顾 ABI</a:t>
            </a:r>
            <a:endParaRPr 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76EE9A-9FB5-7FD1-8747-D7854BB3C4B7}"/>
              </a:ext>
            </a:extLst>
          </p:cNvPr>
          <p:cNvSpPr txBox="1"/>
          <p:nvPr/>
        </p:nvSpPr>
        <p:spPr>
          <a:xfrm>
            <a:off x="3474720" y="3083022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LP32 ABI 下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zh-CN" dirty="0">
                <a:solidFill>
                  <a:srgbClr val="FF0000"/>
                </a:solidFill>
              </a:rPr>
              <a:t>LEN=32 位；LPX32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zh-CN" dirty="0">
                <a:solidFill>
                  <a:srgbClr val="FF0000"/>
                </a:solidFill>
              </a:rPr>
              <a:t> LP64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是</a:t>
            </a:r>
            <a:r>
              <a:rPr lang="zh-CN" altLang="zh-CN" dirty="0">
                <a:solidFill>
                  <a:srgbClr val="FF0000"/>
                </a:solidFill>
              </a:rPr>
              <a:t>64 位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r>
              <a:rPr lang="en-US" altLang="zh-CN" dirty="0">
                <a:solidFill>
                  <a:srgbClr val="FF0000"/>
                </a:solidFill>
              </a:rPr>
              <a:t>FLEN</a:t>
            </a:r>
            <a:r>
              <a:rPr lang="zh-CN" altLang="en-US" dirty="0">
                <a:solidFill>
                  <a:srgbClr val="FF0000"/>
                </a:solidFill>
              </a:rPr>
              <a:t>全部标准均</a:t>
            </a:r>
            <a:r>
              <a:rPr lang="zh-CN" altLang="zh-CN" dirty="0">
                <a:solidFill>
                  <a:srgbClr val="FF0000"/>
                </a:solidFill>
              </a:rPr>
              <a:t>是 64 位。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5.3.1 · 参数传递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标量参数传递：按位宽分三种情况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位宽 ≤ XLEN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用单个寄存器传；寄存器不够则上栈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337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XLEN &lt; 位宽 ≤ 2×XLEN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用一对寄存器传（不够则半栈半寄存器）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7091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位宽 &gt; 2×XLEN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通过引用传递，参数列表里换成地址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5.3.1 · 参数传递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常见参数序列使用的寄存器（书中节选）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参数列表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7132320" cy="621792"/>
          </a:xfrm>
          <a:prstGeom prst="rect">
            <a:avLst/>
          </a:prstGeom>
          <a:solidFill>
            <a:srgbClr val="0A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37360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使用的寄存器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11480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91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n1, n2, n3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2359152"/>
            <a:ext cx="713232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59152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a0, a1, a2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809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d1, d2, d3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2980944"/>
            <a:ext cx="7132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980944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fa0, fa1, fa2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411480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0273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n1, d1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3602736"/>
            <a:ext cx="713232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602736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a0, fa0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2452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n1, n2, d1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4224528"/>
            <a:ext cx="7132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24528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a0, a1, fa0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411480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463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d1, n1, d2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0" y="4846320"/>
            <a:ext cx="7132320" cy="621792"/>
          </a:xfrm>
          <a:prstGeom prst="rect">
            <a:avLst/>
          </a:prstGeom>
          <a:solidFill>
            <a:srgbClr val="EAF3F8"/>
          </a:solidFill>
          <a:ln w="6350">
            <a:solidFill>
              <a:srgbClr val="D6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846320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fa0, a0, fa1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3212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整型（byte/short/int/long），d = 双精度浮点（double），s = 单精度浮点（float）。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5.3.1 · 参数传递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超过 8 个整型参数：剩下的用栈传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书中例子：test(0,1,2,3,4,5,6,7,8,9) —— 前 8 个用 a0~a7，第 9、10 个上调用者的栈。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73552" y="2743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27432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89904" y="2743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7432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06256" y="2743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06256" y="27432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3552" y="37490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37490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37490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37490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a6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06256" y="37490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06256" y="37490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sp+0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84632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sp+8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8521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这里的 sp 指调用者（Caller）的栈指针。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9494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5.3.1· </a:t>
            </a:r>
            <a:r>
              <a:rPr lang="en-US" altLang="zh-CN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参数传递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整型和指针类型参数传递：strncmp 例子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379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295144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 = strncmp("hello", "Hello World", 5);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12471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063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3063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of "hello"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0" y="30632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第一个字符串指针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112471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8862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20240" y="3886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of "Hello World"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0" y="3886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第二个字符串指针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12471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7091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20240" y="47091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98080" y="4709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整型参数（比较长度）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66928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关键点：a0、a1 放的不是字符串内容，而是字符串首字符的内存地址——指针参数≤GRLEN 位，规则上和普通整型完全一样，用单个寄存器传递。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5.3.1 · 参数传递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结构体（聚合体）作为参数传递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规则和标量类似，按“结构体总宽度”分档：≤XLEN 用单寄存器；≤2×XLEN 用一对寄存器；再大就通过引用（传地址）。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1247120" cy="3703320"/>
          </a:xfrm>
          <a:prstGeom prst="roundRect">
            <a:avLst>
              <a:gd name="adj" fmla="val 1975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2095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书中例子：≤ 2×XLEN 的结构体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666744"/>
            <a:ext cx="1073505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things {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v1;   // 'a'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v2;   //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v3;   // 256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a0 = {'a', 14}   a1 = {256}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5.3.1· </a:t>
            </a:r>
            <a:r>
              <a:rPr lang="en-US" altLang="zh-CN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参数传递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大于 2×GRLEN </a:t>
            </a:r>
            <a:r>
              <a:rPr lang="en-US" sz="2700" b="1" dirty="0" err="1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的结构体参数传递</a:t>
            </a:r>
            <a:r>
              <a:rPr lang="zh-CN" altLang="en-US" sz="27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（适用于浮点数）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规则：位宽 &gt; 2×GRLEN 时通过引用传递，参数列表里换成地址。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386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书中例子（总大小 24 字节 &gt; 2×GRLEN=16）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843784"/>
            <a:ext cx="107350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things {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v1; int v2; int v3; long v4;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{'a', 14, 256, 6792};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50749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
</a:t>
            </a: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sp+0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06624" y="507492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50749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sp+0
</a:t>
            </a:r>
            <a:r>
              <a:rPr lang="en-US" sz="24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56048" y="507492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50749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sp+4
</a:t>
            </a:r>
            <a:r>
              <a:rPr lang="en-US" sz="24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05472" y="507492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50749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sp+8
</a:t>
            </a:r>
            <a:r>
              <a:rPr lang="en-US" sz="24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454896" y="507492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50749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sp+16
</a:t>
            </a:r>
            <a:r>
              <a:rPr lang="en-US" sz="2400" b="1" dirty="0">
                <a:solidFill>
                  <a:srgbClr val="16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6792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263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存的是地址，不是数据——被调用者能通过它读写调用者栈上的原始数据。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5.3.2 · 返回值传递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函数返回值传递规则</a:t>
            </a:r>
            <a:r>
              <a:rPr lang="en-US" altLang="zh-CN" sz="2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（a0/a1 </a:t>
            </a:r>
            <a:r>
              <a:rPr lang="en-US" altLang="zh-CN" sz="28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兼作</a:t>
            </a:r>
            <a:r>
              <a:rPr lang="en-US" altLang="zh-CN" sz="2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v0/v1 </a:t>
            </a:r>
            <a:r>
              <a:rPr lang="en-US" altLang="zh-CN" sz="28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返回值</a:t>
            </a:r>
            <a:r>
              <a:rPr lang="en-US" altLang="zh-CN" sz="28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373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整型 / 指针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7373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5146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浮点（单 / 双精度）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25146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结构体（≤2 个浮点成员）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fv0、fv1 依次存放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69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结构体（≤2 个整型成员）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4069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v0、v1 依次存放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8463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结构体（&gt;16 字节）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48463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通过引用传递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7607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long double（128 位）用 fv0 + fv1 一起存放。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5.4 · 函数栈布局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函数栈布局：向下增长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 ABI 规定：函数栈向下增长（朝更低地址）；sp 应对齐到 16 字节边界；栈上传递的第一个实参位于 sp 偏移 0 处，后面的参数存储在更高地址。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361188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0A4A6E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361188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ra（返回地址）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0" y="4197096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4197096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fp（帧指针）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0" y="4782312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4782312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局部变量（s0~s7）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5367528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53675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参数区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9828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高地址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98280" y="57698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低地址（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5.4 · 函数栈实例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函数栈实例：默认编译（保留 fp）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书中例子：normal() 调用 nested() 传 9 个参数，默认编译下的汇编。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47120" cy="4343400"/>
          </a:xfrm>
          <a:prstGeom prst="roundRect">
            <a:avLst>
              <a:gd name="adj" fmla="val 1684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5237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gcc test_fp.c -S（默认，无优化）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980944"/>
            <a:ext cx="1073505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$sp,$sp,-32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$ra,$sp,24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$fp,$sp,16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$fp,$sp,32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nested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 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5.4 · 函数栈实例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函数栈实例：-O2 优化后（去掉 fp）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-O2 优化后，编译器发现栈帧大小编译期可确定，就省掉了 fp 和非必要的保存/恢复指令。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1247120" cy="4069080"/>
          </a:xfrm>
          <a:prstGeom prst="roundRect">
            <a:avLst>
              <a:gd name="adj" fmla="val 1798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8437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gcc test_fp.c -O2 -S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3300984"/>
            <a:ext cx="107350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$sp,$sp,-32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$ra,$sp,24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nested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ld.d   $ra,$sp,24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addi.d $sp,$sp,32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 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bl / jirl 与 ra（补充）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举例：嵌套调用为什么要保存 ra？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CEAEA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8B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会把返回地址写入 r1（ra）。如果 inner 内部再用 bl 调用 deeper，r1 会被覆盖——outer 记的返回点就丢了。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3749040"/>
          </a:xfrm>
          <a:prstGeom prst="roundRect">
            <a:avLst>
              <a:gd name="adj" fmla="val 19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88950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错误示范：忘记保存 ra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346704"/>
            <a:ext cx="107350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 inner       # r1 = A（返回地址）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 deeper      # r1 被覆盖成 B！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jirl    r0, r1, 0   # 跳到 B，不是 A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outer 再也回不去了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补充 · bl / jirl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bl / jirl 与 ra（补充）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举例：正确写法——先保存，再恢复 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在自己再调用别的函数之前，先把 r1 存到栈上；等 deeper 返回后，再恢复 r1，最后才跳回 outer。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1247120" cy="3566160"/>
          </a:xfrm>
          <a:prstGeom prst="roundRect">
            <a:avLst>
              <a:gd name="adj" fmla="val 20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0662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正确写法：st.d 保存、ld.d 恢复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163824"/>
            <a:ext cx="107350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inner: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st.d    r1, sp, 8    # 保存 A 到栈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      deeper       # r1 变成 B，没关系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ld.d    r1, sp, 8    # 恢复 A</a:t>
            </a:r>
            <a:endParaRPr lang="en-US" sz="2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jirl    r0, r1, 0    # 跳回 A，正确返回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补充 · bl / jirl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· 叶子函数与非叶子函数（补充）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78424"/>
            <a:ext cx="5473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叶子函数 vs 非叶子函数：谁必须保存 ra？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14984"/>
            <a:ext cx="11247120" cy="1453896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14984"/>
            <a:ext cx="11369040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不调用</a:t>
            </a: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其他函数的叫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r>
              <a:rPr lang="zh-CN" alt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全程不会被覆盖，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可直接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jr ra 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再bl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别的函数的叫</a:t>
            </a:r>
            <a:r>
              <a:rPr lang="en-US" sz="2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非叶子函数</a:t>
            </a:r>
            <a:r>
              <a:rPr lang="zh-CN" alt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会覆盖 ra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，返回前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必须先存后取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，恢复成自己被调用时收到的 ra（正是上一页 inner 的处境）。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473560" cy="2606040"/>
          </a:xfrm>
          <a:prstGeom prst="roundRect">
            <a:avLst>
              <a:gd name="adj" fmla="val 20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680" y="2706624"/>
            <a:ext cx="548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叶子函数示例：add_one（内部无 bl）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3163824"/>
            <a:ext cx="49614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2400" dirty="0" err="1">
                <a:solidFill>
                  <a:schemeClr val="bg1"/>
                </a:solidFill>
                <a:latin typeface="Courier New"/>
              </a:rPr>
              <a:t>add_one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: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addi.d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$a0, $a0, 1</a:t>
            </a: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jr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  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ra</a:t>
            </a:r>
            <a:endParaRPr sz="2400" dirty="0">
              <a:solidFill>
                <a:schemeClr val="bg1"/>
              </a:solidFill>
              <a:latin typeface="Courier New"/>
            </a:endParaRP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#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全程无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bl，ra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不会被覆盖</a:t>
            </a:r>
            <a:endParaRPr sz="2400" dirty="0">
              <a:solidFill>
                <a:schemeClr val="bg1"/>
              </a:solidFill>
              <a:latin typeface="Courier New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5974728" y="2560320"/>
            <a:ext cx="6217272" cy="4297680"/>
          </a:xfrm>
          <a:prstGeom prst="roundRect">
            <a:avLst>
              <a:gd name="adj" fmla="val 2051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6274728" y="2706624"/>
            <a:ext cx="5817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非叶子函数示例：foo（内部 bl bar，必须保存/恢复 ra）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6186792" y="3163824"/>
            <a:ext cx="58175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2400" dirty="0">
                <a:solidFill>
                  <a:schemeClr val="bg1"/>
                </a:solidFill>
                <a:latin typeface="Courier New"/>
              </a:rPr>
              <a:t>foo: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addi.d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-16</a:t>
            </a: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st.d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ra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8</a:t>
            </a: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>
                <a:solidFill>
                  <a:srgbClr val="FF0000"/>
                </a:solidFill>
                <a:latin typeface="Courier New"/>
              </a:rPr>
              <a:t>bl      bar  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# 里</a:t>
            </a:r>
            <a:r>
              <a:rPr lang="zh-CN" altLang="en-US" sz="2400" dirty="0">
                <a:solidFill>
                  <a:schemeClr val="bg1"/>
                </a:solidFill>
                <a:latin typeface="Courier New"/>
              </a:rPr>
              <a:t>面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会改写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ra</a:t>
            </a:r>
            <a:endParaRPr sz="2400" dirty="0">
              <a:solidFill>
                <a:schemeClr val="bg1"/>
              </a:solidFill>
              <a:latin typeface="Courier New"/>
            </a:endParaRP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ld.d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ra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8</a:t>
            </a: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addi.d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sp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, 16</a:t>
            </a:r>
          </a:p>
          <a:p>
            <a:pPr>
              <a:lnSpc>
                <a:spcPct val="122000"/>
              </a:lnSpc>
            </a:pPr>
            <a:r>
              <a:rPr sz="2400" dirty="0">
                <a:solidFill>
                  <a:schemeClr val="bg1"/>
                </a:solidFill>
                <a:latin typeface="Courier New"/>
              </a:rPr>
              <a:t>    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jr</a:t>
            </a:r>
            <a:r>
              <a:rPr sz="2400" dirty="0">
                <a:solidFill>
                  <a:schemeClr val="bg1"/>
                </a:solidFill>
                <a:latin typeface="Courier New"/>
              </a:rPr>
              <a:t>      $</a:t>
            </a:r>
            <a:r>
              <a:rPr sz="2400" dirty="0" err="1">
                <a:solidFill>
                  <a:schemeClr val="bg1"/>
                </a:solidFill>
                <a:latin typeface="Courier New"/>
              </a:rPr>
              <a:t>ra</a:t>
            </a:r>
            <a:endParaRPr sz="2400" dirty="0">
              <a:solidFill>
                <a:schemeClr val="bg1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5.5 · 系统调用约定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系统调用约定：a7 传号，a0~a6 传参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系统调用号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 ~ a6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2880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系统调用参数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47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同时也是返回值（调用后 a0~a6 可能被破坏）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DF3E4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7492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B58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不同于普通函数调用约定：系统调用回来后，a0~a6 的值可能被破坏，不保证保留。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03504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5.5 · 系统调用例子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系统调用例子：sys_write 输出字符串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sys_write 系统调用号是 64：fd=1（stdout）、字符串地址、字符串长度。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52374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syscall_test.S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980944"/>
            <a:ext cx="107350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li.d  $a7, 64          # sys_write 调用号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li.d  $a0, 1           # fd = stdout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la.local $a1, .LC0     # 字符串地址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li.d  $a2, 12          # 字符串长度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0              # 系统调用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760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运行结果：Hello World —— 完全没有调用 libc 的 printf，直接走内核接口。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32320" y="6355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ABI 介绍 · 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ABI 要点总结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517904"/>
            <a:ext cx="1036929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寄存器：a0~a7 传参，v0~v1 返回值，ra 存返回地址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系列调用者保存，s 系列被调用者保存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参数超 8 个、结构体超 2×XLEN，都改用栈或引用传递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函数栈向下增长，sp/fp 记录栈帧边界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系统调用：a7 传号，a0~a6 传参，a0 也传返回值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这些约定就是编译器、汇编器、内核默默遵守的“潜规则”——理解了它们，看反汇编、写内嵌汇编、调试栈溢出都会更有底气。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2972</Words>
  <Application>Microsoft Office PowerPoint</Application>
  <PresentationFormat>宽屏</PresentationFormat>
  <Paragraphs>581</Paragraphs>
  <Slides>42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14</cp:revision>
  <dcterms:created xsi:type="dcterms:W3CDTF">2026-08-31T08:31:51Z</dcterms:created>
  <dcterms:modified xsi:type="dcterms:W3CDTF">2026-09-22T11:05:42Z</dcterms:modified>
</cp:coreProperties>
</file>