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868680"/>
            <a:ext cx="10789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22252B"/>
                </a:solidFill>
                <a:latin typeface="Microsoft YaHei"/>
              </a:rPr>
              <a:t>第 1 周：从 0 启动一个 LoongArch miniOS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719072"/>
            <a:ext cx="10515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C53A0"/>
                </a:solidFill>
                <a:latin typeface="Microsoft YaHei"/>
              </a:rPr>
              <a:t>4 节课导入 + QEMU Hello miniOS 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22252B"/>
                </a:solidFill>
                <a:latin typeface="Microsoft YaHei"/>
              </a:rPr>
              <a:t>对象：已系统学习 C 语言的大二计算机类学生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7044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370"/>
                </a:solidFill>
                <a:latin typeface="Microsoft YaHei"/>
              </a:rPr>
              <a:t>实验以本仓库 miniOS 代码与 docs/week01_qemu_hello.md 为准。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本周课程结构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对应 AGENTS.md 的 Why / How / Do / AI / 思考结构。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课程知识：为什么学习汇编，为什么选择 LoongArch，为什么先用 QEMU。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课堂 Demo：编译、反汇编、调试、QEMU 运行、结果分析。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实验实践：完成最小可验证 Hello miniOS。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AI 共学：第一周只体验解释和流程图，不直接生成实验代码。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思考拓展：回答启动入口、栈、printf、QEMU 的核心问题。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四节课安排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第一周不追求掌握全部指令，而是建立正确的底层执行模型。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第 1 节：为什么学习汇编，机器语言、汇编语言、C 语言是什么关系。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第 2 节：LoongArch 最小知识包：寄存器、指令、寻址、分支。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第 3 节：从 C 到可执行文件：预处理、编译、汇编、链接、ELF。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第 4 节：读 miniOS 第 1 周代码，在 QEMU 中看到 Hello 输出。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058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53A0"/>
                </a:solidFill>
                <a:latin typeface="Microsoft YaHei"/>
              </a:rPr>
              <a:t>第 1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72768"/>
            <a:ext cx="10424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22252B"/>
                </a:solidFill>
                <a:latin typeface="Microsoft YaHei"/>
              </a:rPr>
              <a:t>为什么学习汇编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15184"/>
            <a:ext cx="9966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0">
                <a:solidFill>
                  <a:srgbClr val="5B6370"/>
                </a:solidFill>
                <a:latin typeface="Microsoft YaHei"/>
              </a:rPr>
              <a:t>把学生熟悉的 C 语言，连接到 CPU 真正执行的指令。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89320"/>
            <a:ext cx="10424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370"/>
                </a:solidFill>
                <a:latin typeface="Microsoft YaHei"/>
              </a:rPr>
              <a:t>本节结束时，学生要能用自己的话解释核心概念。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第 1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从 C 代码到 CPU 执行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汇编课的目标不是背指令，而是看清 C 程序如何落到机器执行。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2148840"/>
            <a:ext cx="2240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313432"/>
            <a:ext cx="1947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A7E4E"/>
                </a:solidFill>
                <a:latin typeface="Microsoft YaHei"/>
              </a:rPr>
              <a:t>C 语言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06624"/>
            <a:ext cx="19110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变量
函数
循环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0088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35808" y="2148840"/>
            <a:ext cx="2240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82112" y="2313432"/>
            <a:ext cx="1947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C53A0"/>
                </a:solidFill>
                <a:latin typeface="Microsoft YaHei"/>
              </a:rPr>
              <a:t>汇编语言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706624"/>
            <a:ext cx="19110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寄存器
跳转
访存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58968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04688" y="2148840"/>
            <a:ext cx="2240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50992" y="2313432"/>
            <a:ext cx="1947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B85F22"/>
                </a:solidFill>
                <a:latin typeface="Microsoft YaHei"/>
              </a:rPr>
              <a:t>机器指令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706624"/>
            <a:ext cx="19110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二进制编码
CPU 取指执行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7848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2148840"/>
            <a:ext cx="2240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19872" y="2313432"/>
            <a:ext cx="1947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482"/>
                </a:solidFill>
                <a:latin typeface="Microsoft YaHei"/>
              </a:rPr>
              <a:t>硬件行为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706624"/>
            <a:ext cx="19110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运算
读写内存
访问外设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第 1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用 C 语言经验理解汇编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C 里的变量：很多时候会临时放在寄存器或内存里。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C 里的 if / while：底层会变成比较和跳转指令。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C 里的函数调用：底层涉及参数寄存器、返回地址和栈。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C 里的指针：底层就是地址，访存指令按地址读写数据。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第 1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第一节课堂活动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让学生写一个最简单的 C 函数：int add(int a, int b)。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提问：CPU 真的认识变量名 a 和 b 吗？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提问：return a + b 最终需要哪些底层动作？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结论：汇编帮助我们建立 C 语言和机器执行之间的桥。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058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53A0"/>
                </a:solidFill>
                <a:latin typeface="Microsoft YaHei"/>
              </a:rPr>
              <a:t>第 2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72768"/>
            <a:ext cx="10424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22252B"/>
                </a:solidFill>
                <a:latin typeface="Microsoft YaHei"/>
              </a:rPr>
              <a:t>LoongArch 最小知识包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15184"/>
            <a:ext cx="9966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0">
                <a:solidFill>
                  <a:srgbClr val="5B6370"/>
                </a:solidFill>
                <a:latin typeface="Microsoft YaHei"/>
              </a:rPr>
              <a:t>只讲读懂第 1 周代码需要的寄存器、指令和寻址方式。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89320"/>
            <a:ext cx="10424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370"/>
                </a:solidFill>
                <a:latin typeface="Microsoft YaHei"/>
              </a:rPr>
              <a:t>本节结束时，学生要能用自己的话解释核心概念。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第 2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第二节学习目标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知道 LoongArch 指令长度固定为 32 位。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先认识通用寄存器编号 r0~r31，再认识 ABI 别名 zero、ra、sp、a0、t0。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理解三类基础指令：算术运算、访存、转移。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能读懂 boot/start.S 中的主路径。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第 2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LoongArch 通用寄存器最小表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第一周先认编号和常用 ABI 别名。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6984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920240"/>
                <a:gridCol w="2103120"/>
                <a:gridCol w="5440680"/>
              </a:tblGrid>
              <a:tr h="555171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>
                    <a:solidFill>
                      <a:srgbClr val="1C53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ABI 别名</a:t>
                      </a:r>
                    </a:p>
                  </a:txBody>
                  <a:tcPr>
                    <a:solidFill>
                      <a:srgbClr val="1C53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主要用途</a:t>
                      </a:r>
                    </a:p>
                  </a:txBody>
                  <a:tcPr>
                    <a:solidFill>
                      <a:srgbClr val="1C53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课堂说明</a:t>
                      </a:r>
                    </a:p>
                  </a:txBody>
                  <a:tcPr>
                    <a:solidFill>
                      <a:srgbClr val="1C53A0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r0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zero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常量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硬件恒为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返回地址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bl 调用函数时写入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r3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栈指针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进入 C 前必须设置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r4-r11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a0-a7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参数寄存器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函数参数，前两个也可作返回值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r12-r20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t0-t8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临时寄存器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短期计算常用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r22-r31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fp/s0-s9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保存寄存器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函数调用约定后续展开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8" y="5989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370"/>
                </a:solidFill>
                <a:latin typeface="Microsoft YaHei"/>
              </a:rPr>
              <a:t>讲解顺序：先用 r 编号建立硬件视角，再用 ABI 别名阅读源码。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第 2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基础指令例子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先用 r 编号讲硬件动作，再映射到 ABI 别名。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1600200"/>
            <a:ext cx="10716768" cy="4645152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300" b="0">
                <a:solidFill>
                  <a:srgbClr val="EEF1F6"/>
                </a:solidFill>
                <a:latin typeface="Consolas"/>
              </a:rPr>
              <a:t>addi.d  r3, r3, -32       # sp = sp - 32
st.d    r1, r3, 24        # 保存 ra
ld.d    r1, r3, 24        # 恢复 ra
bne     r12, r0, L        # r12 != 0 时跳转
bl      func              # 调用函数，返回地址写入 r1/ra
jirl    r0, r1, 0         # 返回到 ra 指向的位置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第 2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源码写法和教材写法如何对应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避免学生误以为课件、教材和源码是三套体系。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1600200"/>
            <a:ext cx="10716768" cy="4645152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300" b="0">
                <a:solidFill>
                  <a:srgbClr val="EEF1F6"/>
                </a:solidFill>
                <a:latin typeface="Consolas"/>
              </a:rPr>
              <a:t># 教材/反汇编常见写法
addi.d  r3, r3, -32
st.d    r1, r3, 24
jirl    r0, r1, 0
# GNU 汇编器也接受 ABI 别名
addi.d  $sp, $sp, -32     # $sp 就是 r3
st.d    $ra, $sp, 24      # $ra 就是 r1
jirl    $zero, $ra, 0     # $zero 就是 r0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第 2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第二节练习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先不分类：圈出指令名、寄存器和数字，猜哪一行像改栈、哪一行像跳转。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把 bne r12, r0, L 解释成 C 语言里的 if 条件跳转。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解释 bl 为什么会影响 r1/ra。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解释为什么设置 r3/sp 后才能放心进入 C 函数。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058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53A0"/>
                </a:solidFill>
                <a:latin typeface="Microsoft YaHei"/>
              </a:rPr>
              <a:t>第 3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72768"/>
            <a:ext cx="10424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22252B"/>
                </a:solidFill>
                <a:latin typeface="Microsoft YaHei"/>
              </a:rPr>
              <a:t>从 C 到可执行文件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15184"/>
            <a:ext cx="9966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0">
                <a:solidFill>
                  <a:srgbClr val="5B6370"/>
                </a:solidFill>
                <a:latin typeface="Microsoft YaHei"/>
              </a:rPr>
              <a:t>让学生知道 Makefile 背后发生了什么。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89320"/>
            <a:ext cx="10424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370"/>
                </a:solidFill>
                <a:latin typeface="Microsoft YaHei"/>
              </a:rPr>
              <a:t>本节结束时，学生要能用自己的话解释核心概念。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第 3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编译流程，用到本实验里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第 1 周只需要说出每一步的作用。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2148840"/>
            <a:ext cx="2240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313432"/>
            <a:ext cx="1947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A7E4E"/>
                </a:solidFill>
                <a:latin typeface="Microsoft YaHei"/>
              </a:rPr>
              <a:t>.c/.S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06624"/>
            <a:ext cx="19110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源代码
C 和汇编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0088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35808" y="2148840"/>
            <a:ext cx="2240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82112" y="2313432"/>
            <a:ext cx="1947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C53A0"/>
                </a:solidFill>
                <a:latin typeface="Microsoft YaHei"/>
              </a:rPr>
              <a:t>编译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706624"/>
            <a:ext cx="19110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生成目标文件
处理 include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58968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04688" y="2148840"/>
            <a:ext cx="2240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50992" y="2313432"/>
            <a:ext cx="1947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B85F22"/>
                </a:solidFill>
                <a:latin typeface="Microsoft YaHei"/>
              </a:rPr>
              <a:t>链接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706624"/>
            <a:ext cx="19110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合成 ELF
确定地址入口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7848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2148840"/>
            <a:ext cx="2240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19872" y="2313432"/>
            <a:ext cx="1947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482"/>
                </a:solidFill>
                <a:latin typeface="Microsoft YaHei"/>
              </a:rPr>
              <a:t>QEMU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706624"/>
            <a:ext cx="19110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加载内核
开始执行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第 3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Makefile 的核心含义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不能用宿主机 x86_64 gcc 冒充 LoongArch 工具链。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1600200"/>
            <a:ext cx="10716768" cy="4645152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300" b="0">
                <a:solidFill>
                  <a:srgbClr val="EEF1F6"/>
                </a:solidFill>
                <a:latin typeface="Consolas"/>
              </a:rPr>
              <a:t>CROSS_COMPILE ?= loongarch64-linux-gnu-
CC      := $(CROSS_COMPILE)gcc
OBJCOPY := $(CROSS_COMPILE)objcopy
QEMU    ?= qemu-system-loongarch64
TARGET  := build/minios.elf
LDFLAGS := -T kernel/linker.ld -nostdlib -static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第 3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链接脚本先讲三件事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入口是谁、从哪个地址开始、各类内容放在哪里。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1600200"/>
            <a:ext cx="10716768" cy="4645152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300" b="0">
                <a:solidFill>
                  <a:srgbClr val="EEF1F6"/>
                </a:solidFill>
                <a:latin typeface="Consolas"/>
              </a:rPr>
              <a:t>ENTRY(_start)
SECTIONS
{
    . = 0x9000000000200000;
    .text : { *(.text.boot) *(.text*) }
    .rodata : { *(.rodata*) }
    .data : { *(.data*) }
    .bss : { *(.bss*) *(COMMON) }
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第 3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普通程序和裸机程序的启动差异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普通 Linux 程序：操作系统和 C 运行库准备运行环境。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miniOS 裸机程序：没有 libc，没有操作系统帮忙调用 main。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所以我们需要 _start、栈、链接脚本和串口输出。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这正是第 1 周 Hello miniOS 的教学价值。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058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53A0"/>
                </a:solidFill>
                <a:latin typeface="Microsoft YaHei"/>
              </a:rPr>
              <a:t>第 4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72768"/>
            <a:ext cx="10424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22252B"/>
                </a:solidFill>
                <a:latin typeface="Microsoft YaHei"/>
              </a:rPr>
              <a:t>QEMU Hello miniOS 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15184"/>
            <a:ext cx="9966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0">
                <a:solidFill>
                  <a:srgbClr val="5B6370"/>
                </a:solidFill>
                <a:latin typeface="Microsoft YaHei"/>
              </a:rPr>
              <a:t>把前 3 节概念落到仓库代码和真实运行命令。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89320"/>
            <a:ext cx="10424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370"/>
                </a:solidFill>
                <a:latin typeface="Microsoft YaHei"/>
              </a:rPr>
              <a:t>本节结束时，学生要能用自己的话解释核心概念。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第 4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第 1 周核心文件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boot/start.S：启动入口，设置栈，跳转 kernel_main。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kernel/linker.ld：规定入口地址和段布局。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kernel/main.c：C 语言内核入口，调用 printk。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kernel/printk.c：最小字符串输出。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include/printk.h、include/uart.h：函数原型和 UART 地址。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Makefile：编译、运行和清理命令。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第 4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当前 master 比第 1 周略多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boot/start.S 已包含 clear_bss，这是第 2 周 .bss 的铺垫。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kernel/main.c 已包含 data/bss/string 检查，第一周只追踪 Hello 链路。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lib/string.S、kernel/exception.c、kernel/syscall.c 属于后续周次铺垫。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课堂第 1 周不要展开 .data/.bss、异常和系统调用细节。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第 4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boot/start.S 主路径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第一周关注：_start、设置 sp、调用 kernel_main、halt 循环。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1600200"/>
            <a:ext cx="10716768" cy="4645152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300" b="0">
                <a:solidFill>
                  <a:srgbClr val="EEF1F6"/>
                </a:solidFill>
                <a:latin typeface="Consolas"/>
              </a:rPr>
              <a:t>    .section .text.boot, "ax"
    .globl _start
_start:
    # 设置内核栈，$sp 是 r3 的 ABI 别名
    la.global   $sp, boot_stack_top
    # 进入 C 语言内核主函数
    bl          kernel_main
halt:
    idle        0
    b           halt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第 4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建议第 1 周使用的最小 kernel_main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当前 master 有第 2 周检查代码；课堂先抽出这条最小路径。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1600200"/>
            <a:ext cx="10716768" cy="4645152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300" b="0">
                <a:solidFill>
                  <a:srgbClr val="EEF1F6"/>
                </a:solidFill>
                <a:latin typeface="Consolas"/>
              </a:rPr>
              <a:t>#include "printk.h"
void kernel_main(void)
{
    printk("Hello miniOS on LoongArch64\n");
    while (1) {
        __asm__ volatile("idle 0");
    }
}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第 4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printk 到 UART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UART0_BASE 是 QEMU virt 平台地址，不代表 2K0300 开发板地址。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1600200"/>
            <a:ext cx="10716768" cy="4645152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300" b="0">
                <a:solidFill>
                  <a:srgbClr val="EEF1F6"/>
                </a:solidFill>
                <a:latin typeface="Consolas"/>
              </a:rPr>
              <a:t>void uart_putc(char ch)
{
    volatile unsigned char *uart =
        (volatile unsigned char *)UART0_BASE;
    *uart = (unsigned char)ch;
}
void printk(const char *s)
{
    while (*s) {
        uart_putc(*s++);
    }
}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第 4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第 1 周最小运行链路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这条链路跑通，才进入第 2 周。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2148840"/>
            <a:ext cx="1993392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313432"/>
            <a:ext cx="17007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C53A0"/>
                </a:solidFill>
                <a:latin typeface="Microsoft YaHei"/>
              </a:rPr>
              <a:t>make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06624"/>
            <a:ext cx="16642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交叉编译
生成 ELF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2148840"/>
            <a:ext cx="1993392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35224" y="2313432"/>
            <a:ext cx="17007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482"/>
                </a:solidFill>
                <a:latin typeface="Microsoft YaHei"/>
              </a:rPr>
              <a:t>QEMU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2706624"/>
            <a:ext cx="16642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模拟 virt
加载内核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65192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10912" y="2148840"/>
            <a:ext cx="1993392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57216" y="2313432"/>
            <a:ext cx="17007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B85F22"/>
                </a:solidFill>
                <a:latin typeface="Microsoft YaHei"/>
              </a:rPr>
              <a:t>_start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5504" y="2706624"/>
            <a:ext cx="16642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设置 sp
调用 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87184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2904" y="2148840"/>
            <a:ext cx="1993392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9208" y="2313432"/>
            <a:ext cx="17007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A7E4E"/>
                </a:solidFill>
                <a:latin typeface="Microsoft YaHei"/>
              </a:rPr>
              <a:t>kernel_main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7496" y="2706624"/>
            <a:ext cx="16642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调用 printk
输出字符串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54896" y="2148840"/>
            <a:ext cx="1993392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0" y="2313432"/>
            <a:ext cx="17007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A44440"/>
                </a:solidFill>
                <a:latin typeface="Microsoft YaHei"/>
              </a:rPr>
              <a:t>UART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9488" y="2706624"/>
            <a:ext cx="16642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终端显示
Hello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第 4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实验命令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实际测试结果必须来自学生机器真实命令输出。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1600200"/>
            <a:ext cx="10716768" cy="4645152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300" b="0">
                <a:solidFill>
                  <a:srgbClr val="EEF1F6"/>
                </a:solidFill>
                <a:latin typeface="Consolas"/>
              </a:rPr>
              <a:t># 环境检查
sh scripts/check-env.sh
# 编译
make clean
make
# 运行
make run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第 4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预期输出与测试记录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预期串口输出：Hello miniOS on LoongArch64。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未执行过 make run，就不能写“已通过”。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工具链缺失时，记录为“未执行”，并写明失败原因。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测试报告必须包含：已执行、未执行、失败原因、下一步命令。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第 4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AI 共学边界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第一周仅体验 AI 辅助理解，不能替代学生读代码和做实验。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可以让 AI 解释 boot/start.S 的作用。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可以让 AI 绘制 miniOS 启动流程图。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可以让 AI 解释 QEMU 的作用。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不允许让 AI 直接生成实验代码。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第 4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第一周学生作业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画出 miniOS 第 1 周执行路径图。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把 Hello 字符串改成自己的姓名和学号，重新编译运行。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解释 boot/start.S 中 sp、bl、b、idle 的作用。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提交环境检查结果和真实运行截图或日志。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第 4 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本周边界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不讲完整操作系统。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不讲进程、文件系统、虚拟内存。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不直接适配 2K0300 开发板。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不把未实测结果写成已通过。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下一周再展开 .data、.bss 和内存初始化。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思考题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CPU 第一条指令在哪里？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为什么裸机程序不是从 main() 开始？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为什么进入 C 函数前要设置 sp？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为什么 miniOS 不能直接使用 printf？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为什么先 QEMU 再开发板？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