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300" r:id="rId19"/>
    <p:sldId id="272" r:id="rId20"/>
    <p:sldId id="298" r:id="rId21"/>
    <p:sldId id="299" r:id="rId22"/>
    <p:sldId id="274" r:id="rId23"/>
    <p:sldId id="276" r:id="rId24"/>
    <p:sldId id="275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5" r:id="rId38"/>
    <p:sldId id="302" r:id="rId39"/>
    <p:sldId id="289" r:id="rId40"/>
    <p:sldId id="303" r:id="rId41"/>
    <p:sldId id="304" r:id="rId42"/>
    <p:sldId id="290" r:id="rId43"/>
    <p:sldId id="296" r:id="rId44"/>
    <p:sldId id="297" r:id="rId45"/>
    <p:sldId id="291" r:id="rId46"/>
    <p:sldId id="294" r:id="rId47"/>
    <p:sldId id="292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hyperlink" Target="week01_slide8_c_to_cpu_animation\index.html" TargetMode="External"/><Relationship Id="rId2" Type="http://schemas.openxmlformats.org/officeDocument/2006/relationships/image" Target="../media/image1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32.png"/><Relationship Id="rId2" Type="http://schemas.openxmlformats.org/officeDocument/2006/relationships/tags" Target="../tags/tag18.xml"/><Relationship Id="rId14" Type="http://schemas.openxmlformats.org/officeDocument/2006/relationships/notesSlide" Target="../notesSlides/notesSlide2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1.png"/><Relationship Id="rId4" Type="http://schemas.openxmlformats.org/officeDocument/2006/relationships/image" Target="../media/image36.png"/><Relationship Id="rId3" Type="http://schemas.openxmlformats.org/officeDocument/2006/relationships/image" Target="../media/image10.png"/><Relationship Id="rId2" Type="http://schemas.openxmlformats.org/officeDocument/2006/relationships/image" Target="../media/image31.png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10.png"/><Relationship Id="rId3" Type="http://schemas.openxmlformats.org/officeDocument/2006/relationships/image" Target="../media/image22.png"/><Relationship Id="rId2" Type="http://schemas.openxmlformats.org/officeDocument/2006/relationships/image" Target="../media/image27.png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1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ircuit_navy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3560" y="-300990"/>
            <a:ext cx="5486400" cy="548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4480560" cy="5486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02920" y="502920"/>
            <a:ext cx="4480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周 · 课程导入 + 实验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1280160"/>
            <a:ext cx="877824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0 启动一个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LoongArch miniOS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02920" y="5044440"/>
            <a:ext cx="104241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</p:spPr>
        <p:txBody>
          <a:bodyPr/>
          <a:p/>
        </p:txBody>
      </p:sp>
      <p:pic>
        <p:nvPicPr>
          <p:cNvPr id="8" name="Image 1" descr="/home/claude/work/icons/users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5227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18160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对象：已经系统学习过 C 语言的大二计算机类同学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417320" y="5684520"/>
            <a:ext cx="96012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实验以本仓库 miniOS 代码与 docs/week01_qemu_hello.md 为准。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课程地图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这周我们怎么上课？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每节课都按 Why → How → Do → AI → 思考 的节奏推进。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1185855" cy="705358"/>
          </a:xfrm>
          <a:prstGeom prst="roundRect">
            <a:avLst>
              <a:gd name="adj" fmla="val 12964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22376" y="2218055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7" name="Image 0" descr="/home/claude/work/icons/lightbulb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18639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03704"/>
            <a:ext cx="9923983" cy="5956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课程知识 · Why  </a:t>
            </a:r>
            <a:r>
              <a:rPr lang="en-US" sz="2400" dirty="0">
                <a:solidFill>
                  <a:srgbClr val="1E293B"/>
                </a:solidFill>
              </a:rPr>
              <a:t>为什么学汇编、选 LoongArch、先用 QEMU。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02920" y="2963926"/>
            <a:ext cx="11185855" cy="705358"/>
          </a:xfrm>
          <a:prstGeom prst="roundRect">
            <a:avLst>
              <a:gd name="adj" fmla="val 12964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22376" y="3033141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1" name="Image 1" descr="/home/claude/work/icons/eye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33725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018790"/>
            <a:ext cx="9923983" cy="5956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课堂 Demo · How  </a:t>
            </a:r>
            <a:r>
              <a:rPr lang="en-US" sz="2400" dirty="0">
                <a:solidFill>
                  <a:srgbClr val="1E293B"/>
                </a:solidFill>
              </a:rPr>
              <a:t>编译、反汇编、调试、QEMU 运行、结果分析。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502920" y="3779012"/>
            <a:ext cx="11185855" cy="705358"/>
          </a:xfrm>
          <a:prstGeom prst="roundRect">
            <a:avLst>
              <a:gd name="adj" fmla="val 12964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722376" y="3848227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5" name="Image 2" descr="/home/claude/work/icons/wrench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48811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833876"/>
            <a:ext cx="9923983" cy="5956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实验实践 · Do  </a:t>
            </a:r>
            <a:r>
              <a:rPr lang="en-US" sz="2400" dirty="0">
                <a:solidFill>
                  <a:srgbClr val="1E293B"/>
                </a:solidFill>
              </a:rPr>
              <a:t>自己动手，完成最小可验证的 Hello miniOS。</a:t>
            </a:r>
            <a:endParaRPr lang="en-US" sz="2600" dirty="0"/>
          </a:p>
        </p:txBody>
      </p:sp>
      <p:sp>
        <p:nvSpPr>
          <p:cNvPr id="17" name="Shape 12"/>
          <p:cNvSpPr/>
          <p:nvPr/>
        </p:nvSpPr>
        <p:spPr>
          <a:xfrm>
            <a:off x="502920" y="4594098"/>
            <a:ext cx="11185855" cy="705358"/>
          </a:xfrm>
          <a:prstGeom prst="roundRect">
            <a:avLst>
              <a:gd name="adj" fmla="val 12964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722376" y="4663313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9" name="Image 3" descr="/home/claude/work/icons/bo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63897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648962"/>
            <a:ext cx="9923983" cy="5956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AI 共学 · AI  </a:t>
            </a:r>
            <a:r>
              <a:rPr lang="en-US" sz="2400" dirty="0">
                <a:solidFill>
                  <a:srgbClr val="1E293B"/>
                </a:solidFill>
              </a:rPr>
              <a:t>只体验解释和流程图，不生成实验代码。</a:t>
            </a:r>
            <a:endParaRPr lang="en-US" sz="2600" dirty="0"/>
          </a:p>
        </p:txBody>
      </p:sp>
      <p:sp>
        <p:nvSpPr>
          <p:cNvPr id="21" name="Shape 15"/>
          <p:cNvSpPr/>
          <p:nvPr/>
        </p:nvSpPr>
        <p:spPr>
          <a:xfrm>
            <a:off x="502920" y="5409184"/>
            <a:ext cx="11185855" cy="705358"/>
          </a:xfrm>
          <a:prstGeom prst="roundRect">
            <a:avLst>
              <a:gd name="adj" fmla="val 12964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722376" y="5478399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23" name="Image 4" descr="/home/claude/work/icons/helpcircle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578983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5464048"/>
            <a:ext cx="9923983" cy="5956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思考拓展  </a:t>
            </a:r>
            <a:r>
              <a:rPr lang="en-US" sz="2400" dirty="0">
                <a:solidFill>
                  <a:srgbClr val="1E293B"/>
                </a:solidFill>
              </a:rPr>
              <a:t>回答启动入口、栈、printf、QEMU 的问题。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课程地图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节课，一条从 C 到 CPU 的路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第一周不追求掌握全部指令，而是建立正确的底层执行模型。</a:t>
            </a:r>
            <a:endParaRPr lang="en-US" sz="24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02920" y="228600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722376" y="2391156"/>
            <a:ext cx="566928" cy="566928"/>
          </a:xfrm>
          <a:prstGeom prst="ellipse">
            <a:avLst/>
          </a:prstGeom>
          <a:solidFill>
            <a:srgbClr val="0F172A"/>
          </a:solidFill>
        </p:spPr>
        <p:txBody>
          <a:bodyPr/>
          <a:p/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722376" y="239115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508760" y="234086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为什么学习汇编  </a:t>
            </a:r>
            <a:r>
              <a:rPr lang="en-US" sz="2400" dirty="0">
                <a:solidFill>
                  <a:srgbClr val="1E293B"/>
                </a:solidFill>
              </a:rPr>
              <a:t>机器语言、汇编语言、C 语言是什么关系。</a:t>
            </a:r>
            <a:endParaRPr lang="en-US" sz="26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502920" y="3227832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722376" y="3332988"/>
            <a:ext cx="566928" cy="566928"/>
          </a:xfrm>
          <a:prstGeom prst="ellipse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722376" y="3332988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2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1508760" y="3282696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LoongArch 最小知识包  </a:t>
            </a:r>
            <a:r>
              <a:rPr lang="en-US" sz="2400" dirty="0">
                <a:solidFill>
                  <a:srgbClr val="1E293B"/>
                </a:solidFill>
              </a:rPr>
              <a:t>寄存器、指令、寻址、分支。</a:t>
            </a:r>
            <a:endParaRPr lang="en-US" sz="260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502920" y="4169664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722376" y="4274820"/>
            <a:ext cx="566928" cy="566928"/>
          </a:xfrm>
          <a:prstGeom prst="ellipse">
            <a:avLst/>
          </a:prstGeom>
          <a:solidFill>
            <a:srgbClr val="0EA5E9"/>
          </a:solidFill>
        </p:spPr>
        <p:txBody>
          <a:bodyPr/>
          <a:p/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722376" y="42748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508760" y="4224528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从 C 到可执行文件  </a:t>
            </a:r>
            <a:r>
              <a:rPr lang="en-US" sz="2400" dirty="0">
                <a:solidFill>
                  <a:srgbClr val="1E293B"/>
                </a:solidFill>
              </a:rPr>
              <a:t>预处理、编译、汇编、链接、ELF。</a:t>
            </a:r>
            <a:endParaRPr lang="en-US" sz="260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502920" y="5111496"/>
            <a:ext cx="11185855" cy="1118108"/>
          </a:xfrm>
          <a:prstGeom prst="roundRect">
            <a:avLst>
              <a:gd name="adj" fmla="val 8178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722376" y="5387086"/>
            <a:ext cx="566928" cy="566928"/>
          </a:xfrm>
          <a:prstGeom prst="ellipse">
            <a:avLst/>
          </a:prstGeom>
          <a:solidFill>
            <a:srgbClr val="0F172A"/>
          </a:solidFill>
        </p:spPr>
        <p:txBody>
          <a:bodyPr/>
          <a:p/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722376" y="538708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508760" y="5166360"/>
            <a:ext cx="9923983" cy="1008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QEMU Hello miniOS  </a:t>
            </a:r>
            <a:r>
              <a:rPr lang="en-US" sz="2400" dirty="0">
                <a:solidFill>
                  <a:srgbClr val="1E293B"/>
                </a:solidFill>
              </a:rPr>
              <a:t>读 miniOS 第 1 周代码，在 QEMU 中看到 Hello 输出。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38404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3794760"/>
            <a:ext cx="102412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为什么学习汇编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4709160"/>
            <a:ext cx="10058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把你熟悉的 C 语言，和 CPU 真正执行的指令连起来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31520" y="5440680"/>
            <a:ext cx="10058400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</p:spPr>
        <p:txBody>
          <a:bodyPr/>
          <a:p/>
        </p:txBody>
      </p:sp>
      <p:pic>
        <p:nvPicPr>
          <p:cNvPr id="9" name="Image 1" descr="/home/claude/work/icons/target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65556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5440680"/>
            <a:ext cx="91440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学完这节，你要能用自己的话讲清楚——CPU 拿到一段 C 代码后，到底在干什么。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节 · 故事导入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一个工地翻译官的故事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49224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</p:spPr>
        <p:txBody>
          <a:bodyPr/>
          <a:p/>
        </p:txBody>
      </p:sp>
      <p:pic>
        <p:nvPicPr>
          <p:cNvPr id="5" name="Image 0" descr="/home/claude/work/icons/message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585216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外国工程师来工地指挥施工，他说英语；工人只听得懂工地上的口令和哨声。中间必须有一个翻译，把「往左移一米」变成工人能立刻执行的动作。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822960" y="4434840"/>
            <a:ext cx="5852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" y="4617720"/>
            <a:ext cx="585216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语言，就是那句「往左移一米」；CPU 只认识「哨声」——汇编，就是站在两者中间的翻译官。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269480" y="1691640"/>
            <a:ext cx="4419295" cy="4572000"/>
          </a:xfrm>
          <a:prstGeom prst="roundRect">
            <a:avLst>
              <a:gd name="adj" fmla="val 2069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10" name="Image 1" descr="/home/claude/work/icons/users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9659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2514600"/>
            <a:ext cx="38706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课堂互动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7543800" y="2971800"/>
            <a:ext cx="3870655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生活里还有哪些「翻译官」的例子？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543800" y="4480560"/>
            <a:ext cx="3870655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提示：菜单图片给不识字的顾客看、遥控器红外信号给空调听……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C 代码到 CPU 执行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汇编课的目标不是背指令，而是看清 C 程序如何一步步落到机器执行。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pic>
        <p:nvPicPr>
          <p:cNvPr id="6" name="Image 0" descr="/home/claude/work/icons/code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003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3896" y="2286000"/>
            <a:ext cx="9960559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C 语言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75569"/>
                </a:solidFill>
              </a:rPr>
              <a:t>变量 · 函数 · 循环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3017520"/>
            <a:ext cx="7315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02920" y="3163824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0" name="Image 1" descr="/home/claude/work/icons/layers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2384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53896" y="3209544"/>
            <a:ext cx="9960559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汇编语言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75569"/>
                </a:solidFill>
              </a:rPr>
              <a:t>寄存器 · 跳转 · 访存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530352" y="3941064"/>
            <a:ext cx="7315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502920" y="4087368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4" name="Image 2" descr="/home/claude/work/icons/binary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24738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53896" y="4133088"/>
            <a:ext cx="9960559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机器指令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75569"/>
                </a:solidFill>
              </a:rPr>
              <a:t>二进制编码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530352" y="4864608"/>
            <a:ext cx="7315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502920" y="5010912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18" name="Image 3" descr="/home/claude/work/icons/cpu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17093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53896" y="5056632"/>
            <a:ext cx="9960559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硬件行为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BD5E1"/>
                </a:solidFill>
              </a:rPr>
              <a:t>CPU 取指执行、运算、读写内存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7" grpId="1"/>
      <p:bldP spid="8" grpId="1"/>
      <p:bldP spid="11" grpId="0"/>
      <p:bldP spid="11" grpId="1"/>
      <p:bldP spid="12" grpId="0"/>
      <p:bldP spid="15" grpId="0"/>
      <p:bldP spid="16" grpId="0"/>
      <p:bldP spid="12" grpId="1"/>
      <p:bldP spid="15" grpId="1"/>
      <p:bldP spid="16" grpId="1"/>
      <p:bldP spid="19" grpId="0"/>
      <p:bldP spid="1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 C 语言经验，已经懂了一半汇编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0711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6" name="Image 0" descr="/home/claude/work/icons/inbox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717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208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C 里的变量  </a:t>
            </a:r>
            <a:r>
              <a:rPr lang="en-US" sz="2400" dirty="0">
                <a:solidFill>
                  <a:srgbClr val="1E293B"/>
                </a:solidFill>
              </a:rPr>
              <a:t>很多时候会临时放在寄存器或内存里。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28803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22376" y="29855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0" name="Image 1" descr="/home/claude/work/icons/route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861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352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C 里的 if / while  </a:t>
            </a:r>
            <a:r>
              <a:rPr lang="en-US" sz="2400" dirty="0">
                <a:solidFill>
                  <a:srgbClr val="1E293B"/>
                </a:solidFill>
              </a:rPr>
              <a:t>底层会变成比较和跳转指令。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502920" y="37947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2376" y="38999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4" name="Image 2" descr="/home/claude/work/icons/repea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005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496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C 里的函数调用  </a:t>
            </a:r>
            <a:r>
              <a:rPr lang="en-US" sz="2400" dirty="0">
                <a:solidFill>
                  <a:srgbClr val="1E293B"/>
                </a:solidFill>
              </a:rPr>
              <a:t>涉及参数寄存器、返回地址和栈。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502920" y="47091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722376" y="48143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8" name="Image 3" descr="/home/claude/work/icons/mappi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149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7640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C 里的指针  </a:t>
            </a:r>
            <a:r>
              <a:rPr lang="en-US" sz="2400" dirty="0">
                <a:solidFill>
                  <a:srgbClr val="1E293B"/>
                </a:solidFill>
              </a:rPr>
              <a:t>底层就是地址，访存指令按地址读写数据。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节 · 课堂互动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拆穿 CPU 的「魔术」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5855" cy="1021080"/>
          </a:xfrm>
          <a:prstGeom prst="roundRect">
            <a:avLst>
              <a:gd name="adj" fmla="val 8955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0664" y="187452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187452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79576" y="187452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148840"/>
            <a:ext cx="10637215" cy="472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add(int a, int b) { return a + b; }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289560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22376" y="3000756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1" name="Image 0" descr="/home/claude/work/icons/helpcircle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1013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95046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问题一  </a:t>
            </a:r>
            <a:r>
              <a:rPr lang="en-US" sz="2400" dirty="0">
                <a:solidFill>
                  <a:srgbClr val="1E293B"/>
                </a:solidFill>
              </a:rPr>
              <a:t>CPU 真的认识变量名 a 和 b 吗？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02920" y="3800856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22376" y="3906012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5" name="Image 1" descr="/home/claude/work/icons/helpcircle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06596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3855720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问题二  </a:t>
            </a:r>
            <a:r>
              <a:rPr lang="en-US" sz="2400" dirty="0">
                <a:solidFill>
                  <a:srgbClr val="1E293B"/>
                </a:solidFill>
              </a:rPr>
              <a:t>return a + b 最终需要哪些底层动作？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502920" y="4751832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722376" y="4856988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9" name="Image 2" descr="/home/claude/work/icons/sparkles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957572"/>
            <a:ext cx="365760" cy="365760"/>
          </a:xfrm>
          <a:prstGeom prst="rect">
            <a:avLst/>
          </a:prstGeom>
        </p:spPr>
      </p:pic>
      <p:sp>
        <p:nvSpPr>
          <p:cNvPr id="20" name="Text 15">
            <a:hlinkClick r:id="rId3" action="ppaction://hlinkfile"/>
          </p:cNvPr>
          <p:cNvSpPr/>
          <p:nvPr/>
        </p:nvSpPr>
        <p:spPr>
          <a:xfrm>
            <a:off x="1508760" y="4806696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结论：汇编帮我们拆穿「变量名」这层魔术，看清 CPU 真正做的事。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6" grpId="0"/>
      <p:bldP spid="16" grpId="1"/>
      <p:bldP spid="20" grpId="0"/>
      <p:bldP spid="2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拿下 4 个小目标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071116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6" name="Image 0" descr="/home/claude/work/icons/gauge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717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208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指令长度  </a:t>
            </a:r>
            <a:r>
              <a:rPr lang="en-US" sz="2400" dirty="0">
                <a:solidFill>
                  <a:srgbClr val="1E293B"/>
                </a:solidFill>
              </a:rPr>
              <a:t>LoongArch 指令长度固定为 32 位。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28803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22376" y="2985516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0" name="Image 1" descr="/home/claude/work/icons/inbox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861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352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寄存器  </a:t>
            </a:r>
            <a:r>
              <a:rPr lang="en-US" sz="2400" dirty="0">
                <a:solidFill>
                  <a:srgbClr val="1E293B"/>
                </a:solidFill>
              </a:rPr>
              <a:t>先认编号 r0~r31，再认 ABI 别名 zero/ra/sp/a0/t0。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502920" y="37947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2376" y="3899916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4" name="Image 2" descr="/home/claude/work/icons/layers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005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496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指令分类  </a:t>
            </a:r>
            <a:r>
              <a:rPr lang="en-US" sz="2400" dirty="0">
                <a:solidFill>
                  <a:srgbClr val="1E293B"/>
                </a:solidFill>
              </a:rPr>
              <a:t>三类基础指令：算术运算、访存、转移。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502920" y="47091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722376" y="4814316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8" name="Image 3" descr="/home/claude/work/icons/filecode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149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7640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读代码  </a:t>
            </a:r>
            <a:r>
              <a:rPr lang="en-US" sz="2400" dirty="0">
                <a:solidFill>
                  <a:srgbClr val="1E293B"/>
                </a:solidFill>
              </a:rPr>
              <a:t>能读懂 boot/start.S 中的主路径。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节 · 类比理解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寄存器，是 CPU 伸手就能摸到的口袋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49224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</p:spPr>
        <p:txBody>
          <a:bodyPr/>
          <a:p/>
        </p:txBody>
      </p:sp>
      <p:pic>
        <p:nvPicPr>
          <p:cNvPr id="5" name="Image 0" descr="/home/claude/work/icons/inbox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585216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内存像仓库，东西多但要走过去搬；寄存器像随身口袋，数量少，一伸手就能掏出来，是最快的存储。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822960" y="4297680"/>
            <a:ext cx="5852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" y="4480560"/>
            <a:ext cx="585216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LoongArch 给了 32 个口袋，编号 r0~r31；每个口袋还有方便称呼的「外号」——ABI 别名。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269480" y="1691640"/>
            <a:ext cx="4419295" cy="4572000"/>
          </a:xfrm>
          <a:prstGeom prst="roundRect">
            <a:avLst>
              <a:gd name="adj" fmla="val 2069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10" name="Image 1" descr="/home/claude/work/icons/helpcircle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9659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2514600"/>
            <a:ext cx="38706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留个悬念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7543800" y="2971800"/>
            <a:ext cx="3870655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 32 个口袋，装不下时 CPU 怎么办？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543800" y="4480560"/>
            <a:ext cx="3870655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答案藏在「栈」里——第 3 节揭晓。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LoongArch 通用寄存器最小表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31082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956816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340864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zero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798064"/>
            <a:ext cx="3265322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常量 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3265322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硬件恒为 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80306" y="1828800"/>
            <a:ext cx="3631082" cy="2286000"/>
          </a:xfrm>
          <a:prstGeom prst="roundRect">
            <a:avLst>
              <a:gd name="adj" fmla="val 4000"/>
            </a:avLst>
          </a:prstGeom>
          <a:solidFill>
            <a:srgbClr val="FEF3C7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63186" y="1956816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63186" y="2340864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63186" y="2798064"/>
            <a:ext cx="3265322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返回地址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63186" y="3200400"/>
            <a:ext cx="3265322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 调用函数时写入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057693" y="1828800"/>
            <a:ext cx="3631082" cy="2286000"/>
          </a:xfrm>
          <a:prstGeom prst="roundRect">
            <a:avLst>
              <a:gd name="adj" fmla="val 4000"/>
            </a:avLst>
          </a:prstGeom>
          <a:solidFill>
            <a:srgbClr val="FEF3C7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40573" y="1956816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40573" y="2340864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40573" y="2798064"/>
            <a:ext cx="3265322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栈指针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40573" y="3200400"/>
            <a:ext cx="3265322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 C 前必须设置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02920" y="4261104"/>
            <a:ext cx="3631082" cy="2286000"/>
          </a:xfrm>
          <a:prstGeom prst="roundRect">
            <a:avLst>
              <a:gd name="adj" fmla="val 4000"/>
            </a:avLst>
          </a:prstGeom>
          <a:solidFill>
            <a:srgbClr val="E0F2FE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4389120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r4-r11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5800" y="4773168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a0-a7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5800" y="5230368"/>
            <a:ext cx="3265322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参数寄存器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5800" y="5632704"/>
            <a:ext cx="3265322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函数参数，前两个也可作返回值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280306" y="4261104"/>
            <a:ext cx="3631082" cy="2286000"/>
          </a:xfrm>
          <a:prstGeom prst="roundRect">
            <a:avLst>
              <a:gd name="adj" fmla="val 4000"/>
            </a:avLst>
          </a:prstGeom>
          <a:solidFill>
            <a:srgbClr val="E0F2FE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463186" y="4389120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r12-r20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463186" y="4773168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t0-t8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463186" y="5230368"/>
            <a:ext cx="3265322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临时寄存器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463186" y="5632704"/>
            <a:ext cx="3265322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短期计算常用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8057693" y="4261104"/>
            <a:ext cx="3631082" cy="2286000"/>
          </a:xfrm>
          <a:prstGeom prst="roundRect">
            <a:avLst>
              <a:gd name="adj" fmla="val 4000"/>
            </a:avLst>
          </a:prstGeom>
          <a:solidFill>
            <a:srgbClr val="EDE9FE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240573" y="4389120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r22-r31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240573" y="4773168"/>
            <a:ext cx="3265322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fp/s0-s9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240573" y="5230368"/>
            <a:ext cx="3265322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保存寄存器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240573" y="5632704"/>
            <a:ext cx="3265322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函数调用约定后续展开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基础指令例子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5855" cy="2164080"/>
          </a:xfrm>
          <a:prstGeom prst="roundRect">
            <a:avLst>
              <a:gd name="adj" fmla="val 4225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0664" y="187452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187452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79576" y="187452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9790" y="1993265"/>
            <a:ext cx="10637215" cy="1615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addi.d  r3, r3, -32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st.d    r1, r3, 24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      func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jirl    r0, r1, 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4056888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22376" y="4162044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1" name="Image 0" descr="/home/claude/work/icons/flag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262628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4111752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挪出栈空间  </a:t>
            </a:r>
            <a:r>
              <a:rPr lang="en-US" sz="2400" dirty="0">
                <a:solidFill>
                  <a:srgbClr val="1E293B"/>
                </a:solidFill>
              </a:rPr>
              <a:t>sp 往下移 32 字节，先留出「口袋堆栈」的位置。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02920" y="4943856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22376" y="5049012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5" name="Image 1" descr="/home/claude/work/icons/repeat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149596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4998720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bl 调用函数  </a:t>
            </a:r>
            <a:r>
              <a:rPr lang="en-US" sz="2400" dirty="0">
                <a:solidFill>
                  <a:srgbClr val="1E293B"/>
                </a:solidFill>
              </a:rPr>
              <a:t>跳去执行 func，同时自动把返回地址记在 ra 里。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502920" y="5830824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722376" y="5935980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9" name="Image 2" descr="/home/claude/work/icons/finish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03656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5885688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jirl 返回  </a:t>
            </a:r>
            <a:r>
              <a:rPr lang="en-US" sz="2400" dirty="0">
                <a:solidFill>
                  <a:srgbClr val="1E293B"/>
                </a:solidFill>
              </a:rPr>
              <a:t>跳回 ra 记住的位置，函数调用画上句号。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源码写法和教材写法，说的是同一件事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避免误以为课件、教材和源码是三套体系——只是同一段动作的两种「口音」。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1185855" cy="1402080"/>
          </a:xfrm>
          <a:prstGeom prst="roundRect">
            <a:avLst>
              <a:gd name="adj" fmla="val 6522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0664" y="246888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246888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79576" y="246888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743200"/>
            <a:ext cx="10637215" cy="853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addi.d  r3, r3, -32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jirl    r0, r1, 0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" y="3870960"/>
            <a:ext cx="11186160" cy="1580515"/>
          </a:xfrm>
          <a:prstGeom prst="roundRect">
            <a:avLst>
              <a:gd name="adj" fmla="val 6522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0664" y="405384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60120" y="405384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79576" y="405384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328160"/>
            <a:ext cx="10637215" cy="853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addi.d  $sp, $sp, -32   # $sp 就是 r3
</a:t>
            </a:r>
            <a:r>
              <a:rPr lang="en-US" sz="2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jirl    $zero, $ra, 0   # $zero 是 r0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节 · 课堂互动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练习：先自己写，再对答案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071116"/>
            <a:ext cx="566928" cy="566928"/>
          </a:xfrm>
          <a:prstGeom prst="ellipse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22376" y="20711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20208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指出 addi.d、ld.d、st.d、bne 分别属于哪类指令。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871216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22376" y="2976372"/>
            <a:ext cx="566928" cy="566928"/>
          </a:xfrm>
          <a:prstGeom prst="ellipse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22376" y="2976372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2926080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bne r12, r0, L 解释成 if 条件跳转。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2920" y="3776472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22376" y="3881628"/>
            <a:ext cx="566928" cy="566928"/>
          </a:xfrm>
          <a:prstGeom prst="ellipse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2376" y="3881628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3831336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 bl 为什么会影响 r1/ra。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2920" y="4681728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2376" y="4786884"/>
            <a:ext cx="566928" cy="566928"/>
          </a:xfrm>
          <a:prstGeom prst="ellipse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2376" y="4786884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4736592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解释为什么设置 sp 后才能进入 C 函数。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38404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3794760"/>
            <a:ext cx="102412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C 到可执行文件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4709160"/>
            <a:ext cx="10058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让同学知道 Makefile 背后到底发生了什么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31520" y="5440680"/>
            <a:ext cx="10058400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</p:spPr>
        <p:txBody>
          <a:bodyPr/>
          <a:p/>
        </p:txBody>
      </p:sp>
      <p:pic>
        <p:nvPicPr>
          <p:cNvPr id="9" name="Image 1" descr="/home/claude/work/icons/target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65556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5440680"/>
            <a:ext cx="91440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学完这节，你要能用自己的话解释核心概念——一行 make 命令背后经过了哪些车间。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编译流程，一路走到 QEMU 能跑起来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周只需要说出每一步的作用。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pic>
        <p:nvPicPr>
          <p:cNvPr id="6" name="Image 0" descr="/home/claude/work/icons/filecode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003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3896" y="2286000"/>
            <a:ext cx="9960559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.c / .S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75569"/>
                </a:solidFill>
              </a:rPr>
              <a:t>源代码：C 和汇编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3017520"/>
            <a:ext cx="7315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02920" y="3163824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0" name="Image 1" descr="/home/claude/work/icons/settings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2384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53896" y="3209544"/>
            <a:ext cx="9960559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编译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75569"/>
                </a:solidFill>
              </a:rPr>
              <a:t>生成目标文件，处理 include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530352" y="3941064"/>
            <a:ext cx="7315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502920" y="4087368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4" name="Image 2" descr="/home/claude/work/icons/link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24738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53896" y="4133088"/>
            <a:ext cx="9960559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链接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75569"/>
                </a:solidFill>
              </a:rPr>
              <a:t>合成 ELF，确定地址入口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530352" y="4864608"/>
            <a:ext cx="7315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502920" y="5010912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18" name="Image 3" descr="/home/claude/work/icons/rocke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17093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53896" y="5056632"/>
            <a:ext cx="9960559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QEMU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BD5E1"/>
                </a:solidFill>
              </a:rPr>
              <a:t>加载内核，开始执行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节 · 故事导入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把「订单」变成「整机」的流水线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49224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</p:spPr>
        <p:txBody>
          <a:bodyPr/>
          <a:p/>
        </p:txBody>
      </p:sp>
      <p:pic>
        <p:nvPicPr>
          <p:cNvPr id="5" name="Image 0" descr="/home/claude/work/icons/workflow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585216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.c 文件像订单草图，要经过流水线：预处理展开「参考手册」、编译翻译成半成品汇编、汇编敲成机器码零件、链接拼装贴标，装订成能直接跑的「整机」ELF。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4663440"/>
            <a:ext cx="58521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Makefile，就是流水线的调度单——告诉每个车间先后顺序、用哪个工具。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269480" y="1691640"/>
            <a:ext cx="4419295" cy="4572000"/>
          </a:xfrm>
          <a:prstGeom prst="roundRect">
            <a:avLst>
              <a:gd name="adj" fmla="val 2069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9" name="Image 1" descr="/home/claude/work/icons/hammer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43800" y="2514600"/>
            <a:ext cx="387065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本节要拿下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7543800" y="2971800"/>
            <a:ext cx="3870655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说出流水线每一步的作用，不要求记住每个编译选项。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Makefile 是什么：一份装配单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0711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6" name="Image 0" descr="/home/claude/work/icons/inbox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717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208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目标: 依赖  写清楚要做出什么，需要先有什么才能做。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28803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22376" y="29855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0" name="Image 1" descr="/home/claude/work/icons/route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861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352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命令必须 Tab 缩进  写成空格缩进会直接报错，这是新手最容易踩的坑。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502920" y="37947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2376" y="38999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4" name="Image 2" descr="/home/claude/work/icons/repea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005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496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:= 和 ?=  := 是立刻赋值，?= 是只在变量还没被设置时才赋值。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502920" y="47091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722376" y="48143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8" name="Image 3" descr="/home/claude/work/icons/mappi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149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7640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.PHONY  声明的目标不对应真实文件，每次执行都会重新跑一遍命令。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Makefile 语法速览（通用示例，不是本项目代码）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先认识这份『装配单』的写法，再看下一页本项目 Makefile 怎么用它。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11186160" cy="4244340"/>
          </a:xfrm>
          <a:prstGeom prst="roundRect">
            <a:avLst>
              <a:gd name="adj" fmla="val 4225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0664" y="265176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265176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79576" y="265176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926080"/>
            <a:ext cx="10637215" cy="1615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目标: 依赖1 依赖2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	命令              # 命令前必须是 Tab，不能是空格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hello.o: hello.c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	gcc -c hello.c -o hello.o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CC := gcc            # := 立即展开赋值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CFLAGS ?= -Wall       # ?= 只在变量还没被设置时才赋值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.PHONY: clean         # 声明伪目标，clean 不是一个真实文件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clean: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	rm -f *.o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Makefile 的核心含义：别找错翻译官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（围绕项目的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makefile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文件）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不能用宿主机 x86_64 gcc 冒充 LoongArch 工具链。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11186160" cy="2803525"/>
          </a:xfrm>
          <a:prstGeom prst="roundRect">
            <a:avLst>
              <a:gd name="adj" fmla="val 4225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0664" y="265176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265176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79576" y="265176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926080"/>
            <a:ext cx="10637215" cy="1615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CROSS_COMPILE ?= loongarch64-linux-gnu-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CC := $(CROSS_COMPILE)gcc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QEMU ?= qemu-system-loongarch64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LDFLAGS := -T kernel/linker.ld -nostdlib -static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r>
              <a:rPr lang="zh-CN" alt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链接脚本先讲清楚三件事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116836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6" name="Image 0" descr="/home/claude/work/icons/flag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74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6654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ENTRY(_start)  </a:t>
            </a:r>
            <a:r>
              <a:rPr lang="en-US" sz="2400" dirty="0">
                <a:solidFill>
                  <a:srgbClr val="1E293B"/>
                </a:solidFill>
              </a:rPr>
              <a:t>大门开在哪——程序从 _start 这个房间进屋。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297180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22376" y="3076956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0" name="Image 1" descr="/home/claude/work/icons/mappin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775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02666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. = 0x9000...  </a:t>
            </a:r>
            <a:r>
              <a:rPr lang="en-US" sz="2400" dirty="0">
                <a:solidFill>
                  <a:srgbClr val="1E293B"/>
                </a:solidFill>
              </a:rPr>
              <a:t>地基定在哪个地址——房子盖在这个门牌号上。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502920" y="3931920"/>
            <a:ext cx="11185855" cy="1118108"/>
          </a:xfrm>
          <a:prstGeom prst="roundRect">
            <a:avLst>
              <a:gd name="adj" fmla="val 8178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2376" y="4207510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4" name="Image 2" descr="/home/claude/work/icons/building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0809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986784"/>
            <a:ext cx="9923983" cy="1008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.text / .data / .bss  </a:t>
            </a:r>
            <a:r>
              <a:rPr lang="en-US" sz="2400" dirty="0">
                <a:solidFill>
                  <a:srgbClr val="1E293B"/>
                </a:solidFill>
              </a:rPr>
              <a:t>客厅、卧室、储物间分别放在哪——各类内容各就各位。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r>
              <a:rPr lang="zh-CN" alt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链接脚本，就是盖房子的施工图纸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入口是谁、从哪个地址开始、各类内容放在哪个「房间」。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1186160" cy="4257040"/>
          </a:xfrm>
          <a:prstGeom prst="roundRect">
            <a:avLst>
              <a:gd name="adj" fmla="val 2479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0664" y="251460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251460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79576" y="251460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788920"/>
            <a:ext cx="10637215" cy="3139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ENTRY(_start)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SECTIONS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 = 0x9000000000200000;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.text : { *(.text.boot) *(.text*) }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.data : { *(.data*) }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.bss : { *(.bss*) *(COMMON) }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普通程序住酒店，裸机程序去荒野扎营</a:t>
            </a:r>
            <a:endParaRPr lang="en-US" sz="3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02920" y="1783080"/>
            <a:ext cx="5455768" cy="4206240"/>
          </a:xfrm>
          <a:prstGeom prst="roundRect">
            <a:avLst>
              <a:gd name="adj" fmla="val 2174"/>
            </a:avLst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5" name="Image 0" descr="/home/claude/work/icons/bed_tea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7240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777240" y="2606040"/>
            <a:ext cx="49071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 Linux 程序</a:t>
            </a:r>
            <a:endParaRPr lang="en-US" sz="26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777240" y="2999232"/>
            <a:ext cx="49071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= 住五星酒店</a:t>
            </a:r>
            <a:endParaRPr lang="en-US" sz="240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777240" y="3429000"/>
            <a:ext cx="4907128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操作系统和 C 运行库把房间、水电都准备好了，你直接从 main() 入住。</a:t>
            </a:r>
            <a:endParaRPr lang="en-US" sz="2400" dirty="0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6233008" y="1783080"/>
            <a:ext cx="5455768" cy="4206240"/>
          </a:xfrm>
          <a:prstGeom prst="roundRect">
            <a:avLst>
              <a:gd name="adj" fmla="val 2174"/>
            </a:avLst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0" name="Image 1" descr="/home/claude/work/icons/tent_amber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507328" y="20116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10"/>
            </p:custDataLst>
          </p:nvPr>
        </p:nvSpPr>
        <p:spPr>
          <a:xfrm>
            <a:off x="6507328" y="2606040"/>
            <a:ext cx="490712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miniOS 裸机程序</a:t>
            </a:r>
            <a:endParaRPr lang="en-US" sz="2600" dirty="0"/>
          </a:p>
        </p:txBody>
      </p:sp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6507328" y="2999232"/>
            <a:ext cx="49071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= 荒野扎营</a:t>
            </a:r>
            <a:endParaRPr lang="en-US" sz="2400" dirty="0"/>
          </a:p>
        </p:txBody>
      </p:sp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6507328" y="3429000"/>
            <a:ext cx="4907128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 libc，没有操作系统帮你叫醒 main：搭帐篷（_start）、找水源（设置栈）、发信号（串口输出）都要自己来。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502920" y="612648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502920" y="6126480"/>
            <a:ext cx="11185855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这正是第 1 周 Hello miniOS 的教学价值。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节 · 课堂互动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大胆猜一猜：入口地址写错了会怎样？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E2E2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1933956"/>
            <a:ext cx="566928" cy="566928"/>
          </a:xfrm>
          <a:prstGeom prst="ellipse">
            <a:avLst/>
          </a:prstGeom>
          <a:solidFill>
            <a:srgbClr val="FEE2E2"/>
          </a:solidFill>
        </p:spPr>
        <p:txBody>
          <a:bodyPr/>
          <a:p/>
        </p:txBody>
      </p:sp>
      <p:pic>
        <p:nvPicPr>
          <p:cNvPr id="6" name="Image 0" descr="/home/claude/work/icons/cross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345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8366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可能跳到一片空白/非法内存，直接跑飞或死机。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02920" y="2734056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E2E2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22376" y="2839212"/>
            <a:ext cx="566928" cy="566928"/>
          </a:xfrm>
          <a:prstGeom prst="ellipse">
            <a:avLst/>
          </a:prstGeom>
          <a:solidFill>
            <a:srgbClr val="FEE2E2"/>
          </a:solidFill>
        </p:spPr>
        <p:txBody>
          <a:bodyPr/>
          <a:p/>
        </p:txBody>
      </p:sp>
      <p:pic>
        <p:nvPicPr>
          <p:cNvPr id="10" name="Image 1" descr="/home/claude/work/icons/cross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93979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788920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QEMU 找不到入口，加载内核就失败。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502920" y="3639312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E0F2FE"/>
          </a:solidFill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2376" y="3744468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4" name="Image 2" descr="/home/claude/work/icons/helpcircle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505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694176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也可能「看似能跑」，但地址已经错位——更难发现。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502920" y="4636008"/>
            <a:ext cx="5212080" cy="5486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502920" y="4636008"/>
            <a:ext cx="5212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小组讨论 1 分钟 · 抽签点名回答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 animBg="1"/>
      <p:bldP spid="9" grpId="0" animBg="1"/>
      <p:bldP spid="11" grpId="0"/>
      <p:bldP spid="12" grpId="0" animBg="1"/>
      <p:bldP spid="13" grpId="0" animBg="1"/>
      <p:bldP spid="15" grpId="0"/>
      <p:bldP spid="4" grpId="1" animBg="1"/>
      <p:bldP spid="5" grpId="1" animBg="1"/>
      <p:bldP spid="7" grpId="1"/>
      <p:bldP spid="8" grpId="1" animBg="1"/>
      <p:bldP spid="9" grpId="1" animBg="1"/>
      <p:bldP spid="11" grpId="1"/>
      <p:bldP spid="12" grpId="1" animBg="1"/>
      <p:bldP spid="13" grpId="1" animBg="1"/>
      <p:bldP spid="15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work/icons/rocket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4884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794760"/>
            <a:ext cx="102412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QEMU Hello miniOS 实验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4709160"/>
            <a:ext cx="10058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把前</a:t>
            </a:r>
            <a:r>
              <a:rPr lang="zh-CN" altLang="en-US" sz="2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</a:t>
            </a:r>
            <a:r>
              <a:rPr lang="en-US" sz="24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概念落到仓库代码和真实运行命令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31520" y="5440680"/>
            <a:ext cx="10058400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</p:spPr>
        <p:txBody>
          <a:bodyPr/>
          <a:p/>
        </p:txBody>
      </p:sp>
      <p:pic>
        <p:nvPicPr>
          <p:cNvPr id="9" name="Image 1" descr="/home/claude/work/icons/target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65556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5440680"/>
            <a:ext cx="91440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学完这节，你要能用自己的话解释核心概念——并亲手让 Hello 输出跑起来。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周核心文件，六个就够了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519776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208276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6" name="Image 0" descr="/home/claude/work/icons/rocket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088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9384"/>
            <a:ext cx="4257904" cy="11247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boot/start.S  </a:t>
            </a:r>
            <a:r>
              <a:rPr lang="en-US" sz="2400" dirty="0">
                <a:solidFill>
                  <a:srgbClr val="1E293B"/>
                </a:solidFill>
              </a:rPr>
              <a:t>启动入口，设置栈，跳转 kernel_main。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169000" y="1874520"/>
            <a:ext cx="5519776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388456" y="2208276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0" name="Image 1" descr="/home/claude/work/icons/building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040" y="23088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4840" y="1929384"/>
            <a:ext cx="4257904" cy="11247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kernel/linker.ld  </a:t>
            </a:r>
            <a:r>
              <a:rPr lang="en-US" sz="2400" dirty="0">
                <a:solidFill>
                  <a:srgbClr val="1E293B"/>
                </a:solidFill>
              </a:rPr>
              <a:t>规定入口地址和段布局。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502920" y="3255264"/>
            <a:ext cx="5519776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2376" y="3589020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4" name="Image 2" descr="/home/claude/work/icons/code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8960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310128"/>
            <a:ext cx="4257904" cy="11247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kernel/main.c  </a:t>
            </a:r>
            <a:r>
              <a:rPr lang="en-US" sz="2400" dirty="0">
                <a:solidFill>
                  <a:srgbClr val="1E293B"/>
                </a:solidFill>
              </a:rPr>
              <a:t>C 语言内核入口，调用 printk。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6169000" y="3255264"/>
            <a:ext cx="5519776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6388456" y="3589020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8" name="Image 3" descr="/home/claude/work/icons/radio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040" y="3689604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4840" y="3310128"/>
            <a:ext cx="4257904" cy="11247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kernel/printk.c  </a:t>
            </a:r>
            <a:r>
              <a:rPr lang="en-US" sz="2400" dirty="0">
                <a:solidFill>
                  <a:srgbClr val="1E293B"/>
                </a:solidFill>
              </a:rPr>
              <a:t>最小字符串输出。</a:t>
            </a:r>
            <a:endParaRPr lang="en-US" sz="2600" dirty="0"/>
          </a:p>
        </p:txBody>
      </p:sp>
      <p:sp>
        <p:nvSpPr>
          <p:cNvPr id="20" name="Shape 14"/>
          <p:cNvSpPr/>
          <p:nvPr/>
        </p:nvSpPr>
        <p:spPr>
          <a:xfrm>
            <a:off x="502920" y="4636008"/>
            <a:ext cx="5519776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722376" y="4969764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22" name="Image 4" descr="/home/claude/work/icons/filecode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7034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4690872"/>
            <a:ext cx="4257904" cy="11247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include/*.h  </a:t>
            </a:r>
            <a:r>
              <a:rPr lang="en-US" sz="2400" dirty="0">
                <a:solidFill>
                  <a:srgbClr val="1E293B"/>
                </a:solidFill>
              </a:rPr>
              <a:t>函数原型和 UART 地址。</a:t>
            </a:r>
            <a:endParaRPr lang="en-US" sz="2600" dirty="0"/>
          </a:p>
        </p:txBody>
      </p:sp>
      <p:sp>
        <p:nvSpPr>
          <p:cNvPr id="24" name="Shape 17"/>
          <p:cNvSpPr/>
          <p:nvPr/>
        </p:nvSpPr>
        <p:spPr>
          <a:xfrm>
            <a:off x="6169000" y="4636008"/>
            <a:ext cx="5519776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5" name="Shape 18"/>
          <p:cNvSpPr/>
          <p:nvPr/>
        </p:nvSpPr>
        <p:spPr>
          <a:xfrm>
            <a:off x="6388456" y="4969764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26" name="Image 5" descr="/home/claude/work/icons/hammer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040" y="5070348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74840" y="4690872"/>
            <a:ext cx="4257904" cy="11247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Makefile  </a:t>
            </a:r>
            <a:r>
              <a:rPr lang="en-US" sz="2400" dirty="0">
                <a:solidFill>
                  <a:srgbClr val="1E293B"/>
                </a:solidFill>
              </a:rPr>
              <a:t>编译、运行和清理命令。</a:t>
            </a:r>
            <a:endParaRPr lang="en-US" sz="2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剧透提醒：当前 master 比第 1 周略多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025396"/>
            <a:ext cx="566928" cy="566928"/>
          </a:xfrm>
          <a:prstGeom prst="ellipse">
            <a:avLst/>
          </a:prstGeom>
          <a:solidFill>
            <a:srgbClr val="FDE68A"/>
          </a:solidFill>
        </p:spPr>
        <p:txBody>
          <a:bodyPr/>
          <a:p/>
        </p:txBody>
      </p:sp>
      <p:pic>
        <p:nvPicPr>
          <p:cNvPr id="6" name="Image 0" descr="/home/claude/work/icons/flag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259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7510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boot/start.S 已包含 clear_bss，这是第 2 周 .bss 的铺垫。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02920" y="283464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22376" y="2939796"/>
            <a:ext cx="566928" cy="566928"/>
          </a:xfrm>
          <a:prstGeom prst="ellipse">
            <a:avLst/>
          </a:prstGeom>
          <a:solidFill>
            <a:srgbClr val="FDE68A"/>
          </a:solidFill>
        </p:spPr>
        <p:txBody>
          <a:bodyPr/>
          <a:p/>
        </p:txBody>
      </p:sp>
      <p:pic>
        <p:nvPicPr>
          <p:cNvPr id="10" name="Image 1" descr="/home/claude/work/icons/flag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403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88950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kernel/main.c 已包含检查代码，第一周只追踪 Hello 链路。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502920" y="374904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2376" y="3854196"/>
            <a:ext cx="566928" cy="566928"/>
          </a:xfrm>
          <a:prstGeom prst="ellipse">
            <a:avLst/>
          </a:prstGeom>
          <a:solidFill>
            <a:srgbClr val="FDE68A"/>
          </a:solidFill>
        </p:spPr>
        <p:txBody>
          <a:bodyPr/>
          <a:p/>
        </p:txBody>
      </p:sp>
      <p:pic>
        <p:nvPicPr>
          <p:cNvPr id="14" name="Image 2" descr="/home/claude/work/icons/flag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547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0390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string.S、exception.c、syscall.c 属于后续周次铺垫。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502920" y="4709160"/>
            <a:ext cx="11185855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502920" y="4709160"/>
            <a:ext cx="1118585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课堂第 1 周不要展开 .data/.bss、异常和系统调用细节。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boot/start.S：CPU 上电后第一站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6160" cy="3564890"/>
          </a:xfrm>
          <a:prstGeom prst="roundRect">
            <a:avLst>
              <a:gd name="adj" fmla="val 3125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0664" y="201168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01168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79576" y="201168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286000"/>
            <a:ext cx="10637215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_start: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la.global   $sp, boot_stack_top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bl          kernel_main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halt: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idle        0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           halt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boot/start.S 主路径，逐行讲解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071116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6" name="Image 0" descr="/home/claude/work/icons/flag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717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208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_start · 起点  </a:t>
            </a:r>
            <a:r>
              <a:rPr lang="en-US" sz="2400" dirty="0">
                <a:solidFill>
                  <a:srgbClr val="1E293B"/>
                </a:solidFill>
              </a:rPr>
              <a:t>CPU 上电后跳到这里，一切从这一行开始。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2880360"/>
            <a:ext cx="11185855" cy="1118108"/>
          </a:xfrm>
          <a:prstGeom prst="roundRect">
            <a:avLst>
              <a:gd name="adj" fmla="val 8178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22376" y="3155950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0" name="Image 1" descr="/home/claude/work/icons/inbox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5653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35224"/>
            <a:ext cx="9923983" cy="1008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设 sp · 搭脚手架  </a:t>
            </a:r>
            <a:r>
              <a:rPr lang="en-US" sz="2400" dirty="0">
                <a:solidFill>
                  <a:srgbClr val="1E293B"/>
                </a:solidFill>
              </a:rPr>
              <a:t>先给栈立好地基，C 函数才敢放心用局部变量。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502920" y="4135628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2376" y="4240784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4" name="Image 2" descr="/home/claude/work/icons/repeat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136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190492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bl kernel_main  </a:t>
            </a:r>
            <a:r>
              <a:rPr lang="en-US" sz="2400" dirty="0">
                <a:solidFill>
                  <a:srgbClr val="1E293B"/>
                </a:solidFill>
              </a:rPr>
              <a:t>把控制权交给 C，正式「入住」。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502920" y="5050028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722376" y="5155184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8" name="Image 3" descr="/home/claude/work/icons/targe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5576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5104892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halt · 原地等待  </a:t>
            </a:r>
            <a:r>
              <a:rPr lang="en-US" sz="2400" dirty="0">
                <a:solidFill>
                  <a:srgbClr val="1E293B"/>
                </a:solidFill>
              </a:rPr>
              <a:t>kernel_main 万一返回，就在这里安静循环。</a:t>
            </a:r>
            <a:endParaRPr lang="en-US" sz="2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周使用的最小 kernel_main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 master 里有第 2 周的检查代码；课堂上先抽出这条最小路径。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1185855" cy="3307080"/>
          </a:xfrm>
          <a:prstGeom prst="roundRect">
            <a:avLst>
              <a:gd name="adj" fmla="val 2765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0664" y="251460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251460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79576" y="251460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788920"/>
            <a:ext cx="10637215" cy="2758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kernel_main(void)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printk("Hello miniOS on LoongArch64\n");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 (1) {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__asm__ volatile("idle 0");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这条最小路径，在做两件事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11185855" cy="1118108"/>
          </a:xfrm>
          <a:prstGeom prst="roundRect">
            <a:avLst>
              <a:gd name="adj" fmla="val 8178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378710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6" name="Image 0" descr="/home/claude/work/icons/radio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7929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57984"/>
            <a:ext cx="9923983" cy="1008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printk(...)  </a:t>
            </a:r>
            <a:r>
              <a:rPr lang="en-US" sz="2400" dirty="0">
                <a:solidFill>
                  <a:srgbClr val="1E293B"/>
                </a:solidFill>
              </a:rPr>
              <a:t>把字符串一个个送到 UART，这是我们今天唯一的「输出方式」。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3449828"/>
            <a:ext cx="11185855" cy="1118108"/>
          </a:xfrm>
          <a:prstGeom prst="roundRect">
            <a:avLst>
              <a:gd name="adj" fmla="val 8178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22376" y="3725418"/>
            <a:ext cx="566928" cy="566928"/>
          </a:xfrm>
          <a:prstGeom prst="ellipse">
            <a:avLst/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0" name="Image 1" descr="/home/claude/work/icons/target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2600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504692"/>
            <a:ext cx="9923983" cy="1008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while(1) + idle  </a:t>
            </a:r>
            <a:r>
              <a:rPr lang="en-US" sz="2400" dirty="0">
                <a:solidFill>
                  <a:srgbClr val="1E293B"/>
                </a:solidFill>
              </a:rPr>
              <a:t>内核任务做完了，就安静待机，不退出、不跑飞。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printk 到 UART 的实现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2926080"/>
          </a:xfrm>
          <a:prstGeom prst="roundRect">
            <a:avLst>
              <a:gd name="adj" fmla="val 3125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0664" y="201168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01168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79576" y="201168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286000"/>
            <a:ext cx="10637215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uart_putc(char ch) {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*(volatile unsigned char *)UART0_BASE = ch;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printk(const char *s) {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 (*s) uart_putc(*s++);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写地址，就像按对讲机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4206240"/>
          </a:xfrm>
          <a:prstGeom prst="roundRect">
            <a:avLst>
              <a:gd name="adj" fmla="val 2174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5" name="Image 0" descr="/home/claude/work/icons/radio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971800"/>
            <a:ext cx="10454335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UART0_BASE 就像对讲机的固定频道地址。把字符一个个「写」进这个地址，硬件就会把它发送到终端屏幕上——不需要操作系统帮忙，直接对着频道喊话。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" y="4937760"/>
            <a:ext cx="10454335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提醒：UART0_BASE 是 QEMU virt 平台地址，不代表 2K0300 开发板地址。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周最小运行链路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这条链跑通，才进入第 2 周。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1185855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</p:spPr>
        <p:txBody>
          <a:bodyPr/>
          <a:p/>
        </p:txBody>
      </p:sp>
      <p:pic>
        <p:nvPicPr>
          <p:cNvPr id="6" name="Image 0" descr="/home/claude/work/icons/hammer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286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3896" y="2194560"/>
            <a:ext cx="996055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make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75569"/>
                </a:solidFill>
              </a:rPr>
              <a:t>交叉编译，生成 ELF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2880360"/>
            <a:ext cx="7315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02920" y="3026664"/>
            <a:ext cx="11185855" cy="731520"/>
          </a:xfrm>
          <a:prstGeom prst="roundRect">
            <a:avLst>
              <a:gd name="adj" fmla="val 12500"/>
            </a:avLst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0" name="Image 1" descr="/home/claude/work/icons/rocket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6382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53896" y="3072384"/>
            <a:ext cx="996055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QEMU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75569"/>
                </a:solidFill>
              </a:rPr>
              <a:t>模拟 virt，加载内核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530352" y="3758184"/>
            <a:ext cx="7315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502920" y="3904488"/>
            <a:ext cx="11185855" cy="731520"/>
          </a:xfrm>
          <a:prstGeom prst="roundRect">
            <a:avLst>
              <a:gd name="adj" fmla="val 12500"/>
            </a:avLst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14" name="Image 2" descr="/home/claude/work/icons/flag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4164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53896" y="3950208"/>
            <a:ext cx="996055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_start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75569"/>
                </a:solidFill>
              </a:rPr>
              <a:t>设置 sp，调用 C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530352" y="4636008"/>
            <a:ext cx="7315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502920" y="4782312"/>
            <a:ext cx="11185855" cy="731520"/>
          </a:xfrm>
          <a:prstGeom prst="roundRect">
            <a:avLst>
              <a:gd name="adj" fmla="val 12500"/>
            </a:avLst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8" name="Image 3" descr="/home/claude/work/icons/code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91947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53896" y="4828032"/>
            <a:ext cx="996055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kernel_main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475569"/>
                </a:solidFill>
              </a:rPr>
              <a:t>调用 printk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530352" y="5513832"/>
            <a:ext cx="7315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502920" y="5660136"/>
            <a:ext cx="11185855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22" name="Image 4" descr="/home/claude/work/icons/radio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797296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53896" y="5705856"/>
            <a:ext cx="996055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UART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BD5E1"/>
                </a:solidFill>
              </a:rPr>
              <a:t>终端显示 Hello</a:t>
            </a:r>
            <a:endParaRPr lang="en-US" sz="2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上课第一步：环境检查怎么做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缺工具不丢人，记录真实结果才重要——不要跳过这步直接编译。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11186160" cy="4203065"/>
          </a:xfrm>
          <a:prstGeom prst="roundRect">
            <a:avLst>
              <a:gd name="adj" fmla="val 3125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0664" y="256032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256032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79576" y="256032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834640"/>
            <a:ext cx="10637215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需要确认这些命令存在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make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qemu-system-loongarch64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loongarch64-linux-gnu-gcc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loongarch64-linux-gnu-objdump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一键检查（推荐先跑这个）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 scripts/check-env.sh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 进入 </a:t>
            </a:r>
            <a:r>
              <a:rPr lang="en-US" altLang="zh-CN"/>
              <a:t>Ubuntu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32660" y="1825625"/>
            <a:ext cx="772604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实验命令：三步跑通 Hello miniOS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实际测试结果必须来自你自己机器的真实命令输出。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11186160" cy="3542030"/>
          </a:xfrm>
          <a:prstGeom prst="roundRect">
            <a:avLst>
              <a:gd name="adj" fmla="val 3125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0664" y="256032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256032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79576" y="256032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834640"/>
            <a:ext cx="10637215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1 环境检查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 scripts/check-env.sh
</a:t>
            </a:r>
            <a:r>
              <a:rPr lang="en-US" sz="2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2 编译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make clean &amp;&amp; make
</a:t>
            </a:r>
            <a:r>
              <a:rPr lang="en-US" sz="2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3 运行
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make run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进入项目目录，检查</a:t>
            </a:r>
            <a:r>
              <a:rPr lang="zh-CN" altLang="en-US"/>
              <a:t>环境工具链：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61820" y="2481580"/>
            <a:ext cx="8467725" cy="30384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 1 周验证命令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96340" y="1440180"/>
            <a:ext cx="9523095" cy="53149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预期输出与测试记录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诚实比「通过」更重要。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1185855" cy="1021080"/>
          </a:xfrm>
          <a:prstGeom prst="roundRect">
            <a:avLst>
              <a:gd name="adj" fmla="val 8955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0664" y="233172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233172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79576" y="233172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606040"/>
            <a:ext cx="10637215" cy="472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Hello miniOS on LoongArch64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" y="335280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E2E2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22376" y="3457956"/>
            <a:ext cx="566928" cy="566928"/>
          </a:xfrm>
          <a:prstGeom prst="ellipse">
            <a:avLst/>
          </a:prstGeom>
          <a:solidFill>
            <a:srgbClr val="FEE2E2"/>
          </a:solidFill>
        </p:spPr>
        <p:txBody>
          <a:bodyPr/>
          <a:p/>
        </p:txBody>
      </p:sp>
      <p:pic>
        <p:nvPicPr>
          <p:cNvPr id="12" name="Image 0" descr="/home/claude/work/icons/cross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55854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8760" y="340766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未执行过 make run，就不能写「已通过」。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02920" y="4258056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22376" y="4363212"/>
            <a:ext cx="566928" cy="566928"/>
          </a:xfrm>
          <a:prstGeom prst="ellipse">
            <a:avLst/>
          </a:prstGeom>
          <a:solidFill>
            <a:srgbClr val="DCFCE7"/>
          </a:solidFill>
        </p:spPr>
        <p:txBody>
          <a:bodyPr/>
          <a:p/>
        </p:txBody>
      </p:sp>
      <p:pic>
        <p:nvPicPr>
          <p:cNvPr id="16" name="Image 1" descr="/home/claude/work/icons/chec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463796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08760" y="4312920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工具链缺失时记录为「未执行」，写明失败原因。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常见错误排查：卡住了先看这四条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071116"/>
            <a:ext cx="566928" cy="566928"/>
          </a:xfrm>
          <a:prstGeom prst="ellipse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22376" y="20711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20208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command not found（make/gcc/qemu）→ 先跑 sh scripts/check-env.sh，按提示安装缺失工具。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22376" y="2985516"/>
            <a:ext cx="566928" cy="566928"/>
          </a:xfrm>
          <a:prstGeom prst="ellipse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22376" y="29855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29352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make run 后没有 Hello 输出 → 先 make clean &amp;&amp; make，确认生成了 build/minios.elf。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22376" y="3899916"/>
            <a:ext cx="566928" cy="566928"/>
          </a:xfrm>
          <a:prstGeom prst="ellipse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2376" y="38999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38496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不知道怎么退出 QEMU → -nographic 模式下，先按 Ctrl-a，松开后再按 x。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2920" y="47091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2376" y="4814316"/>
            <a:ext cx="566928" cy="566928"/>
          </a:xfrm>
          <a:prstGeom prst="ellipse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2376" y="48143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47640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终端里还看到 .data/.bss 相关输出 → 当前 master 已含第 2 周代码，第 1 周只关注 Hello 这一行。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今天课上要做到这四条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</p:sp>
      <p:sp>
        <p:nvSpPr>
          <p:cNvPr id="5" name="Shape 3"/>
          <p:cNvSpPr/>
          <p:nvPr/>
        </p:nvSpPr>
        <p:spPr>
          <a:xfrm>
            <a:off x="722376" y="2071116"/>
            <a:ext cx="566928" cy="5669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6" name="Text 4"/>
          <p:cNvSpPr/>
          <p:nvPr/>
        </p:nvSpPr>
        <p:spPr>
          <a:xfrm>
            <a:off x="722376" y="20711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20208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环境检查 + make clean &amp;&amp; make + make run，全部有真实记录，没跑就写「未执行」。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</p:sp>
      <p:sp>
        <p:nvSpPr>
          <p:cNvPr id="9" name="Shape 7"/>
          <p:cNvSpPr/>
          <p:nvPr/>
        </p:nvSpPr>
        <p:spPr>
          <a:xfrm>
            <a:off x="722376" y="2985516"/>
            <a:ext cx="566928" cy="5669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0" name="Text 8"/>
          <p:cNvSpPr/>
          <p:nvPr/>
        </p:nvSpPr>
        <p:spPr>
          <a:xfrm>
            <a:off x="722376" y="29855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29352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QEMU 终端里看到 Hello miniOS on LoongArch64。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</p:sp>
      <p:sp>
        <p:nvSpPr>
          <p:cNvPr id="13" name="Shape 11"/>
          <p:cNvSpPr/>
          <p:nvPr/>
        </p:nvSpPr>
        <p:spPr>
          <a:xfrm>
            <a:off x="722376" y="3899916"/>
            <a:ext cx="566928" cy="5669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722376" y="38999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38496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能讲清楚：CPU 为什么先进 boot/start.S、为什么要设 $sp、为什么用 printk 不用 printf。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2920" y="47091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</p:sp>
      <p:sp>
        <p:nvSpPr>
          <p:cNvPr id="17" name="Shape 15"/>
          <p:cNvSpPr/>
          <p:nvPr/>
        </p:nvSpPr>
        <p:spPr>
          <a:xfrm>
            <a:off x="722376" y="4814316"/>
            <a:ext cx="566928" cy="5669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8" name="Text 16"/>
          <p:cNvSpPr/>
          <p:nvPr/>
        </p:nvSpPr>
        <p:spPr>
          <a:xfrm>
            <a:off x="722376" y="48143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47640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不强求：解释 .data/.bss 细节、修改启动代码、开发板迁移——这些是后面几周的内容。</a:t>
            </a:r>
            <a:endParaRPr lang="en-US" sz="2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777240" y="6219740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讲运行结果拍照传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学习通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共学边界：能帮你看懂，不能替你动手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071116"/>
            <a:ext cx="566928" cy="566928"/>
          </a:xfrm>
          <a:prstGeom prst="ellipse">
            <a:avLst/>
          </a:prstGeom>
          <a:solidFill>
            <a:srgbClr val="DCFCE7"/>
          </a:solidFill>
        </p:spPr>
        <p:txBody>
          <a:bodyPr/>
          <a:p/>
        </p:txBody>
      </p:sp>
      <p:pic>
        <p:nvPicPr>
          <p:cNvPr id="6" name="Image 0" descr="/home/claude/work/icons/check_gree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717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208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可以让 AI 解释 boot/start.S 的作用。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02920" y="2871216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22376" y="2976372"/>
            <a:ext cx="566928" cy="566928"/>
          </a:xfrm>
          <a:prstGeom prst="ellipse">
            <a:avLst/>
          </a:prstGeom>
          <a:solidFill>
            <a:srgbClr val="DCFCE7"/>
          </a:solidFill>
        </p:spPr>
        <p:txBody>
          <a:bodyPr/>
          <a:p/>
        </p:txBody>
      </p:sp>
      <p:pic>
        <p:nvPicPr>
          <p:cNvPr id="10" name="Image 1" descr="/home/claude/work/icons/check_gree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7695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26080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可以让 AI 绘制 miniOS 启动流程图。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502920" y="3776472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2376" y="3881628"/>
            <a:ext cx="566928" cy="566928"/>
          </a:xfrm>
          <a:prstGeom prst="ellipse">
            <a:avLst/>
          </a:prstGeom>
          <a:solidFill>
            <a:srgbClr val="DCFCE7"/>
          </a:solidFill>
        </p:spPr>
        <p:txBody>
          <a:bodyPr/>
          <a:p/>
        </p:txBody>
      </p:sp>
      <p:pic>
        <p:nvPicPr>
          <p:cNvPr id="14" name="Image 2" descr="/home/claude/work/icons/check_gree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8221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31336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可以让 AI 解释 QEMU 的作用。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502920" y="4681728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EE2E2"/>
          </a:solidFill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722376" y="4786884"/>
            <a:ext cx="566928" cy="566928"/>
          </a:xfrm>
          <a:prstGeom prst="ellipse">
            <a:avLst/>
          </a:prstGeom>
          <a:solidFill>
            <a:srgbClr val="FEE2E2"/>
          </a:solidFill>
        </p:spPr>
        <p:txBody>
          <a:bodyPr/>
          <a:p/>
        </p:txBody>
      </p:sp>
      <p:pic>
        <p:nvPicPr>
          <p:cNvPr id="18" name="Image 3" descr="/home/claude/work/icons/cross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8746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736592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不允许让 AI 直接生成实验代码。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502920" y="50292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课后思考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思考题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答不上来没关系，带着问题去读代码、去 QEMU 里试。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11185855" cy="713232"/>
          </a:xfrm>
          <a:prstGeom prst="roundRect">
            <a:avLst>
              <a:gd name="adj" fmla="val 11538"/>
            </a:avLst>
          </a:prstGeom>
          <a:solidFill>
            <a:srgbClr val="1E293B"/>
          </a:solidFill>
        </p:spPr>
      </p:sp>
      <p:pic>
        <p:nvPicPr>
          <p:cNvPr id="7" name="Image 0" descr="/home/claude/work/icons/helpcircle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57860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423160"/>
            <a:ext cx="10180015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第一条指令在哪里？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02920" y="3246120"/>
            <a:ext cx="11185855" cy="713232"/>
          </a:xfrm>
          <a:prstGeom prst="roundRect">
            <a:avLst>
              <a:gd name="adj" fmla="val 11538"/>
            </a:avLst>
          </a:prstGeom>
          <a:solidFill>
            <a:srgbClr val="1E293B"/>
          </a:solidFill>
        </p:spPr>
      </p:sp>
      <p:pic>
        <p:nvPicPr>
          <p:cNvPr id="10" name="Image 1" descr="/home/claude/work/icons/helpcircle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340156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246120"/>
            <a:ext cx="10180015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为什么裸机程序不是从 main() 开始？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502920" y="4069080"/>
            <a:ext cx="11185855" cy="713232"/>
          </a:xfrm>
          <a:prstGeom prst="roundRect">
            <a:avLst>
              <a:gd name="adj" fmla="val 11538"/>
            </a:avLst>
          </a:prstGeom>
          <a:solidFill>
            <a:srgbClr val="1E293B"/>
          </a:solidFill>
        </p:spPr>
      </p:sp>
      <p:pic>
        <p:nvPicPr>
          <p:cNvPr id="13" name="Image 2" descr="/home/claude/work/icons/helpcircle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422452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069080"/>
            <a:ext cx="10180015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为什么进入 C 函数前要设置 sp？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502920" y="4892040"/>
            <a:ext cx="11185855" cy="713232"/>
          </a:xfrm>
          <a:prstGeom prst="roundRect">
            <a:avLst>
              <a:gd name="adj" fmla="val 11538"/>
            </a:avLst>
          </a:prstGeom>
          <a:solidFill>
            <a:srgbClr val="1E293B"/>
          </a:solidFill>
        </p:spPr>
      </p:sp>
      <p:pic>
        <p:nvPicPr>
          <p:cNvPr id="16" name="Image 3" descr="/home/claude/work/icons/helpcircle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47488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892040"/>
            <a:ext cx="10180015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miniOS 不能直接使用 printf？</a:t>
            </a:r>
            <a:endParaRPr lang="en-US" sz="2400" dirty="0"/>
          </a:p>
        </p:txBody>
      </p:sp>
      <p:sp>
        <p:nvSpPr>
          <p:cNvPr id="18" name="Shape 12"/>
          <p:cNvSpPr/>
          <p:nvPr/>
        </p:nvSpPr>
        <p:spPr>
          <a:xfrm>
            <a:off x="502920" y="5715000"/>
            <a:ext cx="11185855" cy="713232"/>
          </a:xfrm>
          <a:prstGeom prst="roundRect">
            <a:avLst>
              <a:gd name="adj" fmla="val 11538"/>
            </a:avLst>
          </a:prstGeom>
          <a:solidFill>
            <a:srgbClr val="1E293B"/>
          </a:solidFill>
        </p:spPr>
      </p:sp>
      <p:pic>
        <p:nvPicPr>
          <p:cNvPr id="19" name="Image 4" descr="/home/claude/work/icons/helpcircle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870448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5715000"/>
            <a:ext cx="10180015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为什么先 QEMU 再开发板？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第一周学生作业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</p:sp>
      <p:sp>
        <p:nvSpPr>
          <p:cNvPr id="5" name="Shape 3"/>
          <p:cNvSpPr/>
          <p:nvPr/>
        </p:nvSpPr>
        <p:spPr>
          <a:xfrm>
            <a:off x="722376" y="2071116"/>
            <a:ext cx="566928" cy="5669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6" name="Text 4"/>
          <p:cNvSpPr/>
          <p:nvPr/>
        </p:nvSpPr>
        <p:spPr>
          <a:xfrm>
            <a:off x="722376" y="20711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20208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画出 miniOS 第 1 周执行路径图。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</p:sp>
      <p:sp>
        <p:nvSpPr>
          <p:cNvPr id="9" name="Shape 7"/>
          <p:cNvSpPr/>
          <p:nvPr/>
        </p:nvSpPr>
        <p:spPr>
          <a:xfrm>
            <a:off x="722376" y="2985516"/>
            <a:ext cx="566928" cy="5669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0" name="Text 8"/>
          <p:cNvSpPr/>
          <p:nvPr/>
        </p:nvSpPr>
        <p:spPr>
          <a:xfrm>
            <a:off x="722376" y="29855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29352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Hello 字符串改成自己的姓名和学号，重新编译运行。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</p:sp>
      <p:sp>
        <p:nvSpPr>
          <p:cNvPr id="13" name="Shape 11"/>
          <p:cNvSpPr/>
          <p:nvPr/>
        </p:nvSpPr>
        <p:spPr>
          <a:xfrm>
            <a:off x="722376" y="3899916"/>
            <a:ext cx="566928" cy="5669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722376" y="38999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38496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 boot/start.S 中 sp、bl、b、idle 的作用。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2920" y="47091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</p:sp>
      <p:sp>
        <p:nvSpPr>
          <p:cNvPr id="17" name="Shape 15"/>
          <p:cNvSpPr/>
          <p:nvPr/>
        </p:nvSpPr>
        <p:spPr>
          <a:xfrm>
            <a:off x="722376" y="4814316"/>
            <a:ext cx="566928" cy="5669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8" name="Text 16"/>
          <p:cNvSpPr/>
          <p:nvPr/>
        </p:nvSpPr>
        <p:spPr>
          <a:xfrm>
            <a:off x="722376" y="48143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47640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提交环境检查结果和真实运行截图或日志。</a:t>
            </a:r>
            <a:endParaRPr 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2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3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4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5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6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7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8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9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10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11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12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13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14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15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16.xml><?xml version="1.0" encoding="utf-8"?>
<p:tagLst xmlns:p="http://schemas.openxmlformats.org/presentationml/2006/main">
  <p:tag name="KSO_WM_DIAGRAM_VIRTUALLY_FRAME" val="{&quot;height&quot;:310.52,&quot;left&quot;:39.6,&quot;top&quot;:180,&quot;width&quot;:880.7759842519685}"/>
</p:tagLst>
</file>

<file path=ppt/tags/tag17.xml><?xml version="1.0" encoding="utf-8"?>
<p:tagLst xmlns:p="http://schemas.openxmlformats.org/presentationml/2006/main">
  <p:tag name="KSO_WM_DIAGRAM_VIRTUALLY_FRAME" val="{&quot;height&quot;:331.2,&quot;left&quot;:39.6,&quot;top&quot;:140.4,&quot;width&quot;:880.7760629921261}"/>
</p:tagLst>
</file>

<file path=ppt/tags/tag18.xml><?xml version="1.0" encoding="utf-8"?>
<p:tagLst xmlns:p="http://schemas.openxmlformats.org/presentationml/2006/main">
  <p:tag name="KSO_WM_DIAGRAM_VIRTUALLY_FRAME" val="{&quot;height&quot;:331.2,&quot;left&quot;:39.6,&quot;top&quot;:140.4,&quot;width&quot;:880.7760629921261}"/>
</p:tagLst>
</file>

<file path=ppt/tags/tag19.xml><?xml version="1.0" encoding="utf-8"?>
<p:tagLst xmlns:p="http://schemas.openxmlformats.org/presentationml/2006/main">
  <p:tag name="KSO_WM_DIAGRAM_VIRTUALLY_FRAME" val="{&quot;height&quot;:331.2,&quot;left&quot;:39.6,&quot;top&quot;:140.4,&quot;width&quot;:880.7760629921261}"/>
</p:tagLst>
</file>

<file path=ppt/tags/tag20.xml><?xml version="1.0" encoding="utf-8"?>
<p:tagLst xmlns:p="http://schemas.openxmlformats.org/presentationml/2006/main">
  <p:tag name="KSO_WM_DIAGRAM_VIRTUALLY_FRAME" val="{&quot;height&quot;:331.2,&quot;left&quot;:39.6,&quot;top&quot;:140.4,&quot;width&quot;:880.7760629921261}"/>
</p:tagLst>
</file>

<file path=ppt/tags/tag21.xml><?xml version="1.0" encoding="utf-8"?>
<p:tagLst xmlns:p="http://schemas.openxmlformats.org/presentationml/2006/main">
  <p:tag name="KSO_WM_DIAGRAM_VIRTUALLY_FRAME" val="{&quot;height&quot;:331.2,&quot;left&quot;:39.6,&quot;top&quot;:140.4,&quot;width&quot;:880.7760629921261}"/>
</p:tagLst>
</file>

<file path=ppt/tags/tag22.xml><?xml version="1.0" encoding="utf-8"?>
<p:tagLst xmlns:p="http://schemas.openxmlformats.org/presentationml/2006/main">
  <p:tag name="KSO_WM_DIAGRAM_VIRTUALLY_FRAME" val="{&quot;height&quot;:331.2,&quot;left&quot;:39.6,&quot;top&quot;:140.4,&quot;width&quot;:880.7760629921261}"/>
</p:tagLst>
</file>

<file path=ppt/tags/tag23.xml><?xml version="1.0" encoding="utf-8"?>
<p:tagLst xmlns:p="http://schemas.openxmlformats.org/presentationml/2006/main">
  <p:tag name="KSO_WM_DIAGRAM_VIRTUALLY_FRAME" val="{&quot;height&quot;:331.2,&quot;left&quot;:39.6,&quot;top&quot;:140.4,&quot;width&quot;:880.7760629921261}"/>
</p:tagLst>
</file>

<file path=ppt/tags/tag24.xml><?xml version="1.0" encoding="utf-8"?>
<p:tagLst xmlns:p="http://schemas.openxmlformats.org/presentationml/2006/main">
  <p:tag name="KSO_WM_DIAGRAM_VIRTUALLY_FRAME" val="{&quot;height&quot;:331.2,&quot;left&quot;:39.6,&quot;top&quot;:140.4,&quot;width&quot;:880.7760629921261}"/>
</p:tagLst>
</file>

<file path=ppt/tags/tag25.xml><?xml version="1.0" encoding="utf-8"?>
<p:tagLst xmlns:p="http://schemas.openxmlformats.org/presentationml/2006/main">
  <p:tag name="KSO_WM_DIAGRAM_VIRTUALLY_FRAME" val="{&quot;height&quot;:331.2,&quot;left&quot;:39.6,&quot;top&quot;:140.4,&quot;width&quot;:880.7760629921261}"/>
</p:tagLst>
</file>

<file path=ppt/tags/tag26.xml><?xml version="1.0" encoding="utf-8"?>
<p:tagLst xmlns:p="http://schemas.openxmlformats.org/presentationml/2006/main">
  <p:tag name="KSO_WM_DIAGRAM_VIRTUALLY_FRAME" val="{&quot;height&quot;:331.2,&quot;left&quot;:39.6,&quot;top&quot;:140.4,&quot;width&quot;:880.776062992126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6482</Words>
  <Application>WPS 演示</Application>
  <PresentationFormat>On-screen Show (16:9)</PresentationFormat>
  <Paragraphs>578</Paragraphs>
  <Slides>45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Calibri Light</vt:lpstr>
      <vt:lpstr>等线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进入 Ubuntu</vt:lpstr>
      <vt:lpstr>PowerPoint 演示文稿</vt:lpstr>
      <vt:lpstr>进入项目目录，检查环境工具链：</vt:lpstr>
      <vt:lpstr>第 1 周验证命令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蔡沂</cp:lastModifiedBy>
  <cp:revision>7</cp:revision>
  <dcterms:created xsi:type="dcterms:W3CDTF">2026-07-22T02:56:00Z</dcterms:created>
  <dcterms:modified xsi:type="dcterms:W3CDTF">2026-07-24T09:52:29Z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F1D9034852D848B58FACCBB895CF12C9_12</vt:lpwstr>
  </property>
</Properties>
</file>