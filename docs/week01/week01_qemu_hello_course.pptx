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95" r:id="rId46"/>
    <p:sldId id="289" r:id="rId37"/>
    <p:sldId id="290" r:id="rId38"/>
    <p:sldId id="296" r:id="rId47"/>
    <p:sldId id="297" r:id="rId48"/>
    <p:sldId id="291" r:id="rId39"/>
    <p:sldId id="292" r:id="rId40"/>
    <p:sldId id="293" r:id="rId41"/>
    <p:sldId id="294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9.png"/><Relationship Id="rId3" Type="http://schemas.openxmlformats.org/officeDocument/2006/relationships/hyperlink" Target="week01_slide8_c_to_cpu_animation\index.html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1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7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3.png"/><Relationship Id="rId3" Type="http://schemas.openxmlformats.org/officeDocument/2006/relationships/image" Target="../media/image11.png"/><Relationship Id="rId4" Type="http://schemas.openxmlformats.org/officeDocument/2006/relationships/image" Target="../media/image38.png"/><Relationship Id="rId5" Type="http://schemas.openxmlformats.org/officeDocument/2006/relationships/image" Target="../media/image23.png"/><Relationship Id="rId6" Type="http://schemas.openxmlformats.org/officeDocument/2006/relationships/image" Target="../media/image29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2.png"/><Relationship Id="rId3" Type="http://schemas.openxmlformats.org/officeDocument/2006/relationships/image" Target="../media/image25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1.png"/><Relationship Id="rId3" Type="http://schemas.openxmlformats.org/officeDocument/2006/relationships/image" Target="../media/image24.png"/><Relationship Id="rId4" Type="http://schemas.openxmlformats.org/officeDocument/2006/relationships/image" Target="../media/image11.png"/><Relationship Id="rId5" Type="http://schemas.openxmlformats.org/officeDocument/2006/relationships/image" Target="../media/image3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icons/circuit_navy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3560" y="-300990"/>
            <a:ext cx="5486400" cy="5486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502920" y="502920"/>
            <a:ext cx="4480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周 · 课程导入 + 实验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8778240" cy="1920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0 启动一个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LoongArch miniOS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02920" y="3246120"/>
            <a:ext cx="8778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节课导入 + QEMU Hello miniOS 实验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02920" y="5044440"/>
            <a:ext cx="10424160" cy="1417320"/>
          </a:xfrm>
          <a:prstGeom prst="roundRect">
            <a:avLst>
              <a:gd name="adj" fmla="val 6452"/>
            </a:avLst>
          </a:prstGeom>
          <a:solidFill>
            <a:srgbClr val="1E293B"/>
          </a:solidFill>
        </p:spPr>
        <p:txBody>
          <a:bodyPr/>
          <a:p/>
        </p:txBody>
      </p:sp>
      <p:pic>
        <p:nvPicPr>
          <p:cNvPr id="8" name="Image 1" descr="/home/claude/work/icons/users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2273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5181600"/>
            <a:ext cx="9601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对象：已经系统学习过 C 语言的大二计算机类同学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1417320" y="5684520"/>
            <a:ext cx="960120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实验以本仓库 miniOS 代码与 docs/week01_qemu_hello.md 为准。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课程地图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这周我们怎么上课？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每节课都按 Why → How → Do → AI → 思考 的节奏推进。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11185855" cy="705358"/>
          </a:xfrm>
          <a:prstGeom prst="roundRect">
            <a:avLst>
              <a:gd name="adj" fmla="val 12964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22376" y="2218055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7" name="Image 0" descr="/home/claude/work/icons/lightbulb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18639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03704"/>
            <a:ext cx="9923983" cy="5956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课程知识 · Why  </a:t>
            </a:r>
            <a:r>
              <a:rPr lang="en-US" sz="2400" dirty="0">
                <a:solidFill>
                  <a:srgbClr val="1E293B"/>
                </a:solidFill>
              </a:rPr>
              <a:t>为什么学汇编、选 LoongArch、先用 QEMU。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02920" y="2963926"/>
            <a:ext cx="11185855" cy="705358"/>
          </a:xfrm>
          <a:prstGeom prst="roundRect">
            <a:avLst>
              <a:gd name="adj" fmla="val 12964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722376" y="3033141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1" name="Image 1" descr="/home/claude/work/icons/eye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33725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3018790"/>
            <a:ext cx="9923983" cy="5956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课堂 Demo · How  </a:t>
            </a:r>
            <a:r>
              <a:rPr lang="en-US" sz="2400" dirty="0">
                <a:solidFill>
                  <a:srgbClr val="1E293B"/>
                </a:solidFill>
              </a:rPr>
              <a:t>编译、反汇编、调试、QEMU 运行、结果分析。</a:t>
            </a:r>
            <a:endParaRPr lang="en-US" sz="2600" dirty="0"/>
          </a:p>
        </p:txBody>
      </p:sp>
      <p:sp>
        <p:nvSpPr>
          <p:cNvPr id="13" name="Shape 9"/>
          <p:cNvSpPr/>
          <p:nvPr/>
        </p:nvSpPr>
        <p:spPr>
          <a:xfrm>
            <a:off x="502920" y="3779012"/>
            <a:ext cx="11185855" cy="705358"/>
          </a:xfrm>
          <a:prstGeom prst="roundRect">
            <a:avLst>
              <a:gd name="adj" fmla="val 12964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22376" y="3848227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5" name="Image 2" descr="/home/claude/work/icons/wrench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48811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3833876"/>
            <a:ext cx="9923983" cy="5956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实验实践 · Do  </a:t>
            </a:r>
            <a:r>
              <a:rPr lang="en-US" sz="2400" dirty="0">
                <a:solidFill>
                  <a:srgbClr val="1E293B"/>
                </a:solidFill>
              </a:rPr>
              <a:t>自己动手，完成最小可验证的 Hello miniOS。</a:t>
            </a:r>
            <a:endParaRPr lang="en-US" sz="2600" dirty="0"/>
          </a:p>
        </p:txBody>
      </p:sp>
      <p:sp>
        <p:nvSpPr>
          <p:cNvPr id="17" name="Shape 12"/>
          <p:cNvSpPr/>
          <p:nvPr/>
        </p:nvSpPr>
        <p:spPr>
          <a:xfrm>
            <a:off x="502920" y="4594098"/>
            <a:ext cx="11185855" cy="705358"/>
          </a:xfrm>
          <a:prstGeom prst="roundRect">
            <a:avLst>
              <a:gd name="adj" fmla="val 12964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722376" y="4663313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9" name="Image 3" descr="/home/claude/work/icons/bot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763897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648962"/>
            <a:ext cx="9923983" cy="5956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AI 共学 · AI  </a:t>
            </a:r>
            <a:r>
              <a:rPr lang="en-US" sz="2400" dirty="0">
                <a:solidFill>
                  <a:srgbClr val="1E293B"/>
                </a:solidFill>
              </a:rPr>
              <a:t>只体验解释和流程图，不生成实验代码。</a:t>
            </a:r>
            <a:endParaRPr lang="en-US" sz="2600" dirty="0"/>
          </a:p>
        </p:txBody>
      </p:sp>
      <p:sp>
        <p:nvSpPr>
          <p:cNvPr id="21" name="Shape 15"/>
          <p:cNvSpPr/>
          <p:nvPr/>
        </p:nvSpPr>
        <p:spPr>
          <a:xfrm>
            <a:off x="502920" y="5409184"/>
            <a:ext cx="11185855" cy="705358"/>
          </a:xfrm>
          <a:prstGeom prst="roundRect">
            <a:avLst>
              <a:gd name="adj" fmla="val 12964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22" name="Shape 16"/>
          <p:cNvSpPr/>
          <p:nvPr/>
        </p:nvSpPr>
        <p:spPr>
          <a:xfrm>
            <a:off x="722376" y="5478399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23" name="Image 4" descr="/home/claude/work/icons/helpcircle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578983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08760" y="5464048"/>
            <a:ext cx="9923983" cy="59563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思考拓展  </a:t>
            </a:r>
            <a:r>
              <a:rPr lang="en-US" sz="2400" dirty="0">
                <a:solidFill>
                  <a:srgbClr val="1E293B"/>
                </a:solidFill>
              </a:rPr>
              <a:t>回答启动入口、栈、printf、QEMU 的问题。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课程地图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节课，一条从 C 到 CPU 的路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第一周不追求掌握全部指令，而是建立正确的底层执行模型。</a:t>
            </a:r>
            <a:endParaRPr lang="en-US" sz="240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502920" y="228600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722376" y="2391156"/>
            <a:ext cx="566928" cy="566928"/>
          </a:xfrm>
          <a:prstGeom prst="ellipse">
            <a:avLst/>
          </a:prstGeom>
          <a:solidFill>
            <a:srgbClr val="0F172A"/>
          </a:solidFill>
        </p:spPr>
        <p:txBody>
          <a:bodyPr/>
          <a:p/>
        </p:txBody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722376" y="239115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1508760" y="234086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为什么学习汇编  </a:t>
            </a:r>
            <a:r>
              <a:rPr lang="en-US" sz="2400" dirty="0">
                <a:solidFill>
                  <a:srgbClr val="1E293B"/>
                </a:solidFill>
              </a:rPr>
              <a:t>机器语言、汇编语言、C 语言是什么关系。</a:t>
            </a:r>
            <a:endParaRPr lang="en-US" sz="2600" dirty="0"/>
          </a:p>
        </p:txBody>
      </p:sp>
      <p:sp>
        <p:nvSpPr>
          <p:cNvPr id="9" name="Shape 7"/>
          <p:cNvSpPr/>
          <p:nvPr>
            <p:custDataLst>
              <p:tags r:id="rId5"/>
            </p:custDataLst>
          </p:nvPr>
        </p:nvSpPr>
        <p:spPr>
          <a:xfrm>
            <a:off x="502920" y="322783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0" name="Shape 8"/>
          <p:cNvSpPr/>
          <p:nvPr>
            <p:custDataLst>
              <p:tags r:id="rId6"/>
            </p:custDataLst>
          </p:nvPr>
        </p:nvSpPr>
        <p:spPr>
          <a:xfrm>
            <a:off x="722376" y="3332988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1" name="Text 9"/>
          <p:cNvSpPr/>
          <p:nvPr>
            <p:custDataLst>
              <p:tags r:id="rId7"/>
            </p:custDataLst>
          </p:nvPr>
        </p:nvSpPr>
        <p:spPr>
          <a:xfrm>
            <a:off x="722376" y="3332988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2A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>
            <p:custDataLst>
              <p:tags r:id="rId8"/>
            </p:custDataLst>
          </p:nvPr>
        </p:nvSpPr>
        <p:spPr>
          <a:xfrm>
            <a:off x="1508760" y="3282696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LoongArch 最小知识包  </a:t>
            </a:r>
            <a:r>
              <a:rPr lang="en-US" sz="2400" dirty="0">
                <a:solidFill>
                  <a:srgbClr val="1E293B"/>
                </a:solidFill>
              </a:rPr>
              <a:t>寄存器、指令、寻址、分支。</a:t>
            </a:r>
            <a:endParaRPr lang="en-US" sz="2600" dirty="0"/>
          </a:p>
        </p:txBody>
      </p:sp>
      <p:sp>
        <p:nvSpPr>
          <p:cNvPr id="13" name="Shape 11"/>
          <p:cNvSpPr/>
          <p:nvPr>
            <p:custDataLst>
              <p:tags r:id="rId9"/>
            </p:custDataLst>
          </p:nvPr>
        </p:nvSpPr>
        <p:spPr>
          <a:xfrm>
            <a:off x="502920" y="4169664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4" name="Shape 12"/>
          <p:cNvSpPr/>
          <p:nvPr>
            <p:custDataLst>
              <p:tags r:id="rId10"/>
            </p:custDataLst>
          </p:nvPr>
        </p:nvSpPr>
        <p:spPr>
          <a:xfrm>
            <a:off x="722376" y="4274820"/>
            <a:ext cx="566928" cy="566928"/>
          </a:xfrm>
          <a:prstGeom prst="ellipse">
            <a:avLst/>
          </a:prstGeom>
          <a:solidFill>
            <a:srgbClr val="0EA5E9"/>
          </a:solidFill>
        </p:spPr>
        <p:txBody>
          <a:bodyPr/>
          <a:p/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722376" y="4274820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>
            <p:custDataLst>
              <p:tags r:id="rId12"/>
            </p:custDataLst>
          </p:nvPr>
        </p:nvSpPr>
        <p:spPr>
          <a:xfrm>
            <a:off x="1508760" y="4224528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从 C 到可执行文件  </a:t>
            </a:r>
            <a:r>
              <a:rPr lang="en-US" sz="2400" dirty="0">
                <a:solidFill>
                  <a:srgbClr val="1E293B"/>
                </a:solidFill>
              </a:rPr>
              <a:t>预处理、编译、汇编、链接、ELF。</a:t>
            </a:r>
            <a:endParaRPr lang="en-US" sz="2600" dirty="0"/>
          </a:p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502920" y="5111496"/>
            <a:ext cx="11185855" cy="1118108"/>
          </a:xfrm>
          <a:prstGeom prst="roundRect">
            <a:avLst>
              <a:gd name="adj" fmla="val 8178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8" name="Shape 16"/>
          <p:cNvSpPr/>
          <p:nvPr>
            <p:custDataLst>
              <p:tags r:id="rId14"/>
            </p:custDataLst>
          </p:nvPr>
        </p:nvSpPr>
        <p:spPr>
          <a:xfrm>
            <a:off x="722376" y="5387086"/>
            <a:ext cx="566928" cy="566928"/>
          </a:xfrm>
          <a:prstGeom prst="ellipse">
            <a:avLst/>
          </a:prstGeom>
          <a:solidFill>
            <a:srgbClr val="0F172A"/>
          </a:solidFill>
        </p:spPr>
        <p:txBody>
          <a:bodyPr/>
          <a:p/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722376" y="538708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1508760" y="5166360"/>
            <a:ext cx="9923983" cy="10083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QEMU Hello miniOS  </a:t>
            </a:r>
            <a:r>
              <a:rPr lang="en-US" sz="2400" dirty="0">
                <a:solidFill>
                  <a:srgbClr val="1E293B"/>
                </a:solidFill>
              </a:rPr>
              <a:t>读 miniOS 第 1 周代码，在 QEMU 中看到 Hello 输出。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384048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1E2A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5000" dirty="0"/>
          </a:p>
        </p:txBody>
      </p:sp>
      <p:pic>
        <p:nvPicPr>
          <p:cNvPr id="3" name="Image 0" descr="/home/claude/work/icons/compass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48840"/>
            <a:ext cx="868680" cy="868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200400"/>
            <a:ext cx="2286000" cy="5029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3200400"/>
            <a:ext cx="2286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本周第 1 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2412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为什么学习汇编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31520" y="4709160"/>
            <a:ext cx="1005840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把你熟悉的 C 语言，和 CPU 真正执行的指令连起来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5440680"/>
            <a:ext cx="10058400" cy="868680"/>
          </a:xfrm>
          <a:prstGeom prst="roundRect">
            <a:avLst>
              <a:gd name="adj" fmla="val 9474"/>
            </a:avLst>
          </a:prstGeom>
          <a:solidFill>
            <a:srgbClr val="1E293B"/>
          </a:solidFill>
        </p:spPr>
        <p:txBody>
          <a:bodyPr/>
          <a:p/>
        </p:txBody>
      </p:sp>
      <p:pic>
        <p:nvPicPr>
          <p:cNvPr id="9" name="Image 1" descr="/home/claude/work/icons/targe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65556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5440680"/>
            <a:ext cx="91440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学完这节，你要能用自己的话讲清楚——CPU 拿到一段 C 代码后，到底在干什么。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节 · 故事导入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一个工地翻译官的故事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492240" cy="4572000"/>
          </a:xfrm>
          <a:prstGeom prst="roundRect">
            <a:avLst>
              <a:gd name="adj" fmla="val 2000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5" name="Image 0" descr="/home/claude/work/icons/message_t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5852160" cy="17373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外国工程师来工地指挥施工，他说英语；工人只听得懂工地上的口令和哨声。中间必须有一个翻译，把「往左移一米」变成工人能立刻执行的动作。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22960" y="4434840"/>
            <a:ext cx="5852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" y="4617720"/>
            <a:ext cx="5852160" cy="1554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 语言，就是那句「往左移一米」；CPU 只认识「哨声」——汇编，就是站在两者中间的翻译官。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7269480" y="1691640"/>
            <a:ext cx="4419295" cy="4572000"/>
          </a:xfrm>
          <a:prstGeom prst="roundRect">
            <a:avLst>
              <a:gd name="adj" fmla="val 2069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10" name="Image 1" descr="/home/claude/work/icons/users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9659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43800" y="2514600"/>
            <a:ext cx="387065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课堂互动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7543800" y="2971800"/>
            <a:ext cx="3870655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生活里还有哪些「翻译官」的例子？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7543800" y="4480560"/>
            <a:ext cx="3870655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提示：菜单图片给不识字的顾客看、遥控器红外信号给空调听……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C 代码到 CPU 执行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汇编课的目标不是背指令，而是看清 C 程序如何一步步落到机器执行。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6" name="Image 0" descr="/home/claude/work/icons/cod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4003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286000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C 语言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变量 · 函数 · 循环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3017520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3163824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0" name="Image 1" descr="/home/claude/work/icons/layers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323844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53896" y="3209544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汇编语言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寄存器 · 跳转 · 访存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30352" y="3941064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502920" y="408736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binary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24738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53896" y="4133088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机器指令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二进制编码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530352" y="4864608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502920" y="501091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18" name="Image 3" descr="/home/claude/work/icons/cpu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517093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53896" y="5056632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硬件行为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CBD5E1"/>
                </a:solidFill>
              </a:rPr>
              <a:t>CPU 取指执行、运算、读写内存</a:t>
            </a:r>
            <a:endParaRPr lang="en-US" sz="2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7" grpId="1"/>
      <p:bldP spid="8" grpId="1"/>
      <p:bldP spid="11" grpId="0"/>
      <p:bldP spid="11" grpId="1"/>
      <p:bldP spid="12" grpId="0"/>
      <p:bldP spid="15" grpId="0"/>
      <p:bldP spid="16" grpId="0"/>
      <p:bldP spid="12" grpId="1"/>
      <p:bldP spid="15" grpId="1"/>
      <p:bldP spid="16" grpId="1"/>
      <p:bldP spid="19" grpId="0"/>
      <p:bldP spid="19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你的 C 语言经验，已经懂了一半汇编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6" name="Image 0" descr="/home/claude/work/icons/inbox_t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17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C 里的变量  </a:t>
            </a:r>
            <a:r>
              <a:rPr lang="en-US" sz="2400" dirty="0">
                <a:solidFill>
                  <a:srgbClr val="1E293B"/>
                </a:solidFill>
              </a:rPr>
              <a:t>很多时候会临时放在寄存器或内存里。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28803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2985516"/>
            <a:ext cx="566928" cy="566928"/>
          </a:xfrm>
          <a:prstGeom prst="ellipse">
            <a:avLst/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0" name="Image 1" descr="/home/claude/work/icons/route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861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9352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C 里的 if / while  </a:t>
            </a:r>
            <a:r>
              <a:rPr lang="en-US" sz="2400" dirty="0">
                <a:solidFill>
                  <a:srgbClr val="1E293B"/>
                </a:solidFill>
              </a:rPr>
              <a:t>底层会变成比较和跳转指令。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02920" y="37947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3899916"/>
            <a:ext cx="566928" cy="566928"/>
          </a:xfrm>
          <a:prstGeom prst="ellipse">
            <a:avLst/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4" name="Image 2" descr="/home/claude/work/icons/repea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005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496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C 里的函数调用  </a:t>
            </a:r>
            <a:r>
              <a:rPr lang="en-US" sz="2400" dirty="0">
                <a:solidFill>
                  <a:srgbClr val="1E293B"/>
                </a:solidFill>
              </a:rPr>
              <a:t>涉及参数寄存器、返回地址和栈。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502920" y="47091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722376" y="4814316"/>
            <a:ext cx="566928" cy="566928"/>
          </a:xfrm>
          <a:prstGeom prst="ellipse">
            <a:avLst/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8" name="Image 3" descr="/home/claude/work/icons/mappin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91490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7640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C 里的指针  </a:t>
            </a:r>
            <a:r>
              <a:rPr lang="en-US" sz="2400" dirty="0">
                <a:solidFill>
                  <a:srgbClr val="1E293B"/>
                </a:solidFill>
              </a:rPr>
              <a:t>底层就是地址，访存指令按地址读写数据。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节 · 课堂互动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拆穿 CPU 的「魔术」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85855" cy="1021080"/>
          </a:xfrm>
          <a:prstGeom prst="roundRect">
            <a:avLst>
              <a:gd name="adj" fmla="val 895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0664" y="187452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187452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79576" y="187452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148840"/>
            <a:ext cx="10637215" cy="472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5EEAD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 add(int a, int b) { return a + b; }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289560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2376" y="300075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1" name="Image 0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10134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08760" y="295046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问题一  </a:t>
            </a:r>
            <a:r>
              <a:rPr lang="en-US" sz="2400" dirty="0">
                <a:solidFill>
                  <a:srgbClr val="1E293B"/>
                </a:solidFill>
              </a:rPr>
              <a:t>CPU 真的认识变量名 a 和 b 吗？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502920" y="380085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722376" y="3906012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5" name="Image 1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06596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08760" y="385572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问题二  </a:t>
            </a:r>
            <a:r>
              <a:rPr lang="en-US" sz="2400" dirty="0">
                <a:solidFill>
                  <a:srgbClr val="1E293B"/>
                </a:solidFill>
              </a:rPr>
              <a:t>return a + b 最终需要哪些底层动作？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502920" y="475183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22376" y="4856988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9" name="Image 2" descr="/home/claude/work/icons/sparkles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57572"/>
            <a:ext cx="365760" cy="365760"/>
          </a:xfrm>
          <a:prstGeom prst="rect">
            <a:avLst/>
          </a:prstGeom>
        </p:spPr>
      </p:pic>
      <p:sp>
        <p:nvSpPr>
          <p:cNvPr id="20" name="Text 15">
            <a:hlinkClick r:id="rId3" action="ppaction://hlinkfile"/>
          </p:cNvPr>
          <p:cNvSpPr/>
          <p:nvPr/>
        </p:nvSpPr>
        <p:spPr>
          <a:xfrm>
            <a:off x="1508760" y="4806696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结论：汇编帮我们拆穿「变量名」这层魔术，看清 CPU 真正做的事。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2" grpId="1"/>
      <p:bldP spid="16" grpId="0"/>
      <p:bldP spid="16" grpId="1"/>
      <p:bldP spid="20" grpId="0"/>
      <p:bldP spid="20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384048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1E2A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5000" dirty="0"/>
          </a:p>
        </p:txBody>
      </p:sp>
      <p:pic>
        <p:nvPicPr>
          <p:cNvPr id="3" name="Image 0" descr="/home/claude/work/icons/packag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48840"/>
            <a:ext cx="868680" cy="868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200400"/>
            <a:ext cx="2286000" cy="5029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3200400"/>
            <a:ext cx="2286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本周第 2 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2412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LoongArch 最小知识包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31520" y="4709160"/>
            <a:ext cx="1005840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只讲读懂第 1 周代码需要的寄存器、指令和寻址方式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5440680"/>
            <a:ext cx="10058400" cy="868680"/>
          </a:xfrm>
          <a:prstGeom prst="roundRect">
            <a:avLst>
              <a:gd name="adj" fmla="val 9474"/>
            </a:avLst>
          </a:prstGeom>
          <a:solidFill>
            <a:srgbClr val="1E293B"/>
          </a:solidFill>
        </p:spPr>
        <p:txBody>
          <a:bodyPr/>
          <a:p/>
        </p:txBody>
      </p:sp>
      <p:pic>
        <p:nvPicPr>
          <p:cNvPr id="9" name="Image 1" descr="/home/claude/work/icons/targe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65556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5440680"/>
            <a:ext cx="91440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学完这节，你要能用自己的话解释核心概念——寄存器是什么、指令怎么分类。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这一节，拿下 4 个小目标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6" name="Image 0" descr="/home/claude/work/icons/gaug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17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指令长度  </a:t>
            </a:r>
            <a:r>
              <a:rPr lang="en-US" sz="2400" dirty="0">
                <a:solidFill>
                  <a:srgbClr val="1E293B"/>
                </a:solidFill>
              </a:rPr>
              <a:t>LoongArch 指令长度固定为 32 位。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28803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298551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0" name="Image 1" descr="/home/claude/work/icons/inbox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861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9352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寄存器  </a:t>
            </a:r>
            <a:r>
              <a:rPr lang="en-US" sz="2400" dirty="0">
                <a:solidFill>
                  <a:srgbClr val="1E293B"/>
                </a:solidFill>
              </a:rPr>
              <a:t>先认编号 r0~r31，再认 ABI 别名 zero/ra/sp/a0/t0。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02920" y="37947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389991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layers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0050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496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指令分类  </a:t>
            </a:r>
            <a:r>
              <a:rPr lang="en-US" sz="2400" dirty="0">
                <a:solidFill>
                  <a:srgbClr val="1E293B"/>
                </a:solidFill>
              </a:rPr>
              <a:t>三类基础指令：算术运算、访存、转移。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502920" y="47091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722376" y="481431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8" name="Image 3" descr="/home/claude/work/icons/filecode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91490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7640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读代码  </a:t>
            </a:r>
            <a:r>
              <a:rPr lang="en-US" sz="2400" dirty="0">
                <a:solidFill>
                  <a:srgbClr val="1E293B"/>
                </a:solidFill>
              </a:rPr>
              <a:t>能读懂 boot/start.S 中的主路径。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节 · 类比理解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寄存器，是 CPU 伸手就能摸到的口袋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492240" cy="4572000"/>
          </a:xfrm>
          <a:prstGeom prst="roundRect">
            <a:avLst>
              <a:gd name="adj" fmla="val 2000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5" name="Image 0" descr="/home/claude/work/icons/inbox_t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5852160" cy="1554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内存像仓库，东西多但要走过去搬；寄存器像随身口袋，数量少，一伸手就能掏出来，是最快的存储。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22960" y="4297680"/>
            <a:ext cx="5852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" y="4480560"/>
            <a:ext cx="585216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LoongArch 给了 32 个口袋，编号 r0~r31；每个口袋还有方便称呼的「外号」——ABI 别名。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7269480" y="1691640"/>
            <a:ext cx="4419295" cy="4572000"/>
          </a:xfrm>
          <a:prstGeom prst="roundRect">
            <a:avLst>
              <a:gd name="adj" fmla="val 2069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10" name="Image 1" descr="/home/claude/work/icons/helpcircle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9659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43800" y="2514600"/>
            <a:ext cx="387065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留个悬念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7543800" y="2971800"/>
            <a:ext cx="3870655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 32 个口袋，装不下时 CPU 怎么办？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7543800" y="4480560"/>
            <a:ext cx="3870655" cy="15544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答案藏在「栈」里——第 3 节揭晓。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LoongArch 通用寄存器最小表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3631082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956816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40864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zero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2798064"/>
            <a:ext cx="326532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常量 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3265322" cy="8046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硬件恒为 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280306" y="1828800"/>
            <a:ext cx="3631082" cy="2286000"/>
          </a:xfrm>
          <a:prstGeom prst="roundRect">
            <a:avLst>
              <a:gd name="adj" fmla="val 4000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63186" y="1956816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63186" y="2340864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463186" y="2798064"/>
            <a:ext cx="326532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返回地址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63186" y="3200400"/>
            <a:ext cx="3265322" cy="8046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 调用函数时写入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057693" y="1828800"/>
            <a:ext cx="3631082" cy="2286000"/>
          </a:xfrm>
          <a:prstGeom prst="roundRect">
            <a:avLst>
              <a:gd name="adj" fmla="val 4000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40573" y="1956816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40573" y="2340864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sp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40573" y="2798064"/>
            <a:ext cx="326532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栈指针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40573" y="3200400"/>
            <a:ext cx="3265322" cy="8046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进入 C 前必须设置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502920" y="4261104"/>
            <a:ext cx="3631082" cy="2286000"/>
          </a:xfrm>
          <a:prstGeom prst="roundRect">
            <a:avLst>
              <a:gd name="adj" fmla="val 4000"/>
            </a:avLst>
          </a:prstGeom>
          <a:solidFill>
            <a:srgbClr val="E0F2FE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5800" y="4389120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EA5E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r4-r11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85800" y="4773168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a0-a7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85800" y="5230368"/>
            <a:ext cx="326532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参数寄存器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85800" y="5632704"/>
            <a:ext cx="3265322" cy="8046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函数参数，前两个也可作返回值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280306" y="4261104"/>
            <a:ext cx="3631082" cy="2286000"/>
          </a:xfrm>
          <a:prstGeom prst="roundRect">
            <a:avLst>
              <a:gd name="adj" fmla="val 4000"/>
            </a:avLst>
          </a:prstGeom>
          <a:solidFill>
            <a:srgbClr val="E0F2FE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463186" y="4389120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EA5E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r12-r20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463186" y="4773168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t0-t8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463186" y="5230368"/>
            <a:ext cx="326532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临时寄存器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463186" y="5632704"/>
            <a:ext cx="3265322" cy="8046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短期计算常用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8057693" y="4261104"/>
            <a:ext cx="3631082" cy="2286000"/>
          </a:xfrm>
          <a:prstGeom prst="roundRect">
            <a:avLst>
              <a:gd name="adj" fmla="val 4000"/>
            </a:avLst>
          </a:prstGeom>
          <a:solidFill>
            <a:srgbClr val="EDE9FE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240573" y="4389120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7C3AE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r22-r31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240573" y="4773168"/>
            <a:ext cx="3265322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fp/s0-s9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240573" y="5230368"/>
            <a:ext cx="326532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保存寄存器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8240573" y="5632704"/>
            <a:ext cx="3265322" cy="8046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函数调用约定后续展开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基础指令例子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1185855" cy="2164080"/>
          </a:xfrm>
          <a:prstGeom prst="roundRect">
            <a:avLst>
              <a:gd name="adj" fmla="val 422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0664" y="187452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187452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79576" y="187452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59790" y="1993265"/>
            <a:ext cx="10637215" cy="1615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addi.d  r3, r3, -32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st.d    r1, r3, 24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      func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jirl    r0, r1, 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02920" y="405688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2376" y="4162044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1" name="Image 0" descr="/home/claude/work/icons/flag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262628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508760" y="4111752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挪出栈空间  </a:t>
            </a:r>
            <a:r>
              <a:rPr lang="en-US" sz="2400" dirty="0">
                <a:solidFill>
                  <a:srgbClr val="1E293B"/>
                </a:solidFill>
              </a:rPr>
              <a:t>sp 往下移 32 字节，先留出「口袋堆栈」的位置。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502920" y="494385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722376" y="5049012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5" name="Image 1" descr="/home/claude/work/icons/repea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149596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508760" y="499872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bl 调用函数  </a:t>
            </a:r>
            <a:r>
              <a:rPr lang="en-US" sz="2400" dirty="0">
                <a:solidFill>
                  <a:srgbClr val="1E293B"/>
                </a:solidFill>
              </a:rPr>
              <a:t>跳去执行 func，同时自动把返回地址记在 ra 里。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502920" y="5830824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722376" y="5935980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9" name="Image 2" descr="/home/claude/work/icons/finish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036564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08760" y="5885688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jirl 返回  </a:t>
            </a:r>
            <a:r>
              <a:rPr lang="en-US" sz="2400" dirty="0">
                <a:solidFill>
                  <a:srgbClr val="1E293B"/>
                </a:solidFill>
              </a:rPr>
              <a:t>跳回 ra 记住的位置，函数调用画上句号。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源码写法和教材写法，说的是同一件事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避免误以为课件、教材和源码是三套体系——只是同一段动作的两种「口音」。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11185855" cy="1402080"/>
          </a:xfrm>
          <a:prstGeom prst="roundRect">
            <a:avLst>
              <a:gd name="adj" fmla="val 6522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46888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46888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46888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743200"/>
            <a:ext cx="10637215" cy="853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addi.d  r3, r3, -32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jirl    r0, r1, 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2920" y="3870960"/>
            <a:ext cx="11186160" cy="1580515"/>
          </a:xfrm>
          <a:prstGeom prst="roundRect">
            <a:avLst>
              <a:gd name="adj" fmla="val 6522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40664" y="405384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60120" y="405384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179576" y="405384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328160"/>
            <a:ext cx="10637215" cy="853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5EEAD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addi.d  $sp, $sp, -32   # $sp 就是 r3
</a:t>
            </a:r>
            <a:r>
              <a:rPr lang="en-US" sz="2400" dirty="0">
                <a:solidFill>
                  <a:srgbClr val="5EEAD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jirl    $zero, $ra, 0   # $zero 是 r0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节 · 课堂互动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第二节练习：先自己写，再对答案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22376" y="20711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指出 addi.d、ld.d、st.d、bne 分别属于哪类指令。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287121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22376" y="2976372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22376" y="2976372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08760" y="292608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 bne r12, r0, L 解释成 if 条件跳转。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2920" y="377647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22376" y="3881628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22376" y="3881628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3831336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解释 bl 为什么会影响 r1/ra。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22376" y="4786884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22376" y="4786884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508760" y="4736592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解释为什么设置 sp 后才能进入 C 函数。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384048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1E2A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15000" dirty="0"/>
          </a:p>
        </p:txBody>
      </p:sp>
      <p:pic>
        <p:nvPicPr>
          <p:cNvPr id="3" name="Image 0" descr="/home/claude/work/icons/settings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48840"/>
            <a:ext cx="868680" cy="868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200400"/>
            <a:ext cx="2286000" cy="5029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3200400"/>
            <a:ext cx="2286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本周第 3 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2412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C 到可执行文件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31520" y="4709160"/>
            <a:ext cx="1005840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让同学知道 Makefile 背后到底发生了什么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5440680"/>
            <a:ext cx="10058400" cy="868680"/>
          </a:xfrm>
          <a:prstGeom prst="roundRect">
            <a:avLst>
              <a:gd name="adj" fmla="val 9474"/>
            </a:avLst>
          </a:prstGeom>
          <a:solidFill>
            <a:srgbClr val="1E293B"/>
          </a:solidFill>
        </p:spPr>
        <p:txBody>
          <a:bodyPr/>
          <a:p/>
        </p:txBody>
      </p:sp>
      <p:pic>
        <p:nvPicPr>
          <p:cNvPr id="9" name="Image 1" descr="/home/claude/work/icons/targe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65556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5440680"/>
            <a:ext cx="91440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学完这节，你要能用自己的话解释核心概念——一行 make 命令背后经过了哪些车间。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 · 故事导入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把「订单」变成「整机」的流水线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6492240" cy="4572000"/>
          </a:xfrm>
          <a:prstGeom prst="roundRect">
            <a:avLst>
              <a:gd name="adj" fmla="val 2000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5" name="Image 0" descr="/home/claude/work/icons/workflow_t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06040"/>
            <a:ext cx="5852160" cy="19202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.c 文件像订单草图，要经过流水线：预处理展开「参考手册」、编译翻译成半成品汇编、汇编敲成机器码零件、链接拼装贴标，装订成能直接跑的「整机」ELF。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22960" y="4663440"/>
            <a:ext cx="585216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Makefile，就是流水线的调度单——告诉每个车间先后顺序、用哪个工具。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1691640"/>
            <a:ext cx="4419295" cy="4572000"/>
          </a:xfrm>
          <a:prstGeom prst="roundRect">
            <a:avLst>
              <a:gd name="adj" fmla="val 2069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9" name="Image 1" descr="/home/claude/work/icons/hammer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96596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43800" y="2514600"/>
            <a:ext cx="387065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本节要拿下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7543800" y="2971800"/>
            <a:ext cx="3870655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说出流水线每一步的作用，不要求记住每个编译选项。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编译流程，一路走到 QEMU 能跑起来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周只需要说出每一步的作用。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24028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6" name="Image 0" descr="/home/claude/work/icons/filecod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4003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286000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.c / .S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源代码：C 和汇编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3017520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3163824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0" name="Image 1" descr="/home/claude/work/icons/settings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323844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53896" y="3209544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编译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生成目标文件，处理 include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30352" y="3941064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502920" y="408736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link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24738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53896" y="4133088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链接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合成 ELF，确定地址入口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530352" y="4864608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502920" y="501091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18" name="Image 3" descr="/home/claude/work/icons/rocket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517093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53896" y="5056632"/>
            <a:ext cx="9960559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QEMU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CBD5E1"/>
                </a:solidFill>
              </a:rPr>
              <a:t>加载内核，开始执行</a:t>
            </a:r>
            <a:endParaRPr lang="en-US" sz="2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Makefile 的核心含义：别找错翻译官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不能用宿主机 x86_64 gcc 冒充 LoongArch 工具链。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468880"/>
            <a:ext cx="11186160" cy="2803525"/>
          </a:xfrm>
          <a:prstGeom prst="roundRect">
            <a:avLst>
              <a:gd name="adj" fmla="val 422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65176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65176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65176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926080"/>
            <a:ext cx="10637215" cy="1615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CROSS_COMPILE ?= loongarch64-linux-gnu-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CC := $(CROSS_COMPILE)gcc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QEMU ?= qemu-system-loongarch64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LDFLAGS := -T kernel/linker.ld -nostdlib -static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链接脚本，就是盖房子的施工图纸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入口是谁、从哪个地址开始、各类内容放在哪个「房间」。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1186160" cy="4257040"/>
          </a:xfrm>
          <a:prstGeom prst="roundRect">
            <a:avLst>
              <a:gd name="adj" fmla="val 2479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51460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51460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51460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788920"/>
            <a:ext cx="10637215" cy="3139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ENTRY(_start)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SECTIONS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{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 = 0x9000000000200000;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.text : { *(.text.boot) *(.text*) }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.data : { *(.data*) }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.bss : { *(.bss*) *(COMMON) }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链接脚本先讲清楚三件事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11683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6" name="Image 0" descr="/home/claude/work/icons/flag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74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6654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ENTRY(_start)  </a:t>
            </a:r>
            <a:r>
              <a:rPr lang="en-US" sz="2400" dirty="0">
                <a:solidFill>
                  <a:srgbClr val="1E293B"/>
                </a:solidFill>
              </a:rPr>
              <a:t>大门开在哪——程序从 _start 这个房间进屋。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297180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307695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0" name="Image 1" descr="/home/claude/work/icons/mappin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775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302666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. = 0x9000...  </a:t>
            </a:r>
            <a:r>
              <a:rPr lang="en-US" sz="2400" dirty="0">
                <a:solidFill>
                  <a:srgbClr val="1E293B"/>
                </a:solidFill>
              </a:rPr>
              <a:t>地基定在哪个地址——房子盖在这个门牌号上。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02920" y="3931920"/>
            <a:ext cx="11185855" cy="1118108"/>
          </a:xfrm>
          <a:prstGeom prst="roundRect">
            <a:avLst>
              <a:gd name="adj" fmla="val 8178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4207510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building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08094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986784"/>
            <a:ext cx="9923983" cy="10083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.text / .data / .bss  </a:t>
            </a:r>
            <a:r>
              <a:rPr lang="en-US" sz="2400" dirty="0">
                <a:solidFill>
                  <a:srgbClr val="1E293B"/>
                </a:solidFill>
              </a:rPr>
              <a:t>客厅、卧室、储物间分别放在哪——各类内容各就各位。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普通程序住酒店，裸机程序去荒野扎营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55768" cy="4206240"/>
          </a:xfrm>
          <a:prstGeom prst="roundRect">
            <a:avLst>
              <a:gd name="adj" fmla="val 2174"/>
            </a:avLst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5" name="Image 0" descr="/home/claude/work/icons/bed_t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06040"/>
            <a:ext cx="4907128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普通 Linux 程序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2999232"/>
            <a:ext cx="4907128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= 住五星酒店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77240" y="3429000"/>
            <a:ext cx="4907128" cy="2468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操作系统和 C 运行库把房间、水电都准备好了，你直接从 main() 入住。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233008" y="1783080"/>
            <a:ext cx="5455768" cy="4206240"/>
          </a:xfrm>
          <a:prstGeom prst="roundRect">
            <a:avLst>
              <a:gd name="adj" fmla="val 2174"/>
            </a:avLst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0" name="Image 1" descr="/home/claude/work/icons/ten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20116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07328" y="2606040"/>
            <a:ext cx="4907128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miniOS 裸机程序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507328" y="2999232"/>
            <a:ext cx="4907128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453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= 荒野扎营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07328" y="3429000"/>
            <a:ext cx="4907128" cy="2468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 libc，没有操作系统帮你叫醒 main：搭帐篷（_start）、找水源（设置栈）、发信号（串口输出）都要自己来。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502920" y="6126480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502920" y="6126480"/>
            <a:ext cx="11185855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这正是第 1 周 Hello miniOS 的教学价值。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3 节 · 课堂互动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大胆猜一猜：入口地址写错了会怎样？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E2E2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1933956"/>
            <a:ext cx="566928" cy="566928"/>
          </a:xfrm>
          <a:prstGeom prst="ellipse">
            <a:avLst/>
          </a:prstGeom>
          <a:solidFill>
            <a:srgbClr val="FEE2E2"/>
          </a:solidFill>
        </p:spPr>
        <p:txBody>
          <a:bodyPr/>
          <a:p/>
        </p:txBody>
      </p:sp>
      <p:pic>
        <p:nvPicPr>
          <p:cNvPr id="6" name="Image 0" descr="/home/claude/work/icons/cross_r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345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8366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可能跳到一片空白/非法内存，直接跑飞或死机。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02920" y="273405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E2E2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2839212"/>
            <a:ext cx="566928" cy="566928"/>
          </a:xfrm>
          <a:prstGeom prst="ellipse">
            <a:avLst/>
          </a:prstGeom>
          <a:solidFill>
            <a:srgbClr val="FEE2E2"/>
          </a:solidFill>
        </p:spPr>
        <p:txBody>
          <a:bodyPr/>
          <a:p/>
        </p:txBody>
      </p:sp>
      <p:pic>
        <p:nvPicPr>
          <p:cNvPr id="10" name="Image 1" descr="/home/claude/work/icons/cross_r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93979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78892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QEMU 找不到入口，加载内核就失败。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502920" y="363931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E0F2FE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3744468"/>
            <a:ext cx="566928" cy="566928"/>
          </a:xfrm>
          <a:prstGeom prst="ellipse">
            <a:avLst/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4" name="Image 2" descr="/home/claude/work/icons/helpcircle_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5052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694176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也可能「看似能跑」，但地址已经错位——更难发现。</a:t>
            </a:r>
            <a:endParaRPr lang="en-US" sz="2400" dirty="0"/>
          </a:p>
        </p:txBody>
      </p:sp>
      <p:sp>
        <p:nvSpPr>
          <p:cNvPr id="16" name="Shape 11"/>
          <p:cNvSpPr/>
          <p:nvPr/>
        </p:nvSpPr>
        <p:spPr>
          <a:xfrm>
            <a:off x="502920" y="4636008"/>
            <a:ext cx="5212080" cy="5486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502920" y="4636008"/>
            <a:ext cx="52120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小组讨论 1 分钟 · 抽签点名回答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77240"/>
            <a:ext cx="3840480" cy="2743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0" b="1" dirty="0">
                <a:solidFill>
                  <a:srgbClr val="1E2A4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15000" dirty="0"/>
          </a:p>
        </p:txBody>
      </p:sp>
      <p:pic>
        <p:nvPicPr>
          <p:cNvPr id="3" name="Image 0" descr="/home/claude/work/icons/rocket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48840"/>
            <a:ext cx="868680" cy="868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200400"/>
            <a:ext cx="2286000" cy="5029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31520" y="3200400"/>
            <a:ext cx="2286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本周第 4 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731520" y="3794760"/>
            <a:ext cx="1024128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QEMU Hello miniOS 实验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731520" y="4709160"/>
            <a:ext cx="10058400" cy="6400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CBD5E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把前 3 节概念落到仓库代码和真实运行命令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31520" y="5440680"/>
            <a:ext cx="10058400" cy="868680"/>
          </a:xfrm>
          <a:prstGeom prst="roundRect">
            <a:avLst>
              <a:gd name="adj" fmla="val 9474"/>
            </a:avLst>
          </a:prstGeom>
          <a:solidFill>
            <a:srgbClr val="1E293B"/>
          </a:solidFill>
        </p:spPr>
        <p:txBody>
          <a:bodyPr/>
          <a:p/>
        </p:txBody>
      </p:sp>
      <p:pic>
        <p:nvPicPr>
          <p:cNvPr id="9" name="Image 1" descr="/home/claude/work/icons/targe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65556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5440680"/>
            <a:ext cx="914400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学完这节，你要能用自己的话解释核心概念——并亲手让 Hello 输出跑起来。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周核心文件，六个就够了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519776" cy="1234440"/>
          </a:xfrm>
          <a:prstGeom prst="roundRect">
            <a:avLst>
              <a:gd name="adj" fmla="val 7407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20827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6" name="Image 0" descr="/home/claude/work/icons/rocket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88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29384"/>
            <a:ext cx="4257904" cy="11247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boot/start.S  </a:t>
            </a:r>
            <a:r>
              <a:rPr lang="en-US" sz="2400" dirty="0">
                <a:solidFill>
                  <a:srgbClr val="1E293B"/>
                </a:solidFill>
              </a:rPr>
              <a:t>启动入口，设置栈，跳转 kernel_main。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169000" y="1874520"/>
            <a:ext cx="5519776" cy="1234440"/>
          </a:xfrm>
          <a:prstGeom prst="roundRect">
            <a:avLst>
              <a:gd name="adj" fmla="val 7407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388456" y="220827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0" name="Image 1" descr="/home/claude/work/icons/building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23088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4840" y="1929384"/>
            <a:ext cx="4257904" cy="11247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kernel/linker.ld  </a:t>
            </a:r>
            <a:r>
              <a:rPr lang="en-US" sz="2400" dirty="0">
                <a:solidFill>
                  <a:srgbClr val="1E293B"/>
                </a:solidFill>
              </a:rPr>
              <a:t>规定入口地址和段布局。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02920" y="3255264"/>
            <a:ext cx="5519776" cy="1234440"/>
          </a:xfrm>
          <a:prstGeom prst="roundRect">
            <a:avLst>
              <a:gd name="adj" fmla="val 7407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3589020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code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89604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310128"/>
            <a:ext cx="4257904" cy="11247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kernel/main.c  </a:t>
            </a:r>
            <a:r>
              <a:rPr lang="en-US" sz="2400" dirty="0">
                <a:solidFill>
                  <a:srgbClr val="1E293B"/>
                </a:solidFill>
              </a:rPr>
              <a:t>C 语言内核入口，调用 printk。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6169000" y="3255264"/>
            <a:ext cx="5519776" cy="1234440"/>
          </a:xfrm>
          <a:prstGeom prst="roundRect">
            <a:avLst>
              <a:gd name="adj" fmla="val 7407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6388456" y="3589020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8" name="Image 3" descr="/home/claude/work/icons/radio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689604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74840" y="3310128"/>
            <a:ext cx="4257904" cy="11247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kernel/printk.c  </a:t>
            </a:r>
            <a:r>
              <a:rPr lang="en-US" sz="2400" dirty="0">
                <a:solidFill>
                  <a:srgbClr val="1E293B"/>
                </a:solidFill>
              </a:rPr>
              <a:t>最小字符串输出。</a:t>
            </a:r>
            <a:endParaRPr lang="en-US" sz="2600" dirty="0"/>
          </a:p>
        </p:txBody>
      </p:sp>
      <p:sp>
        <p:nvSpPr>
          <p:cNvPr id="20" name="Shape 14"/>
          <p:cNvSpPr/>
          <p:nvPr/>
        </p:nvSpPr>
        <p:spPr>
          <a:xfrm>
            <a:off x="502920" y="4636008"/>
            <a:ext cx="5519776" cy="1234440"/>
          </a:xfrm>
          <a:prstGeom prst="roundRect">
            <a:avLst>
              <a:gd name="adj" fmla="val 7407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722376" y="4969764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22" name="Image 4" descr="/home/claude/work/icons/filecode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070348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4690872"/>
            <a:ext cx="4257904" cy="11247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include/*.h  </a:t>
            </a:r>
            <a:r>
              <a:rPr lang="en-US" sz="2400" dirty="0">
                <a:solidFill>
                  <a:srgbClr val="1E293B"/>
                </a:solidFill>
              </a:rPr>
              <a:t>函数原型和 UART 地址。</a:t>
            </a:r>
            <a:endParaRPr lang="en-US" sz="2600" dirty="0"/>
          </a:p>
        </p:txBody>
      </p:sp>
      <p:sp>
        <p:nvSpPr>
          <p:cNvPr id="24" name="Shape 17"/>
          <p:cNvSpPr/>
          <p:nvPr/>
        </p:nvSpPr>
        <p:spPr>
          <a:xfrm>
            <a:off x="6169000" y="4636008"/>
            <a:ext cx="5519776" cy="1234440"/>
          </a:xfrm>
          <a:prstGeom prst="roundRect">
            <a:avLst>
              <a:gd name="adj" fmla="val 7407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25" name="Shape 18"/>
          <p:cNvSpPr/>
          <p:nvPr/>
        </p:nvSpPr>
        <p:spPr>
          <a:xfrm>
            <a:off x="6388456" y="4969764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26" name="Image 5" descr="/home/claude/work/icons/hammer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9040" y="5070348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174840" y="4690872"/>
            <a:ext cx="4257904" cy="11247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Makefile  </a:t>
            </a:r>
            <a:r>
              <a:rPr lang="en-US" sz="2400" dirty="0">
                <a:solidFill>
                  <a:srgbClr val="1E293B"/>
                </a:solidFill>
              </a:rPr>
              <a:t>编译、运行和清理命令。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剧透提醒：当前 master 比第 1 周略多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25396"/>
            <a:ext cx="566928" cy="566928"/>
          </a:xfrm>
          <a:prstGeom prst="ellipse">
            <a:avLst/>
          </a:prstGeom>
          <a:solidFill>
            <a:srgbClr val="FDE68A"/>
          </a:solidFill>
        </p:spPr>
        <p:txBody>
          <a:bodyPr/>
          <a:p/>
        </p:txBody>
      </p:sp>
      <p:pic>
        <p:nvPicPr>
          <p:cNvPr id="6" name="Image 0" descr="/home/claude/work/icons/flag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7510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boot/start.S 已包含 clear_bss，这是第 2 周 .bss 的铺垫。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02920" y="283464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2939796"/>
            <a:ext cx="566928" cy="566928"/>
          </a:xfrm>
          <a:prstGeom prst="ellipse">
            <a:avLst/>
          </a:prstGeom>
          <a:solidFill>
            <a:srgbClr val="FDE68A"/>
          </a:solidFill>
        </p:spPr>
        <p:txBody>
          <a:bodyPr/>
          <a:p/>
        </p:txBody>
      </p:sp>
      <p:pic>
        <p:nvPicPr>
          <p:cNvPr id="10" name="Image 1" descr="/home/claude/work/icons/flag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403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8950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kernel/main.c 已包含检查代码，第一周只追踪 Hello 链路。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502920" y="374904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F3C7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3854196"/>
            <a:ext cx="566928" cy="566928"/>
          </a:xfrm>
          <a:prstGeom prst="ellipse">
            <a:avLst/>
          </a:prstGeom>
          <a:solidFill>
            <a:srgbClr val="FDE68A"/>
          </a:solidFill>
        </p:spPr>
        <p:txBody>
          <a:bodyPr/>
          <a:p/>
        </p:txBody>
      </p:sp>
      <p:pic>
        <p:nvPicPr>
          <p:cNvPr id="14" name="Image 2" descr="/home/claude/work/icons/flag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9547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0390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string.S、exception.c、syscall.c 属于后续周次铺垫。</a:t>
            </a:r>
            <a:endParaRPr lang="en-US" sz="2400" dirty="0"/>
          </a:p>
        </p:txBody>
      </p:sp>
      <p:sp>
        <p:nvSpPr>
          <p:cNvPr id="16" name="Shape 11"/>
          <p:cNvSpPr/>
          <p:nvPr/>
        </p:nvSpPr>
        <p:spPr>
          <a:xfrm>
            <a:off x="502920" y="4709160"/>
            <a:ext cx="11185855" cy="685800"/>
          </a:xfrm>
          <a:prstGeom prst="roundRect">
            <a:avLst>
              <a:gd name="adj" fmla="val 10667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502920" y="4709160"/>
            <a:ext cx="11185855" cy="685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课堂第 1 周不要展开 .data/.bss、异常和系统调用细节。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boot/start.S：CPU 上电后第一站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1186160" cy="3564890"/>
          </a:xfrm>
          <a:prstGeom prst="roundRect">
            <a:avLst>
              <a:gd name="adj" fmla="val 312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0664" y="201168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01168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79576" y="201168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286000"/>
            <a:ext cx="10637215" cy="2377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_start: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la.global   $sp, boot_stack_top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bl          kernel_main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halt: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idle        0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           halt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boot/start.S 主路径，逐行讲解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6" name="Image 0" descr="/home/claude/work/icons/flag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17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_start · 起点  </a:t>
            </a:r>
            <a:r>
              <a:rPr lang="en-US" sz="2400" dirty="0">
                <a:solidFill>
                  <a:srgbClr val="1E293B"/>
                </a:solidFill>
              </a:rPr>
              <a:t>CPU 上电后跳到这里，一切从这一行开始。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2880360"/>
            <a:ext cx="11185855" cy="1118108"/>
          </a:xfrm>
          <a:prstGeom prst="roundRect">
            <a:avLst>
              <a:gd name="adj" fmla="val 8178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3155950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0" name="Image 1" descr="/home/claude/work/icons/inbox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56534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935224"/>
            <a:ext cx="9923983" cy="10083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设 sp · 搭脚手架  </a:t>
            </a:r>
            <a:r>
              <a:rPr lang="en-US" sz="2400" dirty="0">
                <a:solidFill>
                  <a:srgbClr val="1E293B"/>
                </a:solidFill>
              </a:rPr>
              <a:t>先给栈立好地基，C 函数才敢放心用局部变量。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02920" y="413562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4240784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repeat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1368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4190492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bl kernel_main  </a:t>
            </a:r>
            <a:r>
              <a:rPr lang="en-US" sz="2400" dirty="0">
                <a:solidFill>
                  <a:srgbClr val="1E293B"/>
                </a:solidFill>
              </a:rPr>
              <a:t>把控制权交给 C，正式「入住」。</a:t>
            </a:r>
            <a:endParaRPr lang="en-US" sz="2600" dirty="0"/>
          </a:p>
        </p:txBody>
      </p:sp>
      <p:sp>
        <p:nvSpPr>
          <p:cNvPr id="16" name="Shape 11"/>
          <p:cNvSpPr/>
          <p:nvPr/>
        </p:nvSpPr>
        <p:spPr>
          <a:xfrm>
            <a:off x="502920" y="505002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722376" y="5155184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8" name="Image 3" descr="/home/claude/work/icons/target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5576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5104892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halt · 原地等待  </a:t>
            </a:r>
            <a:r>
              <a:rPr lang="en-US" sz="2400" dirty="0">
                <a:solidFill>
                  <a:srgbClr val="1E293B"/>
                </a:solidFill>
              </a:rPr>
              <a:t>kernel_main 万一返回，就在这里安静循环。</a:t>
            </a:r>
            <a:endParaRPr lang="en-US" sz="2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建议第 1 周使用的最小 kernel_main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 master 里有第 2 周的检查代码；课堂上先抽出这条最小路径。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1185855" cy="3307080"/>
          </a:xfrm>
          <a:prstGeom prst="roundRect">
            <a:avLst>
              <a:gd name="adj" fmla="val 276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51460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51460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51460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788920"/>
            <a:ext cx="10637215" cy="2758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kernel_main(void)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{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printk("Hello miniOS on LoongArch64\n");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while (1) {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__asm__ volatile("idle 0");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}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这条最小路径，在做两件事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103120"/>
            <a:ext cx="11185855" cy="1118108"/>
          </a:xfrm>
          <a:prstGeom prst="roundRect">
            <a:avLst>
              <a:gd name="adj" fmla="val 8178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378710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6" name="Image 0" descr="/home/claude/work/icons/radio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79294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57984"/>
            <a:ext cx="9923983" cy="10083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printk(...)  </a:t>
            </a:r>
            <a:r>
              <a:rPr lang="en-US" sz="2400" dirty="0">
                <a:solidFill>
                  <a:srgbClr val="1E293B"/>
                </a:solidFill>
              </a:rPr>
              <a:t>把字符串一个个送到 UART，这是我们今天唯一的「输出方式」。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3449828"/>
            <a:ext cx="11185855" cy="1118108"/>
          </a:xfrm>
          <a:prstGeom prst="roundRect">
            <a:avLst>
              <a:gd name="adj" fmla="val 8178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3725418"/>
            <a:ext cx="566928" cy="566928"/>
          </a:xfrm>
          <a:prstGeom prst="ellipse">
            <a:avLst/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0" name="Image 1" descr="/home/claude/work/icons/targe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2600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3504692"/>
            <a:ext cx="9923983" cy="10083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while(1) + idle  </a:t>
            </a:r>
            <a:r>
              <a:rPr lang="en-US" sz="2400" dirty="0">
                <a:solidFill>
                  <a:srgbClr val="1E293B"/>
                </a:solidFill>
              </a:rPr>
              <a:t>内核任务做完了，就安静待机，不退出、不跑飞。</a:t>
            </a:r>
            <a:endParaRPr lang="en-US" sz="2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printk 到 UART 的实现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1185855" cy="2926080"/>
          </a:xfrm>
          <a:prstGeom prst="roundRect">
            <a:avLst>
              <a:gd name="adj" fmla="val 312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0664" y="201168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01168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79576" y="201168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286000"/>
            <a:ext cx="10637215" cy="2377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uart_putc(char ch) {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*(volatile unsigned char *)UART0_BASE = ch;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void printk(const char *s) {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while (*s) uart_putc(*s++);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 · 类比理解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写地址，就像按对讲机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1185855" cy="4206240"/>
          </a:xfrm>
          <a:prstGeom prst="roundRect">
            <a:avLst>
              <a:gd name="adj" fmla="val 2174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5" name="Image 0" descr="/home/claude/work/icons/radio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971800"/>
            <a:ext cx="10454335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2E8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UART0_BASE 就像对讲机的固定频道地址。把字符一个个「写」进这个地址，硬件就会把它发送到终端屏幕上——不需要操作系统帮忙，直接对着频道喊话。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68680" y="4937760"/>
            <a:ext cx="10454335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提醒：UART0_BASE 是 QEMU virt 平台地址，不代表 2K0300 开发板地址。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周最小运行链路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这条链跑通，才进入第 2 周。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11185855" cy="731520"/>
          </a:xfrm>
          <a:prstGeom prst="roundRect">
            <a:avLst>
              <a:gd name="adj" fmla="val 12500"/>
            </a:avLst>
          </a:prstGeom>
          <a:solidFill>
            <a:srgbClr val="F1F5F9"/>
          </a:solidFill>
        </p:spPr>
        <p:txBody>
          <a:bodyPr/>
          <a:p/>
        </p:txBody>
      </p:sp>
      <p:pic>
        <p:nvPicPr>
          <p:cNvPr id="6" name="Image 0" descr="/home/claude/work/icons/hammer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286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194560"/>
            <a:ext cx="9960559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make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交叉编译，生成 ELF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2880360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3026664"/>
            <a:ext cx="11185855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0" name="Image 1" descr="/home/claude/work/icons/rocket_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163824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53896" y="3072384"/>
            <a:ext cx="9960559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QEMU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模拟 virt，加载内核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530352" y="3758184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502920" y="3904488"/>
            <a:ext cx="11185855" cy="731520"/>
          </a:xfrm>
          <a:prstGeom prst="roundRect">
            <a:avLst>
              <a:gd name="adj" fmla="val 12500"/>
            </a:avLst>
          </a:prstGeom>
          <a:solidFill>
            <a:srgbClr val="FEF3C7"/>
          </a:solidFill>
        </p:spPr>
        <p:txBody>
          <a:bodyPr/>
          <a:p/>
        </p:txBody>
      </p:sp>
      <p:pic>
        <p:nvPicPr>
          <p:cNvPr id="14" name="Image 2" descr="/home/claude/work/icons/flag_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04164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53896" y="3950208"/>
            <a:ext cx="9960559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_start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设置 sp，调用 C</a:t>
            </a:r>
            <a:endParaRPr lang="en-US" sz="2600" dirty="0"/>
          </a:p>
        </p:txBody>
      </p:sp>
      <p:sp>
        <p:nvSpPr>
          <p:cNvPr id="16" name="Text 11"/>
          <p:cNvSpPr/>
          <p:nvPr/>
        </p:nvSpPr>
        <p:spPr>
          <a:xfrm>
            <a:off x="530352" y="4636008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502920" y="4782312"/>
            <a:ext cx="11185855" cy="731520"/>
          </a:xfrm>
          <a:prstGeom prst="roundRect">
            <a:avLst>
              <a:gd name="adj" fmla="val 12500"/>
            </a:avLst>
          </a:prstGeom>
          <a:solidFill>
            <a:srgbClr val="E0F2FE"/>
          </a:solidFill>
        </p:spPr>
        <p:txBody>
          <a:bodyPr/>
          <a:p/>
        </p:txBody>
      </p:sp>
      <p:pic>
        <p:nvPicPr>
          <p:cNvPr id="18" name="Image 3" descr="/home/claude/work/icons/code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4919472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53896" y="4828032"/>
            <a:ext cx="9960559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kernel_main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75569"/>
                </a:solidFill>
              </a:rPr>
              <a:t>调用 printk</a:t>
            </a:r>
            <a:endParaRPr lang="en-US" sz="2600" dirty="0"/>
          </a:p>
        </p:txBody>
      </p:sp>
      <p:sp>
        <p:nvSpPr>
          <p:cNvPr id="20" name="Text 14"/>
          <p:cNvSpPr/>
          <p:nvPr/>
        </p:nvSpPr>
        <p:spPr>
          <a:xfrm>
            <a:off x="530352" y="5513832"/>
            <a:ext cx="731520" cy="14630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↓</a:t>
            </a:r>
            <a:endParaRPr lang="en-US" sz="2400" dirty="0"/>
          </a:p>
        </p:txBody>
      </p:sp>
      <p:sp>
        <p:nvSpPr>
          <p:cNvPr id="21" name="Shape 15"/>
          <p:cNvSpPr/>
          <p:nvPr/>
        </p:nvSpPr>
        <p:spPr>
          <a:xfrm>
            <a:off x="502920" y="5660136"/>
            <a:ext cx="11185855" cy="731520"/>
          </a:xfrm>
          <a:prstGeom prst="roundRect">
            <a:avLst>
              <a:gd name="adj" fmla="val 12500"/>
            </a:avLst>
          </a:prstGeom>
          <a:solidFill>
            <a:srgbClr val="0F172A"/>
          </a:solidFill>
        </p:spPr>
        <p:txBody>
          <a:bodyPr/>
          <a:p/>
        </p:txBody>
      </p:sp>
      <p:pic>
        <p:nvPicPr>
          <p:cNvPr id="22" name="Image 4" descr="/home/claude/work/icons/radio_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5797296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53896" y="5705856"/>
            <a:ext cx="9960559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UART</a:t>
            </a:r>
            <a:endParaRPr lang="en-US" sz="2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CBD5E1"/>
                </a:solidFill>
              </a:rPr>
              <a:t>终端显示 Hello</a:t>
            </a:r>
            <a:endParaRPr lang="en-US" sz="2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实验命令：三步跑通 Hello miniOS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实际测试结果必须来自你自己机器的真实命令输出。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11186160" cy="3542030"/>
          </a:xfrm>
          <a:prstGeom prst="roundRect">
            <a:avLst>
              <a:gd name="adj" fmla="val 312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56032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56032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56032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834640"/>
            <a:ext cx="10637215" cy="2377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1 环境检查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 scripts/check-env.sh
</a:t>
            </a: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2 编译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make clean &amp;&amp; make
</a:t>
            </a: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3 运行
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make run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预期输出与测试记录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诚实比「通过」更重要。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11185855" cy="1021080"/>
          </a:xfrm>
          <a:prstGeom prst="roundRect">
            <a:avLst>
              <a:gd name="adj" fmla="val 895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33172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33172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33172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606040"/>
            <a:ext cx="10637215" cy="472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5EEAD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Hello miniOS on LoongArch64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2920" y="335280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E2E2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22376" y="3457956"/>
            <a:ext cx="566928" cy="566928"/>
          </a:xfrm>
          <a:prstGeom prst="ellipse">
            <a:avLst/>
          </a:prstGeom>
          <a:solidFill>
            <a:srgbClr val="FEE2E2"/>
          </a:solidFill>
        </p:spPr>
        <p:txBody>
          <a:bodyPr/>
          <a:p/>
        </p:txBody>
      </p:sp>
      <p:pic>
        <p:nvPicPr>
          <p:cNvPr id="12" name="Image 0" descr="/home/claude/work/icons/cross_r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558540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08760" y="340766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未执行过 make run，就不能写「已通过」。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02920" y="425805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DCFCE7"/>
          </a:solidFill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722376" y="4363212"/>
            <a:ext cx="566928" cy="566928"/>
          </a:xfrm>
          <a:prstGeom prst="ellipse">
            <a:avLst/>
          </a:prstGeom>
          <a:solidFill>
            <a:srgbClr val="DCFCE7"/>
          </a:solidFill>
        </p:spPr>
        <p:txBody>
          <a:bodyPr/>
          <a:p/>
        </p:txBody>
      </p:sp>
      <p:pic>
        <p:nvPicPr>
          <p:cNvPr id="16" name="Image 1" descr="/home/claude/work/icons/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463796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08760" y="431292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工具链缺失时记录为「未执行」，写明失败原因。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共学边界：能帮你看懂，不能替你动手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DCFCE7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DCFCE7"/>
          </a:solidFill>
        </p:spPr>
        <p:txBody>
          <a:bodyPr/>
          <a:p/>
        </p:txBody>
      </p:sp>
      <p:pic>
        <p:nvPicPr>
          <p:cNvPr id="6" name="Image 0" descr="/home/claude/work/icons/check_gree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17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可以让 AI 解释 boot/start.S 的作用。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02920" y="287121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DCFCE7"/>
          </a:solidFill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376" y="2976372"/>
            <a:ext cx="566928" cy="566928"/>
          </a:xfrm>
          <a:prstGeom prst="ellipse">
            <a:avLst/>
          </a:prstGeom>
          <a:solidFill>
            <a:srgbClr val="DCFCE7"/>
          </a:solidFill>
        </p:spPr>
        <p:txBody>
          <a:bodyPr/>
          <a:p/>
        </p:txBody>
      </p:sp>
      <p:pic>
        <p:nvPicPr>
          <p:cNvPr id="10" name="Image 1" descr="/home/claude/work/icons/check_gree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76956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92608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可以让 AI 绘制 miniOS 启动流程图。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502920" y="377647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DCFCE7"/>
          </a:solidFill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2376" y="3881628"/>
            <a:ext cx="566928" cy="566928"/>
          </a:xfrm>
          <a:prstGeom prst="ellipse">
            <a:avLst/>
          </a:prstGeom>
          <a:solidFill>
            <a:srgbClr val="DCFCE7"/>
          </a:solidFill>
        </p:spPr>
        <p:txBody>
          <a:bodyPr/>
          <a:p/>
        </p:txBody>
      </p:sp>
      <p:pic>
        <p:nvPicPr>
          <p:cNvPr id="14" name="Image 2" descr="/home/claude/work/icons/check_gree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982212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31336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可以让 AI 解释 QEMU 的作用。</a:t>
            </a:r>
            <a:endParaRPr lang="en-US" sz="2400" dirty="0"/>
          </a:p>
        </p:txBody>
      </p:sp>
      <p:sp>
        <p:nvSpPr>
          <p:cNvPr id="16" name="Shape 11"/>
          <p:cNvSpPr/>
          <p:nvPr/>
        </p:nvSpPr>
        <p:spPr>
          <a:xfrm>
            <a:off x="502920" y="468172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EE2E2"/>
          </a:solidFill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722376" y="4786884"/>
            <a:ext cx="566928" cy="566928"/>
          </a:xfrm>
          <a:prstGeom prst="ellipse">
            <a:avLst/>
          </a:prstGeom>
          <a:solidFill>
            <a:srgbClr val="FEE2E2"/>
          </a:solidFill>
        </p:spPr>
        <p:txBody>
          <a:bodyPr/>
          <a:p/>
        </p:txBody>
      </p:sp>
      <p:pic>
        <p:nvPicPr>
          <p:cNvPr id="18" name="Image 3" descr="/home/claude/work/icons/cross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8746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736592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不允许让 AI 直接生成实验代码。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第一周学生作业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6" name="Text 4"/>
          <p:cNvSpPr/>
          <p:nvPr/>
        </p:nvSpPr>
        <p:spPr>
          <a:xfrm>
            <a:off x="722376" y="20711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画出 miniOS 第 1 周执行路径图。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9" name="Shape 7"/>
          <p:cNvSpPr/>
          <p:nvPr/>
        </p:nvSpPr>
        <p:spPr>
          <a:xfrm>
            <a:off x="722376" y="29855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722376" y="29855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08760" y="29352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 Hello 字符串改成自己的姓名和学号，重新编译运行。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13" name="Shape 11"/>
          <p:cNvSpPr/>
          <p:nvPr/>
        </p:nvSpPr>
        <p:spPr>
          <a:xfrm>
            <a:off x="722376" y="38999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4" name="Text 12"/>
          <p:cNvSpPr/>
          <p:nvPr/>
        </p:nvSpPr>
        <p:spPr>
          <a:xfrm>
            <a:off x="722376" y="38999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38496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解释 boot/start.S 中 sp、bl、b、idle 的作用。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02920" y="47091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17" name="Shape 15"/>
          <p:cNvSpPr/>
          <p:nvPr/>
        </p:nvSpPr>
        <p:spPr>
          <a:xfrm>
            <a:off x="722376" y="48143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8" name="Text 16"/>
          <p:cNvSpPr/>
          <p:nvPr/>
        </p:nvSpPr>
        <p:spPr>
          <a:xfrm>
            <a:off x="722376" y="48143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508760" y="47640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提交环境检查结果和真实运行截图或日志。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本周边界：这些先不做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5" name="Shape 3"/>
          <p:cNvSpPr/>
          <p:nvPr/>
        </p:nvSpPr>
        <p:spPr>
          <a:xfrm>
            <a:off x="722376" y="2025396"/>
            <a:ext cx="566928" cy="566928"/>
          </a:xfrm>
          <a:prstGeom prst="ellipse">
            <a:avLst/>
          </a:prstGeom>
          <a:solidFill>
            <a:srgbClr val="E2E8F0"/>
          </a:solidFill>
        </p:spPr>
      </p:sp>
      <p:pic>
        <p:nvPicPr>
          <p:cNvPr id="6" name="Image 0" descr="/home/claude/work/icons/ban_sl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259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7510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不讲完整操作系统。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02920" y="2807208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9" name="Shape 6"/>
          <p:cNvSpPr/>
          <p:nvPr/>
        </p:nvSpPr>
        <p:spPr>
          <a:xfrm>
            <a:off x="722376" y="2912364"/>
            <a:ext cx="566928" cy="566928"/>
          </a:xfrm>
          <a:prstGeom prst="ellipse">
            <a:avLst/>
          </a:prstGeom>
          <a:solidFill>
            <a:srgbClr val="E2E8F0"/>
          </a:solidFill>
        </p:spPr>
      </p:sp>
      <p:pic>
        <p:nvPicPr>
          <p:cNvPr id="10" name="Image 1" descr="/home/claude/work/icons/ban_sl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294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62072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不讲进程、文件系统、虚拟内存。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502920" y="3694176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13" name="Shape 9"/>
          <p:cNvSpPr/>
          <p:nvPr/>
        </p:nvSpPr>
        <p:spPr>
          <a:xfrm>
            <a:off x="722376" y="3799332"/>
            <a:ext cx="566928" cy="566928"/>
          </a:xfrm>
          <a:prstGeom prst="ellipse">
            <a:avLst/>
          </a:prstGeom>
          <a:solidFill>
            <a:srgbClr val="E2E8F0"/>
          </a:solidFill>
        </p:spPr>
      </p:sp>
      <p:pic>
        <p:nvPicPr>
          <p:cNvPr id="14" name="Image 2" descr="/home/claude/work/icons/ban_sl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899916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749040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不直接适配 2K0300 开发板。</a:t>
            </a:r>
            <a:endParaRPr lang="en-US" sz="2400" dirty="0"/>
          </a:p>
        </p:txBody>
      </p:sp>
      <p:sp>
        <p:nvSpPr>
          <p:cNvPr id="16" name="Shape 11"/>
          <p:cNvSpPr/>
          <p:nvPr/>
        </p:nvSpPr>
        <p:spPr>
          <a:xfrm>
            <a:off x="502920" y="4581144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17" name="Shape 12"/>
          <p:cNvSpPr/>
          <p:nvPr/>
        </p:nvSpPr>
        <p:spPr>
          <a:xfrm>
            <a:off x="722376" y="4686300"/>
            <a:ext cx="566928" cy="566928"/>
          </a:xfrm>
          <a:prstGeom prst="ellipse">
            <a:avLst/>
          </a:prstGeom>
          <a:solidFill>
            <a:srgbClr val="E2E8F0"/>
          </a:solidFill>
        </p:spPr>
      </p:sp>
      <p:pic>
        <p:nvPicPr>
          <p:cNvPr id="18" name="Image 3" descr="/home/claude/work/icons/ban_sl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786884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4636008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不把未实测结果写成已通过。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502920" y="5468112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21" name="Shape 15"/>
          <p:cNvSpPr/>
          <p:nvPr/>
        </p:nvSpPr>
        <p:spPr>
          <a:xfrm>
            <a:off x="722376" y="5573268"/>
            <a:ext cx="566928" cy="566928"/>
          </a:xfrm>
          <a:prstGeom prst="ellipse">
            <a:avLst/>
          </a:prstGeom>
          <a:solidFill>
            <a:srgbClr val="E2E8F0"/>
          </a:solidFill>
        </p:spPr>
      </p:sp>
      <p:pic>
        <p:nvPicPr>
          <p:cNvPr id="22" name="Image 4" descr="/home/claude/work/icons/ban_sla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73852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5522976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下一周再展开 .data、.bss 和内存初始化。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</p:sp>
      <p:sp>
        <p:nvSpPr>
          <p:cNvPr id="3" name="Text 1"/>
          <p:cNvSpPr/>
          <p:nvPr/>
        </p:nvSpPr>
        <p:spPr>
          <a:xfrm>
            <a:off x="502920" y="502920"/>
            <a:ext cx="21945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课后思考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91440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思考题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0332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答不上来没关系，带着问题去读代码、去 QEMU 里试。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2423160"/>
            <a:ext cx="11185855" cy="713232"/>
          </a:xfrm>
          <a:prstGeom prst="roundRect">
            <a:avLst>
              <a:gd name="adj" fmla="val 11538"/>
            </a:avLst>
          </a:prstGeom>
          <a:solidFill>
            <a:srgbClr val="1E293B"/>
          </a:solidFill>
        </p:spPr>
      </p:sp>
      <p:pic>
        <p:nvPicPr>
          <p:cNvPr id="7" name="Image 0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578608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2423160"/>
            <a:ext cx="10180015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CPU 第一条指令在哪里？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3246120"/>
            <a:ext cx="11185855" cy="713232"/>
          </a:xfrm>
          <a:prstGeom prst="roundRect">
            <a:avLst>
              <a:gd name="adj" fmla="val 11538"/>
            </a:avLst>
          </a:prstGeom>
          <a:solidFill>
            <a:srgbClr val="1E293B"/>
          </a:solidFill>
        </p:spPr>
      </p:sp>
      <p:pic>
        <p:nvPicPr>
          <p:cNvPr id="10" name="Image 1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3401568"/>
            <a:ext cx="402336" cy="4023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80160" y="3246120"/>
            <a:ext cx="10180015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为什么裸机程序不是从 main() 开始？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502920" y="4069080"/>
            <a:ext cx="11185855" cy="713232"/>
          </a:xfrm>
          <a:prstGeom prst="roundRect">
            <a:avLst>
              <a:gd name="adj" fmla="val 11538"/>
            </a:avLst>
          </a:prstGeom>
          <a:solidFill>
            <a:srgbClr val="1E293B"/>
          </a:solidFill>
        </p:spPr>
      </p:sp>
      <p:pic>
        <p:nvPicPr>
          <p:cNvPr id="13" name="Image 2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4224528"/>
            <a:ext cx="402336" cy="4023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069080"/>
            <a:ext cx="10180015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为什么进入 C 函数前要设置 sp？</a:t>
            </a:r>
            <a:endParaRPr lang="en-US" sz="2400" dirty="0"/>
          </a:p>
        </p:txBody>
      </p:sp>
      <p:sp>
        <p:nvSpPr>
          <p:cNvPr id="15" name="Shape 10"/>
          <p:cNvSpPr/>
          <p:nvPr/>
        </p:nvSpPr>
        <p:spPr>
          <a:xfrm>
            <a:off x="502920" y="4892040"/>
            <a:ext cx="11185855" cy="713232"/>
          </a:xfrm>
          <a:prstGeom prst="roundRect">
            <a:avLst>
              <a:gd name="adj" fmla="val 11538"/>
            </a:avLst>
          </a:prstGeom>
          <a:solidFill>
            <a:srgbClr val="1E293B"/>
          </a:solidFill>
        </p:spPr>
      </p:sp>
      <p:pic>
        <p:nvPicPr>
          <p:cNvPr id="16" name="Image 3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5047488"/>
            <a:ext cx="402336" cy="40233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80160" y="4892040"/>
            <a:ext cx="10180015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 miniOS 不能直接使用 printf？</a:t>
            </a:r>
            <a:endParaRPr lang="en-US" sz="2400" dirty="0"/>
          </a:p>
        </p:txBody>
      </p:sp>
      <p:sp>
        <p:nvSpPr>
          <p:cNvPr id="18" name="Shape 12"/>
          <p:cNvSpPr/>
          <p:nvPr/>
        </p:nvSpPr>
        <p:spPr>
          <a:xfrm>
            <a:off x="502920" y="5715000"/>
            <a:ext cx="11185855" cy="713232"/>
          </a:xfrm>
          <a:prstGeom prst="roundRect">
            <a:avLst>
              <a:gd name="adj" fmla="val 11538"/>
            </a:avLst>
          </a:prstGeom>
          <a:solidFill>
            <a:srgbClr val="1E293B"/>
          </a:solidFill>
        </p:spPr>
      </p:sp>
      <p:pic>
        <p:nvPicPr>
          <p:cNvPr id="19" name="Image 4" descr="/home/claude/work/icons/helpcircle_amb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5870448"/>
            <a:ext cx="402336" cy="40233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80160" y="5715000"/>
            <a:ext cx="10180015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为什么先 QEMU 再开发板？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上课第一步：环境检查怎么做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11185855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47556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缺工具不丢人，记录真实结果才重要——不要跳过这步直接编译。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11186160" cy="3542030"/>
          </a:xfrm>
          <a:prstGeom prst="roundRect">
            <a:avLst>
              <a:gd name="adj" fmla="val 3125"/>
            </a:avLst>
          </a:prstGeom>
          <a:solidFill>
            <a:srgbClr val="0F172A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40664" y="2560320"/>
            <a:ext cx="118872" cy="118872"/>
          </a:xfrm>
          <a:prstGeom prst="ellipse">
            <a:avLst/>
          </a:prstGeom>
          <a:solidFill>
            <a:srgbClr val="FF5F56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2560320"/>
            <a:ext cx="118872" cy="118872"/>
          </a:xfrm>
          <a:prstGeom prst="ellipse">
            <a:avLst/>
          </a:prstGeom>
          <a:solidFill>
            <a:srgbClr val="FFBD2E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79576" y="2560320"/>
            <a:ext cx="118872" cy="118872"/>
          </a:xfrm>
          <a:prstGeom prst="ellipse">
            <a:avLst/>
          </a:prstGeom>
          <a:solidFill>
            <a:srgbClr val="27C93F"/>
          </a:solidFill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834640"/>
            <a:ext cx="10637215" cy="23774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需要确认这些命令存在</a:t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/>
            </a: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/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/>
            </a: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/>
            </a:r>
            <a:r>
              <a:rPr lang="en-US" sz="2400" dirty="0">
                <a:solidFill>
                  <a:srgbClr val="E2E8F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/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make</a:t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qemu-system-loongarch64</a:t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loongarch64-linux-gnu-gcc</a:t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loongarch64-linux-gnu-objdump</a:t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/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一键检查（推荐先跑这个）</a:t>
            </a:r>
            <a:endParaRPr lang="en-US" sz="2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 scripts/check-env.sh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常见错误排查：卡住了先看这四条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22376" y="20711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command not found（make/gcc/qemu）→ 先跑 sh scripts/check-env.sh，按提示安装缺失工具。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22376" y="2985516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22376" y="29855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08760" y="29352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make run 后没有 Hello 输出 → 先 make clean &amp;&amp; make，确认生成了 build/minios.elf。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22376" y="3899916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22376" y="38999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38496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不知道怎么退出 QEMU → -nographic 模式下，先按 Ctrl-a，松开后再按 x。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02920" y="47091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22376" y="4814316"/>
            <a:ext cx="566928" cy="566928"/>
          </a:xfrm>
          <a:prstGeom prst="ellipse">
            <a:avLst/>
          </a:prstGeom>
          <a:solidFill>
            <a:srgbClr val="F59E0B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22376" y="48143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508760" y="47640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终端里还看到 .data/.bss 相关输出 → 当前 master 已含第 2 周代码，第 1 周只关注 Hello 这一行。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02920" y="292608"/>
            <a:ext cx="11185855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9E0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今天课上要做到这四条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5" name="Shape 3"/>
          <p:cNvSpPr/>
          <p:nvPr/>
        </p:nvSpPr>
        <p:spPr>
          <a:xfrm>
            <a:off x="722376" y="20711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6" name="Text 4"/>
          <p:cNvSpPr/>
          <p:nvPr/>
        </p:nvSpPr>
        <p:spPr>
          <a:xfrm>
            <a:off x="722376" y="20711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环境检查 + make clean &amp;&amp; make + make run，全部有真实记录，没跑就写「未执行」。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9" name="Shape 7"/>
          <p:cNvSpPr/>
          <p:nvPr/>
        </p:nvSpPr>
        <p:spPr>
          <a:xfrm>
            <a:off x="722376" y="29855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722376" y="29855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508760" y="29352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QEMU 终端里看到 Hello miniOS on LoongArch64。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13" name="Shape 11"/>
          <p:cNvSpPr/>
          <p:nvPr/>
        </p:nvSpPr>
        <p:spPr>
          <a:xfrm>
            <a:off x="722376" y="38999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4" name="Text 12"/>
          <p:cNvSpPr/>
          <p:nvPr/>
        </p:nvSpPr>
        <p:spPr>
          <a:xfrm>
            <a:off x="722376" y="38999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508760" y="38496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能讲清楚：CPU 为什么先进 boot/start.S、为什么要设 $sp、为什么用 printk 不用 printf。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02920" y="4709160"/>
            <a:ext cx="11185855" cy="777240"/>
          </a:xfrm>
          <a:prstGeom prst="roundRect">
            <a:avLst>
              <a:gd name="adj" fmla="val 11765"/>
            </a:avLst>
          </a:prstGeom>
          <a:solidFill>
            <a:srgbClr val="F1F5F9"/>
          </a:solidFill>
        </p:spPr>
      </p:sp>
      <p:sp>
        <p:nvSpPr>
          <p:cNvPr id="17" name="Shape 15"/>
          <p:cNvSpPr/>
          <p:nvPr/>
        </p:nvSpPr>
        <p:spPr>
          <a:xfrm>
            <a:off x="722376" y="4814316"/>
            <a:ext cx="566928" cy="566928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8" name="Text 16"/>
          <p:cNvSpPr/>
          <p:nvPr/>
        </p:nvSpPr>
        <p:spPr>
          <a:xfrm>
            <a:off x="722376" y="4814316"/>
            <a:ext cx="566928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508760" y="4764024"/>
            <a:ext cx="9923983" cy="6675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1E293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不强求：解释 .data/.bss 细节、修改启动代码、开发板迁移——这些是后面几周的内容。</a:t>
            </a:r>
            <a:endParaRPr lang="en-US" sz="24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2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3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4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5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6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7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8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9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0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1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2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3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4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5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ags/tag16.xml><?xml version="1.0" encoding="utf-8"?>
<p:tagLst xmlns:p="http://schemas.openxmlformats.org/presentationml/2006/main">
  <p:tag name="KSO_WM_DIAGRAM_VIRTUALLY_FRAME" val="{&quot;height&quot;:310.52,&quot;left&quot;:39.6,&quot;top&quot;:180,&quot;width&quot;:880.775984251968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5626</Words>
  <Application>WPS 演示</Application>
  <PresentationFormat>On-screen Show (16:9)</PresentationFormat>
  <Paragraphs>550</Paragraphs>
  <Slides>39</Slides>
  <Notes>39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39</vt:i4>
      </vt:variant>
    </vt:vector>
  </HeadingPairs>
  <TitlesOfParts>
    <vt:vector size="51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蔡沂</cp:lastModifiedBy>
  <cp:revision>4</cp:revision>
  <dcterms:created xsi:type="dcterms:W3CDTF">2026-07-22T02:56:00Z</dcterms:created>
  <dcterms:modified xsi:type="dcterms:W3CDTF">2026-07-24T03:14:41Z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F1D9034852D848B58FACCBB895CF12C9_12</vt:lpwstr>
  </property>
</Properties>
</file>