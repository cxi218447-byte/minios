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memset/memcpy/strlen 汇编实现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5E0"/>
                </a:solidFill>
                <a:latin typeface="Microsoft YaHei"/>
              </a:rPr>
              <a:t>六个真实字符串/内存函数：从基础实现，到彼此的局限与组合调用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建议检查点：07-libc-asm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LoongArch 汇编 · miniOS 课程  |  正文字号 ≥ 24 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六个函数：类型、问题、关系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本课要讲的全部内容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3383280"/>
                <a:gridCol w="3474720"/>
              </a:tblGrid>
              <a:tr h="698862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函数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2A93B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2A93B"/>
                          </a:solidFill>
                          <a:latin typeface="Microsoft YaHei"/>
                        </a:rPr>
                        <a:t>解决什么问题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2A93B"/>
                          </a:solidFill>
                          <a:latin typeface="Microsoft YaHei"/>
                        </a:rPr>
                        <a:t>与其他函数的关系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memset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叶子函数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用指定字节填充一段内存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memcpy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叶子函数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把一段内存搬到另一处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假设区间不重叠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memmove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叶子函数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搬运数据，允许区间重叠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memcpy 的通用版：多一步方向判断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strlen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叶子函数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测量 C 字符串长度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strcmp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叶子函数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逐字节比较两个字符串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zero_and_copy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非叶子函数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把字符串安全放进固定缓冲区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依次调用 memset → strlen → memcpy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库函数在操作系统里的位置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先搞清楚“库函数”是什么，再动手写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libc 的两类函数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按“要不要找内核”分类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822960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2A93B"/>
                </a:solidFill>
                <a:latin typeface="Microsoft YaHei"/>
              </a:rPr>
              <a:t>SYS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系统调用的薄封装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read / write / open / fork——要找内核，真正干活的是内核，libc 只是包一层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07208"/>
            <a:ext cx="11064240" cy="822960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852928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2A93B"/>
                </a:solidFill>
                <a:latin typeface="Microsoft YaHei"/>
              </a:rPr>
              <a:t>LIB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0720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纯数据处理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07208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memcpy / memset / strlen / strcmp——不找内核，只操作自己进程地址空间里的内存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684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本课六个函数全部是第二类：不依赖任何系统调用；第 8 次课的 sys_write 才是第一类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miniOS 为什么要自己写这六个函数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和普通 Linux 程序对比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931920"/>
                <a:gridCol w="3931920"/>
              </a:tblGrid>
              <a:tr h="749808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2A93B"/>
                          </a:solidFill>
                          <a:latin typeface="Microsoft YaHei"/>
                        </a:rPr>
                        <a:t>普通 Linux 程序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2A93B"/>
                          </a:solidFill>
                          <a:latin typeface="Microsoft YaHei"/>
                        </a:rPr>
                        <a:t>miniOS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memcpy 从哪来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链接器接到 glibc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链接器接到 lib/string.S（我们自己写的）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libc 谁提供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操作系统随发行版预装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没有——miniOS 自己就是操作系统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编译选项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（默认托管环境）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-ffreestanding -nostdlib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91947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本课六个函数 = miniOS 自己的一份最小 libc；函数签名照抄 C 标准原型，不是自创接口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库函数的底层机制①：静态链接 vs 动态链接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搭 OS 时，这一层怎么接进最终镜像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3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840480"/>
                <a:gridCol w="3749039"/>
              </a:tblGrid>
              <a:tr h="749807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2A93B"/>
                          </a:solidFill>
                          <a:latin typeface="Microsoft YaHei"/>
                        </a:rPr>
                        <a:t>静态链接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2A93B"/>
                          </a:solidFill>
                          <a:latin typeface="Microsoft YaHei"/>
                        </a:rPr>
                        <a:t>动态链接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库代码放在哪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直接拷贝进最终可执行文件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留在共享库文件（.so/.dll），运行时才加载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可执行文件大小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更大——包含用到的库代码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更小——只留一条“去哪找”的引用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多进程能否共用内存里同一份库代码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不能，各自一份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能，还可以单独升级库文件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miniOS 用哪种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只能静态——地基阶段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还没有“加载器”这一层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miniOS 现在还在从裸机往上搭操作系统的地基，动态链接依赖的“加载器/共享内存管理”还没建，本课只能静态链接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库函数的底层机制②：从一行调用到真正跑起来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链接器只认“符号名”，不认你写的是 C 还是汇编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0907" y="2212848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93595" y="2395728"/>
            <a:ext cx="512064" cy="512064"/>
          </a:xfrm>
          <a:prstGeom prst="ellipse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3595" y="2468880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635" y="3127248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C53A0"/>
                </a:solidFill>
                <a:latin typeface="Microsoft YaHei"/>
              </a:rPr>
              <a:t>① 编译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0635" y="3721608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memcpy(...) 变成
.o 里一个“待解析”
的符号引用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8347" y="34015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8387" y="2212848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91075" y="2395728"/>
            <a:ext cx="512064" cy="512064"/>
          </a:xfrm>
          <a:prstGeom prst="ellipse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1075" y="2468880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8115" y="3127248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7482"/>
                </a:solidFill>
                <a:latin typeface="Microsoft YaHei"/>
              </a:rPr>
              <a:t>② 链接器扫描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8115" y="3721608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翻遍所有 .o 和
库文件找 memcpy
的定义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5827" y="34015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5867" y="2212848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88555" y="2395728"/>
            <a:ext cx="512064" cy="512064"/>
          </a:xfrm>
          <a:prstGeom prst="ellipse">
            <a:avLst/>
          </a:prstGeom>
          <a:solidFill>
            <a:srgbClr val="2A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8555" y="2468880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5595" y="3127248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A7E4E"/>
                </a:solidFill>
                <a:latin typeface="Microsoft YaHei"/>
              </a:rPr>
              <a:t>③ 回填地址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5595" y="3721608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把占位地址改成
memcpy 真实地址
（重定位）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3307" y="34015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347" y="2212848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6035" y="2395728"/>
            <a:ext cx="512064" cy="512064"/>
          </a:xfrm>
          <a:prstGeom prst="ellipse">
            <a:avLst/>
          </a:prstGeom>
          <a:solidFill>
            <a:srgbClr val="B8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86035" y="2468880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3075" y="3127248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5F22"/>
                </a:solidFill>
                <a:latin typeface="Microsoft YaHei"/>
              </a:rPr>
              <a:t>④ 生成镜像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3075" y="3721608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得到地址完整、
真能跑的
minios.elf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库函数的底层机制③：miniOS 链接的边界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搭 OS 时，这一层的能力从哪来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822960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2A93B"/>
                </a:solidFill>
                <a:latin typeface="Microsoft YaHei"/>
              </a:rPr>
              <a:t>SRC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链接器只找 Makefile 列出的文件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SRCS_C/SRCS_S——没写进去的文件，链接器根本不知道它存在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07208"/>
            <a:ext cx="11064240" cy="822960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852928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2A93B"/>
                </a:solidFill>
                <a:latin typeface="Microsoft YaHei"/>
              </a:rPr>
              <a:t>ERR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0720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忘记实现会怎样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07208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链接直接失败：undefined reference to `memcpy'——真实会遇到的错误，不是吓唬人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684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这正是 miniOS 从裸机开始搭操作系统的真实处境：每一层能力都得自己先写出来，才能被上面的代码用上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IFUNC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现实中，库函数和汇编是什么关系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4297680" cy="4206240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2A93B"/>
                </a:solidFill>
                <a:latin typeface="Cambria"/>
              </a:rPr>
              <a:t>IFUNC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间接函数机制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alibri"/>
              </a:rPr>
              <a:t>Indirect Function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75488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161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2A93B"/>
                </a:solidFill>
                <a:latin typeface="Microsoft YaHei"/>
              </a:rPr>
              <a:t>glibc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783080"/>
            <a:ext cx="6537960" cy="4206240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103120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743200"/>
            <a:ext cx="5806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A2238"/>
                </a:solidFill>
                <a:latin typeface="Microsoft YaHei"/>
              </a:rPr>
              <a:t>glibc 给 memcpy/memset/strlen 等热点函数准备多个版本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2238"/>
                </a:solidFill>
                <a:latin typeface="Microsoft YaHei"/>
              </a:rPr>
              <a:t>每个版本用不同指令集实现（SSE2/AVX2/AVX-512、NEON）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2238"/>
                </a:solidFill>
                <a:latin typeface="Microsoft YaHei"/>
              </a:rPr>
              <a:t>运行时按 CPU 实际支持的特性，动态选一个最快的版本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2238"/>
                </a:solidFill>
                <a:latin typeface="Microsoft YaHei"/>
              </a:rPr>
              <a:t>本课“8 字节批量优化”是这个思路的教学缩小版——真实实现一次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A2238"/>
                </a:solidFill>
                <a:latin typeface="Microsoft YaHei"/>
              </a:rPr>
              <a:t>搬 16/32/64 字节、用向量寄存器，核心逻辑完全一样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C 和汇编，在函数调用层面完全平等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调用约定不区分语言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029200" cy="4206240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93B"/>
                </a:solidFill>
                <a:latin typeface="Cambria"/>
              </a:rPr>
              <a:t>C 函数调用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97480"/>
            <a:ext cx="969264" cy="68580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Microsoft YaHei"/>
              </a:rPr>
              <a:t>传参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08631" y="2697480"/>
            <a:ext cx="969264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Microsoft YaHei"/>
              </a:rPr>
              <a:t>跳转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48584" y="2697480"/>
            <a:ext cx="969264" cy="68580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Microsoft YaHei"/>
              </a:rPr>
              <a:t>执行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697480"/>
            <a:ext cx="969264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Microsoft YaHei"/>
              </a:rPr>
              <a:t>返回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alibri"/>
              </a:rPr>
              <a:t>memcpy(dst, src, 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783080"/>
            <a:ext cx="5029200" cy="4206240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057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93B"/>
                </a:solidFill>
                <a:latin typeface="Cambria"/>
              </a:rPr>
              <a:t>汇编函数调用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697480"/>
            <a:ext cx="969264" cy="68580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Microsoft YaHei"/>
              </a:rPr>
              <a:t>传参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3672" y="2697480"/>
            <a:ext cx="969264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Microsoft YaHei"/>
              </a:rPr>
              <a:t>跳转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3624" y="2697480"/>
            <a:ext cx="969264" cy="68580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Microsoft YaHei"/>
              </a:rPr>
              <a:t>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3576" y="2697480"/>
            <a:ext cx="969264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Microsoft YaHei"/>
              </a:rPr>
              <a:t>返回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6118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alibri"/>
              </a:rPr>
              <a:t>bl memcpy</a:t>
            </a:r>
          </a:p>
        </p:txBody>
      </p:sp>
      <p:sp>
        <p:nvSpPr>
          <p:cNvPr id="19" name="Oval 18"/>
          <p:cNvSpPr/>
          <p:nvPr/>
        </p:nvSpPr>
        <p:spPr>
          <a:xfrm>
            <a:off x="5715000" y="3520439"/>
            <a:ext cx="731520" cy="73152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1E2761"/>
                </a:solidFill>
                <a:latin typeface="Calibri"/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编译器只认 ABI（第 6 次课的调用约定），不关心符号背后是 C 写的还是汇编写的——本课在做的事，就是把“C 代码背后看不见的那一层”亲手实现出来。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memset → memcpy → memmove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同一条循环骨架，逐步放宽假设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memset：用指定字节填充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void *memset(void *s, int c, size_t 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669280" cy="3456431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0" y="1783080"/>
            <a:ext cx="5166360" cy="3456431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move   $t0, $a0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21031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1031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保存原始 dst——$a0 接下来要被当游标改写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89503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89503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beqz   $a2, 2f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889503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89503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n==0：直接跳到 2f，循环体一次都不进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675887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7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st.b   $a1, $a0, 0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367588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675887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循环体首指令：写字节，后面还有指针+1/计数-1/bnez 回跳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462272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622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move   $a0, $t0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44622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46227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把 $t0 换回 $a0 作为返回值，叶子函数直接 jr $ra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memset 的控制流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同一个模板 memcpy/strlen 都在用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35527" y="1783080"/>
            <a:ext cx="5120640" cy="1828800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55567" y="2057400"/>
            <a:ext cx="44805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CADCFC"/>
                </a:solidFill>
                <a:latin typeface="Courier New"/>
              </a:rPr>
              <a:t>beqz   $a2, 2f</a:t>
            </a:r>
          </a:p>
          <a:p>
            <a:r>
              <a:rPr sz="2400" b="0">
                <a:solidFill>
                  <a:srgbClr val="CADCFC"/>
                </a:solidFill>
                <a:latin typeface="Courier New"/>
              </a:rPr>
              <a:t>st.b   $a1, $a0, 0</a:t>
            </a:r>
          </a:p>
          <a:p>
            <a:r>
              <a:rPr sz="2400" b="0">
                <a:solidFill>
                  <a:srgbClr val="CADCFC"/>
                </a:solidFill>
                <a:latin typeface="Courier New"/>
              </a:rPr>
              <a:t>addi.d $a2, $a2, -1</a:t>
            </a:r>
          </a:p>
          <a:p>
            <a:r>
              <a:rPr sz="2400" b="0">
                <a:solidFill>
                  <a:srgbClr val="CADCFC"/>
                </a:solidFill>
                <a:latin typeface="Courier New"/>
              </a:rPr>
              <a:t>bnez   $a2, 1b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34840"/>
            <a:ext cx="2468880" cy="822960"/>
          </a:xfrm>
          <a:prstGeom prst="roundRect">
            <a:avLst>
              <a:gd name="adj" fmla="val 111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进入循环
(标号 1:)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4434840"/>
            <a:ext cx="2468880" cy="822960"/>
          </a:xfrm>
          <a:prstGeom prst="roundRect">
            <a:avLst>
              <a:gd name="adj" fmla="val 11100"/>
            </a:avLst>
          </a:prstGeom>
          <a:solidFill>
            <a:srgbClr val="F2A93B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4434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n == 0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434840"/>
            <a:ext cx="2468880" cy="822960"/>
          </a:xfrm>
          <a:prstGeom prst="roundRect">
            <a:avLst>
              <a:gd name="adj" fmla="val 111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4434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写字节
指针+1 计数-1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4846320"/>
            <a:ext cx="685800" cy="0"/>
          </a:xfrm>
          <a:prstGeom prst="line">
            <a:avLst/>
          </a:prstGeom>
          <a:ln w="31750">
            <a:solidFill>
              <a:srgbClr val="1A2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63640" y="4846320"/>
            <a:ext cx="1691639" cy="0"/>
          </a:xfrm>
          <a:prstGeom prst="line">
            <a:avLst/>
          </a:prstGeom>
          <a:ln w="31750">
            <a:solidFill>
              <a:srgbClr val="1A2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63640" y="4050791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2A93B"/>
                </a:solidFill>
                <a:latin typeface="Calibri"/>
              </a:rPr>
              <a:t>是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9189720" y="4023359"/>
            <a:ext cx="0" cy="411481"/>
          </a:xfrm>
          <a:prstGeom prst="line">
            <a:avLst/>
          </a:prstGeom>
          <a:ln w="317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0" y="4023359"/>
            <a:ext cx="4160520" cy="0"/>
          </a:xfrm>
          <a:prstGeom prst="line">
            <a:avLst/>
          </a:prstGeom>
          <a:ln w="317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0" y="4023359"/>
            <a:ext cx="0" cy="411481"/>
          </a:xfrm>
          <a:prstGeom prst="line">
            <a:avLst/>
          </a:prstGeom>
          <a:ln w="31750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29200" y="5257800"/>
            <a:ext cx="0" cy="320040"/>
          </a:xfrm>
          <a:prstGeom prst="line">
            <a:avLst/>
          </a:prstGeom>
          <a:ln w="31750">
            <a:solidFill>
              <a:srgbClr val="1A2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06240" y="528523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2A93B"/>
                </a:solidFill>
                <a:latin typeface="Calibri"/>
              </a:rPr>
              <a:t>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5577840"/>
            <a:ext cx="2468880" cy="822960"/>
          </a:xfrm>
          <a:prstGeom prst="roundRect">
            <a:avLst>
              <a:gd name="adj" fmla="val 11100"/>
            </a:avLst>
          </a:prstGeom>
          <a:solidFill>
            <a:srgbClr val="16193B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5577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退出 2f
返回 dst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memcpy：把骨架换成搬运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void *memcpy(void *dst, const void *src, size_t 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669280" cy="2670047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0" y="1783080"/>
            <a:ext cx="5166360" cy="2670047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ld.bu  $t1, $a1, 0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21031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1031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先读：无符号加载，避免 0x80 这类字节被符号扩展成垃圾值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89503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89503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st.b   $t1, $a0, 0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889503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89503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再写：读到寄存器后才写出去，不会用还没读的数据覆盖自己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675887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7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addi.d $a1, $a1, 1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367588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675887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双指针同步步进：$a0 追 dst，$a1 追 src（这行代表两条 addi.d）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memmove：memcpy 处理不了重叠区间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void *memmove(void *dst, const void *src, size_t 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669280" cy="3456431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0" y="1783080"/>
            <a:ext cx="5166360" cy="3456431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move   $t0, $a0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21031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1031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保存原始 dst，作为返回值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89503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89503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beqz   $a2, 4f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889503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89503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n==0：什么都不用做，直接跳到收尾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675887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7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sltu   $t2, $a0, $a1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367588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675887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sltu：slt 的无符号版，比较地址必须按无符号理解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462272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622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bnez   $t2, 2f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44622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46227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dst &lt; src 时跳到②正向搬；不跳则往下走到③反向搬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为什么必须先判断方向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252B"/>
                </a:solidFill>
                <a:latin typeface="Consolas"/>
              </a:rPr>
              <a:t>memmove(buf+2, buf, 6)  ← dst &gt; src，区间重叠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初始 buf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39" y="228600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28600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28600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28600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28600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39" y="228600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199" y="228600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✗ 如果不判断方向、永远正向搬（错误）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39" y="365760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657600"/>
            <a:ext cx="1188719" cy="777240"/>
          </a:xfrm>
          <a:prstGeom prst="rect">
            <a:avLst/>
          </a:prstGeom>
          <a:solidFill>
            <a:srgbClr val="A4444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3657600"/>
            <a:ext cx="1188719" cy="777240"/>
          </a:xfrm>
          <a:prstGeom prst="rect">
            <a:avLst/>
          </a:prstGeom>
          <a:solidFill>
            <a:srgbClr val="A4444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3657600"/>
            <a:ext cx="1188719" cy="777240"/>
          </a:xfrm>
          <a:prstGeom prst="rect">
            <a:avLst/>
          </a:prstGeom>
          <a:solidFill>
            <a:srgbClr val="A4444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3657600"/>
            <a:ext cx="1188719" cy="777240"/>
          </a:xfrm>
          <a:prstGeom prst="rect">
            <a:avLst/>
          </a:prstGeom>
          <a:solidFill>
            <a:srgbClr val="A4444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39" y="3657600"/>
            <a:ext cx="1188719" cy="777240"/>
          </a:xfrm>
          <a:prstGeom prst="rect">
            <a:avLst/>
          </a:prstGeom>
          <a:solidFill>
            <a:srgbClr val="A4444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199" y="3657600"/>
            <a:ext cx="1188719" cy="777240"/>
          </a:xfrm>
          <a:prstGeom prst="rect">
            <a:avLst/>
          </a:prstGeom>
          <a:solidFill>
            <a:srgbClr val="A4444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17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✓ 真实 memmove：判断方向后反向搬（正确）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02920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39" y="502920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5029200"/>
            <a:ext cx="1188719" cy="777240"/>
          </a:xfrm>
          <a:prstGeom prst="rect">
            <a:avLst/>
          </a:prstGeom>
          <a:solidFill>
            <a:srgbClr val="2A7E4E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5029200"/>
            <a:ext cx="1188719" cy="777240"/>
          </a:xfrm>
          <a:prstGeom prst="rect">
            <a:avLst/>
          </a:prstGeom>
          <a:solidFill>
            <a:srgbClr val="2A7E4E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5029200"/>
            <a:ext cx="1188719" cy="777240"/>
          </a:xfrm>
          <a:prstGeom prst="rect">
            <a:avLst/>
          </a:prstGeom>
          <a:solidFill>
            <a:srgbClr val="2A7E4E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5029200"/>
            <a:ext cx="1188719" cy="777240"/>
          </a:xfrm>
          <a:prstGeom prst="rect">
            <a:avLst/>
          </a:prstGeom>
          <a:solidFill>
            <a:srgbClr val="2A7E4E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39" y="5029200"/>
            <a:ext cx="1188719" cy="777240"/>
          </a:xfrm>
          <a:prstGeom prst="rect">
            <a:avLst/>
          </a:prstGeom>
          <a:solidFill>
            <a:srgbClr val="2A7E4E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199" y="5029200"/>
            <a:ext cx="1188719" cy="777240"/>
          </a:xfrm>
          <a:prstGeom prst="rect">
            <a:avLst/>
          </a:prstGeom>
          <a:solidFill>
            <a:srgbClr val="2A7E4E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89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dst 比 src 靠后：正向搬会读到刚被自己写坏的数据，必然出错，不是运气不好。真实 memmove 靠 sltu 提前判断，改从后往前搬。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memmove 的两条路径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方向不同，骨架同构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93B"/>
                </a:solidFill>
                <a:latin typeface="Cambria"/>
              </a:rPr>
              <a:t>② dst &lt; src：正向搬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ld.bu   $t1, $a1, 0</a:t>
            </a:r>
          </a:p>
          <a:p>
            <a:pPr>
              <a:spcAft>
                <a:spcPts val="2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st.b    $t1, $a0, 0</a:t>
            </a:r>
          </a:p>
          <a:p>
            <a:pPr>
              <a:spcAft>
                <a:spcPts val="2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addi.d  $a0, $a0, 1</a:t>
            </a:r>
          </a:p>
          <a:p>
            <a:pPr>
              <a:spcAft>
                <a:spcPts val="2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addi.d  $a1, $a1, 1</a:t>
            </a:r>
          </a:p>
          <a:p>
            <a:pPr>
              <a:spcAft>
                <a:spcPts val="2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bnez    $a2, 2b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3931920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9385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93B"/>
                </a:solidFill>
                <a:latin typeface="Cambria"/>
              </a:rPr>
              <a:t>③ dst ≥ src：反向搬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42316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add.d   $a0, $a0, $a2</a:t>
            </a:r>
          </a:p>
          <a:p>
            <a:pPr>
              <a:spcAft>
                <a:spcPts val="2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add.d   $a1, $a1, $a2</a:t>
            </a:r>
          </a:p>
          <a:p>
            <a:pPr>
              <a:spcAft>
                <a:spcPts val="2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...</a:t>
            </a:r>
          </a:p>
          <a:p>
            <a:pPr>
              <a:spcAft>
                <a:spcPts val="2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ld.bu   $t1, $a1, 0</a:t>
            </a:r>
          </a:p>
          <a:p>
            <a:pPr>
              <a:spcAft>
                <a:spcPts val="2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st.b    $t1, $a0, 0</a:t>
            </a:r>
          </a:p>
          <a:p>
            <a:pPr>
              <a:spcAft>
                <a:spcPts val="2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bnez    $a2, 1b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06440"/>
            <a:ext cx="5394960" cy="822960"/>
          </a:xfrm>
          <a:prstGeom prst="roundRect">
            <a:avLst>
              <a:gd name="adj" fmla="val 111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9436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指针 +1，和 memcpy 循环体完全一样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806440"/>
            <a:ext cx="5394960" cy="822960"/>
          </a:xfrm>
          <a:prstGeom prst="roundRect">
            <a:avLst>
              <a:gd name="adj" fmla="val 111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59436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先把指针移到最后一字节，指针 -1，从后往前搬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方向图 ①：dst &lt; src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252B"/>
                </a:solidFill>
                <a:latin typeface="Consolas"/>
              </a:rPr>
              <a:t>memmove(buf, buf+2,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调用前（蓝色 = 会被读取的 6 字节）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39" y="233172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331720"/>
            <a:ext cx="1188719" cy="777240"/>
          </a:xfrm>
          <a:prstGeom prst="rect">
            <a:avLst/>
          </a:prstGeom>
          <a:solidFill>
            <a:srgbClr val="1C53A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331720"/>
            <a:ext cx="1188719" cy="777240"/>
          </a:xfrm>
          <a:prstGeom prst="rect">
            <a:avLst/>
          </a:prstGeom>
          <a:solidFill>
            <a:srgbClr val="1C53A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331720"/>
            <a:ext cx="1188719" cy="777240"/>
          </a:xfrm>
          <a:prstGeom prst="rect">
            <a:avLst/>
          </a:prstGeom>
          <a:solidFill>
            <a:srgbClr val="1C53A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331720"/>
            <a:ext cx="1188719" cy="777240"/>
          </a:xfrm>
          <a:prstGeom prst="rect">
            <a:avLst/>
          </a:prstGeom>
          <a:solidFill>
            <a:srgbClr val="1C53A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39" y="2331720"/>
            <a:ext cx="1188719" cy="777240"/>
          </a:xfrm>
          <a:prstGeom prst="rect">
            <a:avLst/>
          </a:prstGeom>
          <a:solidFill>
            <a:srgbClr val="1C53A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199" y="2331720"/>
            <a:ext cx="1188719" cy="777240"/>
          </a:xfrm>
          <a:prstGeom prst="rect">
            <a:avLst/>
          </a:prstGeom>
          <a:solidFill>
            <a:srgbClr val="1C53A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525E"/>
                </a:solidFill>
                <a:latin typeface="Microsoft YaHe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调用后（橙色 = 被写入，灰色 = 没动）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39" y="411480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411480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11480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411480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411480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39" y="411480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199" y="411480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蓝色 = 调用前会被读取的 6 字节；橙色 = 调用后被写入的位置；灰色 = 完全没动。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方向图 ②：dst ≥ src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252B"/>
                </a:solidFill>
                <a:latin typeface="Consolas"/>
              </a:rPr>
              <a:t>memmove(buf+2, buf,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调用前（蓝色 = 会被读取的 6 字节）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1188719" cy="777240"/>
          </a:xfrm>
          <a:prstGeom prst="rect">
            <a:avLst/>
          </a:prstGeom>
          <a:solidFill>
            <a:srgbClr val="1C53A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39" y="2331720"/>
            <a:ext cx="1188719" cy="777240"/>
          </a:xfrm>
          <a:prstGeom prst="rect">
            <a:avLst/>
          </a:prstGeom>
          <a:solidFill>
            <a:srgbClr val="1C53A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331720"/>
            <a:ext cx="1188719" cy="777240"/>
          </a:xfrm>
          <a:prstGeom prst="rect">
            <a:avLst/>
          </a:prstGeom>
          <a:solidFill>
            <a:srgbClr val="1C53A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331720"/>
            <a:ext cx="1188719" cy="777240"/>
          </a:xfrm>
          <a:prstGeom prst="rect">
            <a:avLst/>
          </a:prstGeom>
          <a:solidFill>
            <a:srgbClr val="1C53A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331720"/>
            <a:ext cx="1188719" cy="777240"/>
          </a:xfrm>
          <a:prstGeom prst="rect">
            <a:avLst/>
          </a:prstGeom>
          <a:solidFill>
            <a:srgbClr val="1C53A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331720"/>
            <a:ext cx="1188719" cy="777240"/>
          </a:xfrm>
          <a:prstGeom prst="rect">
            <a:avLst/>
          </a:prstGeom>
          <a:solidFill>
            <a:srgbClr val="1C53A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39" y="233172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199" y="2331720"/>
            <a:ext cx="1188719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22252B"/>
                </a:solidFill>
                <a:latin typeface="Consolas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525E"/>
                </a:solidFill>
                <a:latin typeface="Microsoft YaHe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调用后（橙色 = 被写入，灰色 = 没动）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39" y="411480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411480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11480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411480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411480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39" y="411480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199" y="411480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同一批源字节，这次写到更靠右的位置——方向反了，走的是③反向搬那条路径。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strlen / strcmp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量长度，比内容——两种不同的循环判结束方式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strlen：量一个 C 字符串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size_t strlen(const char *s)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669280" cy="3456431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0" y="1783080"/>
            <a:ext cx="5166360" cy="3456431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move   $t0, $a0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21031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1031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$t0 记住起点地址——最后要用来算长度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89503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89503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ld.bu  $t1, $a0, 0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889503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89503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逐字节读，无符号加载，不会因符号扩展出错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675887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7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beqz   $t1, 2f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367588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675887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判结束靠这个字节是不是 '\0'，不是计数器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462272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622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sub.d  $a0, $a0, $t0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44622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46227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sub.d 用当前地址减起点，一步得到长度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strcmp：判断顺序不能反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int strcmp(const char *a, const char *b)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4526279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5340096"/>
            <a:ext cx="6035040" cy="530352"/>
          </a:xfrm>
          <a:prstGeom prst="roundRect">
            <a:avLst>
              <a:gd name="adj" fmla="val 10345"/>
            </a:avLst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strcmp: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61487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1: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  ld.bu $t0, $a0,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7822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  ld.bu $t1, $a1,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3659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  bne   $t0, $t1, 2f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9495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ourier New"/>
              </a:rPr>
              <a:t>  beqz  $t0, 3f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783080"/>
            <a:ext cx="4343400" cy="4526279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14884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1E2761"/>
                </a:solidFill>
                <a:latin typeface="Calibr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97180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238"/>
                </a:solidFill>
                <a:latin typeface="Cambria"/>
              </a:rPr>
              <a:t>为什么 beqz 必须放在 bne 之后？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657600"/>
            <a:ext cx="3611880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A2238"/>
                </a:solidFill>
                <a:latin typeface="Microsoft YaHei"/>
              </a:rPr>
              <a:t>先判 beqz 会有风险：只看 *a 是不是 '\0'，没确认 *b 是否也结束——比如 a=""、b="x" 会被误判成相等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A2238"/>
                </a:solidFill>
                <a:latin typeface="Microsoft YaHei"/>
              </a:rPr>
              <a:t>必须先用 bne 确认两个字节相同，这时才能用 beqz 安全判断是否同时到达 '\0'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zero_and_copy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本课唯一的非叶子函数：把前面三个函数接起来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为什么不能只用 memcpy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buf 初始：栈上的旧数据，内容不确定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2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39" y="187452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87452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87452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7452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87452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✗ 只用 memcpy(buf,"hi7",3)：第 3 格起仍是旧垃圾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39" y="324612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24612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324612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324612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3246120"/>
            <a:ext cx="1188719" cy="777240"/>
          </a:xfrm>
          <a:prstGeom prst="rect">
            <a:avLst/>
          </a:prstGeom>
          <a:solidFill>
            <a:srgbClr val="D0D6E0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4A525E"/>
                </a:solidFill>
                <a:latin typeface="Consola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✓ zero_and_copy(buf,"hi7",6)：先清零，天然以 \0 结尾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39" y="461772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4617720"/>
            <a:ext cx="1188719" cy="777240"/>
          </a:xfrm>
          <a:prstGeom prst="rect">
            <a:avLst/>
          </a:prstGeom>
          <a:solidFill>
            <a:srgbClr val="B85F22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59" y="4617720"/>
            <a:ext cx="1188719" cy="777240"/>
          </a:xfrm>
          <a:prstGeom prst="rect">
            <a:avLst/>
          </a:prstGeom>
          <a:solidFill>
            <a:srgbClr val="2A7E4E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4617720"/>
            <a:ext cx="1188719" cy="777240"/>
          </a:xfrm>
          <a:prstGeom prst="rect">
            <a:avLst/>
          </a:prstGeom>
          <a:solidFill>
            <a:srgbClr val="2A7E4E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4617720"/>
            <a:ext cx="1188719" cy="777240"/>
          </a:xfrm>
          <a:prstGeom prst="rect">
            <a:avLst/>
          </a:prstGeom>
          <a:solidFill>
            <a:srgbClr val="2A7E4E"/>
          </a:solidFill>
          <a:ln w="19050">
            <a:solidFill>
              <a:srgbClr val="22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printk 靠 '\0' 判断字符串结束——只用 memcpy 会留下不确定的垃圾字节；zero_and_copy 先清零，从根上避免这个隐患。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zero_and_copy：伸栈保活 + 三次调用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void *zero_and_copy(void *dst, const char *src, size_t dst_size)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669280" cy="4242816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0" y="1783080"/>
            <a:ext cx="5166360" cy="4242816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addi.d $sp, $sp, -32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21031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1031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伸栈 32 字节——$ra/$s0/$s1 三个寄存器凑够 16 字节对齐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89503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89503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st.d   $s0, $sp, 16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889503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89503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$s0/$s1（连同 $ra）先存起来，接下来三次调用会覆盖它们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675887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7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move   $s0, $a0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367588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675887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dst 转存到 $s0——$a0 马上要被 memset 的参数占用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462272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622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move   $a1, $zero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44622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46227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只需把 $a1 换成 0，$a0/$a2 已经是 memset 要的 dst/dst_size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248656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24865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ourier New"/>
              </a:rPr>
              <a:t>bl     memset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524865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52486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第一次调用：memset(dst, 0, dst_size) 清零整块缓冲区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zero_and_copy：谁扛过了三次调用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$s0/$s1/$ra 全程不变，callee-saved 的意义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029200" cy="4206240"/>
          </a:xfrm>
          <a:prstGeom prst="roundRect">
            <a:avLst>
              <a:gd name="adj" fmla="val 2600"/>
            </a:avLst>
          </a:prstGeom>
          <a:solidFill>
            <a:srgbClr val="1E2761"/>
          </a:solidFill>
          <a:ln>
            <a:noFill/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38912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zero_and_copy:</a:t>
            </a:r>
          </a:p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    st.d  $ra,$sp,24</a:t>
            </a:r>
          </a:p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    st.d  $s0,$sp,16</a:t>
            </a:r>
          </a:p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    st.d  $s1,$sp,8</a:t>
            </a:r>
          </a:p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    move  $s0,$a0</a:t>
            </a:r>
          </a:p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    move  $s1,$a1</a:t>
            </a:r>
          </a:p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    bl    memset</a:t>
            </a:r>
          </a:p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    bl    strlen</a:t>
            </a:r>
          </a:p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    bl    memcpy</a:t>
            </a:r>
          </a:p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    ld.d  ...恢复</a:t>
            </a:r>
          </a:p>
          <a:p>
            <a:pPr>
              <a:spcAft>
                <a:spcPts val="300"/>
              </a:spcAft>
            </a:pPr>
            <a:r>
              <a:rPr sz="2400" b="0">
                <a:solidFill>
                  <a:srgbClr val="CADCFC"/>
                </a:solidFill>
                <a:latin typeface="Courier New"/>
              </a:rPr>
              <a:t>    jr    $ra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783080"/>
          <a:ext cx="56692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6400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时刻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$s0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$s1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$ra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入口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dst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src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R0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memset 后</a:t>
                      </a:r>
                    </a:p>
                  </a:txBody>
                  <a:tcPr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dst</a:t>
                      </a:r>
                    </a:p>
                  </a:txBody>
                  <a:tcPr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src</a:t>
                      </a:r>
                    </a:p>
                  </a:txBody>
                  <a:tcPr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R0</a:t>
                      </a:r>
                    </a:p>
                  </a:txBody>
                  <a:tcPr>
                    <a:solidFill>
                      <a:srgbClr val="F4F7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strlen 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dst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src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R0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memcpy 后</a:t>
                      </a:r>
                    </a:p>
                  </a:txBody>
                  <a:tcPr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dst</a:t>
                      </a:r>
                    </a:p>
                  </a:txBody>
                  <a:tcPr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src</a:t>
                      </a:r>
                    </a:p>
                  </a:txBody>
                  <a:tcPr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R0</a:t>
                      </a:r>
                    </a:p>
                  </a:txBody>
                  <a:tcPr>
                    <a:solidFill>
                      <a:srgbClr val="F4F7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恢复后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dst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src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A2238"/>
                          </a:solidFill>
                          <a:latin typeface="Microsoft YaHei"/>
                        </a:rPr>
                        <a:t>R0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585216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238"/>
                </a:solidFill>
                <a:latin typeface="Calibri"/>
              </a:rPr>
              <a:t>三个寄存器全程未变——callee-saved 就是靠这份“不变”的承诺，撑过中间任意多次调用；$a0-$a2/$t0-$t8 做不到。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真实运行结果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六个函数的调用全部在 kernel/main.c 里真实验收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7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真实串口输出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memset n=0 : buf[0]='X' (未改动)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memset n=1 : buf[0]='Z' buf[1]='X'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memcpy n=0: dst[0]='X' (未改动)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memcpy n=1: dst[0]='A' dst[1]='X'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strlen ""  : len = 0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zero_and_copy: greet="hi7"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strcmp verified: greet == "hi7"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strcmp verified: greet != "hi8"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memmove left  (dst&lt;src): CDEFGHGH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memmove right (dst&gt;src): ABABCDEF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week07-libc-asm check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make clean &amp;&amp; make &amp;&amp; make run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memmove 两行与前面两张方向图的预测完全一致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延伸：8 字节批量优化的三段式思路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不必一次实现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3931920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3767328"/>
            <a:ext cx="365760" cy="365760"/>
          </a:xfrm>
          <a:prstGeom prst="ellipse">
            <a:avLst/>
          </a:prstGeom>
          <a:solidFill>
            <a:srgbClr val="F2A93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238"/>
                </a:solidFill>
                <a:latin typeface="Calibri"/>
              </a:rPr>
              <a:t>头部对齐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逐字节处理到 8 字节边界</a:t>
            </a:r>
          </a:p>
        </p:txBody>
      </p:sp>
      <p:sp>
        <p:nvSpPr>
          <p:cNvPr id="10" name="Oval 9"/>
          <p:cNvSpPr/>
          <p:nvPr/>
        </p:nvSpPr>
        <p:spPr>
          <a:xfrm>
            <a:off x="5852159" y="3767328"/>
            <a:ext cx="365760" cy="365760"/>
          </a:xfrm>
          <a:prstGeom prst="ellipse">
            <a:avLst/>
          </a:prstGeom>
          <a:solidFill>
            <a:srgbClr val="F2A93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4114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238"/>
                </a:solidFill>
                <a:latin typeface="Calibri"/>
              </a:rPr>
              <a:t>批量搬运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892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改用 ld.d/st.d</a:t>
            </a:r>
          </a:p>
        </p:txBody>
      </p:sp>
      <p:sp>
        <p:nvSpPr>
          <p:cNvPr id="14" name="Oval 13"/>
          <p:cNvSpPr/>
          <p:nvPr/>
        </p:nvSpPr>
        <p:spPr>
          <a:xfrm>
            <a:off x="10424160" y="3767328"/>
            <a:ext cx="365760" cy="365760"/>
          </a:xfrm>
          <a:prstGeom prst="ellipse">
            <a:avLst/>
          </a:prstGeom>
          <a:solidFill>
            <a:srgbClr val="F2A93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238"/>
                </a:solidFill>
                <a:latin typeface="Calibri"/>
              </a:rPr>
              <a:t>尾部残余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9718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不足 8 字节的部分逐字节收尾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dst 起始地址不一定 8 字节对齐，直接用 st.d 可能触发未对齐异常——真实 IFUNC 版本一次搬 16/32/64 字节，思路完全一样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93B"/>
                </a:solidFill>
                <a:latin typeface="Calibri"/>
              </a:rP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2238"/>
                </a:solidFill>
                <a:latin typeface="Cambria"/>
              </a:rPr>
              <a:t>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六个函数，一份 miniOS 自己的 libc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822960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2A93B"/>
                </a:solidFill>
                <a:latin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统一的 libc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六个函数合在一起，就是 miniOS 自己的一份最小 libc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07208"/>
            <a:ext cx="11064240" cy="822960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852928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2A93B"/>
                </a:solidFill>
                <a:latin typeface="Microsoft YaHei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0720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叶子函数骨架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07208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memset/memcpy/strlen/strcmp 用同一种循环骨架，不碰 $ra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31336"/>
            <a:ext cx="11064240" cy="822960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3877056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2A93B"/>
                </a:solidFill>
                <a:latin typeface="Microsoft YaHei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31336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memmove 的通用性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831336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先判方向（sltu），再选一条安全路径，是 memcpy 的通用版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55464"/>
            <a:ext cx="11064240" cy="822960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 w="12700">
            <a:solidFill>
              <a:srgbClr val="E2E7F0"/>
            </a:solidFill>
          </a:ln>
          <a:effectLst>
            <a:outerShdw blurRad="203200" dist="889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901184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2A93B"/>
                </a:solidFill>
                <a:latin typeface="Microsoft YaHei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55464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zero_and_copy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855464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478"/>
                </a:solidFill>
                <a:latin typeface="Calibri"/>
              </a:rPr>
              <a:t>唯一的非叶子函数：$s0/$s1/$ra 跨三次 bl 保活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