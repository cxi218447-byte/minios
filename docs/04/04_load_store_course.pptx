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90"/>
  </p:notesMasterIdLst>
  <p:sldIdLst>
    <p:sldId id="260" r:id="rId3"/>
    <p:sldId id="261" r:id="rId4"/>
    <p:sldId id="262" r:id="rId5"/>
    <p:sldId id="263" r:id="rId6"/>
    <p:sldId id="264" r:id="rId7"/>
    <p:sldId id="256" r:id="rId8"/>
    <p:sldId id="257" r:id="rId9"/>
    <p:sldId id="258" r:id="rId10"/>
    <p:sldId id="259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45" r:id="rId20"/>
    <p:sldId id="346" r:id="rId21"/>
    <p:sldId id="347" r:id="rId22"/>
    <p:sldId id="273" r:id="rId23"/>
    <p:sldId id="274" r:id="rId24"/>
    <p:sldId id="275" r:id="rId25"/>
    <p:sldId id="340" r:id="rId26"/>
    <p:sldId id="341" r:id="rId27"/>
    <p:sldId id="342" r:id="rId28"/>
    <p:sldId id="343" r:id="rId29"/>
    <p:sldId id="344" r:id="rId30"/>
    <p:sldId id="277" r:id="rId31"/>
    <p:sldId id="278" r:id="rId32"/>
    <p:sldId id="312" r:id="rId33"/>
    <p:sldId id="313" r:id="rId34"/>
    <p:sldId id="314" r:id="rId35"/>
    <p:sldId id="281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282" r:id="rId45"/>
    <p:sldId id="283" r:id="rId46"/>
    <p:sldId id="284" r:id="rId47"/>
    <p:sldId id="285" r:id="rId48"/>
    <p:sldId id="355" r:id="rId49"/>
    <p:sldId id="286" r:id="rId50"/>
    <p:sldId id="287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288" r:id="rId60"/>
    <p:sldId id="289" r:id="rId61"/>
    <p:sldId id="290" r:id="rId62"/>
    <p:sldId id="291" r:id="rId63"/>
    <p:sldId id="292" r:id="rId64"/>
    <p:sldId id="298" r:id="rId65"/>
    <p:sldId id="299" r:id="rId66"/>
    <p:sldId id="300" r:id="rId67"/>
    <p:sldId id="333" r:id="rId68"/>
    <p:sldId id="334" r:id="rId69"/>
    <p:sldId id="335" r:id="rId70"/>
    <p:sldId id="336" r:id="rId71"/>
    <p:sldId id="337" r:id="rId72"/>
    <p:sldId id="338" r:id="rId73"/>
    <p:sldId id="339" r:id="rId74"/>
    <p:sldId id="348" r:id="rId75"/>
    <p:sldId id="301" r:id="rId76"/>
    <p:sldId id="302" r:id="rId77"/>
    <p:sldId id="303" r:id="rId78"/>
    <p:sldId id="349" r:id="rId79"/>
    <p:sldId id="305" r:id="rId80"/>
    <p:sldId id="350" r:id="rId81"/>
    <p:sldId id="351" r:id="rId82"/>
    <p:sldId id="352" r:id="rId83"/>
    <p:sldId id="353" r:id="rId84"/>
    <p:sldId id="354" r:id="rId85"/>
    <p:sldId id="306" r:id="rId86"/>
    <p:sldId id="307" r:id="rId87"/>
    <p:sldId id="308" r:id="rId88"/>
    <p:sldId id="311" r:id="rId8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5" d="100"/>
          <a:sy n="35" d="100"/>
        </p:scale>
        <p:origin x="72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67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4905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6057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0571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【为什么CPU会乱序执行】
现代CPU是超标量、乱序执行(Out-of-Order Execution)架构。指令译码、寄存器重命名后进入保留站(Reservation Station)，操作数一旦就绪就可立即执行，不必等待程序顺序中排在前面、但操作数未就绪的指令，从而填满执行单元空闲周期，提高IPC。
1. 流水线与多发射：乱序执行避免慢指令阻塞后续无关指令。
2. 存储访问延迟不均：Cache Miss、访问主存的延迟远高于寄存器运算；严格按序执行会让一条慢load阻塞后面所有指令，乱序执行+Load/Store Queue允许无依赖的后续指令先执行。
3. Store Buffer(写缓冲)：Store指令的数据先写入Store Buffer，不立即写到Cache/内存；虽然本核可以通过store-to-load forwarding立刻读到自己刚写的值，但对其他核来说，这次Store是"延迟可见"的。
4. Cache一致性协议的传播延迟：多核下，一个核对某Cache Line的写入需要通过MESI等协议广播失效消息，各核感知的时间点不同，导致不同核观察到的内存操作全局顺序可能不一致。
5. 编译器/硬件重排：编译器优化在保证单线程语义不变的前提下也会调整指令顺序；单核内部通过重排序缓冲区(ROB)保证退休(commit)顺序，"乱序"主要体现在执行阶段以及多核间内存操作的可见顺序上。
【为什么需要栅障(Barrier)指令 —— 补充讲解用】
单核内的program order是正确的，但这不代表多核间"内存操作的全局可见顺序"正确。例如Dekker/Peterson算法、生产者-消费者模型都要求：一个核先写完数据、再写标志位，另一个核看到标志位置位后，读到的数据必须是最新的。如果没有屏障，由于Store Buffer和Cache一致性传播延迟，核A的写入顺序在核B看来可能是反的。
【龙芯(LoongArch)的栅障指令 —— 补充讲解用】
- DBAR (Data Barrier，数据屏障)：保证屏障之前的访存操作，相对于屏障之后的访存操作，在多核全局可见顺序上不会被重排。DBAR带一个hint立即数，不同hint值可约束更细粒度的顺序组合(如Load-Load、Load-Store、Store-Store等)，类似其他架构中fence指令的变种。
- IBAR (Instruction Barrier，指令屏障)：主要用于自修改代码(Self-Modifying Code, SMC)场景，保证在此指令之前对代码段的写入，在此指令之后取指时一定能看到最新内容——因为CPU通常有独立的I-Cache，写D-Cache不会自动使I-Cache失效。
一句话总结：DBAR管数据访存顺序，IBAR管取指令与代码修改之间的顺序；它们的作用都是在编译器/硬件默认允许乱序优化的前提下，人为"画一条线"，告诉CPU这条线两侧的访存操作不能互相穿越。
【课堂讲解建议】
本页幻灯片只保留"为什么乱序"一栏，讲解完5点原因后，可以口头过渡到"那么怎么控制这种乱序"，引出DBAR/IBAR（内容见上，可结合自旋锁加解锁、内核JIT自修改代码等例子）。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82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8124B-19A2-DAC8-EA77-12A24BFE6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9DC016-771F-F230-EC0B-CCA733886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BB329-70A8-BEE2-CCB4-5194DA9EB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A9763F-D5DE-4B63-B634-1AE106A67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10CF37-9AB9-4AB5-0031-24EADA53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6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A8545-714C-7D51-8343-4B9BE10E9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05B256-B1C6-A319-07AC-BA01A4EFB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BEBF2A-75A2-796B-C7AA-6D6E27C8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EA88D7-E467-8E21-4A5C-DC2827B4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AB51A1-9AAE-9139-32B6-C21D9B88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62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6D143-EC54-3C94-5A29-2F62AA26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C490DF-7EE7-9DFE-D87E-BB9CE3BC9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416E68-43B1-92E5-E127-9EAEF606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A06918-6488-331E-CB8D-03F3D5E5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64F04-A28F-20B7-4039-7287A3BD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833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26AC9-3E87-AC04-5203-C805008F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E5593A-7E77-5574-E557-83747EB77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641217-0D7F-B68C-0FE6-AD7EBA29D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24DED8-98DA-49C8-1069-EDF9D50B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F5103D-4B7B-67B7-A7EC-78B530A4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71EB94-8D00-3CBC-0FAC-CF1492C7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92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256D7-9C8C-ABF7-6220-D2D9AC652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936569-49F7-0EA8-5C78-B9216F625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358615-D0C0-1A49-B868-BC0216788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E4E12F-BBD4-D4C1-60F2-9E6896753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CF620C-1FA7-BCD6-9685-50A1A1944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99FD63-6DC9-12E3-FEA7-889A0C92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F3AC0F-5053-75EC-3E13-645DD0B35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F7D3E8-BCFE-514F-5512-B11D0662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691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DB588-9531-DB96-6529-B809FE93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0DA22D-5A7C-ED92-0A42-D549B9A7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156929-CF48-E147-28D1-8F2A8F72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9F08BB-70F9-6867-0A7D-1E96E3625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20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832049-D19B-9FF2-0BD1-74D5287F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C53AE6-D9B9-CCD1-D1B7-DEE2E6302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BE60A-82D7-CCD9-FB56-90E9F286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21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B4261-E46B-3FBD-506A-454FE32E2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A6310E-2D2B-2BA5-7676-8DC189A2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660E59-B95A-1A9F-FD0F-BDBAFE03D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120318-3455-927A-125F-A8F50C63C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1B9FAC-EDDD-743A-04D8-E65F5E26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2B9C15-E70C-E422-BFD7-E14DCCB7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07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4B008-E9C1-EC53-7549-7EC326AFB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D0F721-1F51-F0DF-9281-019A3384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30BA11-9B46-05ED-08F0-175DBF73C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564C1E-6FA9-4689-68C3-66EBF612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7EEA67-6C33-8870-AE45-928752489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5E2D96-F51A-7D60-FDE5-8846BA24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000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2DFBC-52AD-7D55-2280-DDDF3128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696E8A-3418-A664-364D-FF9C306D4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A06F71-005B-6214-6C14-0D954882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FFCD86-9BFB-2E96-9FB3-40D9844B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86C796-B62E-D1E9-D762-E5133D7D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73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DC3FAA-5F3D-2376-31F9-45A3D48FB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7F07A1-654B-F111-E142-42B2566AC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C0B26B-F020-51D6-4B40-5E4884DD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D7D753-981F-4C13-3039-953B19E7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A0A20-FB84-918D-4A3E-352C58C1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66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D0D009-B8C1-7C62-B553-6244310A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65F410-516A-CE9B-EA1E-DD4DBC3A0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E6A90F-EA96-D1FC-97A3-D376FCE9B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B40E-B2DB-4E8F-8DAE-46CFA05C1BE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EB1F7-D667-F3AB-7556-11B09A900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87687-A5C9-3392-2752-068B159E4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1E475-37D8-48BB-8F1D-926004F9B5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90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xi218447-byte.github.io/miniO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xi218447-byte.github.io/miniOS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cxi218447-byte.github.io/miniOS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A721983-68B8-A5BF-543D-D287D06EE21B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93AE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访存指令与内存数据组织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寄存器 ↔ 内存 ↔ 设备：用 load/store 统一解释 .data/.bss 与 UART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B1DA51-ACD9-AD12-F422-D48DA205C961}"/>
              </a:ext>
            </a:extLst>
          </p:cNvPr>
          <p:cNvSpPr txBox="1"/>
          <p:nvPr/>
        </p:nvSpPr>
        <p:spPr>
          <a:xfrm>
            <a:off x="8445500" y="4724400"/>
            <a:ext cx="444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7084A3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+mn-cs"/>
              </a:rPr>
              <a:t>1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7084A3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C3DD08A-4BD1-DF29-5364-AABAD6E88A7B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93AE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本课要解决什么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不会访存，就无法理解全局变量、栈帧、字符串和串口输出。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28BAAB-F2AC-DAF7-DB9C-E61CE84E2C25}"/>
              </a:ext>
            </a:extLst>
          </p:cNvPr>
          <p:cNvSpPr txBox="1"/>
          <p:nvPr/>
        </p:nvSpPr>
        <p:spPr>
          <a:xfrm>
            <a:off x="8445500" y="4724400"/>
            <a:ext cx="444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7084A3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+mn-cs"/>
              </a:rPr>
              <a:t>2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7084A3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3B3E3EA-926E-D532-991D-911D42DFCC3F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93AE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本课目标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说明：地址是整数；指针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=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保存地址的寄存器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63552"/>
              </a:solidFill>
              <a:effectLst/>
              <a:uLnTx/>
              <a:uFillTx/>
              <a:latin typeface="Aptos" panose="020B0004020202020204" pitchFamily="34" charset="0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会用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ld.d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/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st.d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/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ld.bu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/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st.b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63552"/>
              </a:solidFill>
              <a:effectLst/>
              <a:uLnTx/>
              <a:uFillTx/>
              <a:latin typeface="Aptos" panose="020B0004020202020204" pitchFamily="34" charset="0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理解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有效地址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=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基址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+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偏移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63552"/>
              </a:solidFill>
              <a:effectLst/>
              <a:uLnTx/>
              <a:uFillTx/>
              <a:latin typeface="Aptos" panose="020B0004020202020204" pitchFamily="34" charset="0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解释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clear_bss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的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st.b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 与 UART 的 MMIO 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建立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对齐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的基本概念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63552"/>
              </a:solidFill>
              <a:effectLst/>
              <a:uLnTx/>
              <a:uFillTx/>
              <a:latin typeface="Aptos" panose="020B00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F9267E-CD99-A654-5AEB-C8364059F348}"/>
              </a:ext>
            </a:extLst>
          </p:cNvPr>
          <p:cNvSpPr txBox="1"/>
          <p:nvPr/>
        </p:nvSpPr>
        <p:spPr>
          <a:xfrm>
            <a:off x="8445500" y="4724400"/>
            <a:ext cx="444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7084A3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+mn-cs"/>
              </a:rPr>
              <a:t>3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7084A3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1EA739F-7F64-99E2-A177-1297278F1C09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93AE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三种“存数据的地方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AFBFD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位置</a:t>
                      </a:r>
                    </a:p>
                  </a:txBody>
                  <a:tcPr anchor="ctr"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AFBFD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特点</a:t>
                      </a:r>
                    </a:p>
                  </a:txBody>
                  <a:tcPr anchor="ctr">
                    <a:solidFill>
                      <a:srgbClr val="1724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AFBFD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例子</a:t>
                      </a:r>
                    </a:p>
                  </a:txBody>
                  <a:tcPr anchor="ctr">
                    <a:solidFill>
                      <a:srgbClr val="172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寄存器</a:t>
                      </a:r>
                    </a:p>
                  </a:txBody>
                  <a:tcPr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极少、极快</a:t>
                      </a:r>
                    </a:p>
                  </a:txBody>
                  <a:tcPr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$t0 里的指针</a:t>
                      </a:r>
                    </a:p>
                  </a:txBody>
                  <a:tcPr anchor="ctr"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内存</a:t>
                      </a:r>
                    </a:p>
                  </a:txBody>
                  <a:tcPr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大，需 load/store</a:t>
                      </a:r>
                    </a:p>
                  </a:txBody>
                  <a:tcPr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数组、全局、栈</a:t>
                      </a:r>
                    </a:p>
                  </a:txBody>
                  <a:tcPr anchor="ctr"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MMIO</a:t>
                      </a:r>
                    </a:p>
                  </a:txBody>
                  <a:tcPr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像内存，副作用在设备</a:t>
                      </a:r>
                    </a:p>
                  </a:txBody>
                  <a:tcPr anchor="ctr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UART </a:t>
                      </a:r>
                      <a:r>
                        <a:rPr sz="2400" b="0" dirty="0" err="1">
                          <a:solidFill>
                            <a:srgbClr val="263552"/>
                          </a:solidFill>
                          <a:latin typeface="Microsoft YaHei"/>
                          <a:ea typeface="Microsoft YaHei" panose="020B0503020204020204" pitchFamily="34" charset="-122"/>
                        </a:rPr>
                        <a:t>寄存器</a:t>
                      </a:r>
                      <a:endParaRPr sz="2400" b="0" dirty="0">
                        <a:solidFill>
                          <a:srgbClr val="263552"/>
                        </a:solidFill>
                        <a:latin typeface="Microsoft YaHei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solidFill>
                      <a:srgbClr val="FA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B07EE10-A254-1B62-DAE7-A21A8C61CD6D}"/>
              </a:ext>
            </a:extLst>
          </p:cNvPr>
          <p:cNvSpPr txBox="1"/>
          <p:nvPr/>
        </p:nvSpPr>
        <p:spPr>
          <a:xfrm>
            <a:off x="8445500" y="4724400"/>
            <a:ext cx="444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7084A3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+mn-cs"/>
              </a:rPr>
              <a:t>4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7084A3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A35F08DC-FD85-2F8B-CF2E-D1F9D9770E56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93AE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6567" y="337008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教学用地址空间（简化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第 2 次课的段，是统一地址空间里的不同区域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9447" y="2212848"/>
            <a:ext cx="193852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322679" y="2395728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2679" y="2468880"/>
            <a:ext cx="512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175" y="3127248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.text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175" y="3721608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7975" y="3401568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8015" y="2212848"/>
            <a:ext cx="193852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581247" y="2395728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81247" y="2468880"/>
            <a:ext cx="512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7743" y="3127248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.rodata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7743" y="3721608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常量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6543" y="3401568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6583" y="2212848"/>
            <a:ext cx="193852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839815" y="2395728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39815" y="2468880"/>
            <a:ext cx="512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6311" y="3127248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.data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6311" y="3721608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有初值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5111" y="3401568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85151" y="2212848"/>
            <a:ext cx="193852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098383" y="2395728"/>
            <a:ext cx="512064" cy="512064"/>
          </a:xfrm>
          <a:prstGeom prst="ellipse">
            <a:avLst/>
          </a:prstGeom>
          <a:solidFill>
            <a:srgbClr val="B8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98383" y="2468880"/>
            <a:ext cx="512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4879" y="3127248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.bss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4879" y="3721608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需清零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3679" y="3401568"/>
            <a:ext cx="320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3719" y="2212848"/>
            <a:ext cx="193852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356951" y="2395728"/>
            <a:ext cx="512064" cy="512064"/>
          </a:xfrm>
          <a:prstGeom prst="ellipse">
            <a:avLst/>
          </a:prstGeom>
          <a:solidFill>
            <a:srgbClr val="A44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356951" y="2468880"/>
            <a:ext cx="512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447" y="3127248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3447" y="3721608"/>
            <a:ext cx="1719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$sp 向低增长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0B1EE46-885E-D1FB-3E47-446DA43D3DE4}"/>
              </a:ext>
            </a:extLst>
          </p:cNvPr>
          <p:cNvSpPr txBox="1"/>
          <p:nvPr/>
        </p:nvSpPr>
        <p:spPr>
          <a:xfrm>
            <a:off x="8445500" y="4724400"/>
            <a:ext cx="444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7084A3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+mn-cs"/>
              </a:rPr>
              <a:t>5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7084A3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822960"/>
            <a:ext cx="621792" cy="621792"/>
          </a:xfrm>
          <a:prstGeom prst="rect">
            <a:avLst/>
          </a:prstGeom>
          <a:solidFill>
            <a:srgbClr val="3B6EA5">
              <a:alpha val="5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03536" y="822960"/>
            <a:ext cx="621792" cy="621792"/>
          </a:xfrm>
          <a:prstGeom prst="rect">
            <a:avLst/>
          </a:prstGeom>
          <a:solidFill>
            <a:srgbClr val="2E8B70">
              <a:alpha val="5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71632" y="822960"/>
            <a:ext cx="621792" cy="621792"/>
          </a:xfrm>
          <a:prstGeom prst="rect">
            <a:avLst/>
          </a:prstGeom>
          <a:solidFill>
            <a:srgbClr val="C1652F">
              <a:alpha val="5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1591056"/>
            <a:ext cx="621792" cy="621792"/>
          </a:xfrm>
          <a:prstGeom prst="rect">
            <a:avLst/>
          </a:prstGeom>
          <a:solidFill>
            <a:srgbClr val="2E8B70">
              <a:alpha val="4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03536" y="1591056"/>
            <a:ext cx="621792" cy="621792"/>
          </a:xfrm>
          <a:prstGeom prst="rect">
            <a:avLst/>
          </a:prstGeom>
          <a:solidFill>
            <a:srgbClr val="C1652F">
              <a:alpha val="4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1632" y="1591056"/>
            <a:ext cx="621792" cy="621792"/>
          </a:xfrm>
          <a:prstGeom prst="rect">
            <a:avLst/>
          </a:prstGeom>
          <a:solidFill>
            <a:srgbClr val="6B4C9A">
              <a:alpha val="4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2359152"/>
            <a:ext cx="621792" cy="621792"/>
          </a:xfrm>
          <a:prstGeom prst="rect">
            <a:avLst/>
          </a:prstGeom>
          <a:solidFill>
            <a:srgbClr val="C1652F">
              <a:alpha val="39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3536" y="2359152"/>
            <a:ext cx="621792" cy="621792"/>
          </a:xfrm>
          <a:prstGeom prst="rect">
            <a:avLst/>
          </a:prstGeom>
          <a:solidFill>
            <a:srgbClr val="6B4C9A">
              <a:alpha val="39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71632" y="2359152"/>
            <a:ext cx="621792" cy="621792"/>
          </a:xfrm>
          <a:prstGeom prst="rect">
            <a:avLst/>
          </a:prstGeom>
          <a:solidFill>
            <a:srgbClr val="3B6EA5">
              <a:alpha val="39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3127248"/>
            <a:ext cx="621792" cy="621792"/>
          </a:xfrm>
          <a:prstGeom prst="rect">
            <a:avLst/>
          </a:prstGeom>
          <a:solidFill>
            <a:srgbClr val="6B4C9A">
              <a:alpha val="31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03536" y="3127248"/>
            <a:ext cx="621792" cy="621792"/>
          </a:xfrm>
          <a:prstGeom prst="rect">
            <a:avLst/>
          </a:prstGeom>
          <a:solidFill>
            <a:srgbClr val="3B6EA5">
              <a:alpha val="31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71632" y="3127248"/>
            <a:ext cx="621792" cy="621792"/>
          </a:xfrm>
          <a:prstGeom prst="rect">
            <a:avLst/>
          </a:prstGeom>
          <a:solidFill>
            <a:srgbClr val="2E8B70">
              <a:alpha val="31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3895344"/>
            <a:ext cx="621792" cy="621792"/>
          </a:xfrm>
          <a:prstGeom prst="rect">
            <a:avLst/>
          </a:prstGeom>
          <a:solidFill>
            <a:srgbClr val="3B6EA5">
              <a:alpha val="23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03536" y="3895344"/>
            <a:ext cx="621792" cy="621792"/>
          </a:xfrm>
          <a:prstGeom prst="rect">
            <a:avLst/>
          </a:prstGeom>
          <a:solidFill>
            <a:srgbClr val="2E8B70">
              <a:alpha val="23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71632" y="3895344"/>
            <a:ext cx="621792" cy="621792"/>
          </a:xfrm>
          <a:prstGeom prst="rect">
            <a:avLst/>
          </a:prstGeom>
          <a:solidFill>
            <a:srgbClr val="C1652F">
              <a:alpha val="23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" y="24688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内存寻址方式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操作数地址是如何被指令定位与计算的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常见寻址方式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指令中操作数地址的六种基本获取方式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109728" cy="621792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立即寻址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196596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操作数直接包含在指令中，无需访存取值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670048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70048"/>
            <a:ext cx="109728" cy="621792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004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寄存器寻址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2670048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操作数存放在寄存器中，访问速度最快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374136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2E8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74136"/>
            <a:ext cx="109728" cy="621792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7413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直接寻址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40480" y="3374136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指令中直接给出操作数所在的内存地址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4078224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2E8B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78224"/>
            <a:ext cx="109728" cy="621792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7822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寄存器间接寻址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840480" y="4078224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寄存器中存放操作数的内存地址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4782312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782312"/>
            <a:ext cx="109728" cy="621792"/>
          </a:xfrm>
          <a:prstGeom prst="roundRect">
            <a:avLst>
              <a:gd name="adj" fmla="val 16667"/>
            </a:avLst>
          </a:prstGeom>
          <a:solidFill>
            <a:srgbClr val="C1652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8231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变址 / 基址寻址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0" y="4782312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基址寄存器 + 偏移量（或变址寄存器）计算地址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7200" y="548640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6B4C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486400"/>
            <a:ext cx="109728" cy="621792"/>
          </a:xfrm>
          <a:prstGeom prst="roundRect">
            <a:avLst>
              <a:gd name="adj" fmla="val 16667"/>
            </a:avLst>
          </a:prstGeom>
          <a:solidFill>
            <a:srgbClr val="6B4C9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8640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相对寻址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840480" y="54864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以当前 PC 为基准加偏移量，常用于跳转指令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有效地址计算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不同寻址方式对应不同的地址生成公式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1247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12264"/>
            <a:ext cx="3291840" cy="621792"/>
          </a:xfrm>
          <a:prstGeom prst="roundRect">
            <a:avLst>
              <a:gd name="adj" fmla="val 10294"/>
            </a:avLst>
          </a:prstGeom>
          <a:solidFill>
            <a:srgbClr val="121D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1226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=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60520" y="1965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直接寻址：A 为指令中给出的地址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990088"/>
            <a:ext cx="11247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36392"/>
            <a:ext cx="3291840" cy="621792"/>
          </a:xfrm>
          <a:prstGeom prst="roundRect">
            <a:avLst>
              <a:gd name="adj" fmla="val 10294"/>
            </a:avLst>
          </a:prstGeom>
          <a:solidFill>
            <a:srgbClr val="121D3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36392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= (R)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60520" y="299008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寄存器间接寻址：EA 取自寄存器 R 的内容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4014216"/>
            <a:ext cx="11247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160520"/>
            <a:ext cx="3291840" cy="621792"/>
          </a:xfrm>
          <a:prstGeom prst="roundRect">
            <a:avLst>
              <a:gd name="adj" fmla="val 10294"/>
            </a:avLst>
          </a:prstGeom>
          <a:solidFill>
            <a:srgbClr val="121D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6052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= (B) + 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60520" y="4014216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基址寻址：基址寄存器 B 的内容 + 偏移量 D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5038344"/>
            <a:ext cx="11247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184648"/>
            <a:ext cx="3291840" cy="621792"/>
          </a:xfrm>
          <a:prstGeom prst="roundRect">
            <a:avLst>
              <a:gd name="adj" fmla="val 10294"/>
            </a:avLst>
          </a:prstGeom>
          <a:solidFill>
            <a:srgbClr val="121D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8464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= (PC) + 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60520" y="5038344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相对寻址：以当前指令地址为基准偏移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对比与总结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访存次数与灵活性的权衡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5138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7780">
            <a:solidFill>
              <a:srgbClr val="3B6E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5513832" cy="594360"/>
          </a:xfrm>
          <a:prstGeom prst="roundRect">
            <a:avLst>
              <a:gd name="adj" fmla="val 15385"/>
            </a:avLst>
          </a:prstGeom>
          <a:solidFill>
            <a:srgbClr val="3B6E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65960"/>
            <a:ext cx="5513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 / 寄存器寻址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无需访存，速度最快，但地址空间/灵活性有限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90488" y="1965960"/>
            <a:ext cx="55138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7780">
            <a:solidFill>
              <a:srgbClr val="2E8B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965960"/>
            <a:ext cx="5513832" cy="594360"/>
          </a:xfrm>
          <a:prstGeom prst="roundRect">
            <a:avLst>
              <a:gd name="adj" fmla="val 15385"/>
            </a:avLst>
          </a:prstGeom>
          <a:solidFill>
            <a:srgbClr val="2E8B70"/>
          </a:solidFill>
          <a:ln/>
        </p:spPr>
      </p:sp>
      <p:sp>
        <p:nvSpPr>
          <p:cNvPr id="10" name="Text 8"/>
          <p:cNvSpPr/>
          <p:nvPr/>
        </p:nvSpPr>
        <p:spPr>
          <a:xfrm>
            <a:off x="6190488" y="1965960"/>
            <a:ext cx="5513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 / 间接寻址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64808" y="269748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1～2 次访存取得操作数，实现简单直观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55138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7780">
            <a:solidFill>
              <a:srgbClr val="C165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86200"/>
            <a:ext cx="5513832" cy="594360"/>
          </a:xfrm>
          <a:prstGeom prst="roundRect">
            <a:avLst>
              <a:gd name="adj" fmla="val 15385"/>
            </a:avLst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86200"/>
            <a:ext cx="5513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变址 / 基址寻址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支持运行时计算地址，适合数组与结构体访问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190488" y="3886200"/>
            <a:ext cx="55138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7780">
            <a:solidFill>
              <a:srgbClr val="6B4C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3886200"/>
            <a:ext cx="5513832" cy="594360"/>
          </a:xfrm>
          <a:prstGeom prst="roundRect">
            <a:avLst>
              <a:gd name="adj" fmla="val 15385"/>
            </a:avLst>
          </a:prstGeom>
          <a:solidFill>
            <a:srgbClr val="6B4C9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3886200"/>
            <a:ext cx="5513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相对寻址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64808" y="4617720"/>
            <a:ext cx="4965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地址与位置无关，便于代码重定位与位置无关代码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822960"/>
            <a:ext cx="621792" cy="621792"/>
          </a:xfrm>
          <a:prstGeom prst="rect">
            <a:avLst/>
          </a:prstGeom>
          <a:solidFill>
            <a:srgbClr val="3B6EA5">
              <a:alpha val="5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03536" y="822960"/>
            <a:ext cx="621792" cy="621792"/>
          </a:xfrm>
          <a:prstGeom prst="rect">
            <a:avLst/>
          </a:prstGeom>
          <a:solidFill>
            <a:srgbClr val="2E8B70">
              <a:alpha val="5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71632" y="822960"/>
            <a:ext cx="621792" cy="621792"/>
          </a:xfrm>
          <a:prstGeom prst="rect">
            <a:avLst/>
          </a:prstGeom>
          <a:solidFill>
            <a:srgbClr val="C1652F">
              <a:alpha val="5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1591056"/>
            <a:ext cx="621792" cy="621792"/>
          </a:xfrm>
          <a:prstGeom prst="rect">
            <a:avLst/>
          </a:prstGeom>
          <a:solidFill>
            <a:srgbClr val="2E8B70">
              <a:alpha val="4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03536" y="1591056"/>
            <a:ext cx="621792" cy="621792"/>
          </a:xfrm>
          <a:prstGeom prst="rect">
            <a:avLst/>
          </a:prstGeom>
          <a:solidFill>
            <a:srgbClr val="C1652F">
              <a:alpha val="4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1632" y="1591056"/>
            <a:ext cx="621792" cy="621792"/>
          </a:xfrm>
          <a:prstGeom prst="rect">
            <a:avLst/>
          </a:prstGeom>
          <a:solidFill>
            <a:srgbClr val="6B4C9A">
              <a:alpha val="4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2359152"/>
            <a:ext cx="621792" cy="621792"/>
          </a:xfrm>
          <a:prstGeom prst="rect">
            <a:avLst/>
          </a:prstGeom>
          <a:solidFill>
            <a:srgbClr val="C1652F">
              <a:alpha val="39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3536" y="2359152"/>
            <a:ext cx="621792" cy="621792"/>
          </a:xfrm>
          <a:prstGeom prst="rect">
            <a:avLst/>
          </a:prstGeom>
          <a:solidFill>
            <a:srgbClr val="6B4C9A">
              <a:alpha val="39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71632" y="2359152"/>
            <a:ext cx="621792" cy="621792"/>
          </a:xfrm>
          <a:prstGeom prst="rect">
            <a:avLst/>
          </a:prstGeom>
          <a:solidFill>
            <a:srgbClr val="B5952C">
              <a:alpha val="39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3127248"/>
            <a:ext cx="621792" cy="621792"/>
          </a:xfrm>
          <a:prstGeom prst="rect">
            <a:avLst/>
          </a:prstGeom>
          <a:solidFill>
            <a:srgbClr val="6B4C9A">
              <a:alpha val="31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03536" y="3127248"/>
            <a:ext cx="621792" cy="621792"/>
          </a:xfrm>
          <a:prstGeom prst="rect">
            <a:avLst/>
          </a:prstGeom>
          <a:solidFill>
            <a:srgbClr val="B5952C">
              <a:alpha val="31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71632" y="3127248"/>
            <a:ext cx="621792" cy="621792"/>
          </a:xfrm>
          <a:prstGeom prst="rect">
            <a:avLst/>
          </a:prstGeom>
          <a:solidFill>
            <a:srgbClr val="3B6EA5">
              <a:alpha val="31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3895344"/>
            <a:ext cx="621792" cy="621792"/>
          </a:xfrm>
          <a:prstGeom prst="rect">
            <a:avLst/>
          </a:prstGeom>
          <a:solidFill>
            <a:srgbClr val="B5952C">
              <a:alpha val="23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03536" y="3895344"/>
            <a:ext cx="621792" cy="621792"/>
          </a:xfrm>
          <a:prstGeom prst="rect">
            <a:avLst/>
          </a:prstGeom>
          <a:solidFill>
            <a:srgbClr val="3B6EA5">
              <a:alpha val="23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71632" y="3895344"/>
            <a:ext cx="621792" cy="621792"/>
          </a:xfrm>
          <a:prstGeom prst="rect">
            <a:avLst/>
          </a:prstGeom>
          <a:solidFill>
            <a:srgbClr val="2E8B70">
              <a:alpha val="23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554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300" normalizeH="0" baseline="0" noProof="0" dirty="0">
                <a:ln>
                  <a:noFill/>
                </a:ln>
                <a:solidFill>
                  <a:srgbClr val="9FB3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LOONGARCH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210312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访存指令体系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 · 边界检查 · 原子访存 · 栅障 · 转移指令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3B6E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178808"/>
            <a:ext cx="164592" cy="164592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977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56432" y="39776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2E8B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75888" y="4178808"/>
            <a:ext cx="164592" cy="164592"/>
          </a:xfrm>
          <a:prstGeom prst="ellipse">
            <a:avLst/>
          </a:prstGeom>
          <a:solidFill>
            <a:srgbClr val="2E8B70"/>
          </a:solidFill>
          <a:ln/>
        </p:spPr>
      </p:sp>
      <p:sp>
        <p:nvSpPr>
          <p:cNvPr id="25" name="Text 23"/>
          <p:cNvSpPr/>
          <p:nvPr/>
        </p:nvSpPr>
        <p:spPr>
          <a:xfrm>
            <a:off x="3959352" y="3977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边界检查访存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64224" y="39776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C165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4178808"/>
            <a:ext cx="164592" cy="164592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8" name="Text 26"/>
          <p:cNvSpPr/>
          <p:nvPr/>
        </p:nvSpPr>
        <p:spPr>
          <a:xfrm>
            <a:off x="6867144" y="3977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68172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6B4C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4882896"/>
            <a:ext cx="164592" cy="164592"/>
          </a:xfrm>
          <a:prstGeom prst="ellipse">
            <a:avLst/>
          </a:prstGeom>
          <a:solidFill>
            <a:srgbClr val="6B4C9A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46817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栅障指令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456432" y="468172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B595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75888" y="4882896"/>
            <a:ext cx="164592" cy="164592"/>
          </a:xfrm>
          <a:prstGeom prst="ellipse">
            <a:avLst/>
          </a:prstGeom>
          <a:solidFill>
            <a:srgbClr val="B5952C"/>
          </a:solidFill>
          <a:ln/>
        </p:spPr>
      </p:sp>
      <p:sp>
        <p:nvSpPr>
          <p:cNvPr id="34" name="Text 32"/>
          <p:cNvSpPr/>
          <p:nvPr/>
        </p:nvSpPr>
        <p:spPr>
          <a:xfrm>
            <a:off x="3959352" y="46817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内容概览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本讲从五个类别系统梳理 LoongArch 的核心指令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12471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929384"/>
            <a:ext cx="457200" cy="457200"/>
          </a:xfrm>
          <a:prstGeom prst="ellipse">
            <a:avLst/>
          </a:prstGeom>
          <a:solidFill>
            <a:srgbClr val="3B6EA5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访存指令总览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05456"/>
            <a:ext cx="112471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560320"/>
            <a:ext cx="457200" cy="457200"/>
          </a:xfrm>
          <a:prstGeom prst="ellipse">
            <a:avLst/>
          </a:prstGeom>
          <a:solidFill>
            <a:srgbClr val="3B6EA5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1600" y="2505456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112471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191256"/>
            <a:ext cx="457200" cy="457200"/>
          </a:xfrm>
          <a:prstGeom prst="ellipse">
            <a:avLst/>
          </a:prstGeom>
          <a:solidFill>
            <a:srgbClr val="2E8B70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3136392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边界检查访存指令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112471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822192"/>
            <a:ext cx="457200" cy="457200"/>
          </a:xfrm>
          <a:prstGeom prst="ellipse">
            <a:avLst/>
          </a:prstGeom>
          <a:solidFill>
            <a:srgbClr val="C1652F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71600" y="3767328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398264"/>
            <a:ext cx="112471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4453128"/>
            <a:ext cx="457200" cy="457200"/>
          </a:xfrm>
          <a:prstGeom prst="ellipse">
            <a:avLst/>
          </a:prstGeom>
          <a:solidFill>
            <a:srgbClr val="6B4C9A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453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71600" y="4398264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栅障指令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112471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5084064"/>
            <a:ext cx="457200" cy="457200"/>
          </a:xfrm>
          <a:prstGeom prst="ellipse">
            <a:avLst/>
          </a:prstGeom>
          <a:solidFill>
            <a:srgbClr val="B5952C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5084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71600" y="502920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5660136"/>
            <a:ext cx="112471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5715000"/>
            <a:ext cx="457200" cy="457200"/>
          </a:xfrm>
          <a:prstGeom prst="ellipse">
            <a:avLst/>
          </a:prstGeom>
          <a:solidFill>
            <a:srgbClr val="5B6B85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371600" y="5660136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对比与总结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指令总览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按用途可分为五类核心指令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606040"/>
            <a:ext cx="731520" cy="73152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23317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54480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完成基本内存读写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79392" y="210312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2606040"/>
            <a:ext cx="731520" cy="731520"/>
          </a:xfrm>
          <a:prstGeom prst="ellipse">
            <a:avLst/>
          </a:prstGeom>
          <a:solidFill>
            <a:srgbClr val="2E8B70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76672" y="23317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边界检查访存指令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76672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访存前判断地址合法性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1584" y="210312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60604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98864" y="23317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98864" y="29718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读—改—写不可分割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368296" y="402336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24328" y="4526280"/>
            <a:ext cx="731520" cy="731520"/>
          </a:xfrm>
          <a:prstGeom prst="ellipse">
            <a:avLst/>
          </a:prstGeom>
          <a:solidFill>
            <a:srgbClr val="6B4C9A"/>
          </a:solidFill>
          <a:ln/>
        </p:spPr>
      </p:sp>
      <p:sp>
        <p:nvSpPr>
          <p:cNvPr id="21" name="Text 19"/>
          <p:cNvSpPr/>
          <p:nvPr/>
        </p:nvSpPr>
        <p:spPr>
          <a:xfrm>
            <a:off x="2624328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65576" y="425196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栅障指令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65576" y="48920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保证访存/取指的执行顺序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90488" y="402336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526280"/>
            <a:ext cx="731520" cy="731520"/>
          </a:xfrm>
          <a:prstGeom prst="ellipse">
            <a:avLst/>
          </a:prstGeom>
          <a:solidFill>
            <a:srgbClr val="B5952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287768" y="425196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87768" y="48920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实现程序的条件与无条件跳转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概述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完成基本内存读写，按寻址方式分为三组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立即数偏移： ld.b/h/w/d , st.b/h/w/d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862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寄存器变址： ldx.b/h/w/d , stx.b/h/w/d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93776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9377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对齐远偏移： ldptr.w/d , stptr.w/d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立即数偏移寻址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ld.b/h/w/d · st.b/h/w/d · ld.bu/hu/wu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ld.d  rd, rj, si12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有效地址 = rj + si12（12位有符号立即数）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ld.b/h/w/d：取值后符号扩展写入 rd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ld.bu/hu/wu：取值后零扩展（无符号）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寄存器变址寻址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ldx.b/h/w/d · stx.b/h/w/d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ldx.w  rd, rj, 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有效地址 = rj + rk（两个寄存器相加）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偏移量本身来自寄存器，可在运行时计算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典型用途：数组下标访问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对齐远偏移寻址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ldptr.w/d · stptr.w/d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stptr.d  rd, rj, si14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有效地址 = rj + si14 × 4（14位偏移，4字节对齐）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偏移范围比 ld/st 更大，用于访问对齐数据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适合结构体较大或跨度较远的内存访问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示例代码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三种寻址方式的实际写法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ld.d    $r4, $r5, 8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ldx.w   $r4, $r5, $r6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stptr.d $r4, $r5, 100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第1行：取 r5+8 处 8 字节，写入 r4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第2行：取 r5+r6 处 4 字节，写入 r4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第3行：将 r4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写入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r5+100×4 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AD6B87-6B7F-093D-A5D0-563BF42D6E8F}"/>
              </a:ext>
            </a:extLst>
          </p:cNvPr>
          <p:cNvSpPr txBox="1"/>
          <p:nvPr/>
        </p:nvSpPr>
        <p:spPr>
          <a:xfrm>
            <a:off x="9554547" y="375331"/>
            <a:ext cx="182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hlinkClick r:id="rId3"/>
              </a:rPr>
              <a:t>观看动画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1649956-122A-BB76-B281-A65D21FBA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570832"/>
              </p:ext>
            </p:extLst>
          </p:nvPr>
        </p:nvGraphicFramePr>
        <p:xfrm>
          <a:off x="968828" y="1687532"/>
          <a:ext cx="10515600" cy="3962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234405">
                  <a:extLst>
                    <a:ext uri="{9D8B030D-6E8A-4147-A177-3AD203B41FA5}">
                      <a16:colId xmlns:a16="http://schemas.microsoft.com/office/drawing/2014/main" val="944969113"/>
                    </a:ext>
                  </a:extLst>
                </a:gridCol>
                <a:gridCol w="4281195">
                  <a:extLst>
                    <a:ext uri="{9D8B030D-6E8A-4147-A177-3AD203B41FA5}">
                      <a16:colId xmlns:a16="http://schemas.microsoft.com/office/drawing/2014/main" val="9078678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b="0" spc="15">
                          <a:solidFill>
                            <a:srgbClr val="2B2B2F"/>
                          </a:solidFill>
                          <a:effectLst/>
                        </a:rPr>
                        <a:t>问题</a:t>
                      </a:r>
                      <a:endParaRPr lang="zh-CN" sz="2800" b="0" i="0" spc="15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b="0" spc="15">
                          <a:solidFill>
                            <a:srgbClr val="2B2B2F"/>
                          </a:solidFill>
                          <a:effectLst/>
                        </a:rPr>
                        <a:t>预测</a:t>
                      </a:r>
                      <a:endParaRPr lang="zh-CN" sz="2800" b="0" i="0" spc="15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779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b="0" spc="15" dirty="0">
                          <a:solidFill>
                            <a:srgbClr val="607CD2"/>
                          </a:solidFill>
                          <a:effectLst/>
                        </a:rPr>
                        <a:t>$sp=0x80001000</a:t>
                      </a:r>
                      <a:r>
                        <a:rPr lang="zh-CN" sz="2800" b="0" spc="15" dirty="0">
                          <a:solidFill>
                            <a:srgbClr val="2B2B2F"/>
                          </a:solidFill>
                          <a:effectLst/>
                        </a:rPr>
                        <a:t>，</a:t>
                      </a:r>
                      <a:endParaRPr lang="en-US" altLang="zh-CN" sz="2800" b="0" spc="15" dirty="0">
                        <a:solidFill>
                          <a:srgbClr val="2B2B2F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zh-CN" sz="2800" b="0" spc="15" dirty="0">
                          <a:solidFill>
                            <a:srgbClr val="607CD2"/>
                          </a:solidFill>
                          <a:effectLst/>
                        </a:rPr>
                        <a:t>ld.d $t1,$sp,16</a:t>
                      </a:r>
                      <a:r>
                        <a:rPr lang="zh-CN" sz="2800" b="0" spc="15" dirty="0">
                          <a:solidFill>
                            <a:srgbClr val="2B2B2F"/>
                          </a:solidFill>
                          <a:effectLst/>
                        </a:rPr>
                        <a:t> 的有效地址</a:t>
                      </a:r>
                      <a:endParaRPr lang="zh-CN" sz="28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sz="2800" b="0" i="0" spc="15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987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b="0" spc="15" dirty="0">
                          <a:solidFill>
                            <a:srgbClr val="2B2B2F"/>
                          </a:solidFill>
                          <a:effectLst/>
                        </a:rPr>
                        <a:t>内存字节为 </a:t>
                      </a:r>
                      <a:r>
                        <a:rPr lang="zh-CN" sz="2800" b="0" spc="15" dirty="0">
                          <a:solidFill>
                            <a:srgbClr val="607CD2"/>
                          </a:solidFill>
                          <a:effectLst/>
                        </a:rPr>
                        <a:t>0x80</a:t>
                      </a:r>
                      <a:r>
                        <a:rPr lang="zh-CN" sz="2800" b="0" spc="15" dirty="0">
                          <a:solidFill>
                            <a:srgbClr val="2B2B2F"/>
                          </a:solidFill>
                          <a:effectLst/>
                        </a:rPr>
                        <a:t>，</a:t>
                      </a:r>
                      <a:r>
                        <a:rPr lang="zh-CN" sz="2800" b="0" spc="15" dirty="0">
                          <a:solidFill>
                            <a:srgbClr val="607CD2"/>
                          </a:solidFill>
                          <a:effectLst/>
                        </a:rPr>
                        <a:t>ld.b</a:t>
                      </a:r>
                      <a:r>
                        <a:rPr lang="zh-CN" sz="2800" b="0" spc="15" dirty="0">
                          <a:solidFill>
                            <a:srgbClr val="2B2B2F"/>
                          </a:solidFill>
                          <a:effectLst/>
                        </a:rPr>
                        <a:t> 后的 64 位值</a:t>
                      </a:r>
                      <a:endParaRPr lang="zh-CN" sz="28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sz="2800" b="0" i="0" spc="15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16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b="0" spc="15">
                          <a:solidFill>
                            <a:srgbClr val="2B2B2F"/>
                          </a:solidFill>
                          <a:effectLst/>
                        </a:rPr>
                        <a:t>同一字节用 </a:t>
                      </a:r>
                      <a:r>
                        <a:rPr lang="zh-CN" sz="2800" b="0" spc="15">
                          <a:solidFill>
                            <a:srgbClr val="607CD2"/>
                          </a:solidFill>
                          <a:effectLst/>
                        </a:rPr>
                        <a:t>ld.bu</a:t>
                      </a:r>
                      <a:r>
                        <a:rPr lang="zh-CN" sz="2800" b="0" spc="15">
                          <a:solidFill>
                            <a:srgbClr val="2B2B2F"/>
                          </a:solidFill>
                          <a:effectLst/>
                        </a:rPr>
                        <a:t> 后的 64 位值</a:t>
                      </a:r>
                      <a:endParaRPr lang="zh-CN" sz="2800" b="0" i="0" spc="15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sz="2800" b="0" i="0" spc="15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699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b="0" spc="15" dirty="0">
                          <a:solidFill>
                            <a:srgbClr val="607CD2"/>
                          </a:solidFill>
                          <a:effectLst/>
                        </a:rPr>
                        <a:t>$t2=0x1122334455667788</a:t>
                      </a:r>
                      <a:r>
                        <a:rPr lang="zh-CN" sz="2800" b="0" spc="15" dirty="0">
                          <a:solidFill>
                            <a:srgbClr val="2B2B2F"/>
                          </a:solidFill>
                          <a:effectLst/>
                        </a:rPr>
                        <a:t>，</a:t>
                      </a:r>
                      <a:endParaRPr lang="en-US" altLang="zh-CN" sz="2800" b="0" spc="15" dirty="0">
                        <a:solidFill>
                          <a:srgbClr val="2B2B2F"/>
                        </a:solidFill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zh-CN" sz="2800" b="0" spc="15" dirty="0">
                          <a:solidFill>
                            <a:srgbClr val="607CD2"/>
                          </a:solidFill>
                          <a:effectLst/>
                        </a:rPr>
                        <a:t>st.h</a:t>
                      </a:r>
                      <a:r>
                        <a:rPr lang="zh-CN" sz="2800" b="0" spc="15" dirty="0">
                          <a:solidFill>
                            <a:srgbClr val="2B2B2F"/>
                          </a:solidFill>
                          <a:effectLst/>
                        </a:rPr>
                        <a:t> 写入哪两字节</a:t>
                      </a:r>
                      <a:endParaRPr lang="zh-CN" sz="28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sz="2800" b="0" i="0" spc="15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59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sz="28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sz="28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57987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08FB8C0-EA0E-D620-5096-1C6ABDDB5673}"/>
              </a:ext>
            </a:extLst>
          </p:cNvPr>
          <p:cNvSpPr txBox="1"/>
          <p:nvPr/>
        </p:nvSpPr>
        <p:spPr>
          <a:xfrm>
            <a:off x="1530221" y="195982"/>
            <a:ext cx="8556171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2625"/>
              </a:spcBef>
              <a:spcAft>
                <a:spcPts val="750"/>
              </a:spcAft>
              <a:buNone/>
            </a:pPr>
            <a:r>
              <a:rPr lang="zh-CN" altLang="zh-CN" sz="3000" b="1" i="0" spc="15" dirty="0">
                <a:solidFill>
                  <a:schemeClr val="tx1"/>
                </a:solidFill>
                <a:effectLst/>
                <a:latin typeface="+mn-lt"/>
              </a:rPr>
              <a:t>3.2 实验前预测表（每个单元运行前填写）</a:t>
            </a:r>
          </a:p>
          <a:p>
            <a:pPr>
              <a:buNone/>
            </a:pPr>
            <a:br>
              <a:rPr lang="zh-CN" altLang="zh-CN" sz="3000" dirty="0"/>
            </a:b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30710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66383-3583-498A-48D0-E31A7755A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A0E406D-C9A6-72B0-2EC0-F3688E531C38}"/>
              </a:ext>
            </a:extLst>
          </p:cNvPr>
          <p:cNvSpPr txBox="1"/>
          <p:nvPr/>
        </p:nvSpPr>
        <p:spPr>
          <a:xfrm>
            <a:off x="1530221" y="195982"/>
            <a:ext cx="8556171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2625"/>
              </a:spcBef>
              <a:spcAft>
                <a:spcPts val="750"/>
              </a:spcAft>
              <a:buNone/>
            </a:pPr>
            <a:r>
              <a:rPr lang="zh-CN" altLang="zh-CN" sz="3000" b="1" i="0" spc="15" dirty="0">
                <a:solidFill>
                  <a:schemeClr val="tx1"/>
                </a:solidFill>
                <a:effectLst/>
                <a:latin typeface="+mn-lt"/>
              </a:rPr>
              <a:t>3.2 实验前预测表（每个单元运行前填写）</a:t>
            </a:r>
          </a:p>
          <a:p>
            <a:pPr>
              <a:buNone/>
            </a:pPr>
            <a:br>
              <a:rPr lang="zh-CN" altLang="zh-CN" sz="3000" dirty="0"/>
            </a:br>
            <a:endParaRPr lang="zh-CN" altLang="en-US" sz="3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FB8834E-5EFC-BC68-EE80-25A26136A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96555"/>
              </p:ext>
            </p:extLst>
          </p:nvPr>
        </p:nvGraphicFramePr>
        <p:xfrm>
          <a:off x="632927" y="1462771"/>
          <a:ext cx="10515600" cy="3230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112095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6918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问题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参考答案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531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$sp=0x80001000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，</a:t>
                      </a:r>
                      <a:endParaRPr lang="en-US" altLang="zh-CN" sz="2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  <a:p>
                      <a:pPr algn="l">
                        <a:buNone/>
                      </a:pP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ld.d $t1,$sp,16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 的有效地址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0x80001010</a:t>
                      </a:r>
                      <a:endParaRPr lang="zh-CN" sz="2600" b="0" i="0" spc="15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837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内存字节为 </a:t>
                      </a: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0x80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，</a:t>
                      </a: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ld.b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 后 64 位值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0xFFFFFFFFFFFFFF80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（十进制 </a:t>
                      </a: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-128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1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同一字节用 </a:t>
                      </a:r>
                      <a:r>
                        <a:rPr lang="zh-CN" sz="2600" b="0" i="0" spc="15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ld.bu</a:t>
                      </a:r>
                      <a:r>
                        <a:rPr lang="zh-CN" sz="2600" b="0" i="0" spc="15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 后的 64 位值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0x0000000000000080</a:t>
                      </a:r>
                      <a:r>
                        <a:rPr lang="zh-CN" sz="2600" b="0" i="0" spc="15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（十进制 </a:t>
                      </a:r>
                      <a:r>
                        <a:rPr lang="zh-CN" sz="2600" b="0" i="0" spc="15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128</a:t>
                      </a:r>
                      <a:r>
                        <a:rPr lang="zh-CN" sz="2600" b="0" i="0" spc="15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824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$t2=0x1122334455667788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，</a:t>
                      </a:r>
                      <a:endParaRPr lang="en-US" altLang="zh-CN" sz="2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  <a:p>
                      <a:pPr algn="l">
                        <a:buNone/>
                      </a:pP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st.h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 写入哪两字节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写入低 16 位，即字节 </a:t>
                      </a: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0x88 0x77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（小端，地址低位存 </a:t>
                      </a:r>
                      <a:r>
                        <a:rPr lang="zh-CN" sz="2600" b="0" i="0" spc="15" dirty="0">
                          <a:solidFill>
                            <a:srgbClr val="607CD2"/>
                          </a:solidFill>
                          <a:effectLst/>
                          <a:latin typeface="Menlo"/>
                        </a:rPr>
                        <a:t>0x88</a:t>
                      </a:r>
                      <a:r>
                        <a:rPr lang="zh-CN" sz="2600" b="0" i="0" spc="15" dirty="0">
                          <a:solidFill>
                            <a:srgbClr val="2B2B2F"/>
                          </a:solidFill>
                          <a:effectLst/>
                          <a:latin typeface="-apple-system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90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137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st.h 写入哪两字节？——低 16 位 + 小端序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9270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/>
            </a:pPr>
            <a:r>
              <a:t>$t2 = 0x1122334455667788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23317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0x1122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40" y="2331720"/>
            <a:ext cx="23317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0x3344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331720"/>
            <a:ext cx="23317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0x5566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6840" y="2331720"/>
            <a:ext cx="23317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0x7788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3127248"/>
            <a:ext cx="2697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← 低 16 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484632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/>
            </a:pPr>
            <a:r>
              <a:t>st.h：写入 2 字节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3794760"/>
            <a:ext cx="548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0x7788  →  小端序</a:t>
            </a:r>
          </a:p>
          <a:p>
            <a:pPr algn="ctr">
              <a:defRPr sz="2200"/>
            </a:pPr>
            <a:r>
              <a:t>低地址        高地址</a:t>
            </a:r>
          </a:p>
          <a:p>
            <a:pPr algn="ctr">
              <a:defRPr sz="3200" b="1"/>
            </a:pPr>
            <a:r>
              <a:t>0x88   |   0x77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23560"/>
            <a:ext cx="1033272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t>结论：st.h 取低 16 位 0x7788；小端存储为 0x88  0x77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小端序规则：低字节放低地址，高字节放高地址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279392" cy="566928"/>
          </a:xfrm>
          <a:prstGeom prst="roundRect">
            <a:avLst>
              <a:gd name="adj" fmla="val 50000"/>
            </a:avLst>
          </a:prstGeom>
          <a:solidFill>
            <a:srgbClr val="2E8B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279392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边界检查访存指令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设计动机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访存前先判断地址是否合法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2E8B70">
              <a:alpha val="8000"/>
            </a:srgbClr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0607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将地址与给定边界寄存器比较，只有满足条件才真正执行读写；不满足则触发“边界检查例外”。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5875">
            <a:solidFill>
              <a:srgbClr val="2E8B7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" y="4434840"/>
            <a:ext cx="10607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目的：从硬件层面拦截越界访问，如数组越界、缓冲区溢出，提升内存安全性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279392" cy="566928"/>
          </a:xfrm>
          <a:prstGeom prst="roundRect">
            <a:avLst>
              <a:gd name="adj" fmla="val 50000"/>
            </a:avLst>
          </a:prstGeom>
          <a:solidFill>
            <a:srgbClr val="2E8B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279392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边界检查访存指令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LDGT / STGT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· 下边界检查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ldgt.w  rd, rj, 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条件：rj &gt; 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满足：以 rj 为地址执行访存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不满足：触发边界检查例外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279392" cy="566928"/>
          </a:xfrm>
          <a:prstGeom prst="roundRect">
            <a:avLst>
              <a:gd name="adj" fmla="val 50000"/>
            </a:avLst>
          </a:prstGeom>
          <a:solidFill>
            <a:srgbClr val="2E8B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279392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边界检查访存指令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LDLE / STLE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Less than or Equal · 上边界检查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ldle.w  rd, rj, 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条件：rj ≤ 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满足：以 rj 为地址执行访存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不满足：触发边界检查例外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与 LDGT 搭配，可实现双向边界检查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22576" cy="475488"/>
          </a:xfrm>
          <a:prstGeom prst="roundRect">
            <a:avLst>
              <a:gd name="adj" fmla="val 50000"/>
            </a:avLst>
          </a:prstGeom>
          <a:solidFill>
            <a:srgbClr val="B34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22576" cy="4754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问题场景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 语言不检查数组越界，悄悄读到错误内存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7040880" cy="1280160"/>
          </a:xfrm>
          <a:prstGeom prst="roundRect">
            <a:avLst>
              <a:gd name="adj" fmla="val 5714"/>
            </a:avLst>
          </a:prstGeom>
          <a:solidFill>
            <a:srgbClr val="121D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4248"/>
            <a:ext cx="64922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a[10];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idx = -1;      // 也可能是 10, 999……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 = a[idx];    // 不报错！悄悄读了越界内存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0" y="18745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格子说明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80960" y="228600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E9F3EF"/>
          </a:solidFill>
          <a:ln w="22225">
            <a:solidFill>
              <a:srgbClr val="2E8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22860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合法区　a[0] ～ a[9]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80960" y="283464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FBEAE4"/>
          </a:solidFill>
          <a:ln w="22225">
            <a:solidFill>
              <a:srgbClr val="B34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834640"/>
            <a:ext cx="377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越界区　idx &lt; 0 或 idx ≥ 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内存布局示意（数组 a[10]）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3776" y="3730752"/>
            <a:ext cx="1271016" cy="868680"/>
          </a:xfrm>
          <a:prstGeom prst="roundRect">
            <a:avLst>
              <a:gd name="adj" fmla="val 7368"/>
            </a:avLst>
          </a:prstGeom>
          <a:solidFill>
            <a:srgbClr val="FBEAE4"/>
          </a:solidFill>
          <a:ln w="25400">
            <a:solidFill>
              <a:srgbClr val="B345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767328"/>
            <a:ext cx="127101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" y="4199839"/>
            <a:ext cx="1271016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a−4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837944" y="3730752"/>
            <a:ext cx="1271016" cy="868680"/>
          </a:xfrm>
          <a:prstGeom prst="roundRect">
            <a:avLst>
              <a:gd name="adj" fmla="val 7368"/>
            </a:avLst>
          </a:prstGeom>
          <a:solidFill>
            <a:srgbClr val="E9F3EF"/>
          </a:solidFill>
          <a:ln w="25400">
            <a:solidFill>
              <a:srgbClr val="2E8B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767328"/>
            <a:ext cx="127101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37944" y="4199839"/>
            <a:ext cx="1271016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82112" y="3730752"/>
            <a:ext cx="127101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3767328"/>
            <a:ext cx="127101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182112" y="4199839"/>
            <a:ext cx="1271016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26280" y="3730752"/>
            <a:ext cx="127101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767328"/>
            <a:ext cx="127101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a[2]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26280" y="4199839"/>
            <a:ext cx="1271016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70448" y="3730752"/>
            <a:ext cx="127101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3767328"/>
            <a:ext cx="127101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70448" y="4199839"/>
            <a:ext cx="1271016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14616" y="3730752"/>
            <a:ext cx="127101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4616" y="3767328"/>
            <a:ext cx="127101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a[8]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14616" y="4199839"/>
            <a:ext cx="1271016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a+32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58784" y="3730752"/>
            <a:ext cx="1271016" cy="868680"/>
          </a:xfrm>
          <a:prstGeom prst="roundRect">
            <a:avLst>
              <a:gd name="adj" fmla="val 7368"/>
            </a:avLst>
          </a:prstGeom>
          <a:solidFill>
            <a:srgbClr val="E9F3EF"/>
          </a:solidFill>
          <a:ln w="25400">
            <a:solidFill>
              <a:srgbClr val="2E8B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58784" y="3767328"/>
            <a:ext cx="127101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a[9]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58784" y="4199839"/>
            <a:ext cx="1271016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a+36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902952" y="3730752"/>
            <a:ext cx="1271016" cy="868680"/>
          </a:xfrm>
          <a:prstGeom prst="roundRect">
            <a:avLst>
              <a:gd name="adj" fmla="val 7368"/>
            </a:avLst>
          </a:prstGeom>
          <a:solidFill>
            <a:srgbClr val="FBEAE4"/>
          </a:solidFill>
          <a:ln w="25400">
            <a:solidFill>
              <a:srgbClr val="B345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02952" y="3767328"/>
            <a:ext cx="1271016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02952" y="4199839"/>
            <a:ext cx="1271016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4794064"/>
            <a:ext cx="1344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← idx=−1 越界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801368" y="4794064"/>
            <a:ext cx="1344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← r4 下界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22208" y="4794064"/>
            <a:ext cx="1344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r5 上界 →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866376" y="4794064"/>
            <a:ext cx="1344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idx=10 越界 →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57200" y="6036547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 语言不像 Java——越界不抛异常，程序继续运行，读到的是未知垃圾数据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22576" cy="475488"/>
          </a:xfrm>
          <a:prstGeom prst="roundRect">
            <a:avLst>
              <a:gd name="adj" fmla="val 50000"/>
            </a:avLst>
          </a:prstGeom>
          <a:solidFill>
            <a:srgbClr val="2E8B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22576" cy="4754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例子设置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三个寄存器标记下界、上界和待访问地址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r4/r5 在循环外算好，r6 每次循环重新计算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2E8B70">
              <a:alpha val="12000"/>
            </a:srgbClr>
          </a:solidFill>
          <a:ln w="25400">
            <a:solidFill>
              <a:srgbClr val="2E8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0876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&amp;a[0]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08760" y="2350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下界地址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2E8B70">
              <a:alpha val="12000"/>
            </a:srgbClr>
          </a:solidFill>
          <a:ln w="25400">
            <a:solidFill>
              <a:srgbClr val="2E8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87452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4068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&amp;a[9]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40680" y="2350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上界地址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21040" y="1874520"/>
            <a:ext cx="3611880" cy="868680"/>
          </a:xfrm>
          <a:prstGeom prst="roundRect">
            <a:avLst>
              <a:gd name="adj" fmla="val 9474"/>
            </a:avLst>
          </a:prstGeom>
          <a:solidFill>
            <a:srgbClr val="3B6EA5">
              <a:alpha val="12000"/>
            </a:srgbClr>
          </a:solidFill>
          <a:ln w="254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7452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7260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&amp;a[idx]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372600" y="2350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待访问地址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内存布局与三个寄存器的对应关系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3776" y="3310128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FBEAE4"/>
          </a:solidFill>
          <a:ln w="15240">
            <a:solidFill>
              <a:srgbClr val="B345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346704"/>
            <a:ext cx="117043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" y="3779215"/>
            <a:ext cx="117043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a−4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737360" y="3310128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E9F3EF"/>
          </a:solidFill>
          <a:ln w="25400">
            <a:solidFill>
              <a:srgbClr val="2E8B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3346704"/>
            <a:ext cx="117043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37360" y="3779215"/>
            <a:ext cx="117043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980944" y="3310128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80944" y="3346704"/>
            <a:ext cx="117043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980944" y="3779215"/>
            <a:ext cx="117043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224528" y="3310128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24528" y="3346704"/>
            <a:ext cx="117043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24528" y="3779215"/>
            <a:ext cx="117043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68112" y="3310128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EAF0F8"/>
          </a:solidFill>
          <a:ln w="25400">
            <a:solidFill>
              <a:srgbClr val="3B6E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3346704"/>
            <a:ext cx="117043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a[i]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68112" y="3779215"/>
            <a:ext cx="117043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711696" y="3310128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3346704"/>
            <a:ext cx="117043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11696" y="3779215"/>
            <a:ext cx="117043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955280" y="3310128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E9F3EF"/>
          </a:solidFill>
          <a:ln w="25400">
            <a:solidFill>
              <a:srgbClr val="2E8B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3346704"/>
            <a:ext cx="117043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a[9]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55280" y="3779215"/>
            <a:ext cx="117043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a+36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198864" y="3310128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FBEAE4"/>
          </a:solidFill>
          <a:ln w="15240">
            <a:solidFill>
              <a:srgbClr val="B345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98864" y="3346704"/>
            <a:ext cx="117043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198864" y="3779215"/>
            <a:ext cx="117043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442448" y="3310128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FBEAE4"/>
          </a:solidFill>
          <a:ln w="15240">
            <a:solidFill>
              <a:srgbClr val="B345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42448" y="3346704"/>
            <a:ext cx="117043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442448" y="3779215"/>
            <a:ext cx="117043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7200" y="4503171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越界(idx&lt;0)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700783" y="4503171"/>
            <a:ext cx="18663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↑ r4（下界）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448816" y="4503171"/>
            <a:ext cx="18663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↑ r6（当前idx）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405635" y="4503171"/>
            <a:ext cx="175665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↑ r5（上界）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162288" y="4503171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越界(idx≥10)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700784" y="5006091"/>
            <a:ext cx="7461504" cy="0"/>
          </a:xfrm>
          <a:prstGeom prst="line">
            <a:avLst/>
          </a:prstGeom>
          <a:noFill/>
          <a:ln w="25400">
            <a:solidFill>
              <a:srgbClr val="2E8B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00784" y="5429123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合法访问区  [ r4, r5 ]　←　只要 r6 落在这里，ldgt/ldle 才放行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822192" cy="475488"/>
          </a:xfrm>
          <a:prstGeom prst="roundRect">
            <a:avLst>
              <a:gd name="adj" fmla="val 50000"/>
            </a:avLst>
          </a:prstGeom>
          <a:solidFill>
            <a:srgbClr val="2E8B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22192" cy="4754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第①步：下界检查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ldgt.w 防止 idx &lt; 0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ldgt 是'严格大于'，需先将下界减 4 字节做哨兵 r8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45720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 r8, r4, -4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ldgt.w  r9, r6, r8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06440" y="1920240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r8 = r4 − 4，哨兵放在 a[0]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前一格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（a−4）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18699" y="2458631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r6 &gt; r8 即 r6 ≥ r4　→　合法，加载 [r6] 到 r9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06440" y="3072887"/>
            <a:ext cx="626163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r6 ≤ r8 即 r6 &lt; r4　→　idx 为负，触发例外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内存布局（下界附近）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3776" y="361188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BEAE4"/>
          </a:solidFill>
          <a:ln w="15240">
            <a:solidFill>
              <a:srgbClr val="B345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648456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" y="4080967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a−8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03120" y="361188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0D0"/>
          </a:solidFill>
          <a:ln w="25400">
            <a:solidFill>
              <a:srgbClr val="C18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648456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C180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r8→ 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103120" y="4080967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a−4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12464" y="361188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9F3EF"/>
          </a:solidFill>
          <a:ln w="25400">
            <a:solidFill>
              <a:srgbClr val="2E8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3648456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r4→ a[0]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12464" y="4080967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21808" y="361188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3648456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21808" y="4080967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931152" y="361188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3648456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a[2]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31152" y="4080967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40496" y="361188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0496" y="3648456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a[3]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40496" y="4080967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a+12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149840" y="361188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3648456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a[4]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149840" y="4080967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a+16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066544" y="454456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C18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哨兵 r8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675888" y="454456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下界 r4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502920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BEAE4"/>
          </a:solidFill>
          <a:ln w="19050">
            <a:solidFill>
              <a:srgbClr val="B345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102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越界案例　idx = −1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5800" y="5532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 = &amp;a[−1] = a−4 = r8　→　r6 ≤ r8　→　ldgt 检查不通过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　→　触发边界检查例外 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822192" cy="475488"/>
          </a:xfrm>
          <a:prstGeom prst="roundRect">
            <a:avLst>
              <a:gd name="adj" fmla="val 50000"/>
            </a:avLst>
          </a:prstGeom>
          <a:solidFill>
            <a:srgbClr val="2E8B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22192" cy="4754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第②步：上界检查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ldle.w 防止 idx ≥ 10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ldle 是'小于等于'，直接拿 &amp;a[9] 做上界，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无需额外偏移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457200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ldle.w  r9, r6, r5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852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r5 = &amp;a[9]，合法范围最后一格的地址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r6 ≤ r5 → 地址合法，加载 [r6] 到 r9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95020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r6 &gt; r5 → idx ≥ 10，触发边界检查例外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内存布局（上界附近）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3776" y="4864608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4901184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a[6]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" y="5333695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a+24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03120" y="4864608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4901184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a[7]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103120" y="5333695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a+28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12464" y="4864608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240">
            <a:solidFill>
              <a:srgbClr val="DC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4901184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a[8]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12464" y="5333695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a+32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21808" y="4864608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9F3EF"/>
          </a:solidFill>
          <a:ln w="25400">
            <a:solidFill>
              <a:srgbClr val="2E8B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4901184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r5→ a[9]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21808" y="5333695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a+36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931152" y="4864608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BEAE4"/>
          </a:solidFill>
          <a:ln w="25400">
            <a:solidFill>
              <a:srgbClr val="B345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4901184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31152" y="5333695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40496" y="4864608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BEAE4"/>
          </a:solidFill>
          <a:ln w="15240">
            <a:solidFill>
              <a:srgbClr val="B345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0496" y="4901184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40496" y="5333695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149840" y="4864608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BEAE4"/>
          </a:solidFill>
          <a:ln w="15240">
            <a:solidFill>
              <a:srgbClr val="B345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4901184"/>
            <a:ext cx="1536192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149840" y="5333695"/>
            <a:ext cx="1536192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85232" y="578815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上界 r5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806440" y="187452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FBEAE4"/>
          </a:solidFill>
          <a:ln w="19050">
            <a:solidFill>
              <a:srgbClr val="B345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18745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越界案例 idx=10：r6 = a+40 &gt; r5(a+36)  →  触发例外 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两条指令串联：三种 idx 值的实际效果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内存布局全貌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3776" y="1426464"/>
            <a:ext cx="1024128" cy="777240"/>
          </a:xfrm>
          <a:prstGeom prst="roundRect">
            <a:avLst>
              <a:gd name="adj" fmla="val 8235"/>
            </a:avLst>
          </a:prstGeom>
          <a:solidFill>
            <a:srgbClr val="FBEAE4"/>
          </a:solidFill>
          <a:ln w="15240">
            <a:solidFill>
              <a:srgbClr val="B34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463040"/>
            <a:ext cx="1024128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3776" y="1846174"/>
            <a:ext cx="1024128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a−4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591056" y="1426464"/>
            <a:ext cx="1024128" cy="777240"/>
          </a:xfrm>
          <a:prstGeom prst="roundRect">
            <a:avLst>
              <a:gd name="adj" fmla="val 8235"/>
            </a:avLst>
          </a:prstGeom>
          <a:solidFill>
            <a:srgbClr val="E9F3EF"/>
          </a:solidFill>
          <a:ln w="15240">
            <a:solidFill>
              <a:srgbClr val="2E8B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1463040"/>
            <a:ext cx="1024128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91056" y="1846174"/>
            <a:ext cx="1024128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88336" y="1426464"/>
            <a:ext cx="1024128" cy="777240"/>
          </a:xfrm>
          <a:prstGeom prst="roundRect">
            <a:avLst>
              <a:gd name="adj" fmla="val 8235"/>
            </a:avLst>
          </a:prstGeom>
          <a:solidFill>
            <a:srgbClr val="E9F3EF"/>
          </a:solidFill>
          <a:ln w="15240">
            <a:solidFill>
              <a:srgbClr val="2E8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463040"/>
            <a:ext cx="1024128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88336" y="1846174"/>
            <a:ext cx="1024128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85616" y="1426464"/>
            <a:ext cx="1024128" cy="777240"/>
          </a:xfrm>
          <a:prstGeom prst="roundRect">
            <a:avLst>
              <a:gd name="adj" fmla="val 8235"/>
            </a:avLst>
          </a:prstGeom>
          <a:solidFill>
            <a:srgbClr val="E9F3EF"/>
          </a:solidFill>
          <a:ln w="15240">
            <a:solidFill>
              <a:srgbClr val="2E8B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1463040"/>
            <a:ext cx="1024128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85616" y="1846174"/>
            <a:ext cx="1024128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82896" y="1426464"/>
            <a:ext cx="1024128" cy="777240"/>
          </a:xfrm>
          <a:prstGeom prst="roundRect">
            <a:avLst>
              <a:gd name="adj" fmla="val 8235"/>
            </a:avLst>
          </a:prstGeom>
          <a:solidFill>
            <a:srgbClr val="EAF0F8"/>
          </a:solidFill>
          <a:ln w="25400">
            <a:solidFill>
              <a:srgbClr val="3B6E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463040"/>
            <a:ext cx="1024128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a[5]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82896" y="1846174"/>
            <a:ext cx="1024128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a+20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0176" y="1426464"/>
            <a:ext cx="1024128" cy="777240"/>
          </a:xfrm>
          <a:prstGeom prst="roundRect">
            <a:avLst>
              <a:gd name="adj" fmla="val 8235"/>
            </a:avLst>
          </a:prstGeom>
          <a:solidFill>
            <a:srgbClr val="E9F3EF"/>
          </a:solidFill>
          <a:ln w="15240">
            <a:solidFill>
              <a:srgbClr val="2E8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0176" y="1463040"/>
            <a:ext cx="1024128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80176" y="1846174"/>
            <a:ext cx="1024128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77456" y="1426464"/>
            <a:ext cx="1024128" cy="777240"/>
          </a:xfrm>
          <a:prstGeom prst="roundRect">
            <a:avLst>
              <a:gd name="adj" fmla="val 8235"/>
            </a:avLst>
          </a:prstGeom>
          <a:solidFill>
            <a:srgbClr val="E9F3EF"/>
          </a:solidFill>
          <a:ln w="15240">
            <a:solidFill>
              <a:srgbClr val="2E8B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1463040"/>
            <a:ext cx="1024128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a[9]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77456" y="1846174"/>
            <a:ext cx="1024128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a+36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74736" y="1426464"/>
            <a:ext cx="1024128" cy="777240"/>
          </a:xfrm>
          <a:prstGeom prst="roundRect">
            <a:avLst>
              <a:gd name="adj" fmla="val 8235"/>
            </a:avLst>
          </a:prstGeom>
          <a:solidFill>
            <a:srgbClr val="FBEAE4"/>
          </a:solidFill>
          <a:ln w="15240">
            <a:solidFill>
              <a:srgbClr val="B345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4736" y="1463040"/>
            <a:ext cx="1024128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74736" y="1846174"/>
            <a:ext cx="1024128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272016" y="1426464"/>
            <a:ext cx="1024128" cy="777240"/>
          </a:xfrm>
          <a:prstGeom prst="roundRect">
            <a:avLst>
              <a:gd name="adj" fmla="val 8235"/>
            </a:avLst>
          </a:prstGeom>
          <a:solidFill>
            <a:srgbClr val="FBEAE4"/>
          </a:solidFill>
          <a:ln w="15240">
            <a:solidFill>
              <a:srgbClr val="B345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2016" y="1463040"/>
            <a:ext cx="1024128" cy="404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???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72016" y="1846174"/>
            <a:ext cx="1024128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a+44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2267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越界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54480" y="226771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← 合法区 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138160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越界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2651760"/>
            <a:ext cx="11247120" cy="457200"/>
          </a:xfrm>
          <a:prstGeom prst="round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idx / r6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65176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ldgt.w 检查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8368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ldle.w 检查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14984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3154680"/>
            <a:ext cx="11247120" cy="841248"/>
          </a:xfrm>
          <a:prstGeom prst="roundRect">
            <a:avLst/>
          </a:prstGeom>
          <a:solidFill>
            <a:srgbClr val="E9F3EF"/>
          </a:solidFill>
          <a:ln w="12700">
            <a:solidFill>
              <a:srgbClr val="2E8B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19125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idx=5 合法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r6=a+20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651760" y="31912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ldgt：a+20 &gt; a−4 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651760" y="35753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ldle：a+20 ≤ a+36 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675120" y="3191256"/>
            <a:ext cx="4846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r9=a[5] 成功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57200" y="4087368"/>
            <a:ext cx="11247120" cy="841248"/>
          </a:xfrm>
          <a:prstGeom prst="roundRect">
            <a:avLst/>
          </a:prstGeom>
          <a:solidFill>
            <a:srgbClr val="FBEAE4"/>
          </a:solidFill>
          <a:ln w="12700">
            <a:solidFill>
              <a:srgbClr val="B345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1239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idx=−1 越界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0080" y="45445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r6=a−4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651760" y="41239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ldgt：a−4 ≤ a−4 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651760" y="45079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——（已触发例外）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675120" y="4123944"/>
            <a:ext cx="4846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触发例外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57200" y="5020056"/>
            <a:ext cx="11247120" cy="841248"/>
          </a:xfrm>
          <a:prstGeom prst="roundRect">
            <a:avLst/>
          </a:prstGeom>
          <a:solidFill>
            <a:srgbClr val="FBEAE4"/>
          </a:solidFill>
          <a:ln w="12700">
            <a:solidFill>
              <a:srgbClr val="B3452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056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idx=10 越界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0080" y="54772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r6=a+40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651760" y="50566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ldgt：a+40 &gt; a−4 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651760" y="5440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ldle：a+40 &gt; a+36 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675120" y="5056632"/>
            <a:ext cx="4846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触发例外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1521440" y="6473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“读—改—写”原子语义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保证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多核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共享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在并发访问下依然一致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C1652F">
              <a:alpha val="8000"/>
            </a:srgbClr>
          </a:solidFill>
          <a:ln w="15875">
            <a:solidFill>
              <a:srgbClr val="C16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原子访存指令把“读内存→修改→写回”作为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不可分割的整体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完成，执行期间不会被其他核心打断。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典型场景：自旋锁 · 无锁队列 · 引用计数 · 多核状态同步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两种实现方式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通用组合 vs 单指令高效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1652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 / SC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Load Linked / Store Conditional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一对指令配合地址监视机制，可组合出任意原子读改写操作。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1652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 指令族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2240" y="35661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Atomic Memory 单指令原子操作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0" y="43434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一条指令内完成取值、运算、写回，常见运算效率更高。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 / SC 执行流程 (1/2)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第一步：读取并监视；第二步：寄存器内计算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C165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127248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272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37360" y="29718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LL.W/D  rd, rj, offset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354787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从地址 (rj)+offset 读取数据到 rd，同时启动“链接”监视该地址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C165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27448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7274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45720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寄存器内计算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514807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rd 中的值执行所需运算，结果暂存于寄存器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 / SC 执行流程 (2/2)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第三步：条件写回；第四步：失败重试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C165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127248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272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37360" y="29718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SC.W/D  rd, rj, offset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354787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尝试写回 (rj)+offset；未被修改则成功，rd=1；否则失败，rd=0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C165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27448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7274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45720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检测结果，失败则重试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514807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软件判断 rd 是否为 1；为 0 则跳回步骤 1，形成自旋循环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有效地址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偏移量 offset 的作用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以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LL.w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$r4, $r5, 0 为例</a:t>
            </a:r>
            <a:endParaRPr lang="en-US" sz="2400" b="1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= (rj) + offset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$r5中存放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基地址</a:t>
            </a: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，offset 是有符号立即数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偏移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offset = 0：直接访问 rj 指向的地址本身，无需再偏移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若 rj 指向结构体，可用 offset 访问其中某个字段，如偏移 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地址必须按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访问宽度对齐</a:t>
            </a:r>
            <a:r>
              <a:rPr lang="en-US" sz="2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（如 4 字节），否则触发不对齐异常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示例代码：原子加 1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基于 LL / SC 的自旋重试写法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1247120" cy="2423160"/>
          </a:xfrm>
          <a:prstGeom prst="roundRect">
            <a:avLst>
              <a:gd name="adj" fmla="val 3019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ll.w   $r4, $r5,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addi.w $r4, $r4,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sc.w   $r4, $r5,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beqz   $r4, retry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822960"/>
            <a:ext cx="621792" cy="621792"/>
          </a:xfrm>
          <a:prstGeom prst="rect">
            <a:avLst/>
          </a:prstGeom>
          <a:solidFill>
            <a:srgbClr val="3B6EA5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03536" y="822960"/>
            <a:ext cx="621792" cy="621792"/>
          </a:xfrm>
          <a:prstGeom prst="rect">
            <a:avLst/>
          </a:prstGeom>
          <a:solidFill>
            <a:srgbClr val="2E8B70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71632" y="822960"/>
            <a:ext cx="621792" cy="621792"/>
          </a:xfrm>
          <a:prstGeom prst="rect">
            <a:avLst/>
          </a:prstGeom>
          <a:solidFill>
            <a:srgbClr val="3B6EA5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1591056"/>
            <a:ext cx="621792" cy="621792"/>
          </a:xfrm>
          <a:prstGeom prst="rect">
            <a:avLst/>
          </a:prstGeom>
          <a:solidFill>
            <a:srgbClr val="2E8B70">
              <a:alpha val="5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03536" y="1591056"/>
            <a:ext cx="621792" cy="621792"/>
          </a:xfrm>
          <a:prstGeom prst="rect">
            <a:avLst/>
          </a:prstGeom>
          <a:solidFill>
            <a:srgbClr val="3B6EA5">
              <a:alpha val="5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1632" y="1591056"/>
            <a:ext cx="621792" cy="621792"/>
          </a:xfrm>
          <a:prstGeom prst="rect">
            <a:avLst/>
          </a:prstGeom>
          <a:solidFill>
            <a:srgbClr val="2E8B70">
              <a:alpha val="5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2359152"/>
            <a:ext cx="621792" cy="621792"/>
          </a:xfrm>
          <a:prstGeom prst="rect">
            <a:avLst/>
          </a:prstGeom>
          <a:solidFill>
            <a:srgbClr val="3B6EA5">
              <a:alpha val="4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3536" y="2359152"/>
            <a:ext cx="621792" cy="621792"/>
          </a:xfrm>
          <a:prstGeom prst="rect">
            <a:avLst/>
          </a:prstGeom>
          <a:solidFill>
            <a:srgbClr val="2E8B70">
              <a:alpha val="4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71632" y="2359152"/>
            <a:ext cx="621792" cy="621792"/>
          </a:xfrm>
          <a:prstGeom prst="rect">
            <a:avLst/>
          </a:prstGeom>
          <a:solidFill>
            <a:srgbClr val="3B6EA5">
              <a:alpha val="4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3127248"/>
            <a:ext cx="621792" cy="621792"/>
          </a:xfrm>
          <a:prstGeom prst="rect">
            <a:avLst/>
          </a:prstGeom>
          <a:solidFill>
            <a:srgbClr val="2E8B70">
              <a:alpha val="36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03536" y="3127248"/>
            <a:ext cx="621792" cy="621792"/>
          </a:xfrm>
          <a:prstGeom prst="rect">
            <a:avLst/>
          </a:prstGeom>
          <a:solidFill>
            <a:srgbClr val="3B6EA5">
              <a:alpha val="36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71632" y="3127248"/>
            <a:ext cx="621792" cy="621792"/>
          </a:xfrm>
          <a:prstGeom prst="rect">
            <a:avLst/>
          </a:prstGeom>
          <a:solidFill>
            <a:srgbClr val="2E8B70">
              <a:alpha val="36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3895344"/>
            <a:ext cx="621792" cy="621792"/>
          </a:xfrm>
          <a:prstGeom prst="rect">
            <a:avLst/>
          </a:prstGeom>
          <a:solidFill>
            <a:srgbClr val="3B6EA5">
              <a:alpha val="2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03536" y="3895344"/>
            <a:ext cx="621792" cy="621792"/>
          </a:xfrm>
          <a:prstGeom prst="rect">
            <a:avLst/>
          </a:prstGeom>
          <a:solidFill>
            <a:srgbClr val="2E8B70">
              <a:alpha val="2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71632" y="3895344"/>
            <a:ext cx="621792" cy="621792"/>
          </a:xfrm>
          <a:prstGeom prst="rect">
            <a:avLst/>
          </a:prstGeom>
          <a:solidFill>
            <a:srgbClr val="3B6EA5">
              <a:alpha val="2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37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200" normalizeH="0" baseline="0" noProof="0" dirty="0">
                <a:ln>
                  <a:noFill/>
                </a:ln>
                <a:solidFill>
                  <a:srgbClr val="9FB3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LOONGARCH · 原子操作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 a = a + 1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需要原子操作？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两个线程并发执行同一条语句引出的竞态问题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问题场景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两个线程都要对共享变量 a 执行 a = a + 1，初始 a = 3，期望结果为 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7780">
            <a:solidFill>
              <a:srgbClr val="3B6E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31720"/>
            <a:ext cx="5486400" cy="594360"/>
          </a:xfrm>
          <a:prstGeom prst="roundRect">
            <a:avLst>
              <a:gd name="adj" fmla="val 13846"/>
            </a:avLst>
          </a:prstGeom>
          <a:solidFill>
            <a:srgbClr val="3B6E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317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ld.w  r4,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 r5, r4,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  r5,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233172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7780">
            <a:solidFill>
              <a:srgbClr val="2E8B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331720"/>
            <a:ext cx="5486400" cy="594360"/>
          </a:xfrm>
          <a:prstGeom prst="roundRect">
            <a:avLst>
              <a:gd name="adj" fmla="val 13846"/>
            </a:avLst>
          </a:prstGeom>
          <a:solidFill>
            <a:srgbClr val="2E8B7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3317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 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75120" y="31089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ld.w  r4,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75120" y="3794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 r5, r4,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75120" y="4480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  r5,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每个线程都需要 3 条指令才能完成一次“读—改—写”，指令之间可能被操作系统交替调度执行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76272" cy="566928"/>
          </a:xfrm>
          <a:prstGeom prst="roundRect">
            <a:avLst>
              <a:gd name="adj" fmla="val 50000"/>
            </a:avLst>
          </a:prstGeom>
          <a:solidFill>
            <a:srgbClr val="2E8B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176272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情况一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顺序执行：结果正确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两线程指令没有交叉重叠，结果符合预期 a = 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028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2240280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ld.w r4,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921240" y="2258568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921240" y="225856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25496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25496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65960" y="2825496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r5,r4,1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921240" y="2843784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284378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10712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1071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965960" y="3410712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 r5,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921240" y="3429000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921240" y="34290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995928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9F3EF"/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95928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9592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65960" y="39959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ld.w r4,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921240" y="4014216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401421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581144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9F3EF"/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81144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581144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965960" y="4581144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r5,r4,1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921240" y="459943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9921240" y="459943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5166360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9F3EF"/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166360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16636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965960" y="5166360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 r5,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921240" y="5184648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9921240" y="518464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76272" cy="566928"/>
          </a:xfrm>
          <a:prstGeom prst="roundRect">
            <a:avLst>
              <a:gd name="adj" fmla="val 50000"/>
            </a:avLst>
          </a:prstGeom>
          <a:solidFill>
            <a:srgbClr val="B34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176272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情况二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交叉执行：结果错误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两线程指令交叉重叠，最终 a = 4，丢失了一次更新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028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2240280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ld.w r4,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921240" y="2258568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921240" y="225856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9F3EF"/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25496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25496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65960" y="2825496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ld.w r4,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921240" y="2843784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284378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9F3EF"/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10712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1071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965960" y="3410712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r5,r4,1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921240" y="3429000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921240" y="34290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995928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9F3EF"/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95928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9592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65960" y="39959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 r5,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921240" y="4014216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401421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581144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81144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581144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965960" y="4581144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r5,r4,1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921240" y="4599432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9921240" y="459943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5166360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FBEAE4"/>
          </a:solidFill>
          <a:ln w="15875">
            <a:solidFill>
              <a:srgbClr val="B345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166360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B3452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16636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965960" y="5166360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 r5,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921240" y="5184648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B3452C"/>
          </a:solidFill>
          <a:ln/>
        </p:spPr>
      </p:sp>
      <p:sp>
        <p:nvSpPr>
          <p:cNvPr id="41" name="Text 39"/>
          <p:cNvSpPr/>
          <p:nvPr/>
        </p:nvSpPr>
        <p:spPr>
          <a:xfrm>
            <a:off x="9921240" y="518464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57200" y="5888736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线程 1 用旧值写回，覆盖了线程 2 的更新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问题根源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普通的 ld / addi / st 序列不具备原子性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“读—改—写”由 3 条独立指令完成，执行期间可能被其他线程打断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227832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27832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 1 读到旧值后，若线程 2 抢先完成了读改写，线程 1 并不知情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4261104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DC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6110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 1 仍基于旧值计算并写回，导致线程 2 的更新被覆盖（丢失更新）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5294376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294376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这就是所谓的“竞态条件”（Race Condition），常见问题包括计数器少加、余额算错等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803136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680313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LL-SC 方案 (1/2)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线程 2 顺利完成读改写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ll.w 读取并监视，sc.w 成功写回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028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2240280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L: ll.w r4, a（监视启动）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921240" y="2258568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921240" y="225856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9F3EF"/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25496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25496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65960" y="2825496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L: ll.w r4, a（监视启动）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921240" y="2843784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284378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9F3EF"/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10712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1071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965960" y="3410712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r5,r4,1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921240" y="3429000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921240" y="34290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995928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9F3EF"/>
          </a:solidFill>
          <a:ln w="15875">
            <a:solidFill>
              <a:srgbClr val="2E8B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95928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2E8B7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9592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65960" y="39959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sc.w r5, a → 成功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921240" y="4014216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401421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4718304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 2 sc.w 成功，线程 1 的监视标记随之失效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38D5420-BCF1-78FE-0939-316AAD883B69}"/>
              </a:ext>
            </a:extLst>
          </p:cNvPr>
          <p:cNvSpPr txBox="1"/>
          <p:nvPr/>
        </p:nvSpPr>
        <p:spPr>
          <a:xfrm>
            <a:off x="9554547" y="375331"/>
            <a:ext cx="182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hlinkClick r:id="rId3"/>
              </a:rPr>
              <a:t>观看动画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803136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680313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LL-SC 方案 (2/2)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线程 1 检测冲突并重试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sc.w 失败会让线程 1 主动放弃这次写回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028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2240280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addi.w r5,r4,1（仍用旧值 3）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921240" y="2258568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921240" y="225856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25496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25496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65960" y="2825496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sc.w r5, a → 失败（监视已失效）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921240" y="2843784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284378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1124712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5875">
            <a:solidFill>
              <a:srgbClr val="3B6E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10712"/>
            <a:ext cx="109728" cy="512064"/>
          </a:xfrm>
          <a:prstGeom prst="roundRect">
            <a:avLst>
              <a:gd name="adj" fmla="val 16667"/>
            </a:avLst>
          </a:prstGeom>
          <a:solidFill>
            <a:srgbClr val="3B6EA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1071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965960" y="3410712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beqz r5, L → 跳转，重新执行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921240" y="3429000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921240" y="34290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41330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线程 1 重新读到最新值后，下一轮 sc.w 才会成功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总结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LLbit 监视机制如何避免丢失更新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ll.w 读取数据的同时，对该内存地址启动“链接监视”（LLbit=1）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227832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27832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只要该地址在期间被任意处理器核写入，LLbit 就会被清零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4261104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61104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sc.w 写回前检查 LLbit：为 1 才真正写回并置 rd=1；为 0 则放弃并置 rd=0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5294376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294376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配合 beqz 重试，保证“读—改—写”整体不会被静默覆盖，天然避免丢失更新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AM 原子操作指令族 (1/2)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格式：am_op.w/d rd, rk, rj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1652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amswap.w/d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0" y="283464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交换：旧值→rd，rk 写入内存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4005072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05072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1652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amadd.w/d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0" y="4005072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加法：内存值 = 旧值 + 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5175504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17550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1652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amand.w/d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0" y="5175504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按位与：内存值 = 旧值 AND 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1888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AM 原子操作指令族 (2/2)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格式：am_op.w/d rd, rk, rj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1652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amxor.w/d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0" y="283464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按位异或：内存值 = 旧值 XOR 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4005072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05072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1652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ammax.w/d[u]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0" y="4005072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取最大：内存值 = max(旧值, rk)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5175504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175504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1652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ammin.w/d[u]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0" y="5175504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取最小：内存值 = min(旧值, rk)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9851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438144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438144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屏障变体 _db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每条 AM 指令均有对应的内存屏障版本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amadd_db.w  rd, rk, rj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在原子操作基础上附带内存屏障语义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保证操作结果对其他核心全局有序可见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适合跨核同步场景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422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栅障指令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设计动机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保证访存 / 取指的执行顺序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6B4C9A">
              <a:alpha val="8000"/>
            </a:srgbClr>
          </a:solidFill>
          <a:ln w="15875">
            <a:solidFill>
              <a:srgbClr val="6B4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0607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多核环境下，处理器可能对访存 / 取指令进行乱序执行；栅障指令用于在指定位置强制排序。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5F7FB"/>
          </a:solidFill>
          <a:ln w="15875">
            <a:solidFill>
              <a:srgbClr val="6B4C9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" y="4434840"/>
            <a:ext cx="10607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LoongArch 提供两条栅障指令：DBAR（数据栅障）与 IBAR（指令栅障）。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CPU 会乱序？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5257800"/>
          </a:xfrm>
          <a:prstGeom prst="roundRect">
            <a:avLst>
              <a:gd name="adj" fmla="val 2087"/>
            </a:avLst>
          </a:prstGeom>
          <a:solidFill>
            <a:srgbClr val="2A3B7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777240" cy="7772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6002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乱序执行（Out-of-Order Execution）的五个原因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103327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超标量流水线：操作数就绪即可执行，无需等待前面未就绪指令，提升IPC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访存延迟不均：Cache Miss / 主存远慢于寄存器；乱序 + Load/Store Queue，避免慢 load 阻塞后续指令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Store Buffer（写缓冲）：写入先进缓冲区，本核可直接转发读到，但对其他核而言是“延迟可见”的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一致性协议（MESI）：写入需广播失效消息，各核感知时间不同，观察顺序可能不一致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 / 硬件重排：调整顺序但保持单线程语义不变；硬件用 ROB（重排序缓冲区）保证退休有序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栅障指令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DBAR 数据栅障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Barrier · 保证 load/store 之间的顺序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dbar  hint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hint 立即数指示同步对象与同步程度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之前所有 load/store 执行完毕后，dbar 才开始执行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dbar 执行完成后，后续 load/store 才能开始执行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栅障指令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IBAR 指令栅障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Barrier · 保证取指令的顺序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ibar  hint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用于保证 ibar 之前的指令修改对后续取指可见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典型场景：自修改代码、JIT 即时编译生成的代码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与 DBAR 配合，共同维护弱一致性内存模型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822960"/>
            <a:ext cx="621792" cy="621792"/>
          </a:xfrm>
          <a:prstGeom prst="rect">
            <a:avLst/>
          </a:prstGeom>
          <a:solidFill>
            <a:srgbClr val="3B6EA5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03536" y="822960"/>
            <a:ext cx="621792" cy="621792"/>
          </a:xfrm>
          <a:prstGeom prst="rect">
            <a:avLst/>
          </a:prstGeom>
          <a:solidFill>
            <a:srgbClr val="2E8B70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71632" y="822960"/>
            <a:ext cx="621792" cy="621792"/>
          </a:xfrm>
          <a:prstGeom prst="rect">
            <a:avLst/>
          </a:prstGeom>
          <a:solidFill>
            <a:srgbClr val="3B6EA5">
              <a:alpha val="6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1591056"/>
            <a:ext cx="621792" cy="621792"/>
          </a:xfrm>
          <a:prstGeom prst="rect">
            <a:avLst/>
          </a:prstGeom>
          <a:solidFill>
            <a:srgbClr val="2E8B70">
              <a:alpha val="5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03536" y="1591056"/>
            <a:ext cx="621792" cy="621792"/>
          </a:xfrm>
          <a:prstGeom prst="rect">
            <a:avLst/>
          </a:prstGeom>
          <a:solidFill>
            <a:srgbClr val="3B6EA5">
              <a:alpha val="5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1632" y="1591056"/>
            <a:ext cx="621792" cy="621792"/>
          </a:xfrm>
          <a:prstGeom prst="rect">
            <a:avLst/>
          </a:prstGeom>
          <a:solidFill>
            <a:srgbClr val="2E8B70">
              <a:alpha val="5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2359152"/>
            <a:ext cx="621792" cy="621792"/>
          </a:xfrm>
          <a:prstGeom prst="rect">
            <a:avLst/>
          </a:prstGeom>
          <a:solidFill>
            <a:srgbClr val="3B6EA5">
              <a:alpha val="4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3536" y="2359152"/>
            <a:ext cx="621792" cy="621792"/>
          </a:xfrm>
          <a:prstGeom prst="rect">
            <a:avLst/>
          </a:prstGeom>
          <a:solidFill>
            <a:srgbClr val="2E8B70">
              <a:alpha val="4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71632" y="2359152"/>
            <a:ext cx="621792" cy="621792"/>
          </a:xfrm>
          <a:prstGeom prst="rect">
            <a:avLst/>
          </a:prstGeom>
          <a:solidFill>
            <a:srgbClr val="3B6EA5">
              <a:alpha val="44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3127248"/>
            <a:ext cx="621792" cy="621792"/>
          </a:xfrm>
          <a:prstGeom prst="rect">
            <a:avLst/>
          </a:prstGeom>
          <a:solidFill>
            <a:srgbClr val="2E8B70">
              <a:alpha val="36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03536" y="3127248"/>
            <a:ext cx="621792" cy="621792"/>
          </a:xfrm>
          <a:prstGeom prst="rect">
            <a:avLst/>
          </a:prstGeom>
          <a:solidFill>
            <a:srgbClr val="3B6EA5">
              <a:alpha val="36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71632" y="3127248"/>
            <a:ext cx="621792" cy="621792"/>
          </a:xfrm>
          <a:prstGeom prst="rect">
            <a:avLst/>
          </a:prstGeom>
          <a:solidFill>
            <a:srgbClr val="2E8B70">
              <a:alpha val="36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3895344"/>
            <a:ext cx="621792" cy="621792"/>
          </a:xfrm>
          <a:prstGeom prst="rect">
            <a:avLst/>
          </a:prstGeom>
          <a:solidFill>
            <a:srgbClr val="3B6EA5">
              <a:alpha val="2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03536" y="3895344"/>
            <a:ext cx="621792" cy="621792"/>
          </a:xfrm>
          <a:prstGeom prst="rect">
            <a:avLst/>
          </a:prstGeom>
          <a:solidFill>
            <a:srgbClr val="2E8B70">
              <a:alpha val="2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71632" y="3895344"/>
            <a:ext cx="621792" cy="621792"/>
          </a:xfrm>
          <a:prstGeom prst="rect">
            <a:avLst/>
          </a:prstGeom>
          <a:solidFill>
            <a:srgbClr val="3B6EA5">
              <a:alpha val="2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828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200" normalizeH="0" baseline="0" noProof="0" dirty="0">
                <a:ln>
                  <a:noFill/>
                </a:ln>
                <a:solidFill>
                  <a:srgbClr val="9FB3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LOONGARCH · 栅障指令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2377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货架与提示牌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" y="3200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FE0F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一个关于 DBAR 的生活化例子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FB3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为什么“写数据”和“挂标记”的顺序不能被打乱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一个仓库取货的场景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仓库员负责摆货，取货人负责取货，两人靠一块提示牌沟通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3B6E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3B6E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仓库员（写进程）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把货物摆上货架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翻转“已就绪”提示牌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2E8B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28600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2E8B7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286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取货人（读进程）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3680" y="31089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先看提示牌有没有翻转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38404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翻转了，才去货架取货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1247120" cy="1005840"/>
          </a:xfrm>
          <a:prstGeom prst="roundRect">
            <a:avLst>
              <a:gd name="adj" fmla="val 8182"/>
            </a:avLst>
          </a:prstGeom>
          <a:solidFill>
            <a:srgbClr val="B3452C">
              <a:alpha val="10000"/>
            </a:srgbClr>
          </a:solidFill>
          <a:ln w="15875">
            <a:solidFill>
              <a:srgbClr val="B345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029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隐患：如果两人的两个动作被“打乱顺序”，取货人可能扑空，或者拿到还没更新的旧货！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对应到代码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货架 = data，提示牌 = tag，两块共享内存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21D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231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写进程（仓库员）: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st.d  val,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st.d  1,   tag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2286000"/>
            <a:ext cx="5513832" cy="1920240"/>
          </a:xfrm>
          <a:prstGeom prst="roundRect">
            <a:avLst>
              <a:gd name="adj" fmla="val 3810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423160"/>
            <a:ext cx="4873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读进程（取货人）: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ld.d  reg, tag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beqz  reg, 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ld.d  val,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写进程：第一行摆货，第二行翻牌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50017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读进程：先看牌，翻了才去取货（第三行）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和 tag 是两块普通共享内存，之间本身没有任何硬件约束的先后关系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76272" cy="566928"/>
          </a:xfrm>
          <a:prstGeom prst="roundRect">
            <a:avLst>
              <a:gd name="adj" fmla="val 50000"/>
            </a:avLst>
          </a:prstGeom>
          <a:solidFill>
            <a:srgbClr val="B34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176272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隐患一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仓库员的动作被“乱序”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两条没有数据相关的写指令，处理器可能颠倒执行顺序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st.d  1,   tag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st.d  val,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上面这条“翻牌”被提前执行了，下面这条“摆货”还没完成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B3452C">
              <a:alpha val="10000"/>
            </a:srgbClr>
          </a:solidFill>
          <a:ln w="15875">
            <a:solidFill>
              <a:srgbClr val="B34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5196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取货人看到牌子已经翻转，赶紧跑去货架，结果看到的还是旧货，甚至空货架！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76272" cy="566928"/>
          </a:xfrm>
          <a:prstGeom prst="roundRect">
            <a:avLst>
              <a:gd name="adj" fmla="val 50000"/>
            </a:avLst>
          </a:prstGeom>
          <a:solidFill>
            <a:srgbClr val="B34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176272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隐患二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取货人的动作也可能被“乱序”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提前偷看货架，不等提示牌翻转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ld.d  val,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ld.d  reg, tag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上面这条“看货”被提前执行了，下面这条“看牌”还没做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B3452C">
              <a:alpha val="10000"/>
            </a:srgbClr>
          </a:solidFill>
          <a:ln w="15875">
            <a:solidFill>
              <a:srgbClr val="B34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5196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345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即使货最终摆好了，取货人偷看到的也可能是还没更新的旧数据！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插入 dbar 0：立规矩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两人的两个动作之间都插入一道“栅栏”，强制先后顺序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写进程: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st.d  val,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dbar 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st.d  1,   tag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513832" cy="2651760"/>
          </a:xfrm>
          <a:prstGeom prst="roundRect">
            <a:avLst>
              <a:gd name="adj" fmla="val 2759"/>
            </a:avLst>
          </a:prstGeom>
          <a:solidFill>
            <a:srgbClr val="121D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423160"/>
            <a:ext cx="48737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读进程: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ld.d  reg, tag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dbar 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beqz  reg, 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ld.d  val,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C21FA6-69BA-6280-DE81-D9421AB2421A}"/>
              </a:ext>
            </a:extLst>
          </p:cNvPr>
          <p:cNvSpPr txBox="1"/>
          <p:nvPr/>
        </p:nvSpPr>
        <p:spPr>
          <a:xfrm>
            <a:off x="9554547" y="375331"/>
            <a:ext cx="182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hlinkClick r:id="rId3"/>
              </a:rPr>
              <a:t>观看动画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017520" cy="566928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017520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加入栅障后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顺序被严格锁定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栅栏前的动作必须先完成，栅栏后的动作才能开始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3B6EA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77440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仓库员摆货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078224" y="2788920"/>
            <a:ext cx="146304" cy="0"/>
          </a:xfrm>
          <a:prstGeom prst="line">
            <a:avLst/>
          </a:prstGeom>
          <a:noFill/>
          <a:ln w="2540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79392" y="237744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6B4C9A"/>
          </a:solidFill>
          <a:ln/>
        </p:spPr>
      </p:sp>
      <p:sp>
        <p:nvSpPr>
          <p:cNvPr id="10" name="Text 8"/>
          <p:cNvSpPr/>
          <p:nvPr/>
        </p:nvSpPr>
        <p:spPr>
          <a:xfrm>
            <a:off x="4279392" y="2377440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栅栏（dbar 0）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0416" y="2788920"/>
            <a:ext cx="146304" cy="0"/>
          </a:xfrm>
          <a:prstGeom prst="line">
            <a:avLst/>
          </a:prstGeom>
          <a:noFill/>
          <a:ln w="2540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01584" y="237744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3B6EA5"/>
          </a:solidFill>
          <a:ln/>
        </p:spPr>
      </p:sp>
      <p:sp>
        <p:nvSpPr>
          <p:cNvPr id="13" name="Text 11"/>
          <p:cNvSpPr/>
          <p:nvPr/>
        </p:nvSpPr>
        <p:spPr>
          <a:xfrm>
            <a:off x="8101584" y="2377440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仓库员翻牌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2E8B7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20440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取货人看牌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78224" y="3931920"/>
            <a:ext cx="146304" cy="0"/>
          </a:xfrm>
          <a:prstGeom prst="line">
            <a:avLst/>
          </a:prstGeom>
          <a:noFill/>
          <a:ln w="2540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79392" y="352044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6B4C9A"/>
          </a:solidFill>
          <a:ln/>
        </p:spPr>
      </p:sp>
      <p:sp>
        <p:nvSpPr>
          <p:cNvPr id="18" name="Text 16"/>
          <p:cNvSpPr/>
          <p:nvPr/>
        </p:nvSpPr>
        <p:spPr>
          <a:xfrm>
            <a:off x="4279392" y="3520440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栅栏（dbar 0）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00416" y="3931920"/>
            <a:ext cx="146304" cy="0"/>
          </a:xfrm>
          <a:prstGeom prst="line">
            <a:avLst/>
          </a:prstGeom>
          <a:noFill/>
          <a:ln w="25400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01584" y="3520440"/>
            <a:ext cx="3602736" cy="822960"/>
          </a:xfrm>
          <a:prstGeom prst="roundRect">
            <a:avLst>
              <a:gd name="adj" fmla="val 10000"/>
            </a:avLst>
          </a:prstGeom>
          <a:solidFill>
            <a:srgbClr val="2E8B70"/>
          </a:solidFill>
          <a:ln/>
        </p:spPr>
      </p:sp>
      <p:sp>
        <p:nvSpPr>
          <p:cNvPr id="21" name="Text 19"/>
          <p:cNvSpPr/>
          <p:nvPr/>
        </p:nvSpPr>
        <p:spPr>
          <a:xfrm>
            <a:off x="8101584" y="3520440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取货人取货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只要牌子确实翻转在货摆好之后，取货人看到翻转的牌子时，货架上就一定是新货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补充：栅障的类型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DBAR 管“数据”，IBAR 管“指令”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3970">
            <a:solidFill>
              <a:srgbClr val="6B4C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4C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读栅障 LoadLoad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4880" y="22402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只管“先读完，才能继续读”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3970">
            <a:solidFill>
              <a:srgbClr val="6B4C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546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4C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写栅障 StoreStore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31546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只管“先写完，才能继续写”（本例用的就是它）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3970">
            <a:solidFill>
              <a:srgbClr val="6B4C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690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4C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完全栅障 AnyAny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40690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前后所有访存都要按顺序，龙芯目前默认 hint=0 即此类型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11247120" cy="1005840"/>
          </a:xfrm>
          <a:prstGeom prst="roundRect">
            <a:avLst>
              <a:gd name="adj" fmla="val 8182"/>
            </a:avLst>
          </a:prstGeom>
          <a:solidFill>
            <a:srgbClr val="F5F7FB"/>
          </a:solidFill>
          <a:ln w="15875">
            <a:solidFill>
              <a:srgbClr val="6B4C9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" y="50749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IBAR 好比“装修还没完工，先别让顾客进来”：代码被修改后，用 ibar 确保处理器取指令时看到的是修改后的最新指令。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B59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概述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实现程序的条件与无条件跳转，分为三组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B595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条件分支： beq / bne / blt / bge / bltu / bgeu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B595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862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无条件跳转： b（跳转）、 bl（跳转并链接）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93776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B59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9377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寄存器跳转： jirl（常用于返回与间接调用）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B59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条件分支指令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beq/bne/blt/bge/bltu/bgeu · beqz/bnez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  rj, rd, offs16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比较 rj 与 rd，满足条件则跳转到 PC + offs16×4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beqz/bnez：与零比较，只需一个寄存器操作数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不满足条件则顺序执行下一条指令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B59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无条件跳转与链接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 · bl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 offs26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b：无条件跳转到 PC + offs26×4，不保存返回地址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bl：跳转的同时把返回地址存入 r1（ra）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典型用途：函数调用（bl）与普通跳转（b）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B59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寄存器跳转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jirl · 间接跳转与函数返回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jirl  rd, rj, offs16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跳转目标 = rj + offs16×4，并把返回地址存入 rd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rd 为 r0、offs16 为 0 时，即实现无链接的间接跳转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典型用途：函数返回（jirl r0, r1, 0）、间接调用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56692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75564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五类指令对比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地址检查 · 原子性 · 典型场景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3B6E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3B6EA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普通访存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检查：无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原子：否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场景：读写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35885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2E8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35885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2E8B70"/>
          </a:solidFill>
          <a:ln/>
        </p:spPr>
      </p:sp>
      <p:sp>
        <p:nvSpPr>
          <p:cNvPr id="14" name="Text 12"/>
          <p:cNvSpPr/>
          <p:nvPr/>
        </p:nvSpPr>
        <p:spPr>
          <a:xfrm>
            <a:off x="2735885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边界检查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27325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检查：有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27325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原子：否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27325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场景：安全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14570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C165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4570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5014570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原子访存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06010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检查：无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06010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原子：是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06010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场景：同步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93254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6B4C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3254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6B4C9A"/>
          </a:solidFill>
          <a:ln/>
        </p:spPr>
      </p:sp>
      <p:sp>
        <p:nvSpPr>
          <p:cNvPr id="26" name="Text 24"/>
          <p:cNvSpPr/>
          <p:nvPr/>
        </p:nvSpPr>
        <p:spPr>
          <a:xfrm>
            <a:off x="7293254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栅障指令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84694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检查：无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84694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原子：—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84694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场景：顺序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571939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B595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71939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B5952C"/>
          </a:solidFill>
          <a:ln/>
        </p:spPr>
      </p:sp>
      <p:sp>
        <p:nvSpPr>
          <p:cNvPr id="32" name="Text 30"/>
          <p:cNvSpPr/>
          <p:nvPr/>
        </p:nvSpPr>
        <p:spPr>
          <a:xfrm>
            <a:off x="9571939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转移指令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663379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检查：无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663379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原子：—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663379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场景：跳转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FADCD6E-974F-36A3-62BC-783430541285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93AE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对齐（课堂点到为止）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多字节访问通常期望按尺寸对齐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未对齐可能更慢或触发异常（平台相关）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链接脚本 ALIGN(4K) 是更大粒度布局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栈帧里常用 $sp + offset 访问局部变量（第6次课）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B11AD5-F04F-D040-45FB-896941210002}"/>
              </a:ext>
            </a:extLst>
          </p:cNvPr>
          <p:cNvSpPr txBox="1"/>
          <p:nvPr/>
        </p:nvSpPr>
        <p:spPr>
          <a:xfrm>
            <a:off x="8445500" y="4724400"/>
            <a:ext cx="444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7084A3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+mn-cs"/>
              </a:rPr>
              <a:t>43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7084A3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822960"/>
            <a:ext cx="621792" cy="621792"/>
          </a:xfrm>
          <a:prstGeom prst="rect">
            <a:avLst/>
          </a:prstGeom>
          <a:solidFill>
            <a:srgbClr val="3B6EA5">
              <a:alpha val="5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03536" y="822960"/>
            <a:ext cx="621792" cy="621792"/>
          </a:xfrm>
          <a:prstGeom prst="rect">
            <a:avLst/>
          </a:prstGeom>
          <a:solidFill>
            <a:srgbClr val="2E8B70">
              <a:alpha val="5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71632" y="822960"/>
            <a:ext cx="621792" cy="621792"/>
          </a:xfrm>
          <a:prstGeom prst="rect">
            <a:avLst/>
          </a:prstGeom>
          <a:solidFill>
            <a:srgbClr val="C1652F">
              <a:alpha val="5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1591056"/>
            <a:ext cx="621792" cy="621792"/>
          </a:xfrm>
          <a:prstGeom prst="rect">
            <a:avLst/>
          </a:prstGeom>
          <a:solidFill>
            <a:srgbClr val="2E8B70">
              <a:alpha val="4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03536" y="1591056"/>
            <a:ext cx="621792" cy="621792"/>
          </a:xfrm>
          <a:prstGeom prst="rect">
            <a:avLst/>
          </a:prstGeom>
          <a:solidFill>
            <a:srgbClr val="C1652F">
              <a:alpha val="4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1632" y="1591056"/>
            <a:ext cx="621792" cy="621792"/>
          </a:xfrm>
          <a:prstGeom prst="rect">
            <a:avLst/>
          </a:prstGeom>
          <a:solidFill>
            <a:srgbClr val="6B4C9A">
              <a:alpha val="4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0" y="2359152"/>
            <a:ext cx="621792" cy="621792"/>
          </a:xfrm>
          <a:prstGeom prst="rect">
            <a:avLst/>
          </a:prstGeom>
          <a:solidFill>
            <a:srgbClr val="C1652F">
              <a:alpha val="39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3536" y="2359152"/>
            <a:ext cx="621792" cy="621792"/>
          </a:xfrm>
          <a:prstGeom prst="rect">
            <a:avLst/>
          </a:prstGeom>
          <a:solidFill>
            <a:srgbClr val="6B4C9A">
              <a:alpha val="39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71632" y="2359152"/>
            <a:ext cx="621792" cy="621792"/>
          </a:xfrm>
          <a:prstGeom prst="rect">
            <a:avLst/>
          </a:prstGeom>
          <a:solidFill>
            <a:srgbClr val="B5952C">
              <a:alpha val="39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3127248"/>
            <a:ext cx="621792" cy="621792"/>
          </a:xfrm>
          <a:prstGeom prst="rect">
            <a:avLst/>
          </a:prstGeom>
          <a:solidFill>
            <a:srgbClr val="6B4C9A">
              <a:alpha val="31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03536" y="3127248"/>
            <a:ext cx="621792" cy="621792"/>
          </a:xfrm>
          <a:prstGeom prst="rect">
            <a:avLst/>
          </a:prstGeom>
          <a:solidFill>
            <a:srgbClr val="B5952C">
              <a:alpha val="31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71632" y="3127248"/>
            <a:ext cx="621792" cy="621792"/>
          </a:xfrm>
          <a:prstGeom prst="rect">
            <a:avLst/>
          </a:prstGeom>
          <a:solidFill>
            <a:srgbClr val="3B6EA5">
              <a:alpha val="31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3895344"/>
            <a:ext cx="621792" cy="621792"/>
          </a:xfrm>
          <a:prstGeom prst="rect">
            <a:avLst/>
          </a:prstGeom>
          <a:solidFill>
            <a:srgbClr val="B5952C">
              <a:alpha val="23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03536" y="3895344"/>
            <a:ext cx="621792" cy="621792"/>
          </a:xfrm>
          <a:prstGeom prst="rect">
            <a:avLst/>
          </a:prstGeom>
          <a:solidFill>
            <a:srgbClr val="3B6EA5">
              <a:alpha val="23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71632" y="3895344"/>
            <a:ext cx="621792" cy="621792"/>
          </a:xfrm>
          <a:prstGeom prst="rect">
            <a:avLst/>
          </a:prstGeom>
          <a:solidFill>
            <a:srgbClr val="2E8B70">
              <a:alpha val="23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554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300" normalizeH="0" baseline="0" noProof="0" dirty="0">
                <a:ln>
                  <a:noFill/>
                </a:ln>
                <a:solidFill>
                  <a:srgbClr val="9FB3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LOONGARCH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210312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浮点数指令集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运算 · 比较 · 转换 · 传送 · 分支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3B6E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178808"/>
            <a:ext cx="164592" cy="164592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977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运算指令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56432" y="39776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2E8B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75888" y="4178808"/>
            <a:ext cx="164592" cy="164592"/>
          </a:xfrm>
          <a:prstGeom prst="ellipse">
            <a:avLst/>
          </a:prstGeom>
          <a:solidFill>
            <a:srgbClr val="2E8B70"/>
          </a:solidFill>
          <a:ln/>
        </p:spPr>
      </p:sp>
      <p:sp>
        <p:nvSpPr>
          <p:cNvPr id="25" name="Text 23"/>
          <p:cNvSpPr/>
          <p:nvPr/>
        </p:nvSpPr>
        <p:spPr>
          <a:xfrm>
            <a:off x="3959352" y="3977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比较指令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64224" y="39776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C165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4178808"/>
            <a:ext cx="164592" cy="164592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8" name="Text 26"/>
          <p:cNvSpPr/>
          <p:nvPr/>
        </p:nvSpPr>
        <p:spPr>
          <a:xfrm>
            <a:off x="6867144" y="3977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转换指令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68172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6B4C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4882896"/>
            <a:ext cx="164592" cy="164592"/>
          </a:xfrm>
          <a:prstGeom prst="ellipse">
            <a:avLst/>
          </a:prstGeom>
          <a:solidFill>
            <a:srgbClr val="6B4C9A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46817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传送指令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456432" y="468172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21D33"/>
          </a:solidFill>
          <a:ln w="22225">
            <a:solidFill>
              <a:srgbClr val="B595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75888" y="4882896"/>
            <a:ext cx="164592" cy="164592"/>
          </a:xfrm>
          <a:prstGeom prst="ellipse">
            <a:avLst/>
          </a:prstGeom>
          <a:solidFill>
            <a:srgbClr val="B5952C"/>
          </a:solidFill>
          <a:ln/>
        </p:spPr>
      </p:sp>
      <p:sp>
        <p:nvSpPr>
          <p:cNvPr id="34" name="Text 32"/>
          <p:cNvSpPr/>
          <p:nvPr/>
        </p:nvSpPr>
        <p:spPr>
          <a:xfrm>
            <a:off x="3959352" y="46817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分支指令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指令总览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浮点数指令按用途分为五类，均使用 32 个浮点寄存器 fr0～fr31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788920"/>
            <a:ext cx="731520" cy="73152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25146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运算指令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54480" y="315468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四则运算、开方、融合乘加等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79392" y="228600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2788920"/>
            <a:ext cx="731520" cy="731520"/>
          </a:xfrm>
          <a:prstGeom prst="ellipse">
            <a:avLst/>
          </a:prstGeom>
          <a:solidFill>
            <a:srgbClr val="2E8B70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76672" y="25146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比较指令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76672" y="315468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比较结果写入 fcc 条件标志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1584" y="228600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78892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98864" y="25146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转换指令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98864" y="315468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浮点与整数、单双精度互转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368296" y="420624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24328" y="4709160"/>
            <a:ext cx="731520" cy="731520"/>
          </a:xfrm>
          <a:prstGeom prst="ellipse">
            <a:avLst/>
          </a:prstGeom>
          <a:solidFill>
            <a:srgbClr val="6B4C9A"/>
          </a:solidFill>
          <a:ln/>
        </p:spPr>
      </p:sp>
      <p:sp>
        <p:nvSpPr>
          <p:cNvPr id="21" name="Text 19"/>
          <p:cNvSpPr/>
          <p:nvPr/>
        </p:nvSpPr>
        <p:spPr>
          <a:xfrm>
            <a:off x="2624328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65576" y="443484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传送/访存指令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65576" y="507492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寄存器搬运与内存读写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90488" y="4206240"/>
            <a:ext cx="3602736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709160"/>
            <a:ext cx="731520" cy="731520"/>
          </a:xfrm>
          <a:prstGeom prst="ellipse">
            <a:avLst/>
          </a:prstGeom>
          <a:solidFill>
            <a:srgbClr val="B5952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287768" y="443484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分支指令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87768" y="507492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依据 fcc 条件标志跳转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为什么浮点数需要专门的存储格式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浮点数无法采用整数的补码方式存储，IEEE 规定了统一的格式标准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3602736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3B6E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77440"/>
            <a:ext cx="3602736" cy="640080"/>
          </a:xfrm>
          <a:prstGeom prst="roundRect">
            <a:avLst>
              <a:gd name="adj" fmla="val 14286"/>
            </a:avLst>
          </a:prstGeom>
          <a:solidFill>
            <a:srgbClr val="3B6E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3602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 · 符号位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054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位：0 表示正数，1 表示负数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79392" y="2377440"/>
            <a:ext cx="3602736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2E8B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9392" y="2377440"/>
            <a:ext cx="3602736" cy="640080"/>
          </a:xfrm>
          <a:prstGeom prst="roundRect">
            <a:avLst>
              <a:gd name="adj" fmla="val 14286"/>
            </a:avLst>
          </a:prstGeom>
          <a:solidFill>
            <a:srgbClr val="2E8B70"/>
          </a:solidFill>
          <a:ln/>
        </p:spPr>
      </p:sp>
      <p:sp>
        <p:nvSpPr>
          <p:cNvPr id="10" name="Text 8"/>
          <p:cNvSpPr/>
          <p:nvPr/>
        </p:nvSpPr>
        <p:spPr>
          <a:xfrm>
            <a:off x="4279392" y="2377440"/>
            <a:ext cx="3602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 · 阶码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53712" y="3291840"/>
            <a:ext cx="3054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偏置指数，决定小数点的位置（量级）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01584" y="2377440"/>
            <a:ext cx="3602736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C165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2377440"/>
            <a:ext cx="3602736" cy="640080"/>
          </a:xfrm>
          <a:prstGeom prst="roundRect">
            <a:avLst>
              <a:gd name="adj" fmla="val 14286"/>
            </a:avLst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8101584" y="2377440"/>
            <a:ext cx="3602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 · 尾数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75904" y="3291840"/>
            <a:ext cx="3054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小数部分，决定数值的精度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IEEE 754 定义了两种基本格式：单精度（float，32 位）和双精度（double，64 位）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700016" cy="566928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70001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单精度 float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32 位单精度格式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S(1位) + E(8位) + F(23位)，共 32 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51473" cy="822960"/>
          </a:xfrm>
          <a:prstGeom prst="rect">
            <a:avLst/>
          </a:prstGeom>
          <a:solidFill>
            <a:srgbClr val="3B6E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8673" y="2423160"/>
            <a:ext cx="2811780" cy="822960"/>
          </a:xfrm>
          <a:prstGeom prst="rect">
            <a:avLst/>
          </a:prstGeom>
          <a:solidFill>
            <a:srgbClr val="2E8B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0453" y="2423160"/>
            <a:ext cx="8083868" cy="822960"/>
          </a:xfrm>
          <a:prstGeom prst="rect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93592"/>
            <a:ext cx="256032" cy="256032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 符号位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9410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31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06240" y="3593592"/>
            <a:ext cx="256032" cy="256032"/>
          </a:xfrm>
          <a:prstGeom prst="ellipse">
            <a:avLst/>
          </a:prstGeom>
          <a:solidFill>
            <a:srgbClr val="2E8B7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52044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 阶码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39410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30~23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55280" y="3593592"/>
            <a:ext cx="256032" cy="256032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52044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 尾数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21040" y="39410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22~0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2E8B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120640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双精度 double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64 位双精度格式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S(1位) + E(11位) + F(52位)，共 64 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75736" cy="822960"/>
          </a:xfrm>
          <a:prstGeom prst="rect">
            <a:avLst/>
          </a:prstGeom>
          <a:solidFill>
            <a:srgbClr val="3B6E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2936" y="2423160"/>
            <a:ext cx="1933099" cy="822960"/>
          </a:xfrm>
          <a:prstGeom prst="rect">
            <a:avLst/>
          </a:prstGeom>
          <a:solidFill>
            <a:srgbClr val="2E8B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6035" y="2423160"/>
            <a:ext cx="9138285" cy="822960"/>
          </a:xfrm>
          <a:prstGeom prst="rect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93592"/>
            <a:ext cx="256032" cy="256032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 符号位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9410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63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06240" y="3593592"/>
            <a:ext cx="256032" cy="256032"/>
          </a:xfrm>
          <a:prstGeom prst="ellipse">
            <a:avLst/>
          </a:prstGeom>
          <a:solidFill>
            <a:srgbClr val="2E8B7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52044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 阶码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39410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62~52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55280" y="3593592"/>
            <a:ext cx="256032" cy="256032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52044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 尾数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21040" y="39410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51~0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双精度用更多位来表示阶码和尾数，因此比单精度有更大的数值范围和更高的精度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规格化的值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当阶码 E 不是全 0 也不是全 1 时，按下式计算数值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12471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14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单精度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0" y="2633472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263347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(-1)^S × 2^(E-127) × 1.F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35440" y="25146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移码 = 127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112471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DC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双精度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4142232"/>
            <a:ext cx="5852160" cy="777240"/>
          </a:xfrm>
          <a:prstGeom prst="roundRect">
            <a:avLst>
              <a:gd name="adj" fmla="val 8235"/>
            </a:avLst>
          </a:prstGeom>
          <a:solidFill>
            <a:srgbClr val="121D33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414223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(-1)^S × 2^(E-1023) × 1.F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35440" y="4023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移码 = 1023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其中 1.F 表示尾数隐含最高位固定为 1（规格化后小数点前必为 1），无需存储这个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279392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279392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 (1/2)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5.75D 转换为二进制浮点数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先转换成二进制，再规格化找出阶码 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S 位：5.75D 是正数，S =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004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转二进制：5.75D = 101.11B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690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规格化：101.11B = 1.0111B × 2²，故 e = 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165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377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求 E：E = e + 127 = 129 = 1000_0001B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279392" cy="566928"/>
          </a:xfrm>
          <a:prstGeom prst="roundRect">
            <a:avLst>
              <a:gd name="adj" fmla="val 50000"/>
            </a:avLst>
          </a:prstGeom>
          <a:solidFill>
            <a:srgbClr val="C165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279392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 (2/2)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写出完整的存储结果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 取自 1.0111 去掉整数位与小数点后，补零到 23 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0111 0000000000000000000  (23 位)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5204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0  10000001  01110000000000000000000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・ E（8位）・ F（23位）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反向验证：e = E − 127 = 2，还原尾数 1.0111，左移 2 位得 101.11B = 5.75D 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其他特殊情况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阶码全 0 或全 1 时表示的特殊数值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397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非规格化值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749040" y="237744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阶码 E 全为 0：表示接近零的极小数，此时不再隐含最高位的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3970">
            <a:solidFill>
              <a:srgbClr val="DC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1188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正负无穷大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49040" y="361188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阶码 E 全为 1 且尾数 F 全为 0：表示 ±∞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846320"/>
            <a:ext cx="11247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397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4632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NaN（非数）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49040" y="484632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阶码 E 全为 1 且尾数 F 不全为 0：表示无效运算结果，如 0/0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A46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其他特殊情况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066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阶码全 0 或全 1 时表示的特殊数值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76400"/>
          </a:xfrm>
          <a:prstGeom prst="roundRect">
            <a:avLst>
              <a:gd name="adj" fmla="val 4909"/>
            </a:avLst>
          </a:prstGeom>
          <a:solidFill>
            <a:srgbClr val="FFFFFF">
              <a:alpha val="0"/>
            </a:srgbClr>
          </a:solidFill>
          <a:ln w="15240">
            <a:solidFill>
              <a:srgbClr val="C8CC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2376" y="1170432"/>
            <a:ext cx="206654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非规格化值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008376" y="1316736"/>
            <a:ext cx="8513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阶码 E 全为 0：极小数，尾数解释为 0.M（无隐含前导 1）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008376" y="1865376"/>
            <a:ext cx="8513064" cy="871728"/>
          </a:xfrm>
          <a:prstGeom prst="roundRect">
            <a:avLst>
              <a:gd name="adj" fmla="val 6294"/>
            </a:avLst>
          </a:prstGeom>
          <a:solidFill>
            <a:srgbClr val="DDE2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54680" y="1865376"/>
            <a:ext cx="8293608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例  0</a:t>
            </a:r>
            <a:r>
              <a:rPr lang="en-US" sz="2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</a:t>
            </a:r>
            <a:r>
              <a:rPr lang="en-US" sz="2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10000000000000000000000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301240"/>
            <a:ext cx="8293608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→ 0.5 × 2⁻¹²⁶  ≈  5.88 × 10⁻³⁹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2974848"/>
            <a:ext cx="11183112" cy="1676400"/>
          </a:xfrm>
          <a:prstGeom prst="roundRect">
            <a:avLst>
              <a:gd name="adj" fmla="val 4909"/>
            </a:avLst>
          </a:prstGeom>
          <a:solidFill>
            <a:srgbClr val="FFFFFF">
              <a:alpha val="0"/>
            </a:srgbClr>
          </a:solidFill>
          <a:ln w="15240">
            <a:solidFill>
              <a:srgbClr val="C8CC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" y="2974848"/>
            <a:ext cx="206654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正负无穷大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008376" y="3121152"/>
            <a:ext cx="8513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阶码 E 全为 1 且尾数 F 全为 0：表示 ±∞（上溢时产生）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008376" y="3669792"/>
            <a:ext cx="8513064" cy="871728"/>
          </a:xfrm>
          <a:prstGeom prst="roundRect">
            <a:avLst>
              <a:gd name="adj" fmla="val 6294"/>
            </a:avLst>
          </a:prstGeom>
          <a:solidFill>
            <a:srgbClr val="DDE2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54680" y="3669792"/>
            <a:ext cx="8293608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例  0</a:t>
            </a:r>
            <a:r>
              <a:rPr lang="en-US" sz="2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11111111</a:t>
            </a:r>
            <a:r>
              <a:rPr lang="en-US" sz="2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00000000000000000000000  →  +∞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935224" y="4105656"/>
            <a:ext cx="8513064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1</a:t>
            </a:r>
            <a:r>
              <a:rPr lang="en-US" sz="2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11111111</a:t>
            </a:r>
            <a:r>
              <a:rPr lang="en-US" sz="2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00000000000000000000000  →  -∞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" y="4779264"/>
            <a:ext cx="11183112" cy="1676400"/>
          </a:xfrm>
          <a:prstGeom prst="roundRect">
            <a:avLst>
              <a:gd name="adj" fmla="val 4909"/>
            </a:avLst>
          </a:prstGeom>
          <a:solidFill>
            <a:srgbClr val="FFFFFF">
              <a:alpha val="0"/>
            </a:srgbClr>
          </a:solidFill>
          <a:ln w="15240">
            <a:solidFill>
              <a:srgbClr val="C8CC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" y="4779264"/>
            <a:ext cx="206654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NaN（非数）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008376" y="4925568"/>
            <a:ext cx="8513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阶码 E 全为 1 且尾数 F 不全为 0：无效运算结果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008376" y="5474208"/>
            <a:ext cx="8513064" cy="871728"/>
          </a:xfrm>
          <a:prstGeom prst="roundRect">
            <a:avLst>
              <a:gd name="adj" fmla="val 6294"/>
            </a:avLst>
          </a:prstGeom>
          <a:solidFill>
            <a:srgbClr val="DDE2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154680" y="5474208"/>
            <a:ext cx="843991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例  0</a:t>
            </a:r>
            <a:r>
              <a:rPr lang="en-US" sz="2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11111111</a:t>
            </a:r>
            <a:r>
              <a:rPr lang="en-US" sz="2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00000000000000000000001  →  NaN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5910072"/>
            <a:ext cx="8293608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触发：0÷0、∞−∞、√(−1) 等非法运算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1460175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运算指令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基本运算指令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四则运算与常用一元运算，.s 为单精度，.d 为双精度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5138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fadd.s/d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34640" y="2743200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= fj + fk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0488" y="2743200"/>
            <a:ext cx="55138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27432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fsub.s/d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67928" y="2743200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= fj − fk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55138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9300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fmul.s/d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34640" y="3493008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= fj × fk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90488" y="3493008"/>
            <a:ext cx="55138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349300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fdiv.s/d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67928" y="3493008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= fj ÷ fk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242816"/>
            <a:ext cx="55138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4281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fsqrt.s/d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34640" y="4242816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= √fj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90488" y="4242816"/>
            <a:ext cx="55138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424281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B6E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fabs/fneg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67928" y="4242816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|fj| ／ −fj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运算指令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融合乘加与极值指令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一次指令内完成乘加，减少舍入误差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260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fmadd.d  fd, fj, fk, fa   # fd = fj×fk + fa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fnmadd.d fd, fj, fk, fa   # fd = −(fj×fk + fa)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fmsub / fnmsub：同上，运算符为“减”而非“加”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fmax / fmin：取较大 / 较小值；fmaxa / fmina：按绝对值取较大 / 较小值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2E8B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比较指令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浮点比较指令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比较结果写入条件标志寄存器 fcc0～fcc7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fcmp.cond.s  cc, fj, fk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cond 决定比较关系，如 ceq（相等）、slt（小于）等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比较结果（真/假）写入条件标志寄存器 cc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示例：fcmp.slt.s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$fcc0,   $fa0,   $fa1  →  fcc0 = (fa0 &lt; fa1)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D4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转换指令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3A46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浮点转换指令 — 例子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89888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每条指令配一个龙芯汇编示例及说明（# 号后为注释）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1183112" cy="1088136"/>
          </a:xfrm>
          <a:prstGeom prst="roundRect">
            <a:avLst>
              <a:gd name="adj" fmla="val 7563"/>
            </a:avLst>
          </a:prstGeom>
          <a:solidFill>
            <a:srgbClr val="FFFFFF">
              <a:alpha val="0"/>
            </a:srgbClr>
          </a:solidFill>
          <a:ln w="19050">
            <a:solidFill>
              <a:srgbClr val="D46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9602" y="1828800"/>
            <a:ext cx="3570079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6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fcvt.s.d / fcvt.d.s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032504" y="1911096"/>
            <a:ext cx="74706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单精度 ⇌ 双精度互相转换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032504" y="2418588"/>
            <a:ext cx="7470648" cy="406908"/>
          </a:xfrm>
          <a:prstGeom prst="roundRect">
            <a:avLst>
              <a:gd name="adj" fmla="val 11236"/>
            </a:avLst>
          </a:prstGeom>
          <a:solidFill>
            <a:srgbClr val="EBD9C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78808" y="2418588"/>
            <a:ext cx="72511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A2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fcvt.s.d  $f0, $f1   # 双→单精度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" y="3008376"/>
            <a:ext cx="11183112" cy="1088136"/>
          </a:xfrm>
          <a:prstGeom prst="roundRect">
            <a:avLst>
              <a:gd name="adj" fmla="val 7563"/>
            </a:avLst>
          </a:prstGeom>
          <a:solidFill>
            <a:srgbClr val="FFFFFF">
              <a:alpha val="0"/>
            </a:srgbClr>
          </a:solidFill>
          <a:ln w="19050">
            <a:solidFill>
              <a:srgbClr val="D46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" y="3008376"/>
            <a:ext cx="30274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6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ftintr{z/p/m/ne}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032504" y="3090672"/>
            <a:ext cx="74706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浮点 → 整数：向零/向上/向下/向偶舍入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032504" y="3598164"/>
            <a:ext cx="7470648" cy="406908"/>
          </a:xfrm>
          <a:prstGeom prst="roundRect">
            <a:avLst>
              <a:gd name="adj" fmla="val 11236"/>
            </a:avLst>
          </a:prstGeom>
          <a:solidFill>
            <a:srgbClr val="EBD9C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78808" y="3598164"/>
            <a:ext cx="72511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A2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ftintrz.w.s  $f2, $f0   # 3.7→3（向零）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" y="4187952"/>
            <a:ext cx="11183112" cy="1088136"/>
          </a:xfrm>
          <a:prstGeom prst="roundRect">
            <a:avLst>
              <a:gd name="adj" fmla="val 7563"/>
            </a:avLst>
          </a:prstGeom>
          <a:solidFill>
            <a:srgbClr val="FFFFFF">
              <a:alpha val="0"/>
            </a:srgbClr>
          </a:solidFill>
          <a:ln w="19050">
            <a:solidFill>
              <a:srgbClr val="D46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" y="4187952"/>
            <a:ext cx="31089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6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ffint.{s/d}.{w/l}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032504" y="4270248"/>
            <a:ext cx="74706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 → 浮点数（w=32位整数，l=64位整数）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032504" y="4777740"/>
            <a:ext cx="7470648" cy="406908"/>
          </a:xfrm>
          <a:prstGeom prst="roundRect">
            <a:avLst>
              <a:gd name="adj" fmla="val 11236"/>
            </a:avLst>
          </a:prstGeom>
          <a:solidFill>
            <a:srgbClr val="EBD9C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78808" y="4777740"/>
            <a:ext cx="72511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A2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ffint.s.w  $f1, $f2   # 整数42→单精42.0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02920" y="5367528"/>
            <a:ext cx="11183112" cy="1088136"/>
          </a:xfrm>
          <a:prstGeom prst="roundRect">
            <a:avLst>
              <a:gd name="adj" fmla="val 7563"/>
            </a:avLst>
          </a:prstGeom>
          <a:solidFill>
            <a:srgbClr val="FFFFFF">
              <a:alpha val="0"/>
            </a:srgbClr>
          </a:solidFill>
          <a:ln w="19050">
            <a:solidFill>
              <a:srgbClr val="D462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" y="5367528"/>
            <a:ext cx="32186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6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frint.s / frint.d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032504" y="5449824"/>
            <a:ext cx="74706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4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按当前舍入模式取整，结果仍为浮点类型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032504" y="5957316"/>
            <a:ext cx="7470648" cy="406908"/>
          </a:xfrm>
          <a:prstGeom prst="roundRect">
            <a:avLst>
              <a:gd name="adj" fmla="val 11236"/>
            </a:avLst>
          </a:prstGeom>
          <a:solidFill>
            <a:srgbClr val="EBD9C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178808" y="5957316"/>
            <a:ext cx="72511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A2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frint.s  $f3, $f0   # 3.7→4.0（向上模式）</a:t>
            </a:r>
            <a:endParaRPr lang="en-US" sz="2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58768" cy="566928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85876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传送/访存指令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数据传送指令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浮点寄存器、通用寄存器与状态寄存器之间搬运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6B4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4C9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fmov · fsel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0" y="269748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浮点寄存器间搬运；fsel 按条件标志选择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6B4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6576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4C9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movgr2fr/fr2gr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365760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通用寄存器 ⇄ 浮点寄存器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6B4C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6177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4C9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movgr2fcsr 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0" y="461772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通用寄存器 ⇄ 浮点控制状态寄存器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55778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6B4C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5778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4C9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movfr2cf 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0" y="557784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浮点/通用寄存器 ⇄ 条件标志 fcc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D4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浮点数据处理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位模式搬运 vs 数值转换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1389888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7A9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同一个寄存器里的 32 位：按位搬运 vs 按值转换，结果截然不同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5394960" cy="475488"/>
          </a:xfrm>
          <a:prstGeom prst="roundRect">
            <a:avLst>
              <a:gd name="adj" fmla="val 13462"/>
            </a:avLst>
          </a:prstGeom>
          <a:solidFill>
            <a:srgbClr val="D462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90195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位模式搬运（Move）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FFFFF">
              <a:alpha val="0"/>
            </a:srgbClr>
          </a:solidFill>
          <a:ln w="19050">
            <a:solidFill>
              <a:srgbClr val="D462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把寄存器里的位原封不动复制，不解释也不改变任何一位。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85800" y="33832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800" y="3712464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EBD9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749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A28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movfr2gr.s  $t0, $f0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A28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movgr2fr.w  $f1, $t1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5800" y="47000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85800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$f0 的 32 位位模式 → $t0（整数寄存器），数值解释完全由程序员决定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91072" y="1901952"/>
            <a:ext cx="5394960" cy="475488"/>
          </a:xfrm>
          <a:prstGeom prst="roundRect">
            <a:avLst>
              <a:gd name="adj" fmla="val 13462"/>
            </a:avLst>
          </a:prstGeom>
          <a:solidFill>
            <a:srgbClr val="1E3A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190195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数值转换（Convert）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91072" y="237744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FFFFF">
              <a:alpha val="0"/>
            </a:srgbClr>
          </a:solidFill>
          <a:ln w="19050">
            <a:solidFill>
              <a:srgbClr val="5B82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3952" y="248716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把数值按原类型解读后换算成目标类型，位模式随之改变。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73952" y="33832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73952" y="3712464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E0E8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0256" y="3749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ffint.s.w   $f0, $f1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ftintrz.w.s $t0, $f0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73952" y="47000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73952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整数 42 → 单精浮点 42.0，位模式从 0x0000002A 变为 0x42280000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D4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位模式搬运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movfr2gr / movgr2fr — 位原样复制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1389888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7A9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 $f0 = 1.0（单精度），用位搬运取出其整数位模式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11183112" cy="932688"/>
          </a:xfrm>
          <a:prstGeom prst="roundRect">
            <a:avLst>
              <a:gd name="adj" fmla="val 6863"/>
            </a:avLst>
          </a:prstGeom>
          <a:solidFill>
            <a:srgbClr val="EBD9CF"/>
          </a:solidFill>
          <a:ln w="15240">
            <a:solidFill>
              <a:srgbClr val="D46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901952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初始值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286000" y="1901952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A28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$f0 = 1.0（单精度浮点）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0" y="190195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IEEE 754：符号=0，阶码=127，尾数=0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889504"/>
            <a:ext cx="11183112" cy="932688"/>
          </a:xfrm>
          <a:prstGeom prst="roundRect">
            <a:avLst>
              <a:gd name="adj" fmla="val 6863"/>
            </a:avLst>
          </a:prstGeom>
          <a:solidFill>
            <a:srgbClr val="F5EDE8"/>
          </a:solidFill>
          <a:ln w="15240">
            <a:solidFill>
              <a:srgbClr val="D462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889504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位模式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286000" y="2889504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A28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0x3F800000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938574" y="2889504"/>
            <a:ext cx="606799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0011 1111 1000 0000 0000 0000 0000 0000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11183112" cy="932688"/>
          </a:xfrm>
          <a:prstGeom prst="roundRect">
            <a:avLst>
              <a:gd name="adj" fmla="val 6863"/>
            </a:avLst>
          </a:prstGeom>
          <a:solidFill>
            <a:srgbClr val="EBD9CF"/>
          </a:solidFill>
          <a:ln w="15240">
            <a:solidFill>
              <a:srgbClr val="D462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877056"/>
            <a:ext cx="17431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搬运指令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476915" y="387705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A28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movfr2gr.s  $t0, $f0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09884" y="3877056"/>
            <a:ext cx="5440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 $f0 的 32 位原样复制到整数寄存器 $t0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4864608"/>
            <a:ext cx="11183112" cy="932688"/>
          </a:xfrm>
          <a:prstGeom prst="roundRect">
            <a:avLst>
              <a:gd name="adj" fmla="val 6863"/>
            </a:avLst>
          </a:prstGeom>
          <a:solidFill>
            <a:srgbClr val="F5EDE8"/>
          </a:solidFill>
          <a:ln w="15240">
            <a:solidFill>
              <a:srgbClr val="D462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864608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 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286000" y="4864608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A28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$t0 = 0x3F800000 = 1065353216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00800" y="4864608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$t0 是整数，其十进制值是 1065353216，不是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2920" y="5888736"/>
            <a:ext cx="11183112" cy="548640"/>
          </a:xfrm>
          <a:prstGeom prst="roundRect">
            <a:avLst>
              <a:gd name="adj" fmla="val 11667"/>
            </a:avLst>
          </a:prstGeom>
          <a:solidFill>
            <a:srgbClr val="D462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5888736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关键：搬运只看位，不看值——1.0f 搬出来是整数 1065353216，不是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数值转换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ffint / ftintr — 按值重新编码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1389888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7A9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把整数 42 转为单精度浮点 42.0，再把浮点 3.7 截断为整数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61761" y="1901952"/>
            <a:ext cx="11595295" cy="768096"/>
          </a:xfrm>
          <a:prstGeom prst="roundRect">
            <a:avLst>
              <a:gd name="adj" fmla="val 8333"/>
            </a:avLst>
          </a:prstGeom>
          <a:solidFill>
            <a:srgbClr val="E0E8F8"/>
          </a:solidFill>
          <a:ln w="15240">
            <a:solidFill>
              <a:srgbClr val="5B82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7210" y="1901952"/>
            <a:ext cx="20446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整数初始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381457" y="1901952"/>
            <a:ext cx="444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$t0 = 42 （0x0000002A）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812781" y="1901952"/>
            <a:ext cx="538522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32 位整数，二进制 = 00…0010 1010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1761" y="2706624"/>
            <a:ext cx="11595295" cy="768096"/>
          </a:xfrm>
          <a:prstGeom prst="roundRect">
            <a:avLst>
              <a:gd name="adj" fmla="val 8333"/>
            </a:avLst>
          </a:prstGeom>
          <a:solidFill>
            <a:srgbClr val="EEF2FB"/>
          </a:solidFill>
          <a:ln w="15240">
            <a:solidFill>
              <a:srgbClr val="5B82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7210" y="2706624"/>
            <a:ext cx="20446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整数→浮点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548255" y="2670048"/>
            <a:ext cx="41716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ffint.s.w  $f0, $t0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12781" y="2706624"/>
            <a:ext cx="538522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把整数值 42 编码为 IEEE 754 单精度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1761" y="3511296"/>
            <a:ext cx="11595295" cy="768096"/>
          </a:xfrm>
          <a:prstGeom prst="roundRect">
            <a:avLst>
              <a:gd name="adj" fmla="val 8333"/>
            </a:avLst>
          </a:prstGeom>
          <a:solidFill>
            <a:srgbClr val="E0E8F8"/>
          </a:solidFill>
          <a:ln w="15240">
            <a:solidFill>
              <a:srgbClr val="5B82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7210" y="3511296"/>
            <a:ext cx="18034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浮点结果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316144" y="3511296"/>
            <a:ext cx="442699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$f0 = 42.0（0x42280000）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812781" y="3511296"/>
            <a:ext cx="538522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位模式完全不同：符号=0，阶码=132，尾数=0x280000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61761" y="4315968"/>
            <a:ext cx="11595295" cy="768096"/>
          </a:xfrm>
          <a:prstGeom prst="roundRect">
            <a:avLst>
              <a:gd name="adj" fmla="val 8333"/>
            </a:avLst>
          </a:prstGeom>
          <a:solidFill>
            <a:srgbClr val="EEF2FB"/>
          </a:solidFill>
          <a:ln w="15240">
            <a:solidFill>
              <a:srgbClr val="5B8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7209" y="4315968"/>
            <a:ext cx="203961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 浮点→整数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456823" y="4315968"/>
            <a:ext cx="41716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ftintrz.w.s  $t1, $f0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812781" y="4315968"/>
            <a:ext cx="538522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把浮点值 42.0 按向零截断换回整数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61761" y="5120640"/>
            <a:ext cx="11595295" cy="768096"/>
          </a:xfrm>
          <a:prstGeom prst="roundRect">
            <a:avLst>
              <a:gd name="adj" fmla="val 8333"/>
            </a:avLst>
          </a:prstGeom>
          <a:solidFill>
            <a:srgbClr val="E0E8F8"/>
          </a:solidFill>
          <a:ln w="15240">
            <a:solidFill>
              <a:srgbClr val="5B82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7210" y="5120640"/>
            <a:ext cx="18034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⑤ 整数结果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2406582" y="5120640"/>
            <a:ext cx="41716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$t1 = 42 （0x0000002A）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812781" y="5120640"/>
            <a:ext cx="538522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值相同，位模式也回到原来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6309360"/>
            <a:ext cx="11183112" cy="146304"/>
          </a:xfrm>
          <a:prstGeom prst="roundRect">
            <a:avLst>
              <a:gd name="adj" fmla="val 25000"/>
            </a:avLst>
          </a:prstGeom>
          <a:solidFill>
            <a:srgbClr val="1E3A6E"/>
          </a:solidFill>
          <a:ln/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D4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对比实验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用错指令，结果天差地别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1389888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7A9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同样是把浮点寄存器的数搬到整数寄存器，选错指令结果相差 10⁹ 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883664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初始值：$f0 = 1.0（单精度）  位模式 = 0x3F800000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2596896"/>
            <a:ext cx="5340096" cy="3474720"/>
          </a:xfrm>
          <a:prstGeom prst="roundRect">
            <a:avLst>
              <a:gd name="adj" fmla="val 23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D462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596896"/>
            <a:ext cx="5340096" cy="475488"/>
          </a:xfrm>
          <a:prstGeom prst="roundRect">
            <a:avLst>
              <a:gd name="adj" fmla="val 13462"/>
            </a:avLst>
          </a:prstGeom>
          <a:solidFill>
            <a:srgbClr val="D462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596896"/>
            <a:ext cx="5340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[搬运] 想取值却用了搬运指令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" y="3163824"/>
            <a:ext cx="5029200" cy="658368"/>
          </a:xfrm>
          <a:prstGeom prst="roundRect">
            <a:avLst>
              <a:gd name="adj" fmla="val 6944"/>
            </a:avLst>
          </a:prstGeom>
          <a:solidFill>
            <a:srgbClr val="EBD9C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3182112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A28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movfr2gr.s  $t0, $f0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8368" y="3950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$t0 的整数值 = 1065353216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58368" y="4425696"/>
            <a:ext cx="5029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原因：直接把 0x3F800000 当整数读，十进制值是 1065353216，不是 1。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用途：检查符号位、阶码、NaN 判断时使用。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45936" y="2596896"/>
            <a:ext cx="5340096" cy="3474720"/>
          </a:xfrm>
          <a:prstGeom prst="roundRect">
            <a:avLst>
              <a:gd name="adj" fmla="val 23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5B8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2596896"/>
            <a:ext cx="5340096" cy="475488"/>
          </a:xfrm>
          <a:prstGeom prst="roundRect">
            <a:avLst>
              <a:gd name="adj" fmla="val 13462"/>
            </a:avLst>
          </a:prstGeom>
          <a:solidFill>
            <a:srgbClr val="1E3A6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45936" y="2596896"/>
            <a:ext cx="5340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[转换] 正确取出数值的做法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01384" y="3163824"/>
            <a:ext cx="5029200" cy="658368"/>
          </a:xfrm>
          <a:prstGeom prst="roundRect">
            <a:avLst>
              <a:gd name="adj" fmla="val 6944"/>
            </a:avLst>
          </a:prstGeom>
          <a:solidFill>
            <a:srgbClr val="E0E8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0256" y="3182112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ftintrz.w.s  $t0, $f0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501384" y="3950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$t0 的整数值 =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501384" y="4425696"/>
            <a:ext cx="5029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原因：把浮点 1.0 按 IEEE 754 规则换算成整数 1，位模式重新编码。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用途：需要把浮点值用作整数计算时使用。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D4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使用场景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什么时候用哪个？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1389888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7A9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选错指令不会报错，但运算结果完全错误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883664"/>
            <a:ext cx="11183112" cy="749808"/>
          </a:xfrm>
          <a:prstGeom prst="roundRect">
            <a:avLst>
              <a:gd name="adj" fmla="val 8537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029968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D462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029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位模式搬运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651760" y="1883664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检测 NaN / Inf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285232" y="1883664"/>
            <a:ext cx="6236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读出位模式后用整数指令检查阶码和尾数字段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2670048"/>
            <a:ext cx="11183112" cy="749808"/>
          </a:xfrm>
          <a:prstGeom prst="roundRect">
            <a:avLst>
              <a:gd name="adj" fmla="val 8537"/>
            </a:avLst>
          </a:prstGeom>
          <a:solidFill>
            <a:srgbClr val="F2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816352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D462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28163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位模式搬运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651760" y="267004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哈希/序列化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285232" y="2670048"/>
            <a:ext cx="6236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把浮点按位当字节流写入内存，原样恢复时再搬回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11183112" cy="749808"/>
          </a:xfrm>
          <a:prstGeom prst="roundRect">
            <a:avLst>
              <a:gd name="adj" fmla="val 8537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602736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D462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" y="360273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位模式搬运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2651760" y="345643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6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符号位操作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285232" y="3456432"/>
            <a:ext cx="6236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movfr2gr 取出后用 AND/OR 翻转符号位，再 movgr2fr 写回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4242816"/>
            <a:ext cx="11183112" cy="749808"/>
          </a:xfrm>
          <a:prstGeom prst="roundRect">
            <a:avLst>
              <a:gd name="adj" fmla="val 8537"/>
            </a:avLst>
          </a:prstGeom>
          <a:solidFill>
            <a:srgbClr val="F2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438912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43891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数值转换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2651760" y="424281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浮点→整数下标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285232" y="4242816"/>
            <a:ext cx="6236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数组下标必须是整数，ftintrz 截断浮点索引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5029200"/>
            <a:ext cx="11183112" cy="749808"/>
          </a:xfrm>
          <a:prstGeom prst="roundRect">
            <a:avLst>
              <a:gd name="adj" fmla="val 8537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5175504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" y="5175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数值转换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2651760" y="50292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整数→浮点运算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5285232" y="5029200"/>
            <a:ext cx="6236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循环计数器 i 参与浮点除法前，ffint 转成 float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2920" y="5815584"/>
            <a:ext cx="11183112" cy="749808"/>
          </a:xfrm>
          <a:prstGeom prst="roundRect">
            <a:avLst>
              <a:gd name="adj" fmla="val 8537"/>
            </a:avLst>
          </a:prstGeom>
          <a:solidFill>
            <a:srgbClr val="F2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" y="5961888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1792" y="59618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数值转换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2651760" y="5815584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3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精度变换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5285232" y="5815584"/>
            <a:ext cx="6236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6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fcvt.s.d 将双精结果收窄为单精，写入 float 数组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58768" cy="566928"/>
          </a:xfrm>
          <a:prstGeom prst="roundRect">
            <a:avLst>
              <a:gd name="adj" fmla="val 50000"/>
            </a:avLst>
          </a:prstGeom>
          <a:solidFill>
            <a:srgbClr val="6B4C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85876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传送/访存指令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浮点访存指令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格式与普通访存指令一致，操作对象为浮点寄存器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fld.d  fd, rj, si12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fst.d  fd, rj, si12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DF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fldx.s fd, rj, 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fld/fst：立即数偏移寻址，加载/存储浮点数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fldx/fstx：寄存器变址寻址，用于运行时计算偏移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96896" cy="566928"/>
          </a:xfrm>
          <a:prstGeom prst="roundRect">
            <a:avLst>
              <a:gd name="adj" fmla="val 50000"/>
            </a:avLst>
          </a:prstGeom>
          <a:solidFill>
            <a:srgbClr val="B595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596896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分支指令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浮点分支指令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bceqz · bcnez，依据 fcc 条件标志跳转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bceqz  cj, offs21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bceqz：条件标志 cj 为 0（假）时跳转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079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bcnez：条件标志 cj 不为 0（真）时跳转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1297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典型用法：先 fcmp 比较，再根据 fcc 结果分支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55648" cy="56692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75564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五类指令对比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覆盖运算、判断、转换、搬运与控制流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3B6E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3B6EA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运算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fadd/fsub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fmul/fdiv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fmadd 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35885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2E8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35885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2E8B70"/>
          </a:solidFill>
          <a:ln/>
        </p:spPr>
      </p:sp>
      <p:sp>
        <p:nvSpPr>
          <p:cNvPr id="14" name="Text 12"/>
          <p:cNvSpPr/>
          <p:nvPr/>
        </p:nvSpPr>
        <p:spPr>
          <a:xfrm>
            <a:off x="2735885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比较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27325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fcmp.cond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27325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结果→fcc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27325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多种关系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14570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C165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4570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5014570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转换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06010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fcvt 精度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06010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ftint 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06010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frint 取整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93254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6B4C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3254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6B4C9A"/>
          </a:solidFill>
          <a:ln/>
        </p:spPr>
      </p:sp>
      <p:sp>
        <p:nvSpPr>
          <p:cNvPr id="26" name="Text 24"/>
          <p:cNvSpPr/>
          <p:nvPr/>
        </p:nvSpPr>
        <p:spPr>
          <a:xfrm>
            <a:off x="7293254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传送/访存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84694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movgr2fr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84694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fld/fst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84694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fmov/fsel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571939" y="2788920"/>
            <a:ext cx="2132381" cy="2743200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 w="19050">
            <a:solidFill>
              <a:srgbClr val="B595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71939" y="2788920"/>
            <a:ext cx="2132381" cy="640080"/>
          </a:xfrm>
          <a:prstGeom prst="roundRect">
            <a:avLst>
              <a:gd name="adj" fmla="val 12857"/>
            </a:avLst>
          </a:prstGeom>
          <a:solidFill>
            <a:srgbClr val="B5952C"/>
          </a:solidFill>
          <a:ln/>
        </p:spPr>
      </p:sp>
      <p:sp>
        <p:nvSpPr>
          <p:cNvPr id="32" name="Text 30"/>
          <p:cNvSpPr/>
          <p:nvPr/>
        </p:nvSpPr>
        <p:spPr>
          <a:xfrm>
            <a:off x="9571939" y="2788920"/>
            <a:ext cx="21323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分支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663379" y="356616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bceqz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663379" y="420624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bcnez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663379" y="4846320"/>
            <a:ext cx="19495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依据 fcc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183112" y="64739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3D10BAD-B24E-FF73-A45C-448140511726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93AED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本节收束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0B000402020202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访存三句：地址、load/store、基址+偏移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ld.bu 服务字符串；st.b 服务清零与输出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63552"/>
                </a:solidFill>
                <a:effectLst/>
                <a:uLnTx/>
                <a:uFillTx/>
                <a:latin typeface="Aptos" panose="020B0004020202020204" pitchFamily="34" charset="0"/>
                <a:ea typeface="Microsoft YaHei" panose="020B0503020204020204" pitchFamily="34" charset="-122"/>
                <a:cs typeface="+mn-cs"/>
              </a:rPr>
              <a:t>• 下次课：分支与循环——把指令排成程序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148784-8753-C760-2C06-258F1D0264DB}"/>
              </a:ext>
            </a:extLst>
          </p:cNvPr>
          <p:cNvSpPr txBox="1"/>
          <p:nvPr/>
        </p:nvSpPr>
        <p:spPr>
          <a:xfrm>
            <a:off x="8445500" y="4724400"/>
            <a:ext cx="444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7084A3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+mn-cs"/>
              </a:rPr>
              <a:t>56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7084A3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2034</TotalTime>
  <Words>5438</Words>
  <Application>Microsoft Office PowerPoint</Application>
  <PresentationFormat>宽屏</PresentationFormat>
  <Paragraphs>1133</Paragraphs>
  <Slides>87</Slides>
  <Notes>77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87</vt:i4>
      </vt:variant>
    </vt:vector>
  </HeadingPairs>
  <TitlesOfParts>
    <vt:vector size="99" baseType="lpstr">
      <vt:lpstr>-apple-system</vt:lpstr>
      <vt:lpstr>Menlo</vt:lpstr>
      <vt:lpstr>等线</vt:lpstr>
      <vt:lpstr>等线 Light</vt:lpstr>
      <vt:lpstr>Microsoft YaHei</vt:lpstr>
      <vt:lpstr>Aptos</vt:lpstr>
      <vt:lpstr>Arial</vt:lpstr>
      <vt:lpstr>Calibri</vt:lpstr>
      <vt:lpstr>Cambria</vt:lpstr>
      <vt:lpstr>Courier New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 cai</cp:lastModifiedBy>
  <cp:revision>19</cp:revision>
  <dcterms:created xsi:type="dcterms:W3CDTF">2026-08-18T03:02:44Z</dcterms:created>
  <dcterms:modified xsi:type="dcterms:W3CDTF">2026-09-20T06:31:42Z</dcterms:modified>
</cp:coreProperties>
</file>