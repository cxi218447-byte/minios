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6"/>
  </p:notesMasterIdLst>
  <p:sldIdLst>
    <p:sldId id="260" r:id="rId3"/>
    <p:sldId id="261" r:id="rId4"/>
    <p:sldId id="262" r:id="rId5"/>
    <p:sldId id="263" r:id="rId6"/>
    <p:sldId id="264" r:id="rId7"/>
    <p:sldId id="256" r:id="rId8"/>
    <p:sldId id="257" r:id="rId9"/>
    <p:sldId id="258" r:id="rId10"/>
    <p:sldId id="259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345" r:id="rId20"/>
    <p:sldId id="346" r:id="rId21"/>
    <p:sldId id="347" r:id="rId22"/>
    <p:sldId id="273" r:id="rId23"/>
    <p:sldId id="274" r:id="rId24"/>
    <p:sldId id="275" r:id="rId25"/>
    <p:sldId id="340" r:id="rId26"/>
    <p:sldId id="341" r:id="rId27"/>
    <p:sldId id="342" r:id="rId28"/>
    <p:sldId id="343" r:id="rId29"/>
    <p:sldId id="344" r:id="rId30"/>
    <p:sldId id="277" r:id="rId31"/>
    <p:sldId id="278" r:id="rId32"/>
    <p:sldId id="312" r:id="rId33"/>
    <p:sldId id="313" r:id="rId34"/>
    <p:sldId id="314" r:id="rId35"/>
    <p:sldId id="281" r:id="rId36"/>
    <p:sldId id="316" r:id="rId37"/>
    <p:sldId id="317" r:id="rId38"/>
    <p:sldId id="318" r:id="rId39"/>
    <p:sldId id="319" r:id="rId40"/>
    <p:sldId id="320" r:id="rId41"/>
    <p:sldId id="321" r:id="rId42"/>
    <p:sldId id="322" r:id="rId43"/>
    <p:sldId id="323" r:id="rId44"/>
    <p:sldId id="282" r:id="rId45"/>
    <p:sldId id="283" r:id="rId46"/>
    <p:sldId id="284" r:id="rId47"/>
    <p:sldId id="285" r:id="rId48"/>
    <p:sldId id="286" r:id="rId49"/>
    <p:sldId id="287" r:id="rId50"/>
    <p:sldId id="324" r:id="rId51"/>
    <p:sldId id="325" r:id="rId52"/>
    <p:sldId id="326" r:id="rId53"/>
    <p:sldId id="327" r:id="rId54"/>
    <p:sldId id="328" r:id="rId55"/>
    <p:sldId id="329" r:id="rId56"/>
    <p:sldId id="330" r:id="rId57"/>
    <p:sldId id="331" r:id="rId58"/>
    <p:sldId id="288" r:id="rId59"/>
    <p:sldId id="289" r:id="rId60"/>
    <p:sldId id="290" r:id="rId61"/>
    <p:sldId id="291" r:id="rId62"/>
    <p:sldId id="292" r:id="rId63"/>
    <p:sldId id="296" r:id="rId64"/>
    <p:sldId id="297" r:id="rId65"/>
    <p:sldId id="298" r:id="rId66"/>
    <p:sldId id="299" r:id="rId67"/>
    <p:sldId id="300" r:id="rId68"/>
    <p:sldId id="333" r:id="rId69"/>
    <p:sldId id="334" r:id="rId70"/>
    <p:sldId id="335" r:id="rId71"/>
    <p:sldId id="336" r:id="rId72"/>
    <p:sldId id="337" r:id="rId73"/>
    <p:sldId id="338" r:id="rId74"/>
    <p:sldId id="339" r:id="rId75"/>
    <p:sldId id="301" r:id="rId76"/>
    <p:sldId id="302" r:id="rId77"/>
    <p:sldId id="303" r:id="rId78"/>
    <p:sldId id="304" r:id="rId79"/>
    <p:sldId id="305" r:id="rId80"/>
    <p:sldId id="306" r:id="rId81"/>
    <p:sldId id="307" r:id="rId82"/>
    <p:sldId id="308" r:id="rId83"/>
    <p:sldId id="310" r:id="rId84"/>
    <p:sldId id="311" r:id="rId8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tableStyles" Target="tableStyle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presProps" Target="pres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567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3490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60578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80571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82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E8124B-19A2-DAC8-EA77-12A24BFE68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89DC016-771F-F230-EC0B-CCA733886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1BB329-70A8-BEE2-CCB4-5194DA9EB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A9763F-D5DE-4B63-B634-1AE106A67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10CF37-9AB9-4AB5-0031-24EADA532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56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A8545-714C-7D51-8343-4B9BE10E9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05B256-B1C6-A319-07AC-BA01A4EFB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BEBF2A-75A2-796B-C7AA-6D6E27C8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EA88D7-E467-8E21-4A5C-DC2827B42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AB51A1-9AAE-9139-32B6-C21D9B887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6620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C6D143-EC54-3C94-5A29-2F62AA26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C490DF-7EE7-9DFE-D87E-BB9CE3BC9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416E68-43B1-92E5-E127-9EAEF606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A06918-6488-331E-CB8D-03F3D5E59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F64F04-A28F-20B7-4039-7287A3B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5833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26AC9-3E87-AC04-5203-C805008F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5593A-7E77-5574-E557-83747EB775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5641217-0D7F-B68C-0FE6-AD7EBA29D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24DED8-98DA-49C8-1069-EDF9D50BA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F5103D-4B7B-67B7-A7EC-78B530A41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71EB94-8D00-3CBC-0FAC-CF1492C7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0928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3256D7-9C8C-ABF7-6220-D2D9AC6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36569-49F7-0EA8-5C78-B9216F625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358615-D0C0-1A49-B868-BC0216788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DE4E12F-BBD4-D4C1-60F2-9E6896753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CF620C-1FA7-BCD6-9685-50A1A19442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799FD63-6DC9-12E3-FEA7-889A0C92F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CF3AC0F-5053-75EC-3E13-645DD0B35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F7D3E8-BCFE-514F-5512-B11D0662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691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2DB588-9531-DB96-6529-B809FE93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0DA22D-5A7C-ED92-0A42-D549B9A76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4156929-CF48-E147-28D1-8F2A8F723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F9F08BB-70F9-6867-0A7D-1E96E3625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8203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5832049-D19B-9FF2-0BD1-74D5287FC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C53AE6-D9B9-CCD1-D1B7-DEE2E6302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4BE60A-82D7-CCD9-FB56-90E9F286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5210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B4261-E46B-3FBD-506A-454FE32E2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A6310E-2D2B-2BA5-7676-8DC189A2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A660E59-B95A-1A9F-FD0F-BDBAFE03D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120318-3455-927A-125F-A8F50C63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1B9FAC-EDDD-743A-04D8-E65F5E26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2B9C15-E70C-E422-BFD7-E14DCCB78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07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24B008-E9C1-EC53-7549-7EC326AFB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D0F721-1F51-F0DF-9281-019A3384B3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030BA11-9B46-05ED-08F0-175DBF73CD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B564C1E-6FA9-4689-68C3-66EBF6129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7EEA67-6C33-8870-AE45-928752489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5E2D96-F51A-7D60-FDE5-8846BA247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40007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E2DFBC-52AD-7D55-2280-DDDF3128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696E8A-3418-A664-364D-FF9C306D44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A06F71-005B-6214-6C14-0D954882E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FFCD86-9BFB-2E96-9FB3-40D9844BB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86C796-B62E-D1E9-D762-E5133D7D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073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DC3FAA-5F3D-2376-31F9-45A3D48FB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7F07A1-654B-F111-E142-42B2566AC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C0B26B-F020-51D6-4B40-5E4884DDA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D7D753-981F-4C13-3039-953B19E7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4A0A20-FB84-918D-4A3E-352C58C1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669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1D0D009-B8C1-7C62-B553-6244310AA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65F410-516A-CE9B-EA1E-DD4DBC3A0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E6A90F-EA96-D1FC-97A3-D376FCE9BB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E1B40E-B2DB-4E8F-8DAE-46CFA05C1BE3}" type="datetimeFigureOut">
              <a:rPr lang="zh-CN" altLang="en-US" smtClean="0"/>
              <a:t>2026/9/15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BEB1F7-D667-F3AB-7556-11B09A900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787687-A5C9-3392-2752-068B159E4A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90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A721983-68B8-A5BF-543D-D287D06EE21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78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访存指令与内存数据组织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寄存器 ↔ 内存 ↔ 设备：用 load/store 统一解释 .data/.bss 与 UART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B1DA51-ACD9-AD12-F422-D48DA205C961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1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C3DD08A-4BD1-DF29-5364-AABAD6E88A7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本课要解决什么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789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不会访存，就无法理解全局变量、栈帧、字符串和串口输出。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28BAAB-F2AC-DAF7-DB9C-E61CE84E2C25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2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B3E3EA-926E-D532-991D-911D42DFCC3F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本课目标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说明：地址是整数；指针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保存地址的寄存器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会用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ld.bu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理解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有效地址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基址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+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偏移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解释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clear_bss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的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与 UART 的 MMIO 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建立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的基本概念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F9267E-CD99-A654-5AEB-C8364059F348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1EA739F-7F64-99E2-A177-1297278F1C09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三种“存数据的地方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位置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特点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例子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极少、极快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$t0 里的指针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内存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大，需 load/store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数组、全局、栈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MMIO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像内存，副作用在设备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 dirty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UART </a:t>
                      </a:r>
                      <a:r>
                        <a:rPr sz="2400" b="0" dirty="0" err="1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  <a:endParaRPr sz="2400" b="0" dirty="0">
                        <a:solidFill>
                          <a:srgbClr val="263552"/>
                        </a:solidFill>
                        <a:latin typeface="Microsoft YaHei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7B07EE10-A254-1B62-DAE7-A21A8C61CD6D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A35F08DC-FD85-2F8B-CF2E-D1F9D9770E5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26567" y="337008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教学用地址空间（简化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2 次课的段，是统一地址空间里的不同区域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9447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" name="Oval 7"/>
          <p:cNvSpPr/>
          <p:nvPr/>
        </p:nvSpPr>
        <p:spPr>
          <a:xfrm>
            <a:off x="1322679" y="2395728"/>
            <a:ext cx="512064" cy="512064"/>
          </a:xfrm>
          <a:prstGeom prst="ellipse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22679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9175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7975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8015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3581247" y="2395728"/>
            <a:ext cx="512064" cy="512064"/>
          </a:xfrm>
          <a:prstGeom prst="ellipse">
            <a:avLst/>
          </a:prstGeom>
          <a:solidFill>
            <a:srgbClr val="00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81247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7743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.rodata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7743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常量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543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6583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5839815" y="2395728"/>
            <a:ext cx="512064" cy="512064"/>
          </a:xfrm>
          <a:prstGeom prst="ellipse">
            <a:avLst/>
          </a:prstGeom>
          <a:solidFill>
            <a:srgbClr val="2A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39815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6311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6311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有初值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5111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5151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098383" y="2395728"/>
            <a:ext cx="512064" cy="512064"/>
          </a:xfrm>
          <a:prstGeom prst="ellipse">
            <a:avLst/>
          </a:prstGeom>
          <a:solidFill>
            <a:srgbClr val="B8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98383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4879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.bss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4879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需清零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3679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43719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10356951" y="2395728"/>
            <a:ext cx="512064" cy="512064"/>
          </a:xfrm>
          <a:prstGeom prst="ellipse">
            <a:avLst/>
          </a:prstGeom>
          <a:solidFill>
            <a:srgbClr val="A44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356951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447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447" y="3721608"/>
            <a:ext cx="17190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$sp 向低增长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0B1EE46-885E-D1FB-3E47-446DA43D3DE4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C1652F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9F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0352" y="246888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内存寻址方式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操作数地址是如何被指令定位与计算的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常见寻址方式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指令中操作数地址的六种基本获取方式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196596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操作数直接包含在指令中，无需访存取值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670048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670048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670048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2670048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操作数存放在寄存器中，访问速度最快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374136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374136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37413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840480" y="3374136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指令中直接给出操作数所在的内存地址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4078224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078224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07822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840480" y="4078224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寄存器中存放操作数的内存地址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57200" y="4782312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782312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78231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4782312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基址寄存器 + 偏移量（或变址寄存器）计算地址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57200" y="548640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8640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48640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840480" y="548640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以当前 PC 为基准加偏移量，常用于跳转指令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有效地址计算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不同寻址方式对应不同的地址生成公式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12264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12264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60520" y="19659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直接寻址：A 为指令中给出的地址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990088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136392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36392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(R)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2990088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寄存器间接寻址：EA 取自寄存器 R 的内容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4014216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160520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60520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(B) + 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60520" y="4014216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基址寻址：基址寄存器 B 的内容 + 偏移量 D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5038344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5184648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84648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(PC) + D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160520" y="503834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相对寻址：以当前指令地址为基准偏移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对比与总结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访存次数与灵活性的权衡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 / 寄存器寻址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无需访存，速度最快，但地址空间/灵活性有限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190488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6190488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 / 间接寻址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64808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 1～2 次访存取得操作数，实现简单直观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支持运行时计算地址，适合数组与结构体访问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190488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6B4C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0488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64808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地址与位置无关，便于代码重定位与位置无关代码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访存指令体系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 · 边界检查 · 原子访存 · 栅障 · 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内容概览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本讲从五个类别系统梳理 LoongArch 的核心指令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29384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29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71600" y="187452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访存指令总览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560320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71600" y="250545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136392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191256"/>
            <a:ext cx="457200" cy="457200"/>
          </a:xfrm>
          <a:prstGeom prst="ellipse">
            <a:avLst/>
          </a:prstGeom>
          <a:solidFill>
            <a:srgbClr val="2E8B70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191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3136392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822192"/>
            <a:ext cx="457200" cy="457200"/>
          </a:xfrm>
          <a:prstGeom prst="ellipse">
            <a:avLst/>
          </a:prstGeom>
          <a:solidFill>
            <a:srgbClr val="C1652F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" y="3822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71600" y="3767328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398264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4453128"/>
            <a:ext cx="457200" cy="457200"/>
          </a:xfrm>
          <a:prstGeom prst="ellipse">
            <a:avLst/>
          </a:prstGeom>
          <a:solidFill>
            <a:srgbClr val="6B4C9A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71600" y="4398264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502920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5084064"/>
            <a:ext cx="457200" cy="457200"/>
          </a:xfrm>
          <a:prstGeom prst="ellipse">
            <a:avLst/>
          </a:prstGeom>
          <a:solidFill>
            <a:srgbClr val="B5952C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5084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71600" y="502920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566013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" y="5715000"/>
            <a:ext cx="457200" cy="457200"/>
          </a:xfrm>
          <a:prstGeom prst="ellipse">
            <a:avLst/>
          </a:prstGeom>
          <a:solidFill>
            <a:srgbClr val="5B6B85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" y="5715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371600" y="566013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对比与总结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按用途可分为五类核心指令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60604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60604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访存前判断地址合法性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60604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读—改—写不可分割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52628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保证访存/取指的执行顺序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52628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完成基本内存读写，按寻址方式分为三组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立即数偏移： ld.b/h/w/d , st.b/h/w/d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寄存器变址： ldx.b/h/w/d ,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对齐远偏移： ldptr.w/d ,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立即数偏移寻址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ld.b/h/w/d · st.b/h/w/d · ld.bu/hu/wu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rd, rj, si12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si12（12位有符号立即数）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ld.b/h/w/d：取值后符号扩展写入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ld.bu/hu/wu：取值后零扩展（无符号）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寄存器变址寻址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ldx.b/h/w/d ·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rk（两个寄存器相加）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偏移量本身来自寄存器，可在运行时计算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典型用途：数组下标访问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对齐远偏移寻址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ldptr.w/d ·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 rd, rj, si14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si14 × 4（14位偏移，4字节对齐）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偏移范围比 ld/st 更大，用于访问对齐数据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适合结构体较大或跨度较远的内存访问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三种寻址方式的实际写法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$r4, $r5, 8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 $r4, $r5, $r6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$r4, $r5, 100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第1行：取 r5+8 处 8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第2行：取 r5+r6 处 4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第3行：将 r4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写入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r5+100×4 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AD6B87-6B7F-093D-A5D0-563BF42D6E8F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9C7899D-56D5-0C9F-A7C4-C49FA2A21BF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10515600" cy="16459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3127041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62890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问题</a:t>
                      </a: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预测</a:t>
                      </a: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15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$sp=0x80001000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ld.d $t1,$sp,16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的有效地址</a:t>
                      </a: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12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208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内存字节为 </a:t>
                      </a: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0x80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ld.b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后的 64 位值</a:t>
                      </a: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12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39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同一字节用 </a:t>
                      </a: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ld.bu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后的 64 位值</a:t>
                      </a: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12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080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$t2=0x1122334455667788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st.h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写入哪两字节</a:t>
                      </a: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12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467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12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1.5f+2.5f</a:t>
                      </a:r>
                      <a:r>
                        <a:rPr lang="zh-CN" sz="12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的数值与 binary32 十六进制位模式</a:t>
                      </a: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12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>
                    <a:lnL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52739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1649956-122A-BB76-B281-A65D21FBA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570832"/>
              </p:ext>
            </p:extLst>
          </p:nvPr>
        </p:nvGraphicFramePr>
        <p:xfrm>
          <a:off x="968828" y="1687532"/>
          <a:ext cx="10515600" cy="3962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234405">
                  <a:extLst>
                    <a:ext uri="{9D8B030D-6E8A-4147-A177-3AD203B41FA5}">
                      <a16:colId xmlns:a16="http://schemas.microsoft.com/office/drawing/2014/main" val="944969113"/>
                    </a:ext>
                  </a:extLst>
                </a:gridCol>
                <a:gridCol w="4281195">
                  <a:extLst>
                    <a:ext uri="{9D8B030D-6E8A-4147-A177-3AD203B41FA5}">
                      <a16:colId xmlns:a16="http://schemas.microsoft.com/office/drawing/2014/main" val="9078678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问题</a:t>
                      </a: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预测</a:t>
                      </a: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1779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$sp=0x80001000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，</a:t>
                      </a:r>
                      <a:endParaRPr lang="en-US" altLang="zh-CN" sz="2800" b="0" spc="15" dirty="0">
                        <a:solidFill>
                          <a:srgbClr val="2B2B2F"/>
                        </a:solidFill>
                        <a:effectLst/>
                      </a:endParaRPr>
                    </a:p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ld.d $t1,$sp,16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 的有效地址</a:t>
                      </a: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4987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内存字节为 </a:t>
                      </a: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0x80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，</a:t>
                      </a: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ld.b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 后的 64 位值</a:t>
                      </a: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162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同一字节用 </a:t>
                      </a:r>
                      <a:r>
                        <a:rPr lang="zh-CN" sz="2800" b="0" spc="15">
                          <a:solidFill>
                            <a:srgbClr val="607CD2"/>
                          </a:solidFill>
                          <a:effectLst/>
                        </a:rPr>
                        <a:t>ld.bu</a:t>
                      </a: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 后的 64 位值</a:t>
                      </a: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9699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$t2=0x1122334455667788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，</a:t>
                      </a:r>
                      <a:endParaRPr lang="en-US" altLang="zh-CN" sz="2800" b="0" spc="15" dirty="0">
                        <a:solidFill>
                          <a:srgbClr val="2B2B2F"/>
                        </a:solidFill>
                        <a:effectLst/>
                      </a:endParaRPr>
                    </a:p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st.h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 写入哪两字节</a:t>
                      </a: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0598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8579872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808FB8C0-EA0E-D620-5096-1C6ABDDB5673}"/>
              </a:ext>
            </a:extLst>
          </p:cNvPr>
          <p:cNvSpPr txBox="1"/>
          <p:nvPr/>
        </p:nvSpPr>
        <p:spPr>
          <a:xfrm>
            <a:off x="1530221" y="195982"/>
            <a:ext cx="8556171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2625"/>
              </a:spcBef>
              <a:spcAft>
                <a:spcPts val="750"/>
              </a:spcAft>
              <a:buNone/>
            </a:pPr>
            <a:r>
              <a:rPr lang="zh-CN" altLang="zh-CN" sz="3000" b="1" i="0" spc="15" dirty="0">
                <a:solidFill>
                  <a:schemeClr val="tx1"/>
                </a:solidFill>
                <a:effectLst/>
                <a:latin typeface="+mn-lt"/>
              </a:rPr>
              <a:t>3.2 实验前预测表（每个单元运行前填写）</a:t>
            </a:r>
          </a:p>
          <a:p>
            <a:pPr>
              <a:buNone/>
            </a:pPr>
            <a:br>
              <a:rPr lang="zh-CN" altLang="zh-CN" sz="3000" dirty="0"/>
            </a:br>
            <a:endParaRPr lang="zh-CN" altLang="en-US" sz="3000" dirty="0"/>
          </a:p>
        </p:txBody>
      </p:sp>
    </p:spTree>
    <p:extLst>
      <p:ext uri="{BB962C8B-B14F-4D97-AF65-F5344CB8AC3E}">
        <p14:creationId xmlns:p14="http://schemas.microsoft.com/office/powerpoint/2010/main" val="3307102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66383-3583-498A-48D0-E31A7755A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FA0E406D-C9A6-72B0-2EC0-F3688E531C38}"/>
              </a:ext>
            </a:extLst>
          </p:cNvPr>
          <p:cNvSpPr txBox="1"/>
          <p:nvPr/>
        </p:nvSpPr>
        <p:spPr>
          <a:xfrm>
            <a:off x="1530221" y="195982"/>
            <a:ext cx="8556171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2625"/>
              </a:spcBef>
              <a:spcAft>
                <a:spcPts val="750"/>
              </a:spcAft>
              <a:buNone/>
            </a:pPr>
            <a:r>
              <a:rPr lang="zh-CN" altLang="zh-CN" sz="3000" b="1" i="0" spc="15" dirty="0">
                <a:solidFill>
                  <a:schemeClr val="tx1"/>
                </a:solidFill>
                <a:effectLst/>
                <a:latin typeface="+mn-lt"/>
              </a:rPr>
              <a:t>3.2 实验前预测表（每个单元运行前填写）</a:t>
            </a:r>
          </a:p>
          <a:p>
            <a:pPr>
              <a:buNone/>
            </a:pPr>
            <a:br>
              <a:rPr lang="zh-CN" altLang="zh-CN" sz="3000" dirty="0"/>
            </a:br>
            <a:endParaRPr lang="zh-CN" altLang="en-US" sz="3000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FB8834E-5EFC-BC68-EE80-25A26136AB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96555"/>
              </p:ext>
            </p:extLst>
          </p:nvPr>
        </p:nvGraphicFramePr>
        <p:xfrm>
          <a:off x="632927" y="1462771"/>
          <a:ext cx="10515600" cy="32308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61120957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369181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问题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参考答案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531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$sp=0x80001000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endParaRPr lang="en-US" altLang="zh-CN" sz="26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ld.d $t1,$sp,16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的有效地址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0x80001010</a:t>
                      </a:r>
                      <a:endParaRPr lang="zh-CN" sz="26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837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内存字节为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0x80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ld.b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后 64 位值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0xFFFFFFFFFFFFFF80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（十进制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-128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919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同一字节用 </a:t>
                      </a: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ld.bu</a:t>
                      </a: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后的 64 位值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0x0000000000000080</a:t>
                      </a: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（十进制 </a:t>
                      </a: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128</a:t>
                      </a: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824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$t2=0x1122334455667788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endParaRPr lang="en-US" altLang="zh-CN" sz="26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st.h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写入哪两字节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写入低 16 位，即字节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0x88 0x77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（小端，地址低位存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0x88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9082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5137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/>
            </a:pPr>
            <a:r>
              <a:t>st.h 写入哪两字节？——低 16 位 + 小端序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2708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/>
            </a:pPr>
            <a:r>
              <a:t>$t2 = 0x1122334455667788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0x1122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0x3344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0x5566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68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0x7788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127248"/>
            <a:ext cx="2697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/>
            </a:pPr>
            <a:r>
              <a:t>← 低 16 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657600"/>
            <a:ext cx="4846320" cy="10515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/>
            </a:pPr>
            <a:r>
              <a:t>st.h：写入 2 字节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3794760"/>
            <a:ext cx="548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/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20440"/>
            <a:ext cx="49377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0x7788  →  小端序</a:t>
            </a:r>
          </a:p>
          <a:p>
            <a:pPr algn="ctr">
              <a:defRPr sz="2200"/>
            </a:pPr>
            <a:r>
              <a:t>低地址        高地址</a:t>
            </a:r>
          </a:p>
          <a:p>
            <a:pPr algn="ctr">
              <a:defRPr sz="3200" b="1"/>
            </a:pPr>
            <a:r>
              <a:t>0x88   |   0x77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623560"/>
            <a:ext cx="10332720" cy="7772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/>
            </a:pPr>
            <a:r>
              <a:t>结论：st.h 取低 16 位 0x7788；小端存储为 0x88  0x77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小端序规则：低字节放低地址，高字节放高地址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访存前先判断地址是否合法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2E8B70">
              <a:alpha val="8000"/>
            </a:srgbClr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将地址与给定边界寄存器比较，只有满足条件才真正执行读写；不满足则触发“边界检查例外”。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2E8B7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目的：从硬件层面拦截越界访问，如数组越界、缓冲区溢出，提升内存安全性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LDGT / STGT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· 下边界检查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&gt;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LDLE / STLE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or Equal · 上边界检查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≤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983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LDGT 搭配，可实现双向边界检查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22576" cy="47548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322576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 语言不检查数组越界，悄悄读到错误内存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704088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84248"/>
            <a:ext cx="649224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a[10];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idx = -1;      // 也可能是 10, 999……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v = a[idx];    // 不报错！悄悄读了越界内存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680960" y="18745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格子说明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80960" y="2286000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9F3EF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0" y="228600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合法区　a[0] ～ a[9]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80960" y="2834640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FBEAE4"/>
          </a:solidFill>
          <a:ln w="22225">
            <a:solidFill>
              <a:srgbClr val="B345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834640"/>
            <a:ext cx="3779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越界区　idx &lt; 0 或 idx ≥ 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内存布局示意（数组 a[10]）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93776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3776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837944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37944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37944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182112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82112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82112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26280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a[2]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26280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70448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0448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870448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214616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14616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a[8]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214616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558784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58784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558784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02952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02952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902952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57200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idx=−1 越界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801368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r4 下界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22208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r5 上界 →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866376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idx=10 越界 →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57200" y="6036547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语言不像 Java——越界不抛异常，程序继续运行，读到的是未知垃圾数据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22576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322576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例子设置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三个寄存器标记下界、上界和待访问地址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r4/r5 在循环外算好，r6 每次循环重新计算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2E8B70">
              <a:alpha val="12000"/>
            </a:srgbClr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0876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&amp;a[0]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0876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下界地址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2E8B70">
              <a:alpha val="12000"/>
            </a:srgbClr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4068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&amp;a[9]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4068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上界地址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32104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3B6EA5">
              <a:alpha val="12000"/>
            </a:srgbClr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37260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&amp;a[idx]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37260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待访问地址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2926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内存布局与三个寄存器的对应关系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93776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93776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737360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37360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737360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980944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80944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980944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224528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24528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224528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68112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AF0F8"/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68112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a+4i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711696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11696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711696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955280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55280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955280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198864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98864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198864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0442448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42448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42448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57200" y="4503171"/>
            <a:ext cx="12435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越界(idx&lt;0)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700783" y="4503171"/>
            <a:ext cx="186638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r4（下界）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448816" y="4503171"/>
            <a:ext cx="186638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r6（当前idx）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7405635" y="4503171"/>
            <a:ext cx="175665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r5（上界）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162288" y="4503171"/>
            <a:ext cx="12435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越界(idx≥10)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1700784" y="5006091"/>
            <a:ext cx="7461504" cy="0"/>
          </a:xfrm>
          <a:prstGeom prst="line">
            <a:avLst/>
          </a:prstGeom>
          <a:noFill/>
          <a:ln w="25400">
            <a:solidFill>
              <a:srgbClr val="2E8B7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00784" y="5429123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合法访问区  [ r4, r5 ]　←　只要 r6 落在这里，ldgt/ldle 才放行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3822192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3822192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第①步：下界检查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ldgt.w 防止 idx &lt; 0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ldgt 是'严格大于'，需先将下界减 4 字节做哨兵 r8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84248"/>
            <a:ext cx="45720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r8, r4, -4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ldgt.w  r9, r6, r8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806440" y="1920240"/>
            <a:ext cx="5943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r8 = r4 − 4，哨兵放在 a[0]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前一格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（a−4）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818699" y="2458631"/>
            <a:ext cx="6172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&gt; r8 即 r6 ≥ r4　→　合法，加载 [r6] 到 r9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806440" y="3072887"/>
            <a:ext cx="626163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≤ r8 即 r6 &lt; r4　→　idx 为负，触发例外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内存布局（下界附近）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3776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03120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0D0"/>
          </a:solidFill>
          <a:ln w="25400">
            <a:solidFill>
              <a:srgbClr val="C18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C18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r8→ 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03120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2464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r4→ 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12464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21808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808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21808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931152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1152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a[2]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1152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40496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0496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a[3]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540496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49840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a[4]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149840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2066544" y="4544568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C18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哨兵 r8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3675888" y="4544568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下界 r4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7200" y="502920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BEAE4"/>
          </a:solidFill>
          <a:ln w="19050">
            <a:solidFill>
              <a:srgbClr val="B345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1023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越界案例　idx = −1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" y="5532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 = &amp;a[−1] = a−4 = r8　→　r6 ≤ r8　→　ldgt 检查不通过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　→　触发边界检查例外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3822192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3822192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第②步：上界检查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ldle.w 防止 idx ≥ 10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ldle 是'小于等于'，直接拿 &amp;a[9] 做上界，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无需额外偏移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84248"/>
            <a:ext cx="4572000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ldle.w  r9, r6, r5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852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r5 = &amp;a[9]，合法范围最后一格的地址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4015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≤ r5 → 地址合法，加载 [r6] 到 r9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502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&gt; r5 → idx ≥ 10，触发边界检查例外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内存布局（上界附近）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3776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a[6]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03120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a[7]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03120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2464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a[8]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12464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21808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808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r5→ 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21808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931152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1152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1152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40496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0496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540496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49840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149840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285232" y="5788152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上界 r5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806440" y="1874520"/>
            <a:ext cx="5943600" cy="777240"/>
          </a:xfrm>
          <a:prstGeom prst="roundRect">
            <a:avLst>
              <a:gd name="adj" fmla="val 9412"/>
            </a:avLst>
          </a:prstGeom>
          <a:solidFill>
            <a:srgbClr val="FBEAE4"/>
          </a:solidFill>
          <a:ln w="19050">
            <a:solidFill>
              <a:srgbClr val="B345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9320" y="187452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越界案例 idx=10：r6 = a+40 &gt; r5(a+36)  →  触发例外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两条指令串联：三种 idx 值的实际效果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内存布局全貌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377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377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59105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9105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9105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8833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833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68833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8561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8561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78561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8289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AF0F8"/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8289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a[5]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8289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8017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017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98017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07745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7745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07745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17473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7473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17473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27201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201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27201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7200" y="226771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54480" y="226771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合法区 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138160" y="226771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" y="2651760"/>
            <a:ext cx="11247120" cy="457200"/>
          </a:xfrm>
          <a:prstGeom prst="round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 / r6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2651760" y="2651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ldgt.w 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83680" y="26517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ldle.w 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149840" y="2651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7200" y="3154680"/>
            <a:ext cx="11247120" cy="841248"/>
          </a:xfrm>
          <a:prstGeom prst="roundRect">
            <a:avLst/>
          </a:prstGeom>
          <a:solidFill>
            <a:srgbClr val="E9F3EF"/>
          </a:solidFill>
          <a:ln w="12700">
            <a:solidFill>
              <a:srgbClr val="2E8B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319125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idx=5 合法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40080" y="3611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r6=a+20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2651760" y="319125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ldgt：a+20 &gt; a−4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2651760" y="357530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ldle：a+20 ≤ a+36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675120" y="3191256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r9=a[5] 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57200" y="4087368"/>
            <a:ext cx="11247120" cy="841248"/>
          </a:xfrm>
          <a:prstGeom prst="roundRect">
            <a:avLst/>
          </a:prstGeom>
          <a:solidFill>
            <a:srgbClr val="FBEAE4"/>
          </a:solidFill>
          <a:ln w="12700">
            <a:solidFill>
              <a:srgbClr val="B345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123944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idx=−1 越界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640080" y="45445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r6=a−4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2651760" y="412394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ldgt：a−4 ≤ a−4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2651760" y="450799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——（已触发例外）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675120" y="4123944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57200" y="5020056"/>
            <a:ext cx="11247120" cy="841248"/>
          </a:xfrm>
          <a:prstGeom prst="roundRect">
            <a:avLst/>
          </a:prstGeom>
          <a:solidFill>
            <a:srgbClr val="FBEAE4"/>
          </a:solidFill>
          <a:ln w="12700">
            <a:solidFill>
              <a:srgbClr val="B3452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080" y="50566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idx=10 越界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640080" y="54772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r6=a+40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2651760" y="505663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ldgt：a+40 &gt; a−4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2651760" y="54406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ldle：a+40 &gt; a+36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675120" y="5056632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“读—改—写”原子语义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多核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共享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在并发访问下依然一致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C1652F">
              <a:alpha val="8000"/>
            </a:srgbClr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原子访存指令把“读内存→修改→写回”作为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不可分割的整体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完成，执行期间不会被其他核心打断。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典型场景：自旋锁 · 无锁队列 · 引用计数 · 多核状态同步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两种实现方式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通用组合 vs 单指令高效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 / SC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Load Linked / Store Conditional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一对指令配合地址监视机制，可组合出任意原子读改写操作。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 指令族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9224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Atomic Memory 单指令原子操作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9224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一条指令内完成取值、运算、写回，常见运算效率更高。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(1/2)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第一步：读取并监视；第二步：寄存器内计算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从地址 (rj)+offset 读取数据到 rd，同时启动“链接”监视该地址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寄存器内计算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 rd 中的值执行所需运算，结果暂存于寄存器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(2/2)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第三步：条件写回；第四步：失败重试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尝试写回 (rj)+offset；未被修改则成功，rd=1；否则失败，rd=0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检测结果，失败则重试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软件判断 rd 是否为 1；为 0 则跳回步骤 1，形成自旋循环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有效地址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偏移量 offset 的作用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以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LL.w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$r4, $r5, 0 为例</a:t>
            </a:r>
            <a:endParaRPr lang="en-US" sz="2400" b="1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(rj) + offset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$r5中存放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基地址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，offset 是有符号立即数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偏移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offset = 0：直接访问 rj 指向的地址本身，无需再偏移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若 rj 指向结构体，可用 offset 访问其中某个字段，如偏移 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地址必须按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访问宽度对齐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（如 4 字节），否则触发不对齐异常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示例代码：原子加 1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基于 LL / SC 的自旋重试写法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1247120" cy="2423160"/>
          </a:xfrm>
          <a:prstGeom prst="roundRect">
            <a:avLst>
              <a:gd name="adj" fmla="val 301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ll.w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addi.w $r4, $r4,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 $r4, retry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373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2860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 a = a + 1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需要原子操作？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两个线程并发执行同一条语句引出的竞态问题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两个线程都要对共享变量 a 执行 a = a + 1，初始 a = 3，期望结果为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0936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2E8B7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7512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7512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7512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每个线程都需要 3 条指令才能完成一次“读—改—写”，指令之间可能被操作系统交替调度执行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顺序执行：结果正确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两线程指令没有交叉重叠，结果符合预期 a =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交叉执行：结果错误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两线程指令交叉重叠，最终 a = 4，丢失了一次更新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FBEAE4"/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B3452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57200" y="5888736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线程 1 用旧值写回，覆盖了线程 2 的更新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问题根源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普通的 ld / addi / st 序列不具备原子性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“读—改—写”由 3 条独立指令完成，执行期间可能被其他线程打断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读到旧值后，若线程 2 抢先完成了读改写，线程 1 并不知情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仍基于旧值计算并写回，导致线程 2 的更新被覆盖（丢失更新）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这就是所谓的“竞态条件”（Race Condition），常见问题包括计数器少加、余额算错等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2 顺利完成读改写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读取并监视，sc.w 成功写回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57200" y="4718304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 sc.w 成功，线程 1 的监视标记随之失效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38D5420-BCF1-78FE-0939-316AAD883B69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1 检测冲突并重试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失败会让线程 1 主动放弃这次写回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r5,r4,1（仍用旧值 3）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失败（监视已失效）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r5, L → 跳转，重新执行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13308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重新读到最新值后，下一轮 sc.w 才会成功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总结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LLbit 监视机制如何避免丢失更新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读取数据的同时，对该内存地址启动“链接监视”（LLbit=1）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只要该地址在期间被任意处理器核写入，LLbit 就会被清零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写回前检查 LLbit：为 1 才真正写回并置 rd=1；为 0 则放弃并置 rd=0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配合 beqz 重试，保证“读—改—写”整体不会被静默覆盖，天然避免丢失更新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(1/2)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amswap.w/d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交换：旧值→rd，rk 写入内存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加法：内存值 = 旧值 +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amand.w/d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按位与：内存值 = 旧值 AND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71888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(2/2)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amxor.w/d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按位异或：内存值 = 旧值 XOR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ammax.w/d[u]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取最大：内存值 = max(旧值,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ammin.w/d[u]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取最小：内存值 = min(旧值,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69851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屏障变体 _db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每条 AM 指令均有对应的内存屏障版本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amadd_db.w  rd, rk, rj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在原子操作基础上附带内存屏障语义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保证操作结果对其他核心全局有序可见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适合跨核同步场景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44226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 / 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6B4C9A">
              <a:alpha val="8000"/>
            </a:srgbClr>
          </a:solidFill>
          <a:ln w="15875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多核环境下，处理器可能对访存 / 取指令进行乱序执行；栅障指令用于在指定位置强制排序。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提供两条栅障指令：DBAR（数据栅障）与 IBAR（指令栅障）。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DBAR 数据栅障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Barrier · 保证 load/store 之间的顺序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hint 立即数指示同步对象与同步程度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之前所有 load/store 执行完毕后，dbar 才开始执行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dbar 执行完成后，后续 load/store 才能开始执行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IBAR 指令栅障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Barrier · 保证取指令的顺序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用于保证 ibar 之前的指令修改对后续取指可见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典型场景：自修改代码、JIT 即时编译生成的代码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DBAR 配合，共同维护弱一致性内存模型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828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3774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货架与提示牌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2004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一个关于 DBAR 的生活化例子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为什么“写数据”和“挂标记”的顺序不能被打乱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一个仓库取货的场景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仓库员负责摆货，取货人负责取货，两人靠一块提示牌沟通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仓库员（写进程）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把货物摆上货架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翻转“已就绪”提示牌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取货人（读进程）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先看提示牌有没有翻转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368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翻转了，才去货架取货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502920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0292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隐患：如果两人的两个动作被“打乱顺序”，取货人可能扑空，或者拿到还没更新的旧货！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对应到代码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货架 = data，提示牌 = tag，两块共享内存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42316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写进程（仓库员）: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17920" y="2286000"/>
            <a:ext cx="5513832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2423160"/>
            <a:ext cx="48737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读进程（取货人）: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写进程：第一行摆货，第二行翻牌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017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读进程：先看牌，翻了才去取货（第三行）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5623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和 tag 是两块普通共享内存，之间本身没有任何硬件约束的先后关系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仓库员的动作被“乱序”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两条没有数据相关的写指令，处理器可能颠倒执行顺序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上面这条“翻牌”被提前执行了，下面这条“摆货”还没完成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取货人看到牌子已经翻转，赶紧跑去货架，结果看到的还是旧货，甚至空货架！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取货人的动作也可能被“乱序”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提前偷看货架，不等提示牌翻转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上面这条“看货”被提前执行了，下面这条“看牌”还没做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即使货最终摆好了，取货人偷看到的也可能是还没更新的旧数据！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插入 dbar 0：立规矩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两人的两个动作之间都插入一道“栅栏”，强制先后顺序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2316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513832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423160"/>
            <a:ext cx="487375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FC21FA6-69BA-6280-DE81-D9421AB2421A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加入栅障后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顺序被严格锁定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栅栏前的动作必须先完成，栅栏后的动作才能开始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仓库员摆货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078224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900416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101584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13" name="Text 11"/>
          <p:cNvSpPr/>
          <p:nvPr/>
        </p:nvSpPr>
        <p:spPr>
          <a:xfrm>
            <a:off x="8101584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仓库员翻牌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取货人看牌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78224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79392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4279392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900416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01584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21" name="Text 19"/>
          <p:cNvSpPr/>
          <p:nvPr/>
        </p:nvSpPr>
        <p:spPr>
          <a:xfrm>
            <a:off x="8101584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取货人取货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只要牌子确实翻转在货摆好之后，取货人看到翻转的牌子时，货架上就一定是新货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补充：栅障的类型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DBAR 管“数据”，IBAR 管“指令”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读栅障 LoadLoad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54880" y="22402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只管“先读完，才能继续读”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546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写栅障 StoreStore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54880" y="31546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只管“先写完，才能继续写”（本例用的就是它）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0690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完全栅障 AnyAny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54880" y="40690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前后所有访存都要按顺序，龙芯目前默认 hint=0 即此类型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777240" y="50749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IBAR 好比“装修还没完工，先别让顾客进来”：代码被修改后，用 ibar 确保处理器取指令时看到的是修改后的最新指令。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实现程序的条件与无条件跳转，分为三组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条件分支： beq / bne / blt / bge / bltu / bgeu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无条件跳转： b（跳转）、 bl（跳转并链接）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寄存器跳转： jirl（常用于返回与间接调用）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条件分支指令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beq/bne/blt/bge/bltu/bgeu · beqz/bnez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  rj, rd,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 rj 与 rd，满足条件则跳转到 PC + offs16×4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beqz/bnez：与零比较，只需一个寄存器操作数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不满足条件则顺序执行下一条指令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无条件跳转与链接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 · bl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offs26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b：无条件跳转到 PC + offs26×4，不保存返回地址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bl：跳转的同时把返回地址存入 r1（ra）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典型用途：函数调用（bl）与普通跳转（b）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寄存器跳转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jirl · 间接跳转与函数返回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jirl  rd, rj,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跳转目标 = rj + offs16×4，并把返回地址存入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rd 为 r0、offs16 为 0 时，即实现无链接的间接跳转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典型用途：函数返回（jirl r0, r1, 0）、间接调用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地址检查 · 原子性 · 典型场景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场景：安全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0655690-A080-E752-AE53-0C656AB1B79A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回看 clear_bss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6583680" cy="4754880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1: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beq    $t0, $t1, 2f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st.b   $zero, $t0, 0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addi.d $t0, $t0, 1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b      1b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2: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08760"/>
            <a:ext cx="438912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$t0 是游标地址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每次 st.b 写内存一字节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addi.d 让地址 +1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扫过整个 .bss 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0A033E-C167-15AE-8C48-E848FABF9A7E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41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E631814-F51B-CCB6-E29E-AD92D0208D0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UART：设备也是地址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*(volatile char*)UART0_BASE = ch;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1755648"/>
            <a:ext cx="6583680" cy="4754880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# $t0 = UART base, $a0 = ch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  $a0, $t0,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38912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与写普通内存同类指令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写入可启动发送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C 里用 volatile 防优化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第 1 次课 Hello 的本质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49C049-C6F9-942B-0720-EB9D1339E05F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42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FADCD6E-974F-36A3-62BC-783430541285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对齐（课堂点到为止）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多字节访问通常期望按尺寸对齐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未对齐可能更慢或触发异常（平台相关）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链接脚本 ALIGN(4K) 是更大粒度布局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栈帧里常用 $sp + offset 访问局部变量（第6次课）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B11AD5-F04F-D040-45FB-896941210002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浮点数指令集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 · 比较 · 转换 · 传送 · 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浮点数指令按用途分为五类，均使用 32 个浮点寄存器 fr0～fr31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78892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四则运算、开方、融合乘加等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78892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 fcc 条件标志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78892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浮点与整数、单双精度互转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70916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寄存器搬运与内存读写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70916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为什么浮点数需要专门的存储格式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浮点数无法采用整数的补码方式存储，IEEE 规定了统一的格式标准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·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位：0 表示正数，1 表示负数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79392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·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53712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偏置指数，决定小数点的位置（量级）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01584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1584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101584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·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75904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小数部分，决定数值的精度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IEEE 754 定义了两种基本格式：单精度（float，32 位）和双精度（double，64 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70001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70001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 float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32 位单精度格式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E(8位) + F(23位)，共 32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351473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8673" y="2423160"/>
            <a:ext cx="2811780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20453" y="2423160"/>
            <a:ext cx="8083868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30~23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22~0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512064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 double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64 位双精度格式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E(11位) + F(52位)，共 64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175736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2936" y="2423160"/>
            <a:ext cx="1933099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6035" y="2423160"/>
            <a:ext cx="9138285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62~52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51~0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双精度用更多位来表示阶码和尾数，因此比单精度有更大的数值范围和更高的精度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规格化的值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当阶码 E 不是全 0 也不是全 1 时，按下式计算数值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146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263347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2^(E-127)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9235440" y="25146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2336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00400" y="414223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414223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2^(E-1023)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23544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1023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其中 1.F 表示尾数隐含最高位固定为 1（规格化后小数点前必为 1），无需存储这个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5.75D 转换为二进制浮点数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先转换成二进制，再规格化找出阶码 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S 位：5.75D 是正数，S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2004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转二进制：5.75D = 101.11B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规格化：101.11B = 1.0111B × 2²，故 e =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9377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93776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求 E：E = e + 127 = 129 = 1000_0001B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写出完整的存储结果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取自 1.0111 去掉整数位与小数点后，补零到 23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0111 0000000000000000000  (23 位)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520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0  10000001  01110000000000000000000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・ E（8位）・ F（23位）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反向验证：e = E − 127 = 2，还原尾数 1.0111，左移 2 位得 101.11B = 5.75D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其他特殊情况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阶码全 0 或全 1 时表示的特殊数值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非规格化值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3749040" y="2377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0：表示接近零的极小数，此时不再隐含最高位的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1188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正负无穷大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749040" y="361188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全为 0：表示 ±∞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84632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4632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NaN（非数）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49040" y="484632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不全为 0：表示无效运算结果，如 0/0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基本运算指令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四则运算与常用一元运算，.s 为单精度，.d 为双精度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34640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+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90488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3368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fsub.s/d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67928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−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834640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×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90488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3368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fdiv.s/d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67928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÷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fsqrt.s/d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834640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√fj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190488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fabs/fneg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567928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|fj| ／ −fj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融合乘加与极值指令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一次指令内完成乘加，减少舍入误差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260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fmadd.d  fd, fj, fk, fa   # fd = fj×fk + fa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fnmadd.d fd, fj, fk, fa   # fd = −(fj×fk + fa)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fmsub / fnmsub：同上，运算符为“减”而非“加”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fmax / fmin：取较大 / 较小值；fmaxa / fmina：按绝对值取较大 / 较小值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浮点比较指令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比较结果写入条件标志寄存器 fcc0～fcc7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fcmp.cond.s  cc, fj, fk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cond 决定比较关系，如 ceq（相等）、slt（小于）等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比较结果（真/假）写入条件标志寄存器 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示例：fcmp.slt.s $fcc0, $fa0, $fa1  →  fcc0 = (fa0 &lt; fa1)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浮点转换指令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精度转换、浮点⇄整数、取整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fcvt.s.d / fcvt.d.s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0" y="269748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 ⇄ 双精度转换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ftintr{z/p/m/ne}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浮点转整数：向零/向上/向下/向偶舍入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177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ffint.{s/d}.{w/l}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0" y="461772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整数转浮点数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frint.s / frint.d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55778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按当前舍入模式取整，结果仍为浮点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数据传送指令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浮点寄存器、通用寄存器与状态寄存器之间搬运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 · 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0" y="269748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浮点寄存器间搬运；fsel 按条件标志选择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movgr2fr/fr2gr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177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movgr2fcsr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0" y="461772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浮点控制状态寄存器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movfr2cf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55778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浮点/通用寄存器 ⇄ 条件标志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浮点访存指令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格式与普通访存指令一致，操作对象为浮点寄存器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fst.d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fldx.s fd, rj,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fld/fst：立即数偏移寻址，加载/存储浮点数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fldx/fstx：寄存器变址寻址，用于运行时计算偏移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bceqz · bcnez，依据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  cj, offs21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bceqz：条件标志 cj 为 0（假）时跳转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bcnez：条件标志 cj 不为 0（真）时跳转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典型用法：先 fcmp 比较，再根据 fcc 结果分支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覆盖运算、判断、转换、搬运与控制流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fadd/fsub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fmul/fdiv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结果→fcc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多种关系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 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 取整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fld/fst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fmov/fsel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依据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BB4AEC9-AD4B-1B5B-6A6E-7A304C4C8F20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解释：ld.d $t1, $sp, 16 的有效地址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手写：base[0]+base[1] 写入 base[2]（字节数组）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在 clear_bss 旁注释游标如何变化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讨论：指针解引用 *p 对应哪类指令？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602A52-DA46-4B61-778A-B97B31B7743F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55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D10BAD-B24E-FF73-A45C-44814051172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本节收束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访存三句：地址、load/store、基址+偏移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ld.bu 服务字符串；st.b 服务清零与输出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下次课：分支与循环——把指令排成程序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0148784-8753-C760-2C06-258F1D0264DB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56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1665</TotalTime>
  <Words>4729</Words>
  <Application>Microsoft Office PowerPoint</Application>
  <PresentationFormat>宽屏</PresentationFormat>
  <Paragraphs>1054</Paragraphs>
  <Slides>83</Slides>
  <Notes>70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83</vt:i4>
      </vt:variant>
    </vt:vector>
  </HeadingPairs>
  <TitlesOfParts>
    <vt:vector size="95" baseType="lpstr">
      <vt:lpstr>-apple-system</vt:lpstr>
      <vt:lpstr>Menlo</vt:lpstr>
      <vt:lpstr>等线</vt:lpstr>
      <vt:lpstr>等线 Light</vt:lpstr>
      <vt:lpstr>Microsoft YaHei</vt:lpstr>
      <vt:lpstr>Aptos</vt:lpstr>
      <vt:lpstr>Arial</vt:lpstr>
      <vt:lpstr>Calibri</vt:lpstr>
      <vt:lpstr>Cambria</vt:lpstr>
      <vt:lpstr>Courier New</vt:lpstr>
      <vt:lpstr>Office Theme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13</cp:revision>
  <dcterms:created xsi:type="dcterms:W3CDTF">2026-08-18T03:02:44Z</dcterms:created>
  <dcterms:modified xsi:type="dcterms:W3CDTF">2026-09-15T05:14:41Z</dcterms:modified>
</cp:coreProperties>
</file>