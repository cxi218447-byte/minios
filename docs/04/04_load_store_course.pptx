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80"/>
  </p:notesMasterIdLst>
  <p:sldIdLst>
    <p:sldId id="260" r:id="rId3"/>
    <p:sldId id="261" r:id="rId4"/>
    <p:sldId id="262" r:id="rId5"/>
    <p:sldId id="263" r:id="rId6"/>
    <p:sldId id="264" r:id="rId7"/>
    <p:sldId id="256" r:id="rId8"/>
    <p:sldId id="257" r:id="rId9"/>
    <p:sldId id="258" r:id="rId10"/>
    <p:sldId id="259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312" r:id="rId26"/>
    <p:sldId id="313" r:id="rId27"/>
    <p:sldId id="314" r:id="rId28"/>
    <p:sldId id="281" r:id="rId29"/>
    <p:sldId id="315" r:id="rId30"/>
    <p:sldId id="282" r:id="rId31"/>
    <p:sldId id="283" r:id="rId32"/>
    <p:sldId id="284" r:id="rId33"/>
    <p:sldId id="316" r:id="rId34"/>
    <p:sldId id="317" r:id="rId35"/>
    <p:sldId id="318" r:id="rId36"/>
    <p:sldId id="319" r:id="rId37"/>
    <p:sldId id="320" r:id="rId38"/>
    <p:sldId id="321" r:id="rId39"/>
    <p:sldId id="322" r:id="rId40"/>
    <p:sldId id="323" r:id="rId41"/>
    <p:sldId id="285" r:id="rId42"/>
    <p:sldId id="286" r:id="rId43"/>
    <p:sldId id="287" r:id="rId44"/>
    <p:sldId id="324" r:id="rId45"/>
    <p:sldId id="325" r:id="rId46"/>
    <p:sldId id="326" r:id="rId47"/>
    <p:sldId id="327" r:id="rId48"/>
    <p:sldId id="328" r:id="rId49"/>
    <p:sldId id="329" r:id="rId50"/>
    <p:sldId id="330" r:id="rId51"/>
    <p:sldId id="331" r:id="rId52"/>
    <p:sldId id="288" r:id="rId53"/>
    <p:sldId id="289" r:id="rId54"/>
    <p:sldId id="290" r:id="rId55"/>
    <p:sldId id="291" r:id="rId56"/>
    <p:sldId id="292" r:id="rId57"/>
    <p:sldId id="296" r:id="rId58"/>
    <p:sldId id="297" r:id="rId59"/>
    <p:sldId id="298" r:id="rId60"/>
    <p:sldId id="299" r:id="rId61"/>
    <p:sldId id="300" r:id="rId62"/>
    <p:sldId id="333" r:id="rId63"/>
    <p:sldId id="334" r:id="rId64"/>
    <p:sldId id="335" r:id="rId65"/>
    <p:sldId id="336" r:id="rId66"/>
    <p:sldId id="337" r:id="rId67"/>
    <p:sldId id="338" r:id="rId68"/>
    <p:sldId id="339" r:id="rId69"/>
    <p:sldId id="301" r:id="rId70"/>
    <p:sldId id="302" r:id="rId71"/>
    <p:sldId id="303" r:id="rId72"/>
    <p:sldId id="304" r:id="rId73"/>
    <p:sldId id="305" r:id="rId74"/>
    <p:sldId id="306" r:id="rId75"/>
    <p:sldId id="307" r:id="rId76"/>
    <p:sldId id="308" r:id="rId77"/>
    <p:sldId id="310" r:id="rId78"/>
    <p:sldId id="311" r:id="rId7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494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tableStyles" Target="tableStyles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82" Type="http://schemas.openxmlformats.org/officeDocument/2006/relationships/viewProps" Target="viewProp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5670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E8124B-19A2-DAC8-EA77-12A24BFE68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89DC016-771F-F230-EC0B-CCA7338868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41BB329-70A8-BEE2-CCB4-5194DA9EB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CA9763F-D5DE-4B63-B634-1AE106A67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10CF37-9AB9-4AB5-0031-24EADA532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5684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4A8545-714C-7D51-8343-4B9BE10E9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A05B256-B1C6-A319-07AC-BA01A4EFB9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8BEBF2A-75A2-796B-C7AA-6D6E27C8D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EA88D7-E467-8E21-4A5C-DC2827B42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0AB51A1-9AAE-9139-32B6-C21D9B887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6620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C6D143-EC54-3C94-5A29-2F62AA263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1C490DF-7EE7-9DFE-D87E-BB9CE3BC90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0416E68-43B1-92E5-E127-9EAEF606C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A06918-6488-331E-CB8D-03F3D5E59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BF64F04-A28F-20B7-4039-7287A3BD3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5833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26AC9-3E87-AC04-5203-C805008F6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E5593A-7E77-5574-E557-83747EB775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5641217-0D7F-B68C-0FE6-AD7EBA29DE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124DED8-98DA-49C8-1069-EDF9D50BA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8F5103D-4B7B-67B7-A7EC-78B530A41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071EB94-8D00-3CBC-0FAC-CF1492C74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09289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3256D7-9C8C-ABF7-6220-D2D9AC652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B936569-49F7-0EA8-5C78-B9216F625E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8358615-D0C0-1A49-B868-BC02167889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DE4E12F-BBD4-D4C1-60F2-9E68967534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9CF620C-1FA7-BCD6-9685-50A1A19442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799FD63-6DC9-12E3-FEA7-889A0C92F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CF3AC0F-5053-75EC-3E13-645DD0B35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1F7D3E8-BCFE-514F-5512-B11D06623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9691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2DB588-9531-DB96-6529-B809FE936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C0DA22D-5A7C-ED92-0A42-D549B9A76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4156929-CF48-E147-28D1-8F2A8F723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F9F08BB-70F9-6867-0A7D-1E96E3625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182030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5832049-D19B-9FF2-0BD1-74D5287FC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DC53AE6-D9B9-CCD1-D1B7-DEE2E6302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A4BE60A-82D7-CCD9-FB56-90E9F2867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75210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4B4261-E46B-3FBD-506A-454FE32E2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CA6310E-2D2B-2BA5-7676-8DC189A2F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A660E59-B95A-1A9F-FD0F-BDBAFE03D5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F120318-3455-927A-125F-A8F50C63C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91B9FAC-EDDD-743A-04D8-E65F5E261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2B9C15-E70C-E422-BFD7-E14DCCB78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3078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24B008-E9C1-EC53-7549-7EC326AFB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1D0F721-1F51-F0DF-9281-019A3384B3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030BA11-9B46-05ED-08F0-175DBF73CD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B564C1E-6FA9-4689-68C3-66EBF6129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A7EEA67-6C33-8870-AE45-928752489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35E2D96-F51A-7D60-FDE5-8846BA247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40007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E2DFBC-52AD-7D55-2280-DDDF3128B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B696E8A-3418-A664-364D-FF9C306D44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CA06F71-005B-6214-6C14-0D954882E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8FFCD86-9BFB-2E96-9FB3-40D9844BB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86C796-B62E-D1E9-D762-E5133D7D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0733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7DC3FAA-5F3D-2376-31F9-45A3D48FBB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07F07A1-654B-F111-E142-42B2566AC2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C0B26B-F020-51D6-4B40-5E4884DDA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9D7D753-981F-4C13-3039-953B19E76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4A0A20-FB84-918D-4A3E-352C58C1E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8669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1D0D009-B8C1-7C62-B553-6244310AA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65F410-516A-CE9B-EA1E-DD4DBC3A0B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EE6A90F-EA96-D1FC-97A3-D376FCE9BB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E1B40E-B2DB-4E8F-8DAE-46CFA05C1BE3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4BEB1F7-D667-F3AB-7556-11B09A900E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787687-A5C9-3392-2752-068B159E4A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0909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1A721983-68B8-A5BF-543D-D287D06EE21B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789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访存指令与内存数据组织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789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寄存器 ↔ 内存 ↔ 设备：用 load/store 统一解释 .data/.bss 与 UART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789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建议检查点：week04-load-store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5B1DA51-ACD9-AD12-F422-D48DA205C961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1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1C3DD08A-4BD1-DF29-5364-AABAD6E88A7B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 err="1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本课要解决什么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789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不会访存，就无法理解全局变量、栈帧、字符串和串口输出。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A28BAAB-F2AC-DAF7-DB9C-E61CE84E2C25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2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B3B3E3EA-926E-D532-991D-911D42DFCC3F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本课目标</a:t>
            </a:r>
            <a:endParaRPr kumimoji="0" sz="32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Aptos" panose="020B0004020202020204" pitchFamily="34" charset="0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2451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说明：地址是整数；指针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=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保存地址的寄存器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263552"/>
              </a:solidFill>
              <a:effectLst/>
              <a:uLnTx/>
              <a:uFillTx/>
              <a:latin typeface="Aptos" panose="020B0004020202020204" pitchFamily="34" charset="0"/>
              <a:ea typeface="Microsoft YaHei" panose="020B0503020204020204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会用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ld.d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/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st.d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/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ld.bu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/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st.b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263552"/>
              </a:solidFill>
              <a:effectLst/>
              <a:uLnTx/>
              <a:uFillTx/>
              <a:latin typeface="Aptos" panose="020B0004020202020204" pitchFamily="34" charset="0"/>
              <a:ea typeface="Microsoft YaHei" panose="020B0503020204020204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理解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有效地址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=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基址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+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偏移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263552"/>
              </a:solidFill>
              <a:effectLst/>
              <a:uLnTx/>
              <a:uFillTx/>
              <a:latin typeface="Aptos" panose="020B0004020202020204" pitchFamily="34" charset="0"/>
              <a:ea typeface="Microsoft YaHei" panose="020B0503020204020204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解释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clear_bss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的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st.b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与 UART 的 MMIO 写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建立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对齐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的基本概念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263552"/>
              </a:solidFill>
              <a:effectLst/>
              <a:uLnTx/>
              <a:uFillTx/>
              <a:latin typeface="Aptos" panose="020B0004020202020204" pitchFamily="34" charset="0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4F9267E-CD99-A654-5AEB-C8364059F348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3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B1EA739F-7F64-99E2-A177-1297278F1C09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三种“存数据的地方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0876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5438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AFBFD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位置</a:t>
                      </a:r>
                    </a:p>
                  </a:txBody>
                  <a:tcPr anchor="ctr">
                    <a:solidFill>
                      <a:srgbClr val="17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AFBFD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特点</a:t>
                      </a:r>
                    </a:p>
                  </a:txBody>
                  <a:tcPr anchor="ctr">
                    <a:solidFill>
                      <a:srgbClr val="17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AFBFD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例子</a:t>
                      </a:r>
                    </a:p>
                  </a:txBody>
                  <a:tcPr anchor="ctr">
                    <a:solidFill>
                      <a:srgbClr val="1724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寄存器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极少、极快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$t0 里的指针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内存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大，需 load/store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数组、全局、栈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MMIO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像内存，副作用在设备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 dirty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UART </a:t>
                      </a:r>
                      <a:r>
                        <a:rPr sz="2400" b="0" dirty="0" err="1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寄存器</a:t>
                      </a:r>
                      <a:endParaRPr sz="2400" b="0" dirty="0">
                        <a:solidFill>
                          <a:srgbClr val="263552"/>
                        </a:solidFill>
                        <a:latin typeface="Microsoft YaHei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文本框 7">
            <a:extLst>
              <a:ext uri="{FF2B5EF4-FFF2-40B4-BE49-F238E27FC236}">
                <a16:creationId xmlns:a16="http://schemas.microsoft.com/office/drawing/2014/main" id="{7B07EE10-A254-1B62-DAE7-A21A8C61CD6D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4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矩形 35">
            <a:extLst>
              <a:ext uri="{FF2B5EF4-FFF2-40B4-BE49-F238E27FC236}">
                <a16:creationId xmlns:a16="http://schemas.microsoft.com/office/drawing/2014/main" id="{A35F08DC-FD85-2F8B-CF2E-D1F9D9770E56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26567" y="646425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教学用地址空间（简化）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155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第 2 次课的段，是统一地址空间里的不同区域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72768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09447" y="2212848"/>
            <a:ext cx="1938528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8" name="Oval 7"/>
          <p:cNvSpPr/>
          <p:nvPr/>
        </p:nvSpPr>
        <p:spPr>
          <a:xfrm>
            <a:off x="1322679" y="2395728"/>
            <a:ext cx="512064" cy="512064"/>
          </a:xfrm>
          <a:prstGeom prst="ellipse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322679" y="2468880"/>
            <a:ext cx="512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175" y="312724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.text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9175" y="372160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7975" y="3401568"/>
            <a:ext cx="320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68015" y="2212848"/>
            <a:ext cx="1938528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3581247" y="2395728"/>
            <a:ext cx="512064" cy="512064"/>
          </a:xfrm>
          <a:prstGeom prst="ellipse">
            <a:avLst/>
          </a:prstGeom>
          <a:solidFill>
            <a:srgbClr val="007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581247" y="2468880"/>
            <a:ext cx="512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7743" y="312724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.rodata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7743" y="372160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常量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6543" y="3401568"/>
            <a:ext cx="320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6583" y="2212848"/>
            <a:ext cx="1938528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5839815" y="2395728"/>
            <a:ext cx="512064" cy="512064"/>
          </a:xfrm>
          <a:prstGeom prst="ellipse">
            <a:avLst/>
          </a:prstGeom>
          <a:solidFill>
            <a:srgbClr val="2A7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839815" y="2468880"/>
            <a:ext cx="512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6311" y="312724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.data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6311" y="372160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有初值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5111" y="3401568"/>
            <a:ext cx="320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85151" y="2212848"/>
            <a:ext cx="1938528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8098383" y="2395728"/>
            <a:ext cx="512064" cy="512064"/>
          </a:xfrm>
          <a:prstGeom prst="ellipse">
            <a:avLst/>
          </a:prstGeom>
          <a:solidFill>
            <a:srgbClr val="B8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098383" y="2468880"/>
            <a:ext cx="512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4879" y="312724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.bss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4879" y="372160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需清零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3679" y="3401568"/>
            <a:ext cx="320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43719" y="2212848"/>
            <a:ext cx="1938528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10356951" y="2395728"/>
            <a:ext cx="512064" cy="512064"/>
          </a:xfrm>
          <a:prstGeom prst="ellipse">
            <a:avLst/>
          </a:prstGeom>
          <a:solidFill>
            <a:srgbClr val="A44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356951" y="2468880"/>
            <a:ext cx="512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53447" y="312724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53447" y="3721608"/>
            <a:ext cx="171907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$sp 向低增长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E0B1EE46-885E-D1FB-3E47-446DA43D3DE4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5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822960"/>
            <a:ext cx="621792" cy="621792"/>
          </a:xfrm>
          <a:prstGeom prst="rect">
            <a:avLst/>
          </a:prstGeom>
          <a:solidFill>
            <a:srgbClr val="3B6EA5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03536" y="822960"/>
            <a:ext cx="621792" cy="621792"/>
          </a:xfrm>
          <a:prstGeom prst="rect">
            <a:avLst/>
          </a:prstGeom>
          <a:solidFill>
            <a:srgbClr val="2E8B70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71632" y="822960"/>
            <a:ext cx="621792" cy="621792"/>
          </a:xfrm>
          <a:prstGeom prst="rect">
            <a:avLst/>
          </a:prstGeom>
          <a:solidFill>
            <a:srgbClr val="C1652F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0" y="1591056"/>
            <a:ext cx="621792" cy="621792"/>
          </a:xfrm>
          <a:prstGeom prst="rect">
            <a:avLst/>
          </a:prstGeom>
          <a:solidFill>
            <a:srgbClr val="2E8B70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03536" y="1591056"/>
            <a:ext cx="621792" cy="621792"/>
          </a:xfrm>
          <a:prstGeom prst="rect">
            <a:avLst/>
          </a:prstGeom>
          <a:solidFill>
            <a:srgbClr val="C1652F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1632" y="1591056"/>
            <a:ext cx="621792" cy="621792"/>
          </a:xfrm>
          <a:prstGeom prst="rect">
            <a:avLst/>
          </a:prstGeom>
          <a:solidFill>
            <a:srgbClr val="6B4C9A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0" y="2359152"/>
            <a:ext cx="621792" cy="621792"/>
          </a:xfrm>
          <a:prstGeom prst="rect">
            <a:avLst/>
          </a:prstGeom>
          <a:solidFill>
            <a:srgbClr val="C1652F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03536" y="2359152"/>
            <a:ext cx="621792" cy="621792"/>
          </a:xfrm>
          <a:prstGeom prst="rect">
            <a:avLst/>
          </a:prstGeom>
          <a:solidFill>
            <a:srgbClr val="6B4C9A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2359152"/>
            <a:ext cx="621792" cy="621792"/>
          </a:xfrm>
          <a:prstGeom prst="rect">
            <a:avLst/>
          </a:prstGeom>
          <a:solidFill>
            <a:srgbClr val="3B6EA5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0" y="3127248"/>
            <a:ext cx="621792" cy="621792"/>
          </a:xfrm>
          <a:prstGeom prst="rect">
            <a:avLst/>
          </a:prstGeom>
          <a:solidFill>
            <a:srgbClr val="6B4C9A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03536" y="3127248"/>
            <a:ext cx="621792" cy="621792"/>
          </a:xfrm>
          <a:prstGeom prst="rect">
            <a:avLst/>
          </a:prstGeom>
          <a:solidFill>
            <a:srgbClr val="3B6EA5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71632" y="3127248"/>
            <a:ext cx="621792" cy="621792"/>
          </a:xfrm>
          <a:prstGeom prst="rect">
            <a:avLst/>
          </a:prstGeom>
          <a:solidFill>
            <a:srgbClr val="2E8B70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0" y="3895344"/>
            <a:ext cx="621792" cy="621792"/>
          </a:xfrm>
          <a:prstGeom prst="rect">
            <a:avLst/>
          </a:prstGeom>
          <a:solidFill>
            <a:srgbClr val="3B6EA5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03536" y="3895344"/>
            <a:ext cx="621792" cy="621792"/>
          </a:xfrm>
          <a:prstGeom prst="rect">
            <a:avLst/>
          </a:prstGeom>
          <a:solidFill>
            <a:srgbClr val="2E8B70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71632" y="3895344"/>
            <a:ext cx="621792" cy="621792"/>
          </a:xfrm>
          <a:prstGeom prst="rect">
            <a:avLst/>
          </a:prstGeom>
          <a:solidFill>
            <a:srgbClr val="C1652F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920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200" dirty="0">
                <a:solidFill>
                  <a:srgbClr val="9F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ARCHITECTURE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30352" y="2468880"/>
            <a:ext cx="8503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内存寻址方式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操作数地址是如何被指令定位与计算的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常见寻址方式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1704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指令中操作数地址的六种基本获取方式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965960"/>
            <a:ext cx="109728" cy="621792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65960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立即寻址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840480" y="1965960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操作数直接包含在指令中，无需访存取值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57200" y="2670048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670048"/>
            <a:ext cx="109728" cy="621792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670048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寄存器寻址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840480" y="2670048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操作数存放在寄存器中，访问速度最快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57200" y="3374136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2E8B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374136"/>
            <a:ext cx="109728" cy="621792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374136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直接寻址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840480" y="3374136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指令中直接给出操作数所在的内存地址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7200" y="4078224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2E8B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4078224"/>
            <a:ext cx="109728" cy="621792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078224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寄存器间接寻址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840480" y="4078224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寄存器中存放操作数的内存地址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457200" y="4782312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782312"/>
            <a:ext cx="109728" cy="621792"/>
          </a:xfrm>
          <a:prstGeom prst="roundRect">
            <a:avLst>
              <a:gd name="adj" fmla="val 16667"/>
            </a:avLst>
          </a:prstGeom>
          <a:solidFill>
            <a:srgbClr val="C1652F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782312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变址 / 基址寻址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3840480" y="4782312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基址寄存器 + 偏移量（或变址寄存器）计算地址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457200" y="548640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5486400"/>
            <a:ext cx="109728" cy="621792"/>
          </a:xfrm>
          <a:prstGeom prst="roundRect">
            <a:avLst>
              <a:gd name="adj" fmla="val 16667"/>
            </a:avLst>
          </a:prstGeom>
          <a:solidFill>
            <a:srgbClr val="6B4C9A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5486400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相对寻址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3840480" y="5486400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以当前 PC 为基准加偏移量，常用于跳转指令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有效地址计算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1704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不同寻址方式对应不同的地址生成公式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112471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12264"/>
            <a:ext cx="3291840" cy="621792"/>
          </a:xfrm>
          <a:prstGeom prst="roundRect">
            <a:avLst>
              <a:gd name="adj" fmla="val 10294"/>
            </a:avLst>
          </a:prstGeom>
          <a:solidFill>
            <a:srgbClr val="121D3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12264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 = 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160520" y="196596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直接寻址：A 为指令中给出的地址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57200" y="2990088"/>
            <a:ext cx="112471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136392"/>
            <a:ext cx="3291840" cy="621792"/>
          </a:xfrm>
          <a:prstGeom prst="roundRect">
            <a:avLst>
              <a:gd name="adj" fmla="val 10294"/>
            </a:avLst>
          </a:prstGeom>
          <a:solidFill>
            <a:srgbClr val="121D3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136392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 = (R)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160520" y="2990088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寄存器间接寻址：EA 取自寄存器 R 的内容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57200" y="4014216"/>
            <a:ext cx="112471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4160520"/>
            <a:ext cx="3291840" cy="621792"/>
          </a:xfrm>
          <a:prstGeom prst="roundRect">
            <a:avLst>
              <a:gd name="adj" fmla="val 10294"/>
            </a:avLst>
          </a:prstGeom>
          <a:solidFill>
            <a:srgbClr val="121D33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160520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 = (B) + D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60520" y="4014216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基址寻址：基址寄存器 B 的内容 + 偏移量 D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7200" y="5038344"/>
            <a:ext cx="112471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5184648"/>
            <a:ext cx="3291840" cy="621792"/>
          </a:xfrm>
          <a:prstGeom prst="roundRect">
            <a:avLst>
              <a:gd name="adj" fmla="val 10294"/>
            </a:avLst>
          </a:prstGeom>
          <a:solidFill>
            <a:srgbClr val="121D33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5184648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 = (PC) + D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160520" y="5038344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相对寻址：以当前指令地址为基准偏移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对比与总结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1704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访存次数与灵活性的权衡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551383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7780">
            <a:solidFill>
              <a:srgbClr val="3B6E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965960"/>
            <a:ext cx="5513832" cy="594360"/>
          </a:xfrm>
          <a:prstGeom prst="roundRect">
            <a:avLst>
              <a:gd name="adj" fmla="val 15385"/>
            </a:avLst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965960"/>
            <a:ext cx="5513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立即 / 寄存器寻址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49651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无需访存，速度最快，但地址空间/灵活性有限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190488" y="1965960"/>
            <a:ext cx="551383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7780">
            <a:solidFill>
              <a:srgbClr val="2E8B7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0488" y="1965960"/>
            <a:ext cx="5513832" cy="594360"/>
          </a:xfrm>
          <a:prstGeom prst="roundRect">
            <a:avLst>
              <a:gd name="adj" fmla="val 15385"/>
            </a:avLst>
          </a:prstGeom>
          <a:solidFill>
            <a:srgbClr val="2E8B70"/>
          </a:solidFill>
          <a:ln/>
        </p:spPr>
      </p:sp>
      <p:sp>
        <p:nvSpPr>
          <p:cNvPr id="10" name="Text 8"/>
          <p:cNvSpPr/>
          <p:nvPr/>
        </p:nvSpPr>
        <p:spPr>
          <a:xfrm>
            <a:off x="6190488" y="1965960"/>
            <a:ext cx="5513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 / 间接寻址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464808" y="2697480"/>
            <a:ext cx="49651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 1～2 次访存取得操作数，实现简单直观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551383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7780">
            <a:solidFill>
              <a:srgbClr val="C1652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886200"/>
            <a:ext cx="5513832" cy="594360"/>
          </a:xfrm>
          <a:prstGeom prst="roundRect">
            <a:avLst>
              <a:gd name="adj" fmla="val 15385"/>
            </a:avLst>
          </a:prstGeom>
          <a:solidFill>
            <a:srgbClr val="C1652F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86200"/>
            <a:ext cx="5513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变址 / 基址寻址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731520" y="4617720"/>
            <a:ext cx="49651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支持运行时计算地址，适合数组与结构体访问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190488" y="3886200"/>
            <a:ext cx="551383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7780">
            <a:solidFill>
              <a:srgbClr val="6B4C9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90488" y="3886200"/>
            <a:ext cx="5513832" cy="594360"/>
          </a:xfrm>
          <a:prstGeom prst="roundRect">
            <a:avLst>
              <a:gd name="adj" fmla="val 15385"/>
            </a:avLst>
          </a:prstGeom>
          <a:solidFill>
            <a:srgbClr val="6B4C9A"/>
          </a:solidFill>
          <a:ln/>
        </p:spPr>
      </p:sp>
      <p:sp>
        <p:nvSpPr>
          <p:cNvPr id="18" name="Text 16"/>
          <p:cNvSpPr/>
          <p:nvPr/>
        </p:nvSpPr>
        <p:spPr>
          <a:xfrm>
            <a:off x="6190488" y="3886200"/>
            <a:ext cx="5513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相对寻址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64808" y="4617720"/>
            <a:ext cx="49651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地址与位置无关，便于代码重定位与位置无关代码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822960"/>
            <a:ext cx="621792" cy="621792"/>
          </a:xfrm>
          <a:prstGeom prst="rect">
            <a:avLst/>
          </a:prstGeom>
          <a:solidFill>
            <a:srgbClr val="3B6EA5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03536" y="822960"/>
            <a:ext cx="621792" cy="621792"/>
          </a:xfrm>
          <a:prstGeom prst="rect">
            <a:avLst/>
          </a:prstGeom>
          <a:solidFill>
            <a:srgbClr val="2E8B70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71632" y="822960"/>
            <a:ext cx="621792" cy="621792"/>
          </a:xfrm>
          <a:prstGeom prst="rect">
            <a:avLst/>
          </a:prstGeom>
          <a:solidFill>
            <a:srgbClr val="C1652F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0" y="1591056"/>
            <a:ext cx="621792" cy="621792"/>
          </a:xfrm>
          <a:prstGeom prst="rect">
            <a:avLst/>
          </a:prstGeom>
          <a:solidFill>
            <a:srgbClr val="2E8B70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03536" y="1591056"/>
            <a:ext cx="621792" cy="621792"/>
          </a:xfrm>
          <a:prstGeom prst="rect">
            <a:avLst/>
          </a:prstGeom>
          <a:solidFill>
            <a:srgbClr val="C1652F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1632" y="1591056"/>
            <a:ext cx="621792" cy="621792"/>
          </a:xfrm>
          <a:prstGeom prst="rect">
            <a:avLst/>
          </a:prstGeom>
          <a:solidFill>
            <a:srgbClr val="6B4C9A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0" y="2359152"/>
            <a:ext cx="621792" cy="621792"/>
          </a:xfrm>
          <a:prstGeom prst="rect">
            <a:avLst/>
          </a:prstGeom>
          <a:solidFill>
            <a:srgbClr val="C1652F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03536" y="2359152"/>
            <a:ext cx="621792" cy="621792"/>
          </a:xfrm>
          <a:prstGeom prst="rect">
            <a:avLst/>
          </a:prstGeom>
          <a:solidFill>
            <a:srgbClr val="6B4C9A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2359152"/>
            <a:ext cx="621792" cy="621792"/>
          </a:xfrm>
          <a:prstGeom prst="rect">
            <a:avLst/>
          </a:prstGeom>
          <a:solidFill>
            <a:srgbClr val="B5952C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0" y="3127248"/>
            <a:ext cx="621792" cy="621792"/>
          </a:xfrm>
          <a:prstGeom prst="rect">
            <a:avLst/>
          </a:prstGeom>
          <a:solidFill>
            <a:srgbClr val="6B4C9A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03536" y="3127248"/>
            <a:ext cx="621792" cy="621792"/>
          </a:xfrm>
          <a:prstGeom prst="rect">
            <a:avLst/>
          </a:prstGeom>
          <a:solidFill>
            <a:srgbClr val="B5952C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71632" y="3127248"/>
            <a:ext cx="621792" cy="621792"/>
          </a:xfrm>
          <a:prstGeom prst="rect">
            <a:avLst/>
          </a:prstGeom>
          <a:solidFill>
            <a:srgbClr val="3B6EA5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0" y="3895344"/>
            <a:ext cx="621792" cy="621792"/>
          </a:xfrm>
          <a:prstGeom prst="rect">
            <a:avLst/>
          </a:prstGeom>
          <a:solidFill>
            <a:srgbClr val="B5952C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03536" y="3895344"/>
            <a:ext cx="621792" cy="621792"/>
          </a:xfrm>
          <a:prstGeom prst="rect">
            <a:avLst/>
          </a:prstGeom>
          <a:solidFill>
            <a:srgbClr val="3B6EA5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71632" y="3895344"/>
            <a:ext cx="621792" cy="621792"/>
          </a:xfrm>
          <a:prstGeom prst="rect">
            <a:avLst/>
          </a:prstGeom>
          <a:solidFill>
            <a:srgbClr val="2E8B70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5544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300" normalizeH="0" baseline="0" noProof="0" dirty="0">
                <a:ln>
                  <a:noFill/>
                </a:ln>
                <a:solidFill>
                  <a:srgbClr val="9FB3D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LOONGARCH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30352" y="2103120"/>
            <a:ext cx="8503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访存指令体系</a:t>
            </a: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48640" y="329184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 · 边界检查 · 原子访存 · 栅障 · 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3B6EA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178808"/>
            <a:ext cx="164592" cy="164592"/>
          </a:xfrm>
          <a:prstGeom prst="ellipse">
            <a:avLst/>
          </a:prstGeom>
          <a:solidFill>
            <a:srgbClr val="3B6EA5"/>
          </a:solidFill>
          <a:ln/>
        </p:spPr>
      </p:sp>
      <p:sp>
        <p:nvSpPr>
          <p:cNvPr id="22" name="Text 20"/>
          <p:cNvSpPr/>
          <p:nvPr/>
        </p:nvSpPr>
        <p:spPr>
          <a:xfrm>
            <a:off x="1051560" y="397764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456432" y="397764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2E8B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75888" y="4178808"/>
            <a:ext cx="164592" cy="164592"/>
          </a:xfrm>
          <a:prstGeom prst="ellipse">
            <a:avLst/>
          </a:prstGeom>
          <a:solidFill>
            <a:srgbClr val="2E8B70"/>
          </a:solidFill>
          <a:ln/>
        </p:spPr>
      </p:sp>
      <p:sp>
        <p:nvSpPr>
          <p:cNvPr id="25" name="Text 23"/>
          <p:cNvSpPr/>
          <p:nvPr/>
        </p:nvSpPr>
        <p:spPr>
          <a:xfrm>
            <a:off x="3959352" y="397764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64224" y="397764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C1652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0" y="4178808"/>
            <a:ext cx="164592" cy="164592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28" name="Text 26"/>
          <p:cNvSpPr/>
          <p:nvPr/>
        </p:nvSpPr>
        <p:spPr>
          <a:xfrm>
            <a:off x="6867144" y="397764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48640" y="4681728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6B4C9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8096" y="4882896"/>
            <a:ext cx="164592" cy="164592"/>
          </a:xfrm>
          <a:prstGeom prst="ellipse">
            <a:avLst/>
          </a:prstGeom>
          <a:solidFill>
            <a:srgbClr val="6B4C9A"/>
          </a:solidFill>
          <a:ln/>
        </p:spPr>
      </p:sp>
      <p:sp>
        <p:nvSpPr>
          <p:cNvPr id="31" name="Text 29"/>
          <p:cNvSpPr/>
          <p:nvPr/>
        </p:nvSpPr>
        <p:spPr>
          <a:xfrm>
            <a:off x="1051560" y="4681728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3456432" y="4681728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B595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75888" y="4882896"/>
            <a:ext cx="164592" cy="164592"/>
          </a:xfrm>
          <a:prstGeom prst="ellipse">
            <a:avLst/>
          </a:prstGeom>
          <a:solidFill>
            <a:srgbClr val="B5952C"/>
          </a:solidFill>
          <a:ln/>
        </p:spPr>
      </p:sp>
      <p:sp>
        <p:nvSpPr>
          <p:cNvPr id="34" name="Text 32"/>
          <p:cNvSpPr/>
          <p:nvPr/>
        </p:nvSpPr>
        <p:spPr>
          <a:xfrm>
            <a:off x="3959352" y="4681728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内容概览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704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本讲从五个类别系统梳理 LoongArch 的核心指令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929384"/>
            <a:ext cx="457200" cy="457200"/>
          </a:xfrm>
          <a:prstGeom prst="ellipse">
            <a:avLst/>
          </a:prstGeom>
          <a:solidFill>
            <a:srgbClr val="3B6EA5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29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371600" y="1874520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访存指令总览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2505456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560320"/>
            <a:ext cx="457200" cy="457200"/>
          </a:xfrm>
          <a:prstGeom prst="ellipse">
            <a:avLst/>
          </a:prstGeom>
          <a:solidFill>
            <a:srgbClr val="3B6EA5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371600" y="2505456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3136392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" y="3191256"/>
            <a:ext cx="457200" cy="457200"/>
          </a:xfrm>
          <a:prstGeom prst="ellipse">
            <a:avLst/>
          </a:prstGeom>
          <a:solidFill>
            <a:srgbClr val="2E8B70">
              <a:alpha val="9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3191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371600" y="3136392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" y="3767328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" y="3822192"/>
            <a:ext cx="457200" cy="457200"/>
          </a:xfrm>
          <a:prstGeom prst="ellipse">
            <a:avLst/>
          </a:prstGeom>
          <a:solidFill>
            <a:srgbClr val="C1652F">
              <a:alpha val="9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" y="38221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371600" y="3767328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7200" y="4398264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" y="4453128"/>
            <a:ext cx="457200" cy="457200"/>
          </a:xfrm>
          <a:prstGeom prst="ellipse">
            <a:avLst/>
          </a:prstGeom>
          <a:solidFill>
            <a:srgbClr val="6B4C9A">
              <a:alpha val="9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" y="4453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371600" y="4398264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7200" y="5029200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" y="5084064"/>
            <a:ext cx="457200" cy="457200"/>
          </a:xfrm>
          <a:prstGeom prst="ellipse">
            <a:avLst/>
          </a:prstGeom>
          <a:solidFill>
            <a:srgbClr val="B5952C">
              <a:alpha val="9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" y="50840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371600" y="5029200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57200" y="5660136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1792" y="5715000"/>
            <a:ext cx="457200" cy="457200"/>
          </a:xfrm>
          <a:prstGeom prst="ellipse">
            <a:avLst/>
          </a:prstGeom>
          <a:solidFill>
            <a:srgbClr val="5B6B85">
              <a:alpha val="9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21792" y="5715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371600" y="5660136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对比与总结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指令总览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704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按用途可分为五类核心指令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10312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606040"/>
            <a:ext cx="731520" cy="731520"/>
          </a:xfrm>
          <a:prstGeom prst="ellipse">
            <a:avLst/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606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554480" y="233172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554480" y="297180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完成基本内存读写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279392" y="210312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35424" y="2606040"/>
            <a:ext cx="731520" cy="731520"/>
          </a:xfrm>
          <a:prstGeom prst="ellipse">
            <a:avLst/>
          </a:prstGeom>
          <a:solidFill>
            <a:srgbClr val="2E8B70"/>
          </a:solidFill>
          <a:ln/>
        </p:spPr>
      </p:sp>
      <p:sp>
        <p:nvSpPr>
          <p:cNvPr id="11" name="Text 9"/>
          <p:cNvSpPr/>
          <p:nvPr/>
        </p:nvSpPr>
        <p:spPr>
          <a:xfrm>
            <a:off x="4535424" y="2606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376672" y="233172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376672" y="297180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访存前判断地址合法性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101584" y="210312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7616" y="2606040"/>
            <a:ext cx="731520" cy="73152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357616" y="2606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198864" y="233172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198864" y="297180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读—改—写不可分割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2368296" y="402336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624328" y="4526280"/>
            <a:ext cx="731520" cy="731520"/>
          </a:xfrm>
          <a:prstGeom prst="ellipse">
            <a:avLst/>
          </a:prstGeom>
          <a:solidFill>
            <a:srgbClr val="6B4C9A"/>
          </a:solidFill>
          <a:ln/>
        </p:spPr>
      </p:sp>
      <p:sp>
        <p:nvSpPr>
          <p:cNvPr id="21" name="Text 19"/>
          <p:cNvSpPr/>
          <p:nvPr/>
        </p:nvSpPr>
        <p:spPr>
          <a:xfrm>
            <a:off x="2624328" y="45262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465576" y="425196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465576" y="489204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保证访存/取指的执行顺序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190488" y="402336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4526280"/>
            <a:ext cx="731520" cy="731520"/>
          </a:xfrm>
          <a:prstGeom prst="ellipse">
            <a:avLst/>
          </a:prstGeom>
          <a:solidFill>
            <a:srgbClr val="B5952C"/>
          </a:solidFill>
          <a:ln/>
        </p:spPr>
      </p:sp>
      <p:sp>
        <p:nvSpPr>
          <p:cNvPr id="26" name="Text 24"/>
          <p:cNvSpPr/>
          <p:nvPr/>
        </p:nvSpPr>
        <p:spPr>
          <a:xfrm>
            <a:off x="6446520" y="45262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287768" y="425196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287768" y="489204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实现程序的条件与无条件跳转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概述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完成基本内存读写，按寻址方式分为三组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83464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立即数偏移： ld.b/h/w/d , st.b/h/w/d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388620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88620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寄存器变址： ldx.b/h/w/d , stx.b/h/w/d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493776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93776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对齐远偏移： ldptr.w/d , stptr.w/d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立即数偏移寻址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ld.b/h/w/d · st.b/h/w/d · ld.bu/hu/wu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rd, rj, si12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有效地址 = rj + si12（12位有符号立即数）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ld.b/h/w/d：取值后符号扩展写入 rd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ld.bu/hu/wu：取值后零扩展（无符号）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寄存器变址寻址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ldx.b/h/w/d · stx.b/h/w/d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ldx.w  rd, rj, 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有效地址 = rj + rk（两个寄存器相加）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偏移量本身来自寄存器，可在运行时计算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典型用途：数组下标访问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对齐远偏移寻址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ldptr.w/d · stptr.w/d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stptr.d  rd, rj, si14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有效地址 = rj + si14 × 4（14位偏移，4字节对齐）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偏移范围比 ld/st 更大，用于访问对齐数据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适合结构体较大或跨度较远的内存访问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示例代码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三种寻址方式的实际写法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1247120" cy="1828800"/>
          </a:xfrm>
          <a:prstGeom prst="roundRect">
            <a:avLst>
              <a:gd name="adj" fmla="val 4000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9718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  $r4, $r5, 8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ldx.w   $r4, $r5, $r6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stptr.d $r4, $r5, 100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4709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第1行：取 r5+8 处 8 字节，写入 r4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第2行：取 r5+r6 处 4 字节，写入 r4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715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第3行：将 r4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写入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r5+100×4 处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7AD6B87-6B7F-093D-A5D0-563BF42D6E8F}"/>
              </a:ext>
            </a:extLst>
          </p:cNvPr>
          <p:cNvSpPr txBox="1"/>
          <p:nvPr/>
        </p:nvSpPr>
        <p:spPr>
          <a:xfrm>
            <a:off x="9554547" y="375331"/>
            <a:ext cx="18297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观看动画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279392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27939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设计动机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访存前先判断地址是否合法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2E8B70">
              <a:alpha val="8000"/>
            </a:srgbClr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788920"/>
            <a:ext cx="106070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将地址与给定边界寄存器比较，只有满足条件才真正执行读写；不满足则触发“边界检查例外”。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443484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5F7FB"/>
          </a:solidFill>
          <a:ln w="15875">
            <a:solidFill>
              <a:srgbClr val="2E8B7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777240" y="4434840"/>
            <a:ext cx="106070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目的：从硬件层面拦截越界访问，如数组越界、缓冲区溢出，提升内存安全性。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279392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27939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LDGT / STGT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Greater Than · 下边界检查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ldgt.w  rd, rj, 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条件：rj &gt;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满足：以 rj 为地址执行访存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不满足：触发边界检查例外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279392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27939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LDLE / STLE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Less than or Equal · 上边界检查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ldle.w  rd, rj, 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条件：rj ≤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满足：以 rj 为地址执行访存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4983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不满足：触发边界检查例外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48640" y="55321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与 LDGT 搭配，可实现双向边界检查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279392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27939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执行流程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先比较，再决定是否访存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975104" y="2743200"/>
            <a:ext cx="8229600" cy="68580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1975104" y="2743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 rj 与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89904" y="3429000"/>
            <a:ext cx="0" cy="320040"/>
          </a:xfrm>
          <a:prstGeom prst="line">
            <a:avLst/>
          </a:prstGeom>
          <a:noFill/>
          <a:ln w="25400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7200" y="3977640"/>
            <a:ext cx="5394960" cy="868680"/>
          </a:xfrm>
          <a:prstGeom prst="roundRect">
            <a:avLst>
              <a:gd name="adj" fmla="val 9474"/>
            </a:avLst>
          </a:prstGeom>
          <a:solidFill>
            <a:srgbClr val="2E8B7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977640"/>
            <a:ext cx="5394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满足条件 → 执行本次访存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309360" y="3977640"/>
            <a:ext cx="5394960" cy="868680"/>
          </a:xfrm>
          <a:prstGeom prst="roundRect">
            <a:avLst>
              <a:gd name="adj" fmla="val 9474"/>
            </a:avLst>
          </a:prstGeom>
          <a:solidFill>
            <a:srgbClr val="B3452C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3977640"/>
            <a:ext cx="5394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不满足 → 触发边界检查例外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“读—改—写”原子语义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保证多核共享数据在并发访问下依然一致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C1652F">
              <a:alpha val="8000"/>
            </a:srgbClr>
          </a:solidFill>
          <a:ln w="15875">
            <a:solidFill>
              <a:srgbClr val="C16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原子访存指令把“读内存→修改→写回”作为不可分割的整体完成，执行期间不会被其他核心打断。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45720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典型场景：自旋锁 · 无锁队列 · 引用计数 · 多核状态同步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两种实现方式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通用组合 vs 单指令高效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5486400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 / SC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Load Linked / Store Conditional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31520" y="434340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一对指令配合地址监视机制，可组合出任意原子读改写操作。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17920" y="2834640"/>
            <a:ext cx="5486400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301752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 指令族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92240" y="356616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Atomic Memory 单指令原子操作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92240" y="434340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一条指令内完成取值、运算、写回，常见运算效率更高。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执行流程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 / SC 执行流程 (1/2)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第一步：读取并监视；第二步：寄存器内计算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5875">
            <a:solidFill>
              <a:srgbClr val="C1652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3127248"/>
            <a:ext cx="822960" cy="82296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127248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737360" y="297180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LL.W/D  rd, rj, offset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737360" y="3547872"/>
            <a:ext cx="9692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从地址 (rj)+offset 读取数据到 rd，同时启动“链接”监视该地址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57200" y="443484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5875">
            <a:solidFill>
              <a:srgbClr val="C1652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4727448"/>
            <a:ext cx="822960" cy="82296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727448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737360" y="457200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寄存器内计算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737360" y="5148072"/>
            <a:ext cx="9692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 rd 中的值执行所需运算，结果暂存于寄存器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执行流程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 / SC 执行流程 (2/2)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第三步：条件写回；第四步：失败重试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5875">
            <a:solidFill>
              <a:srgbClr val="C1652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3127248"/>
            <a:ext cx="822960" cy="82296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127248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737360" y="297180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SC.W/D  rd, rj, offset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737360" y="3547872"/>
            <a:ext cx="9692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尝试写回 (rj)+offset；未被修改则成功，rd=1；否则失败，rd=0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57200" y="443484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5875">
            <a:solidFill>
              <a:srgbClr val="C1652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4727448"/>
            <a:ext cx="822960" cy="82296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727448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737360" y="457200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检测结果，失败则重试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737360" y="5148072"/>
            <a:ext cx="9692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软件判断 rd 是否为 1；为 0 则跳回步骤 1，形成自旋循环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有效地址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偏移量 offset 的作用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 ll.w $r4, $r5, 0 为例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78892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 = (rj) + offset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rj（如 $r5）中存放基地址，offset 是有符号立即数偏移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43434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offset = 0：直接访问 rj 指向的地址本身，无需再偏移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48640" y="4892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若 rj 指向结构体，可用 offset 访问其中某个字段，如偏移 8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48640" y="5440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地址必须按访问宽度对齐（如 4 字节），否则触发不对齐异常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示例代码：原子加 1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基于 LL / SC 的自旋重试写法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11247120" cy="2423160"/>
          </a:xfrm>
          <a:prstGeom prst="roundRect">
            <a:avLst>
              <a:gd name="adj" fmla="val 3019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ll.w   $r4, $r5,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addi.w $r4, $r4,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sc.w   $r4, $r5,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beqz   $r4, retry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补充说明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代码要点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寄存器约定与内存序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8346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CN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</a:t>
            </a: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存放计数器地址（参数寄存器</a:t>
            </a: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），r4 为临时寄存器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57200" y="374904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7490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ll.w / sc.w 必须使用同一地址 (rj + offset)，用于判断期间是否被改动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57200" y="466344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6634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sc.w </a:t>
            </a:r>
            <a:r>
              <a:rPr lang="en-US" sz="2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成功后</a:t>
            </a: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r4=1（写回成功），</a:t>
            </a:r>
            <a:r>
              <a:rPr lang="en-US" sz="2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失败后</a:t>
            </a: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r4=0（需重试）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57200" y="557784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5778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循环结束后加 dbar 0，保证本次原子操作对其他核心全局可见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AM 原子操作指令族 (1/2)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格式：am_op.w/d rd, rk, rj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834640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amswap.w/d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114800" y="283464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交换：旧值→rd，rk 写入内存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4005072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05072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amadd.w/d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14800" y="4005072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加法：内存值 = 旧值 +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5175504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5175504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amand.w/d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114800" y="5175504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按位与：内存值 = 旧值 AND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AM 原子操作指令族 (2/2)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格式：am_op.w/d rd, rk, rj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834640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amxor.w/d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114800" y="283464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按位异或：内存值 = 旧值 XOR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4005072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05072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ammax.w/d[u]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14800" y="4005072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取最大：内存值 = max(旧值, rk)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5175504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5175504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ammin.w/d[u]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114800" y="5175504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取最小：内存值 = min(旧值, rk)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屏障变体 _db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每条 AM 指令均有对应的内存屏障版本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amadd_db.w  rd, rk, rj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在原子操作基础上附带内存屏障语义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保证操作结果对其他核心全局有序可见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适合跨核同步场景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822960"/>
            <a:ext cx="621792" cy="621792"/>
          </a:xfrm>
          <a:prstGeom prst="rect">
            <a:avLst/>
          </a:prstGeom>
          <a:solidFill>
            <a:srgbClr val="3B6EA5">
              <a:alpha val="6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03536" y="822960"/>
            <a:ext cx="621792" cy="621792"/>
          </a:xfrm>
          <a:prstGeom prst="rect">
            <a:avLst/>
          </a:prstGeom>
          <a:solidFill>
            <a:srgbClr val="2E8B70">
              <a:alpha val="6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71632" y="822960"/>
            <a:ext cx="621792" cy="621792"/>
          </a:xfrm>
          <a:prstGeom prst="rect">
            <a:avLst/>
          </a:prstGeom>
          <a:solidFill>
            <a:srgbClr val="3B6EA5">
              <a:alpha val="6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0" y="1591056"/>
            <a:ext cx="621792" cy="621792"/>
          </a:xfrm>
          <a:prstGeom prst="rect">
            <a:avLst/>
          </a:prstGeom>
          <a:solidFill>
            <a:srgbClr val="2E8B70">
              <a:alpha val="5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03536" y="1591056"/>
            <a:ext cx="621792" cy="621792"/>
          </a:xfrm>
          <a:prstGeom prst="rect">
            <a:avLst/>
          </a:prstGeom>
          <a:solidFill>
            <a:srgbClr val="3B6EA5">
              <a:alpha val="5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1632" y="1591056"/>
            <a:ext cx="621792" cy="621792"/>
          </a:xfrm>
          <a:prstGeom prst="rect">
            <a:avLst/>
          </a:prstGeom>
          <a:solidFill>
            <a:srgbClr val="2E8B70">
              <a:alpha val="5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0" y="2359152"/>
            <a:ext cx="621792" cy="621792"/>
          </a:xfrm>
          <a:prstGeom prst="rect">
            <a:avLst/>
          </a:prstGeom>
          <a:solidFill>
            <a:srgbClr val="3B6EA5">
              <a:alpha val="44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03536" y="2359152"/>
            <a:ext cx="621792" cy="621792"/>
          </a:xfrm>
          <a:prstGeom prst="rect">
            <a:avLst/>
          </a:prstGeom>
          <a:solidFill>
            <a:srgbClr val="2E8B70">
              <a:alpha val="44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2359152"/>
            <a:ext cx="621792" cy="621792"/>
          </a:xfrm>
          <a:prstGeom prst="rect">
            <a:avLst/>
          </a:prstGeom>
          <a:solidFill>
            <a:srgbClr val="3B6EA5">
              <a:alpha val="44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0" y="3127248"/>
            <a:ext cx="621792" cy="621792"/>
          </a:xfrm>
          <a:prstGeom prst="rect">
            <a:avLst/>
          </a:prstGeom>
          <a:solidFill>
            <a:srgbClr val="2E8B70">
              <a:alpha val="36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03536" y="3127248"/>
            <a:ext cx="621792" cy="621792"/>
          </a:xfrm>
          <a:prstGeom prst="rect">
            <a:avLst/>
          </a:prstGeom>
          <a:solidFill>
            <a:srgbClr val="3B6EA5">
              <a:alpha val="36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71632" y="3127248"/>
            <a:ext cx="621792" cy="621792"/>
          </a:xfrm>
          <a:prstGeom prst="rect">
            <a:avLst/>
          </a:prstGeom>
          <a:solidFill>
            <a:srgbClr val="2E8B70">
              <a:alpha val="36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0" y="3895344"/>
            <a:ext cx="621792" cy="621792"/>
          </a:xfrm>
          <a:prstGeom prst="rect">
            <a:avLst/>
          </a:prstGeom>
          <a:solidFill>
            <a:srgbClr val="3B6EA5">
              <a:alpha val="28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03536" y="3895344"/>
            <a:ext cx="621792" cy="621792"/>
          </a:xfrm>
          <a:prstGeom prst="rect">
            <a:avLst/>
          </a:prstGeom>
          <a:solidFill>
            <a:srgbClr val="2E8B70">
              <a:alpha val="28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71632" y="3895344"/>
            <a:ext cx="621792" cy="621792"/>
          </a:xfrm>
          <a:prstGeom prst="rect">
            <a:avLst/>
          </a:prstGeom>
          <a:solidFill>
            <a:srgbClr val="3B6EA5">
              <a:alpha val="28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73736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200" normalizeH="0" baseline="0" noProof="0" dirty="0">
                <a:ln>
                  <a:noFill/>
                </a:ln>
                <a:solidFill>
                  <a:srgbClr val="9FB3D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LOONGARCH · 原子操作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30352" y="22860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为什么 a = a + 1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30352" y="306324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需要原子操作？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48640" y="41148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两个线程并发执行同一条语句引出的竞态问题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问题场景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两个线程都要对共享变量 a 执行 a = a + 1，初始 a = 3，期望结果为 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331720"/>
            <a:ext cx="548640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7780">
            <a:solidFill>
              <a:srgbClr val="3B6E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331720"/>
            <a:ext cx="5486400" cy="594360"/>
          </a:xfrm>
          <a:prstGeom prst="roundRect">
            <a:avLst>
              <a:gd name="adj" fmla="val 13846"/>
            </a:avLst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33172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ld.w  r4,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822960" y="3794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 r5, r4,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822960" y="4480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 r5,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09360" y="2331720"/>
            <a:ext cx="548640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7780">
            <a:solidFill>
              <a:srgbClr val="2E8B7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2331720"/>
            <a:ext cx="5486400" cy="594360"/>
          </a:xfrm>
          <a:prstGeom prst="roundRect">
            <a:avLst>
              <a:gd name="adj" fmla="val 13846"/>
            </a:avLst>
          </a:prstGeom>
          <a:solidFill>
            <a:srgbClr val="2E8B70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33172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 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675120" y="31089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ld.w  r4,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675120" y="3794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 r5, r4,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675120" y="4480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 r5,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每个线程都需要 3 条指令才能完成一次“读—改—写”，指令之间可能被操作系统交替调度执行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76272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17627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情况一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顺序执行：结果正确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两线程指令没有交叉重叠，结果符合预期 a = 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240280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240280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965960" y="2240280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ld.w r4,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921240" y="2258568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921240" y="225856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825496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25496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825496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965960" y="2825496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r5,r4,1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921240" y="2843784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9921240" y="2843784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3410712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410712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410712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965960" y="3410712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r5,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9921240" y="3429000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9921240" y="3429000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7200" y="3995928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995928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995928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965960" y="3995928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ld.w r4,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9921240" y="4014216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9" name="Text 27"/>
          <p:cNvSpPr/>
          <p:nvPr/>
        </p:nvSpPr>
        <p:spPr>
          <a:xfrm>
            <a:off x="9921240" y="4014216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57200" y="4581144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581144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4581144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965960" y="4581144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r5,r4,1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9921240" y="4599432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35" name="Text 33"/>
          <p:cNvSpPr/>
          <p:nvPr/>
        </p:nvSpPr>
        <p:spPr>
          <a:xfrm>
            <a:off x="9921240" y="4599432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7200" y="5166360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" y="5166360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38" name="Text 36"/>
          <p:cNvSpPr/>
          <p:nvPr/>
        </p:nvSpPr>
        <p:spPr>
          <a:xfrm>
            <a:off x="685800" y="5166360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965960" y="5166360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r5,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9921240" y="5184648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41" name="Text 39"/>
          <p:cNvSpPr/>
          <p:nvPr/>
        </p:nvSpPr>
        <p:spPr>
          <a:xfrm>
            <a:off x="9921240" y="518464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76272" cy="566928"/>
          </a:xfrm>
          <a:prstGeom prst="roundRect">
            <a:avLst>
              <a:gd name="adj" fmla="val 50000"/>
            </a:avLst>
          </a:prstGeom>
          <a:solidFill>
            <a:srgbClr val="B34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17627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情况二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交叉执行：结果错误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两线程指令交叉重叠，最终 a = 4，丢失了一次更新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240280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240280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965960" y="2240280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ld.w r4,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921240" y="2258568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921240" y="225856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825496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25496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825496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965960" y="2825496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ld.w r4,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921240" y="2843784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9921240" y="2843784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3410712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410712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410712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965960" y="3410712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r5,r4,1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9921240" y="3429000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9921240" y="3429000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7200" y="3995928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995928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995928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965960" y="3995928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r5,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9921240" y="4014216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9" name="Text 27"/>
          <p:cNvSpPr/>
          <p:nvPr/>
        </p:nvSpPr>
        <p:spPr>
          <a:xfrm>
            <a:off x="9921240" y="4014216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57200" y="4581144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581144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4581144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965960" y="4581144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r5,r4,1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9921240" y="4599432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35" name="Text 33"/>
          <p:cNvSpPr/>
          <p:nvPr/>
        </p:nvSpPr>
        <p:spPr>
          <a:xfrm>
            <a:off x="9921240" y="4599432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7200" y="5166360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FBEAE4"/>
          </a:solidFill>
          <a:ln w="15875">
            <a:solidFill>
              <a:srgbClr val="B345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" y="5166360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B3452C"/>
          </a:solidFill>
          <a:ln/>
        </p:spPr>
      </p:sp>
      <p:sp>
        <p:nvSpPr>
          <p:cNvPr id="38" name="Text 36"/>
          <p:cNvSpPr/>
          <p:nvPr/>
        </p:nvSpPr>
        <p:spPr>
          <a:xfrm>
            <a:off x="685800" y="5166360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965960" y="5166360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r5,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9921240" y="5184648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B3452C"/>
          </a:solidFill>
          <a:ln/>
        </p:spPr>
      </p:sp>
      <p:sp>
        <p:nvSpPr>
          <p:cNvPr id="41" name="Text 39"/>
          <p:cNvSpPr/>
          <p:nvPr/>
        </p:nvSpPr>
        <p:spPr>
          <a:xfrm>
            <a:off x="9921240" y="518464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457200" y="5888736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⚠ 线程 1 用旧值写回，覆盖了线程 2 的更新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问题根源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普通的 ld / addi / st 序列不具备原子性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9456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“读—改—写”由 3 条独立指令完成，执行期间可能被其他线程打断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3227832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227832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 1 读到旧值后，若线程 2 抢先完成了读改写，线程 1 并不知情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4261104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261104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 1 仍基于旧值计算并写回，导致线程 2 的更新被覆盖（丢失更新）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5294376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294376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这就是所谓的“竞态条件”（Race Condition），常见问题包括计数器少加、余额算错等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6803136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680313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LL-SC 方案 (1/2)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线程 2 顺利完成读改写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ll.w 读取并监视，sc.w 成功写回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240280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240280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965960" y="2240280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L: ll.w r4, a（监视启动）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921240" y="2258568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921240" y="225856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825496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25496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825496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965960" y="2825496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L: ll.w r4, a（监视启动）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921240" y="2843784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9921240" y="2843784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3410712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410712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410712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965960" y="3410712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r5,r4,1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9921240" y="3429000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9921240" y="3429000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7200" y="3995928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995928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995928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965960" y="3995928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sc.w r5, a → 成功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9921240" y="4014216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9" name="Text 27"/>
          <p:cNvSpPr/>
          <p:nvPr/>
        </p:nvSpPr>
        <p:spPr>
          <a:xfrm>
            <a:off x="9921240" y="4014216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457200" y="4718304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 2 sc.w 成功，线程 1 的监视标记随之失效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6803136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680313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LL-SC 方案 (2/2)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线程 1 检测冲突并重试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sc.w 失败会让线程 1 主动放弃这次写回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240280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240280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965960" y="2240280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r5,r4,1（仍用旧值 3）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921240" y="2258568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921240" y="225856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825496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25496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825496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965960" y="2825496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sc.w r5, a → 失败（监视已失效）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921240" y="2843784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9921240" y="2843784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3410712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410712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410712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965960" y="3410712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beqz r5, L → 跳转，重新执行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9921240" y="3429000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9921240" y="3429000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57200" y="413308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 1 重新读到最新值后，下一轮 sc.w 才会成功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总结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LLbit 监视机制如何避免丢失更新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9456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ll.w 读取数据的同时，对该内存地址启动“链接监视”（LLbit=1）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3227832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227832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只要该地址在期间被任意处理器核写入，LLbit 就会被清零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4261104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261104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sc.w 写回前检查 LLbit：为 1 才真正写回并置 rd=1；为 0 则放弃并置 rd=0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5294376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294376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配合 beqz 重试，保证“读—改—写”整体不会被静默覆盖，天然避免丢失更新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设计动机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保证访存 / 取指的执行顺序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6B4C9A">
              <a:alpha val="8000"/>
            </a:srgbClr>
          </a:solidFill>
          <a:ln w="15875">
            <a:solidFill>
              <a:srgbClr val="6B4C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788920"/>
            <a:ext cx="106070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多核环境下，处理器可能对访存 / 取指令进行乱序执行；栅障指令用于在指定位置强制排序。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443484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5F7FB"/>
          </a:solidFill>
          <a:ln w="15875">
            <a:solidFill>
              <a:srgbClr val="6B4C9A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777240" y="4434840"/>
            <a:ext cx="106070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LoongArch 提供两条栅障指令：DBAR（数据栅障）与 IBAR（指令栅障）。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DBAR 数据栅障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Data Barrier · 保证 load/store 之间的顺序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dbar  hint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hint 立即数指示同步对象与同步程度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之前所有 load/store 执行完毕后，dbar 才开始执行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dbar 执行完成后，后续 load/store 才能开始执行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IBAR 指令栅障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Barrier · 保证取指令的顺序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ibar  hint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用于保证 ibar 之前的指令修改对后续取指可见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典型场景：自修改代码、JIT 即时编译生成的代码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与 DBAR 配合，共同维护弱一致性内存模型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822960"/>
            <a:ext cx="621792" cy="621792"/>
          </a:xfrm>
          <a:prstGeom prst="rect">
            <a:avLst/>
          </a:prstGeom>
          <a:solidFill>
            <a:srgbClr val="3B6EA5">
              <a:alpha val="6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03536" y="822960"/>
            <a:ext cx="621792" cy="621792"/>
          </a:xfrm>
          <a:prstGeom prst="rect">
            <a:avLst/>
          </a:prstGeom>
          <a:solidFill>
            <a:srgbClr val="2E8B70">
              <a:alpha val="6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71632" y="822960"/>
            <a:ext cx="621792" cy="621792"/>
          </a:xfrm>
          <a:prstGeom prst="rect">
            <a:avLst/>
          </a:prstGeom>
          <a:solidFill>
            <a:srgbClr val="3B6EA5">
              <a:alpha val="6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0" y="1591056"/>
            <a:ext cx="621792" cy="621792"/>
          </a:xfrm>
          <a:prstGeom prst="rect">
            <a:avLst/>
          </a:prstGeom>
          <a:solidFill>
            <a:srgbClr val="2E8B70">
              <a:alpha val="5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03536" y="1591056"/>
            <a:ext cx="621792" cy="621792"/>
          </a:xfrm>
          <a:prstGeom prst="rect">
            <a:avLst/>
          </a:prstGeom>
          <a:solidFill>
            <a:srgbClr val="3B6EA5">
              <a:alpha val="5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1632" y="1591056"/>
            <a:ext cx="621792" cy="621792"/>
          </a:xfrm>
          <a:prstGeom prst="rect">
            <a:avLst/>
          </a:prstGeom>
          <a:solidFill>
            <a:srgbClr val="2E8B70">
              <a:alpha val="5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0" y="2359152"/>
            <a:ext cx="621792" cy="621792"/>
          </a:xfrm>
          <a:prstGeom prst="rect">
            <a:avLst/>
          </a:prstGeom>
          <a:solidFill>
            <a:srgbClr val="3B6EA5">
              <a:alpha val="44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03536" y="2359152"/>
            <a:ext cx="621792" cy="621792"/>
          </a:xfrm>
          <a:prstGeom prst="rect">
            <a:avLst/>
          </a:prstGeom>
          <a:solidFill>
            <a:srgbClr val="2E8B70">
              <a:alpha val="44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2359152"/>
            <a:ext cx="621792" cy="621792"/>
          </a:xfrm>
          <a:prstGeom prst="rect">
            <a:avLst/>
          </a:prstGeom>
          <a:solidFill>
            <a:srgbClr val="3B6EA5">
              <a:alpha val="44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0" y="3127248"/>
            <a:ext cx="621792" cy="621792"/>
          </a:xfrm>
          <a:prstGeom prst="rect">
            <a:avLst/>
          </a:prstGeom>
          <a:solidFill>
            <a:srgbClr val="2E8B70">
              <a:alpha val="36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03536" y="3127248"/>
            <a:ext cx="621792" cy="621792"/>
          </a:xfrm>
          <a:prstGeom prst="rect">
            <a:avLst/>
          </a:prstGeom>
          <a:solidFill>
            <a:srgbClr val="3B6EA5">
              <a:alpha val="36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71632" y="3127248"/>
            <a:ext cx="621792" cy="621792"/>
          </a:xfrm>
          <a:prstGeom prst="rect">
            <a:avLst/>
          </a:prstGeom>
          <a:solidFill>
            <a:srgbClr val="2E8B70">
              <a:alpha val="36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0" y="3895344"/>
            <a:ext cx="621792" cy="621792"/>
          </a:xfrm>
          <a:prstGeom prst="rect">
            <a:avLst/>
          </a:prstGeom>
          <a:solidFill>
            <a:srgbClr val="3B6EA5">
              <a:alpha val="28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03536" y="3895344"/>
            <a:ext cx="621792" cy="621792"/>
          </a:xfrm>
          <a:prstGeom prst="rect">
            <a:avLst/>
          </a:prstGeom>
          <a:solidFill>
            <a:srgbClr val="2E8B70">
              <a:alpha val="28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71632" y="3895344"/>
            <a:ext cx="621792" cy="621792"/>
          </a:xfrm>
          <a:prstGeom prst="rect">
            <a:avLst/>
          </a:prstGeom>
          <a:solidFill>
            <a:srgbClr val="3B6EA5">
              <a:alpha val="28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8288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200" normalizeH="0" baseline="0" noProof="0" dirty="0">
                <a:ln>
                  <a:noFill/>
                </a:ln>
                <a:solidFill>
                  <a:srgbClr val="9FB3D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LOONGARCH · 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30352" y="237744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货架与提示牌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30352" y="320040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CFE0F5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一个关于 DBAR 的生活化例子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48640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FB3D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为什么“写数据”和“挂标记”的顺序不能被打乱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一个仓库取货的场景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仓库员负责摆货，取货人负责取货，两人靠一块提示牌沟通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54864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9050">
            <a:solidFill>
              <a:srgbClr val="3B6E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286000"/>
            <a:ext cx="5486400" cy="640080"/>
          </a:xfrm>
          <a:prstGeom prst="roundRect">
            <a:avLst>
              <a:gd name="adj" fmla="val 14286"/>
            </a:avLst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2860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仓库员（写进程）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① 把货物摆上货架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822960" y="384048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② 翻转“已就绪”提示牌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217920" y="2286000"/>
            <a:ext cx="54864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9050">
            <a:solidFill>
              <a:srgbClr val="2E8B7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2286000"/>
            <a:ext cx="5486400" cy="640080"/>
          </a:xfrm>
          <a:prstGeom prst="roundRect">
            <a:avLst>
              <a:gd name="adj" fmla="val 14286"/>
            </a:avLst>
          </a:prstGeom>
          <a:solidFill>
            <a:srgbClr val="2E8B70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2860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取货人（读进程）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583680" y="310896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① 先看提示牌有没有翻转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583680" y="384048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② 翻转了，才去货架取货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5029200"/>
            <a:ext cx="11247120" cy="1005840"/>
          </a:xfrm>
          <a:prstGeom prst="roundRect">
            <a:avLst>
              <a:gd name="adj" fmla="val 8182"/>
            </a:avLst>
          </a:prstGeom>
          <a:solidFill>
            <a:srgbClr val="B3452C">
              <a:alpha val="10000"/>
            </a:srgbClr>
          </a:solidFill>
          <a:ln w="15875">
            <a:solidFill>
              <a:srgbClr val="B345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502920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隐患：如果两人的两个动作被“打乱顺序”，取货人可能扑空，或者拿到还没更新的旧货！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对应到代码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货架 = data，提示牌 = tag，两块共享内存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5486400" cy="1920240"/>
          </a:xfrm>
          <a:prstGeom prst="roundRect">
            <a:avLst>
              <a:gd name="adj" fmla="val 3810"/>
            </a:avLst>
          </a:prstGeom>
          <a:solidFill>
            <a:srgbClr val="121D33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42316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写进程（仓库员）: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st.d  val,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st.d  1,   tag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217920" y="2286000"/>
            <a:ext cx="5513832" cy="1920240"/>
          </a:xfrm>
          <a:prstGeom prst="roundRect">
            <a:avLst>
              <a:gd name="adj" fmla="val 3810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6537960" y="2423160"/>
            <a:ext cx="48737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读进程（取货人）: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ld.d  reg, tag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beqz  reg, 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ld.d  val,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写进程：第一行摆货，第二行翻牌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500176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读进程：先看牌，翻了才去取货（第三行）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5623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data 和 tag 是两块普通共享内存，之间本身没有任何硬件约束的先后关系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76272" cy="566928"/>
          </a:xfrm>
          <a:prstGeom prst="roundRect">
            <a:avLst>
              <a:gd name="adj" fmla="val 50000"/>
            </a:avLst>
          </a:prstGeom>
          <a:solidFill>
            <a:srgbClr val="B34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17627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隐患一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仓库员的动作被“乱序”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两条没有数据相关的写指令，处理器可能颠倒执行顺序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1247120" cy="1280160"/>
          </a:xfrm>
          <a:prstGeom prst="roundRect">
            <a:avLst>
              <a:gd name="adj" fmla="val 5714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46888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st.d  1,   tag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st.d  val,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3703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上面这条“翻牌”被提前执行了，下面这条“摆货”还没完成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4251960"/>
            <a:ext cx="11247120" cy="1234440"/>
          </a:xfrm>
          <a:prstGeom prst="roundRect">
            <a:avLst>
              <a:gd name="adj" fmla="val 6667"/>
            </a:avLst>
          </a:prstGeom>
          <a:solidFill>
            <a:srgbClr val="B3452C">
              <a:alpha val="10000"/>
            </a:srgbClr>
          </a:solidFill>
          <a:ln w="15875">
            <a:solidFill>
              <a:srgbClr val="B345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251960"/>
            <a:ext cx="10607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取货人看到牌子已经翻转，赶紧跑去货架，结果看到的还是旧货，甚至空货架！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76272" cy="566928"/>
          </a:xfrm>
          <a:prstGeom prst="roundRect">
            <a:avLst>
              <a:gd name="adj" fmla="val 50000"/>
            </a:avLst>
          </a:prstGeom>
          <a:solidFill>
            <a:srgbClr val="B34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17627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隐患二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取货人的动作也可能被“乱序”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提前偷看货架，不等提示牌翻转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1247120" cy="1280160"/>
          </a:xfrm>
          <a:prstGeom prst="roundRect">
            <a:avLst>
              <a:gd name="adj" fmla="val 5714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46888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val,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reg, tag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3703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上面这条“看货”被提前执行了，下面这条“看牌”还没做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4251960"/>
            <a:ext cx="11247120" cy="1234440"/>
          </a:xfrm>
          <a:prstGeom prst="roundRect">
            <a:avLst>
              <a:gd name="adj" fmla="val 6667"/>
            </a:avLst>
          </a:prstGeom>
          <a:solidFill>
            <a:srgbClr val="B3452C">
              <a:alpha val="10000"/>
            </a:srgbClr>
          </a:solidFill>
          <a:ln w="15875">
            <a:solidFill>
              <a:srgbClr val="B345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251960"/>
            <a:ext cx="10607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即使货最终摆好了，取货人偷看到的也可能是还没更新的旧数据！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插入 dbar 0：立规矩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两人的两个动作之间都插入一道“栅栏”，强制先后顺序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5486400" cy="2651760"/>
          </a:xfrm>
          <a:prstGeom prst="roundRect">
            <a:avLst>
              <a:gd name="adj" fmla="val 2759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423160"/>
            <a:ext cx="48463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写进程: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st.d  val,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dbar 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st.d  1,   tag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513832" cy="2651760"/>
          </a:xfrm>
          <a:prstGeom prst="roundRect">
            <a:avLst>
              <a:gd name="adj" fmla="val 2759"/>
            </a:avLst>
          </a:prstGeom>
          <a:solidFill>
            <a:srgbClr val="121D33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2423160"/>
            <a:ext cx="487375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读进程: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ld.d  reg, tag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dbar 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beqz  reg, 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ld.d  val,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017520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017520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加入栅障后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顺序被严格锁定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栅栏前的动作必须先完成，栅栏后的动作才能开始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3602736" cy="822960"/>
          </a:xfrm>
          <a:prstGeom prst="roundRect">
            <a:avLst>
              <a:gd name="adj" fmla="val 10000"/>
            </a:avLst>
          </a:prstGeom>
          <a:solidFill>
            <a:srgbClr val="3B6EA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37744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① 仓库员摆货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078224" y="2788920"/>
            <a:ext cx="146304" cy="0"/>
          </a:xfrm>
          <a:prstGeom prst="line">
            <a:avLst/>
          </a:prstGeom>
          <a:noFill/>
          <a:ln w="25400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279392" y="2377440"/>
            <a:ext cx="3602736" cy="822960"/>
          </a:xfrm>
          <a:prstGeom prst="roundRect">
            <a:avLst>
              <a:gd name="adj" fmla="val 10000"/>
            </a:avLst>
          </a:prstGeom>
          <a:solidFill>
            <a:srgbClr val="6B4C9A"/>
          </a:solidFill>
          <a:ln/>
        </p:spPr>
      </p:sp>
      <p:sp>
        <p:nvSpPr>
          <p:cNvPr id="10" name="Text 8"/>
          <p:cNvSpPr/>
          <p:nvPr/>
        </p:nvSpPr>
        <p:spPr>
          <a:xfrm>
            <a:off x="4279392" y="237744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栅栏（dbar 0）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900416" y="2788920"/>
            <a:ext cx="146304" cy="0"/>
          </a:xfrm>
          <a:prstGeom prst="line">
            <a:avLst/>
          </a:prstGeom>
          <a:noFill/>
          <a:ln w="25400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101584" y="2377440"/>
            <a:ext cx="3602736" cy="822960"/>
          </a:xfrm>
          <a:prstGeom prst="roundRect">
            <a:avLst>
              <a:gd name="adj" fmla="val 10000"/>
            </a:avLst>
          </a:prstGeom>
          <a:solidFill>
            <a:srgbClr val="3B6EA5"/>
          </a:solidFill>
          <a:ln/>
        </p:spPr>
      </p:sp>
      <p:sp>
        <p:nvSpPr>
          <p:cNvPr id="13" name="Text 11"/>
          <p:cNvSpPr/>
          <p:nvPr/>
        </p:nvSpPr>
        <p:spPr>
          <a:xfrm>
            <a:off x="8101584" y="237744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② 仓库员翻牌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3520440"/>
            <a:ext cx="3602736" cy="822960"/>
          </a:xfrm>
          <a:prstGeom prst="roundRect">
            <a:avLst>
              <a:gd name="adj" fmla="val 10000"/>
            </a:avLst>
          </a:prstGeom>
          <a:solidFill>
            <a:srgbClr val="2E8B7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52044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① 取货人看牌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078224" y="3931920"/>
            <a:ext cx="146304" cy="0"/>
          </a:xfrm>
          <a:prstGeom prst="line">
            <a:avLst/>
          </a:prstGeom>
          <a:noFill/>
          <a:ln w="25400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279392" y="3520440"/>
            <a:ext cx="3602736" cy="822960"/>
          </a:xfrm>
          <a:prstGeom prst="roundRect">
            <a:avLst>
              <a:gd name="adj" fmla="val 10000"/>
            </a:avLst>
          </a:prstGeom>
          <a:solidFill>
            <a:srgbClr val="6B4C9A"/>
          </a:solidFill>
          <a:ln/>
        </p:spPr>
      </p:sp>
      <p:sp>
        <p:nvSpPr>
          <p:cNvPr id="18" name="Text 16"/>
          <p:cNvSpPr/>
          <p:nvPr/>
        </p:nvSpPr>
        <p:spPr>
          <a:xfrm>
            <a:off x="4279392" y="352044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栅栏（dbar 0）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900416" y="3931920"/>
            <a:ext cx="146304" cy="0"/>
          </a:xfrm>
          <a:prstGeom prst="line">
            <a:avLst/>
          </a:prstGeom>
          <a:noFill/>
          <a:ln w="25400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101584" y="3520440"/>
            <a:ext cx="3602736" cy="822960"/>
          </a:xfrm>
          <a:prstGeom prst="roundRect">
            <a:avLst>
              <a:gd name="adj" fmla="val 10000"/>
            </a:avLst>
          </a:prstGeom>
          <a:solidFill>
            <a:srgbClr val="2E8B70"/>
          </a:solidFill>
          <a:ln/>
        </p:spPr>
      </p:sp>
      <p:sp>
        <p:nvSpPr>
          <p:cNvPr id="21" name="Text 19"/>
          <p:cNvSpPr/>
          <p:nvPr/>
        </p:nvSpPr>
        <p:spPr>
          <a:xfrm>
            <a:off x="8101584" y="352044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② 取货人取货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57200" y="47548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只要牌子确实翻转在货摆好之后，取货人看到翻转的牌子时，货架上就一定是新货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补充：栅障的类型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DBAR 管“数据”，IBAR 管“指令”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24028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24028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读栅障 LoadLoad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4754880" y="2240280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只管“先读完，才能继续读”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315468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15468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写栅障 StoreStore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754880" y="3154680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只管“先写完，才能继续写”（本例用的就是它）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406908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06908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完全栅障 AnyAny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754880" y="4069080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前后所有访存都要按顺序，龙芯目前默认 hint=0 即此类型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8182"/>
            </a:avLst>
          </a:prstGeom>
          <a:solidFill>
            <a:srgbClr val="F5F7FB"/>
          </a:solidFill>
          <a:ln w="15875">
            <a:solidFill>
              <a:srgbClr val="6B4C9A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777240" y="507492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IBAR 好比“装修还没完工，先别让顾客进来”：代码被修改后，用 ibar 确保处理器取指令时看到的是修改后的最新指令。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B59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概述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实现程序的条件与无条件跳转，分为三组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5875">
            <a:solidFill>
              <a:srgbClr val="B595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83464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条件分支： beq / bne / blt / bge / bltu / bgeu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388620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5875">
            <a:solidFill>
              <a:srgbClr val="B595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88620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无条件跳转： b（跳转）、 bl（跳转并链接）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493776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5875">
            <a:solidFill>
              <a:srgbClr val="B595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93776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寄存器跳转： jirl（常用于返回与间接调用）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B59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条件分支指令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beq/bne/blt/bge/bltu/bgeu · beqz/bnez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beq  rj, rd, offs16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比较 rj 与 rd，满足条件则跳转到 PC + offs16×4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beqz/bnez：与零比较，只需一个寄存器操作数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不满足条件则顺序执行下一条指令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B59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无条件跳转与链接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 · bl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  offs26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b：无条件跳转到 PC + offs26×4，不保存返回地址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bl：跳转的同时把返回地址存入 r1（ra）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典型用途：函数调用（bl）与普通跳转（b）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B59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寄存器跳转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jirl · 间接跳转与函数返回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jirl  rd, rj, offs16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跳转目标 = rj + offs16×4，并把返回地址存入 rd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rd 为 r0、offs16 为 0 时，即实现无链接的间接跳转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典型用途：函数返回（jirl r0, r1, 0）、间接调用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55648" cy="56692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755648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总结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五类指令对比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地址检查 · 原子性 · 典型场景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3B6E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3B6EA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检查：无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原子：否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48640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场景：读写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735885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2E8B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35885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2E8B70"/>
          </a:solidFill>
          <a:ln/>
        </p:spPr>
      </p:sp>
      <p:sp>
        <p:nvSpPr>
          <p:cNvPr id="14" name="Text 12"/>
          <p:cNvSpPr/>
          <p:nvPr/>
        </p:nvSpPr>
        <p:spPr>
          <a:xfrm>
            <a:off x="2735885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827325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检查：有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827325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原子：否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827325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场景：安全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014570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C1652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14570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C1652F"/>
          </a:solidFill>
          <a:ln/>
        </p:spPr>
      </p:sp>
      <p:sp>
        <p:nvSpPr>
          <p:cNvPr id="20" name="Text 18"/>
          <p:cNvSpPr/>
          <p:nvPr/>
        </p:nvSpPr>
        <p:spPr>
          <a:xfrm>
            <a:off x="5014570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106010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检查：无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106010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原子：是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106010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场景：同步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293254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6B4C9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93254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6B4C9A"/>
          </a:solidFill>
          <a:ln/>
        </p:spPr>
      </p:sp>
      <p:sp>
        <p:nvSpPr>
          <p:cNvPr id="26" name="Text 24"/>
          <p:cNvSpPr/>
          <p:nvPr/>
        </p:nvSpPr>
        <p:spPr>
          <a:xfrm>
            <a:off x="7293254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384694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检查：无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384694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原子：—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384694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场景：顺序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9571939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B595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571939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B5952C"/>
          </a:solidFill>
          <a:ln/>
        </p:spPr>
      </p:sp>
      <p:sp>
        <p:nvSpPr>
          <p:cNvPr id="32" name="Text 30"/>
          <p:cNvSpPr/>
          <p:nvPr/>
        </p:nvSpPr>
        <p:spPr>
          <a:xfrm>
            <a:off x="9571939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663379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检查：无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663379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原子：—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663379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场景：跳转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90655690-A080-E752-AE53-0C656AB1B79A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2926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第 4 次课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回看 clear_bss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6583680" cy="4754880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164592"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AFBFD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1: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AFBFD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 beq    $t0, $t1, 2f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AFBFD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 st.b   $zero, $t0, 0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AFBFD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 addi.d $t0, $t0, 1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AFBFD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 b      1b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AFBFD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2: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508760"/>
            <a:ext cx="438912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$t0 是游标地址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每次 st.b 写内存一字节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addi.d 让地址 +1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扫过整个 .bss 区间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F0A033E-C167-15AE-8C48-E848FABF9A7E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41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7E631814-F51B-CCB6-E29E-AD92D0208D0B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2926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第 4 次课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UART：设备也是地址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155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*(volatile char*)UART0_BASE = ch;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72768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57200" y="1755648"/>
            <a:ext cx="6583680" cy="4754880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164592"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AFBFD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# $t0 = UART base, $a0 = ch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AFBFD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st.b  $a0, $t0,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847088"/>
            <a:ext cx="438912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与写普通内存同类指令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写入可启动发送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C 里用 volatile 防优化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第 1 次课 Hello 的本质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C49C049-C6F9-942B-0720-EB9D1339E05F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42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5FADCD6E-974F-36A3-62BC-783430541285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2926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第 4 次课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对齐（课堂点到为止）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多字节访问通常期望按尺寸对齐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未对齐可能更慢或触发异常（平台相关）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链接脚本 ALIGN(4K) 是更大粒度布局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栈帧里常用 $sp + offset 访问局部变量（第6次课）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5B11AD5-F04F-D040-45FB-896941210002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43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822960"/>
            <a:ext cx="621792" cy="621792"/>
          </a:xfrm>
          <a:prstGeom prst="rect">
            <a:avLst/>
          </a:prstGeom>
          <a:solidFill>
            <a:srgbClr val="3B6EA5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03536" y="822960"/>
            <a:ext cx="621792" cy="621792"/>
          </a:xfrm>
          <a:prstGeom prst="rect">
            <a:avLst/>
          </a:prstGeom>
          <a:solidFill>
            <a:srgbClr val="2E8B70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71632" y="822960"/>
            <a:ext cx="621792" cy="621792"/>
          </a:xfrm>
          <a:prstGeom prst="rect">
            <a:avLst/>
          </a:prstGeom>
          <a:solidFill>
            <a:srgbClr val="C1652F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0" y="1591056"/>
            <a:ext cx="621792" cy="621792"/>
          </a:xfrm>
          <a:prstGeom prst="rect">
            <a:avLst/>
          </a:prstGeom>
          <a:solidFill>
            <a:srgbClr val="2E8B70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03536" y="1591056"/>
            <a:ext cx="621792" cy="621792"/>
          </a:xfrm>
          <a:prstGeom prst="rect">
            <a:avLst/>
          </a:prstGeom>
          <a:solidFill>
            <a:srgbClr val="C1652F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1632" y="1591056"/>
            <a:ext cx="621792" cy="621792"/>
          </a:xfrm>
          <a:prstGeom prst="rect">
            <a:avLst/>
          </a:prstGeom>
          <a:solidFill>
            <a:srgbClr val="6B4C9A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0" y="2359152"/>
            <a:ext cx="621792" cy="621792"/>
          </a:xfrm>
          <a:prstGeom prst="rect">
            <a:avLst/>
          </a:prstGeom>
          <a:solidFill>
            <a:srgbClr val="C1652F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03536" y="2359152"/>
            <a:ext cx="621792" cy="621792"/>
          </a:xfrm>
          <a:prstGeom prst="rect">
            <a:avLst/>
          </a:prstGeom>
          <a:solidFill>
            <a:srgbClr val="6B4C9A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2359152"/>
            <a:ext cx="621792" cy="621792"/>
          </a:xfrm>
          <a:prstGeom prst="rect">
            <a:avLst/>
          </a:prstGeom>
          <a:solidFill>
            <a:srgbClr val="B5952C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0" y="3127248"/>
            <a:ext cx="621792" cy="621792"/>
          </a:xfrm>
          <a:prstGeom prst="rect">
            <a:avLst/>
          </a:prstGeom>
          <a:solidFill>
            <a:srgbClr val="6B4C9A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03536" y="3127248"/>
            <a:ext cx="621792" cy="621792"/>
          </a:xfrm>
          <a:prstGeom prst="rect">
            <a:avLst/>
          </a:prstGeom>
          <a:solidFill>
            <a:srgbClr val="B5952C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71632" y="3127248"/>
            <a:ext cx="621792" cy="621792"/>
          </a:xfrm>
          <a:prstGeom prst="rect">
            <a:avLst/>
          </a:prstGeom>
          <a:solidFill>
            <a:srgbClr val="3B6EA5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0" y="3895344"/>
            <a:ext cx="621792" cy="621792"/>
          </a:xfrm>
          <a:prstGeom prst="rect">
            <a:avLst/>
          </a:prstGeom>
          <a:solidFill>
            <a:srgbClr val="B5952C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03536" y="3895344"/>
            <a:ext cx="621792" cy="621792"/>
          </a:xfrm>
          <a:prstGeom prst="rect">
            <a:avLst/>
          </a:prstGeom>
          <a:solidFill>
            <a:srgbClr val="3B6EA5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71632" y="3895344"/>
            <a:ext cx="621792" cy="621792"/>
          </a:xfrm>
          <a:prstGeom prst="rect">
            <a:avLst/>
          </a:prstGeom>
          <a:solidFill>
            <a:srgbClr val="2E8B70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5544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300" normalizeH="0" baseline="0" noProof="0" dirty="0">
                <a:ln>
                  <a:noFill/>
                </a:ln>
                <a:solidFill>
                  <a:srgbClr val="9FB3D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LOONGARCH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30352" y="2103120"/>
            <a:ext cx="8503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浮点数指令集</a:t>
            </a: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48640" y="329184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运算 · 比较 · 转换 · 传送 · 分支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3B6EA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178808"/>
            <a:ext cx="164592" cy="164592"/>
          </a:xfrm>
          <a:prstGeom prst="ellipse">
            <a:avLst/>
          </a:prstGeom>
          <a:solidFill>
            <a:srgbClr val="3B6EA5"/>
          </a:solidFill>
          <a:ln/>
        </p:spPr>
      </p:sp>
      <p:sp>
        <p:nvSpPr>
          <p:cNvPr id="22" name="Text 20"/>
          <p:cNvSpPr/>
          <p:nvPr/>
        </p:nvSpPr>
        <p:spPr>
          <a:xfrm>
            <a:off x="1051560" y="397764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运算指令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456432" y="397764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2E8B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75888" y="4178808"/>
            <a:ext cx="164592" cy="164592"/>
          </a:xfrm>
          <a:prstGeom prst="ellipse">
            <a:avLst/>
          </a:prstGeom>
          <a:solidFill>
            <a:srgbClr val="2E8B70"/>
          </a:solidFill>
          <a:ln/>
        </p:spPr>
      </p:sp>
      <p:sp>
        <p:nvSpPr>
          <p:cNvPr id="25" name="Text 23"/>
          <p:cNvSpPr/>
          <p:nvPr/>
        </p:nvSpPr>
        <p:spPr>
          <a:xfrm>
            <a:off x="3959352" y="397764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64224" y="397764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C1652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0" y="4178808"/>
            <a:ext cx="164592" cy="164592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28" name="Text 26"/>
          <p:cNvSpPr/>
          <p:nvPr/>
        </p:nvSpPr>
        <p:spPr>
          <a:xfrm>
            <a:off x="6867144" y="397764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转换指令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48640" y="4681728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6B4C9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8096" y="4882896"/>
            <a:ext cx="164592" cy="164592"/>
          </a:xfrm>
          <a:prstGeom prst="ellipse">
            <a:avLst/>
          </a:prstGeom>
          <a:solidFill>
            <a:srgbClr val="6B4C9A"/>
          </a:solidFill>
          <a:ln/>
        </p:spPr>
      </p:sp>
      <p:sp>
        <p:nvSpPr>
          <p:cNvPr id="31" name="Text 29"/>
          <p:cNvSpPr/>
          <p:nvPr/>
        </p:nvSpPr>
        <p:spPr>
          <a:xfrm>
            <a:off x="1051560" y="4681728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传送指令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3456432" y="4681728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B595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75888" y="4882896"/>
            <a:ext cx="164592" cy="164592"/>
          </a:xfrm>
          <a:prstGeom prst="ellipse">
            <a:avLst/>
          </a:prstGeom>
          <a:solidFill>
            <a:srgbClr val="B5952C"/>
          </a:solidFill>
          <a:ln/>
        </p:spPr>
      </p:sp>
      <p:sp>
        <p:nvSpPr>
          <p:cNvPr id="34" name="Text 32"/>
          <p:cNvSpPr/>
          <p:nvPr/>
        </p:nvSpPr>
        <p:spPr>
          <a:xfrm>
            <a:off x="3959352" y="4681728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分支指令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指令总览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704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浮点数指令按用途分为五类，均使用 32 个浮点寄存器 fr0～fr31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788920"/>
            <a:ext cx="731520" cy="731520"/>
          </a:xfrm>
          <a:prstGeom prst="ellipse">
            <a:avLst/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788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554480" y="251460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运算指令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554480" y="315468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四则运算、开方、融合乘加等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279392" y="228600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35424" y="2788920"/>
            <a:ext cx="731520" cy="731520"/>
          </a:xfrm>
          <a:prstGeom prst="ellipse">
            <a:avLst/>
          </a:prstGeom>
          <a:solidFill>
            <a:srgbClr val="2E8B70"/>
          </a:solidFill>
          <a:ln/>
        </p:spPr>
      </p:sp>
      <p:sp>
        <p:nvSpPr>
          <p:cNvPr id="11" name="Text 9"/>
          <p:cNvSpPr/>
          <p:nvPr/>
        </p:nvSpPr>
        <p:spPr>
          <a:xfrm>
            <a:off x="4535424" y="2788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376672" y="251460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376672" y="315468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比较结果写入 fcc 条件标志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101584" y="228600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7616" y="2788920"/>
            <a:ext cx="731520" cy="73152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357616" y="2788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198864" y="251460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转换指令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198864" y="315468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浮点与整数、单双精度互转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2368296" y="420624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624328" y="4709160"/>
            <a:ext cx="731520" cy="731520"/>
          </a:xfrm>
          <a:prstGeom prst="ellipse">
            <a:avLst/>
          </a:prstGeom>
          <a:solidFill>
            <a:srgbClr val="6B4C9A"/>
          </a:solidFill>
          <a:ln/>
        </p:spPr>
      </p:sp>
      <p:sp>
        <p:nvSpPr>
          <p:cNvPr id="21" name="Text 19"/>
          <p:cNvSpPr/>
          <p:nvPr/>
        </p:nvSpPr>
        <p:spPr>
          <a:xfrm>
            <a:off x="2624328" y="47091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465576" y="443484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传送/访存指令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465576" y="507492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寄存器搬运与内存读写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190488" y="420624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4709160"/>
            <a:ext cx="731520" cy="731520"/>
          </a:xfrm>
          <a:prstGeom prst="ellipse">
            <a:avLst/>
          </a:prstGeom>
          <a:solidFill>
            <a:srgbClr val="B5952C"/>
          </a:solidFill>
          <a:ln/>
        </p:spPr>
      </p:sp>
      <p:sp>
        <p:nvSpPr>
          <p:cNvPr id="26" name="Text 24"/>
          <p:cNvSpPr/>
          <p:nvPr/>
        </p:nvSpPr>
        <p:spPr>
          <a:xfrm>
            <a:off x="6446520" y="47091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287768" y="443484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分支指令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287768" y="507492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依据 fcc 条件标志跳转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为什么浮点数需要专门的存储格式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浮点数无法采用整数的补码方式存储，IEEE 规定了统一的格式标准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377440"/>
            <a:ext cx="3602736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3B6E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377440"/>
            <a:ext cx="3602736" cy="640080"/>
          </a:xfrm>
          <a:prstGeom prst="roundRect">
            <a:avLst>
              <a:gd name="adj" fmla="val 14286"/>
            </a:avLst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377440"/>
            <a:ext cx="3602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 · 符号位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305409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 位：0 表示正数，1 表示负数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279392" y="2377440"/>
            <a:ext cx="3602736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2E8B7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79392" y="2377440"/>
            <a:ext cx="3602736" cy="640080"/>
          </a:xfrm>
          <a:prstGeom prst="roundRect">
            <a:avLst>
              <a:gd name="adj" fmla="val 14286"/>
            </a:avLst>
          </a:prstGeom>
          <a:solidFill>
            <a:srgbClr val="2E8B70"/>
          </a:solidFill>
          <a:ln/>
        </p:spPr>
      </p:sp>
      <p:sp>
        <p:nvSpPr>
          <p:cNvPr id="10" name="Text 8"/>
          <p:cNvSpPr/>
          <p:nvPr/>
        </p:nvSpPr>
        <p:spPr>
          <a:xfrm>
            <a:off x="4279392" y="2377440"/>
            <a:ext cx="3602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 · 阶码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553712" y="3291840"/>
            <a:ext cx="305409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偏置指数，决定小数点的位置（量级）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01584" y="2377440"/>
            <a:ext cx="3602736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C1652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01584" y="2377440"/>
            <a:ext cx="3602736" cy="640080"/>
          </a:xfrm>
          <a:prstGeom prst="roundRect">
            <a:avLst>
              <a:gd name="adj" fmla="val 14286"/>
            </a:avLst>
          </a:prstGeom>
          <a:solidFill>
            <a:srgbClr val="C16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101584" y="2377440"/>
            <a:ext cx="3602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 · 尾数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375904" y="3291840"/>
            <a:ext cx="305409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小数部分，决定数值的精度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IEEE 754 定义了两种基本格式：单精度（float，32 位）和双精度（double，64 位）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700016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70001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单精度 float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32 位单精度格式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S(1位) + E(8位) + F(23位)，共 32 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423160"/>
            <a:ext cx="351473" cy="822960"/>
          </a:xfrm>
          <a:prstGeom prst="rect">
            <a:avLst/>
          </a:prstGeom>
          <a:solidFill>
            <a:srgbClr val="3B6E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8673" y="2423160"/>
            <a:ext cx="2811780" cy="822960"/>
          </a:xfrm>
          <a:prstGeom prst="rect">
            <a:avLst/>
          </a:prstGeom>
          <a:solidFill>
            <a:srgbClr val="2E8B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20453" y="2423160"/>
            <a:ext cx="8083868" cy="822960"/>
          </a:xfrm>
          <a:prstGeom prst="rect">
            <a:avLst/>
          </a:prstGeom>
          <a:solidFill>
            <a:srgbClr val="C1652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593592"/>
            <a:ext cx="256032" cy="256032"/>
          </a:xfrm>
          <a:prstGeom prst="ellipse">
            <a:avLst/>
          </a:prstGeom>
          <a:solidFill>
            <a:srgbClr val="3B6EA5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52044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 符号位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22960" y="39410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31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206240" y="3593592"/>
            <a:ext cx="256032" cy="256032"/>
          </a:xfrm>
          <a:prstGeom prst="ellipse">
            <a:avLst/>
          </a:prstGeom>
          <a:solidFill>
            <a:srgbClr val="2E8B7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352044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 阶码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0" y="39410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30~23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955280" y="3593592"/>
            <a:ext cx="256032" cy="256032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352044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 尾数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321040" y="39410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22~0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120640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5120640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双精度 double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64 位双精度格式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S(1位) + E(11位) + F(52位)，共 64 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423160"/>
            <a:ext cx="175736" cy="822960"/>
          </a:xfrm>
          <a:prstGeom prst="rect">
            <a:avLst/>
          </a:prstGeom>
          <a:solidFill>
            <a:srgbClr val="3B6E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2936" y="2423160"/>
            <a:ext cx="1933099" cy="822960"/>
          </a:xfrm>
          <a:prstGeom prst="rect">
            <a:avLst/>
          </a:prstGeom>
          <a:solidFill>
            <a:srgbClr val="2E8B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6035" y="2423160"/>
            <a:ext cx="9138285" cy="822960"/>
          </a:xfrm>
          <a:prstGeom prst="rect">
            <a:avLst/>
          </a:prstGeom>
          <a:solidFill>
            <a:srgbClr val="C1652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593592"/>
            <a:ext cx="256032" cy="256032"/>
          </a:xfrm>
          <a:prstGeom prst="ellipse">
            <a:avLst/>
          </a:prstGeom>
          <a:solidFill>
            <a:srgbClr val="3B6EA5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52044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 符号位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22960" y="39410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63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206240" y="3593592"/>
            <a:ext cx="256032" cy="256032"/>
          </a:xfrm>
          <a:prstGeom prst="ellipse">
            <a:avLst/>
          </a:prstGeom>
          <a:solidFill>
            <a:srgbClr val="2E8B7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352044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 阶码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0" y="39410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62~52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955280" y="3593592"/>
            <a:ext cx="256032" cy="256032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352044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 尾数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321040" y="39410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51~0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双精度用更多位来表示阶码和尾数，因此比单精度有更大的数值范围和更高的精度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规格化的值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当阶码 E 不是全 0 也不是全 1 时，按下式计算数值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377440"/>
            <a:ext cx="1124712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5875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51460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单精度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200400" y="2633472"/>
            <a:ext cx="5852160" cy="777240"/>
          </a:xfrm>
          <a:prstGeom prst="roundRect">
            <a:avLst>
              <a:gd name="adj" fmla="val 8235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0" y="2633472"/>
            <a:ext cx="5852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(-1)^S × 2^(E-127) × 1.F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9235440" y="251460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移码 = 127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3886200"/>
            <a:ext cx="1124712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5875">
            <a:solidFill>
              <a:srgbClr val="DCE3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2336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双精度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200400" y="4142232"/>
            <a:ext cx="5852160" cy="777240"/>
          </a:xfrm>
          <a:prstGeom prst="roundRect">
            <a:avLst>
              <a:gd name="adj" fmla="val 8235"/>
            </a:avLst>
          </a:prstGeom>
          <a:solidFill>
            <a:srgbClr val="121D33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4142232"/>
            <a:ext cx="5852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(-1)^S × 2^(E-1023) × 1.F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235440" y="402336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移码 = 1023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" y="54864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其中 1.F 表示尾数隐含最高位固定为 1（规格化后小数点前必为 1），无需存储这个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279392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27939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示例 (1/2)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5.75D 转换为二进制浮点数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先转换成二进制，再规格化找出阶码 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33172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S 位：5.75D 是正数，S =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320040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2004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转二进制：5.75D = 101.11B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406908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6908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规格化：101.11B = 1.0111B × 2²，故 e = 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49377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93776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求 E：E = e + 127 = 129 = 1000_0001B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279392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27939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示例 (2/2)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写出完整的存储结果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 取自 1.0111 去掉整数位与小数点后，补零到 23 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37744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0111 0000000000000000000  (23 位)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352044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5204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0  10000001  01110000000000000000000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77240" y="4434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・ E（8位）・ F（23位）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反向验证：e = E − 127 = 2，还原尾数 1.0111，左移 2 位得 101.11B = 5.75D 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其他特殊情况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阶码全 0 或全 1 时表示的特殊数值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377440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77440"/>
            <a:ext cx="2926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非规格化值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3749040" y="2377440"/>
            <a:ext cx="76809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阶码 E 全为 0：表示接近零的极小数，此时不再隐含最高位的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3611880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611880"/>
            <a:ext cx="2926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正负无穷大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3749040" y="3611880"/>
            <a:ext cx="76809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阶码 E 全为 1 且尾数 F 全为 0：表示 ±∞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4846320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46320"/>
            <a:ext cx="2926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NaN（非数）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749040" y="4846320"/>
            <a:ext cx="76809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阶码 E 全为 1 且尾数 F 不全为 0：表示无效运算结果，如 0/0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运算指令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基本运算指令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四则运算与常用一元运算，.s 为单精度，.d 为双精度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55138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74320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fadd.s/d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2834640" y="2743200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= fj + fk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190488" y="2743200"/>
            <a:ext cx="55138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3368" y="274320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fsub.s/d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567928" y="2743200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= fj − fk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3493008"/>
            <a:ext cx="55138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493008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fmul.s/d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834640" y="3493008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= fj × fk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190488" y="3493008"/>
            <a:ext cx="55138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3368" y="3493008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fdiv.s/d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567928" y="3493008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= fj ÷ fk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4242816"/>
            <a:ext cx="55138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242816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fsqrt.s/d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834640" y="4242816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= √fj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190488" y="4242816"/>
            <a:ext cx="55138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73368" y="4242816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fabs/fneg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567928" y="4242816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|fj| ／ −fj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运算指令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融合乘加与极值指令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一次指令内完成乘加，减少舍入误差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92608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fmadd.d  fd, fj, fk, fa   # fd = fj×fk + fa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fnmadd.d fd, fj, fk, fa   # fd = −(fj×fk + fa)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fmsub / fnmsub：同上，运算符为“减”而非“加”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5029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fmax / fmin：取较大 / 较小值；fmaxa / fmina：按绝对值取较大 / 较小值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浮点比较指令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比较结果写入条件标志寄存器 fcc0～fcc7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fcmp.cond.s  cc, fj, fk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cond 决定比较关系，如 ceq（相等）、slt（小于）等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比较结果（真/假）写入条件标志寄存器 cc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示例：fcmp.slt.s $fcc0, $fa0, $fa1  →  fcc0 = (fa0 &lt; fa1)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转换指令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浮点转换指令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精度转换、浮点⇄整数、取整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69748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fcvt.s.d / fcvt.d.s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029200" y="269748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单精度 ⇄ 双精度转换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65760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ftintr{z/p/m/ne}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029200" y="365760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浮点转整数：向零/向上/向下/向偶舍入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461772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61772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ffint.{s/d}.{w/l}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029200" y="461772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整数转浮点数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" y="557784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557784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frint.s / frint.d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029200" y="557784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按当前舍入模式取整，结果仍为浮点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858768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858768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传送/访存指令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数据传送指令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浮点寄存器、通用寄存器与状态寄存器之间搬运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69748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fmov · fsel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029200" y="269748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浮点寄存器间搬运；fsel 按条件标志选择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65760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movgr2fr/fr2gr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029200" y="365760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通用寄存器 ⇄ 浮点寄存器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461772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61772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movgr2fcsr 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029200" y="461772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通用寄存器 ⇄ 浮点控制状态寄存器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" y="557784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557784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movfr2cf 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029200" y="557784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浮点/通用寄存器 ⇄ 条件标志 fcc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858768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858768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传送/访存指令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浮点访存指令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格式与普通访存指令一致，操作对象为浮点寄存器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1247120" cy="1828800"/>
          </a:xfrm>
          <a:prstGeom prst="roundRect">
            <a:avLst>
              <a:gd name="adj" fmla="val 4000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9718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fld.d  fd, rj, si12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fst.d  fd, rj, si12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fldx.s fd, rj,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4892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fld/fst：立即数偏移寻址，加载/存储浮点数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5440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fldx/fstx：寄存器变址寻址，用于运行时计算偏移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B59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分支指令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浮点分支指令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bceqz · bcnez，依据 fcc 条件标志跳转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bceqz  cj, offs21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bceqz：条件标志 cj 为 0（假）时跳转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bcnez：条件标志 cj 不为 0（真）时跳转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典型用法：先 fcmp 比较，再根据 fcc 结果分支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55648" cy="56692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755648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总结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五类指令对比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覆盖运算、判断、转换、搬运与控制流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3B6E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3B6EA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fadd/fsub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fmul/fdiv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48640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fmadd 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735885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2E8B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35885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2E8B70"/>
          </a:solidFill>
          <a:ln/>
        </p:spPr>
      </p:sp>
      <p:sp>
        <p:nvSpPr>
          <p:cNvPr id="14" name="Text 12"/>
          <p:cNvSpPr/>
          <p:nvPr/>
        </p:nvSpPr>
        <p:spPr>
          <a:xfrm>
            <a:off x="2735885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827325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fcmp.cond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827325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结果→fcc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827325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多种关系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014570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C1652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14570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C1652F"/>
          </a:solidFill>
          <a:ln/>
        </p:spPr>
      </p:sp>
      <p:sp>
        <p:nvSpPr>
          <p:cNvPr id="20" name="Text 18"/>
          <p:cNvSpPr/>
          <p:nvPr/>
        </p:nvSpPr>
        <p:spPr>
          <a:xfrm>
            <a:off x="5014570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转换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106010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fcvt 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106010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ftint 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106010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frint 取整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293254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6B4C9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93254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6B4C9A"/>
          </a:solidFill>
          <a:ln/>
        </p:spPr>
      </p:sp>
      <p:sp>
        <p:nvSpPr>
          <p:cNvPr id="26" name="Text 24"/>
          <p:cNvSpPr/>
          <p:nvPr/>
        </p:nvSpPr>
        <p:spPr>
          <a:xfrm>
            <a:off x="7293254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传送/访存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384694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movgr2fr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384694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fld/fst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384694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fmov/fsel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9571939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B595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571939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B5952C"/>
          </a:solidFill>
          <a:ln/>
        </p:spPr>
      </p:sp>
      <p:sp>
        <p:nvSpPr>
          <p:cNvPr id="32" name="Text 30"/>
          <p:cNvSpPr/>
          <p:nvPr/>
        </p:nvSpPr>
        <p:spPr>
          <a:xfrm>
            <a:off x="9571939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663379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bceqz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663379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bcnez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663379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依据 fcc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0BB4AEC9-AD4B-1B5B-6A6E-7A304C4C8F20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2926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第 4 次课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课堂练习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解释：ld.d $t1, $sp, 16 的有效地址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手写：base[0]+base[1] 写入 base[2]（字节数组）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在 clear_bss 旁注释游标如何变化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讨论：指针解引用 *p 对应哪类指令？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5602A52-DA46-4B61-778A-B97B31B7743F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55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B3D10BAD-B24E-FF73-A45C-448140511726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2926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第 4 次课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本节收束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1456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访存三句：地址、load/store、基址+偏移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ld.bu 服务字符串；st.b 服务清零与输出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下次课：分支与循环——把指令排成程序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0148784-8753-C760-2C06-258F1D0264DB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56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1216</TotalTime>
  <Words>3522</Words>
  <Application>Microsoft Office PowerPoint</Application>
  <PresentationFormat>宽屏</PresentationFormat>
  <Paragraphs>854</Paragraphs>
  <Slides>77</Slides>
  <Notes>67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77</vt:i4>
      </vt:variant>
    </vt:vector>
  </HeadingPairs>
  <TitlesOfParts>
    <vt:vector size="87" baseType="lpstr">
      <vt:lpstr>等线</vt:lpstr>
      <vt:lpstr>等线 Light</vt:lpstr>
      <vt:lpstr>Microsoft YaHei</vt:lpstr>
      <vt:lpstr>Aptos</vt:lpstr>
      <vt:lpstr>Arial</vt:lpstr>
      <vt:lpstr>Calibri</vt:lpstr>
      <vt:lpstr>Cambria</vt:lpstr>
      <vt:lpstr>Courier New</vt:lpstr>
      <vt:lpstr>Office Theme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xin cai</cp:lastModifiedBy>
  <cp:revision>8</cp:revision>
  <dcterms:created xsi:type="dcterms:W3CDTF">2026-08-18T03:02:44Z</dcterms:created>
  <dcterms:modified xsi:type="dcterms:W3CDTF">2026-09-14T03:24:42Z</dcterms:modified>
</cp:coreProperties>
</file>