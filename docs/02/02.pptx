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68" r:id="rId16"/>
    <p:sldId id="282" r:id="rId17"/>
    <p:sldId id="284" r:id="rId18"/>
    <p:sldId id="285" r:id="rId19"/>
    <p:sldId id="286" r:id="rId20"/>
    <p:sldId id="287" r:id="rId21"/>
    <p:sldId id="288" r:id="rId22"/>
    <p:sldId id="289" r:id="rId23"/>
    <p:sldId id="271" r:id="rId24"/>
    <p:sldId id="272" r:id="rId25"/>
    <p:sldId id="273" r:id="rId26"/>
    <p:sldId id="274" r:id="rId27"/>
    <p:sldId id="283" r:id="rId28"/>
    <p:sldId id="275" r:id="rId29"/>
    <p:sldId id="276" r:id="rId30"/>
    <p:sldId id="277" r:id="rId31"/>
    <p:sldId id="278" r:id="rId32"/>
    <p:sldId id="279" r:id="rId33"/>
    <p:sldId id="280" r:id="rId3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490" autoAdjust="0"/>
    <p:restoredTop sz="90654" autoAdjust="0"/>
  </p:normalViewPr>
  <p:slideViewPr>
    <p:cSldViewPr snapToGrid="0" snapToObjects="1">
      <p:cViewPr>
        <p:scale>
          <a:sx n="66" d="100"/>
          <a:sy n="66" d="100"/>
        </p:scale>
        <p:origin x="-468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3697DD-D193-45E4-9C90-AE818BF3120A}" type="datetimeFigureOut">
              <a:rPr lang="zh-CN" altLang="en-US" smtClean="0"/>
              <a:t>2026/9/2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2FE3BF-3F03-4D68-B24C-4A5E5DE0B5E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445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2FE3BF-3F03-4D68-B24C-4A5E5DE0B5ED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0938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62182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Relationship Id="rId9" Type="http://schemas.openxmlformats.org/officeDocument/2006/relationships/image" Target="../media/image4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7" Type="http://schemas.openxmlformats.org/officeDocument/2006/relationships/image" Target="../media/image6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3.png"/><Relationship Id="rId7" Type="http://schemas.openxmlformats.org/officeDocument/2006/relationships/image" Target="../media/image4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6.png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8.png"/><Relationship Id="rId4" Type="http://schemas.openxmlformats.org/officeDocument/2006/relationships/image" Target="../media/image4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70.png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72.png"/><Relationship Id="rId4" Type="http://schemas.openxmlformats.org/officeDocument/2006/relationships/image" Target="../media/image65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84.png"/><Relationship Id="rId7" Type="http://schemas.openxmlformats.org/officeDocument/2006/relationships/image" Target="../media/image8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5" Type="http://schemas.openxmlformats.org/officeDocument/2006/relationships/image" Target="../media/image86.png"/><Relationship Id="rId4" Type="http://schemas.openxmlformats.org/officeDocument/2006/relationships/image" Target="../media/image85.png"/><Relationship Id="rId9" Type="http://schemas.openxmlformats.org/officeDocument/2006/relationships/image" Target="../media/image3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Relationship Id="rId9" Type="http://schemas.openxmlformats.org/officeDocument/2006/relationships/image" Target="../media/image96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97.png"/><Relationship Id="rId7" Type="http://schemas.openxmlformats.org/officeDocument/2006/relationships/image" Target="../media/image10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9.png"/><Relationship Id="rId5" Type="http://schemas.openxmlformats.org/officeDocument/2006/relationships/image" Target="../media/image32.png"/><Relationship Id="rId4" Type="http://schemas.openxmlformats.org/officeDocument/2006/relationships/image" Target="../media/image9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45343" y="2476500"/>
            <a:ext cx="10501312" cy="12684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60"/>
              </a:lnSpc>
            </a:pPr>
            <a:r>
              <a:rPr sz="4050" b="1" i="0" u="none" dirty="0">
                <a:solidFill>
                  <a:srgbClr val="38BDF8"/>
                </a:solidFill>
                <a:latin typeface="Noto Sans SC" panose="020B0200000000000000" charset="-122"/>
              </a:rPr>
              <a:t>第 2 </a:t>
            </a:r>
            <a:r>
              <a:rPr lang="zh-CN" altLang="en-US" sz="4050" b="1" dirty="0">
                <a:solidFill>
                  <a:srgbClr val="38BDF8"/>
                </a:solidFill>
                <a:latin typeface="Noto Sans SC" panose="020B0200000000000000" charset="-122"/>
              </a:rPr>
              <a:t>次课 </a:t>
            </a:r>
            <a:r>
              <a:rPr sz="4050" b="1" i="0" u="none" dirty="0">
                <a:solidFill>
                  <a:srgbClr val="38BDF8"/>
                </a:solidFill>
                <a:latin typeface="Noto Sans SC" panose="020B0200000000000000" charset="-122"/>
              </a:rPr>
              <a:t>：.data/.</a:t>
            </a:r>
            <a:r>
              <a:rPr sz="4050" b="1" i="0" u="none" dirty="0" err="1">
                <a:solidFill>
                  <a:srgbClr val="38BDF8"/>
                </a:solidFill>
                <a:latin typeface="Noto Sans SC" panose="020B0200000000000000" charset="-122"/>
              </a:rPr>
              <a:t>bss</a:t>
            </a:r>
            <a:r>
              <a:rPr sz="4050" b="1" i="0" u="none" dirty="0">
                <a:solidFill>
                  <a:srgbClr val="38BDF8"/>
                </a:solidFill>
                <a:latin typeface="Noto Sans SC" panose="020B0200000000000000" charset="-122"/>
              </a:rPr>
              <a:t> </a:t>
            </a:r>
            <a:r>
              <a:rPr sz="4050" b="1" i="0" u="none" dirty="0" err="1">
                <a:solidFill>
                  <a:srgbClr val="38BDF8"/>
                </a:solidFill>
                <a:latin typeface="Noto Sans SC" panose="020B0200000000000000" charset="-122"/>
              </a:rPr>
              <a:t>初始化与</a:t>
            </a:r>
            <a:r>
              <a:rPr sz="4050" b="1" i="0" u="none" dirty="0">
                <a:solidFill>
                  <a:srgbClr val="38BDF8"/>
                </a:solidFill>
                <a:latin typeface="Noto Sans SC" panose="020B0200000000000000" charset="-122"/>
              </a:rPr>
              <a:t> C/</a:t>
            </a:r>
            <a:r>
              <a:rPr sz="4050" b="1" i="0" u="none" dirty="0" err="1">
                <a:solidFill>
                  <a:srgbClr val="38BDF8"/>
                </a:solidFill>
                <a:latin typeface="Noto Sans SC" panose="020B0200000000000000" charset="-122"/>
              </a:rPr>
              <a:t>汇编混合启动</a:t>
            </a:r>
            <a:endParaRPr sz="4050" b="1" i="0" u="none" dirty="0">
              <a:solidFill>
                <a:srgbClr val="38BDF8"/>
              </a:solidFill>
              <a:latin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110061" y="3990975"/>
            <a:ext cx="5971728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925"/>
              </a:lnSpc>
            </a:pPr>
            <a:r>
              <a:rPr sz="1950" b="0" i="0" u="none">
                <a:solidFill>
                  <a:srgbClr val="94A3B8"/>
                </a:solidFill>
                <a:latin typeface="Noto Sans SC" panose="020B0200000000000000" charset="-122"/>
              </a:rPr>
              <a:t>从段结构认知到 clear_bss 清零与 C/汇编混合调用机制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1446" y="4781550"/>
            <a:ext cx="7148958" cy="6610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 dirty="0" err="1">
                <a:solidFill>
                  <a:srgbClr val="64748B"/>
                </a:solidFill>
                <a:latin typeface="Noto Sans SC" panose="020B0200000000000000" charset="-122"/>
              </a:rPr>
              <a:t>基准代码</a:t>
            </a:r>
            <a:r>
              <a:rPr sz="1800" b="0" i="0" u="none" dirty="0">
                <a:solidFill>
                  <a:srgbClr val="64748B"/>
                </a:solidFill>
                <a:latin typeface="Noto Sans SC" panose="020B0200000000000000" charset="-122"/>
              </a:rPr>
              <a:t> Tag: </a:t>
            </a:r>
            <a:r>
              <a:rPr sz="1800" b="0" i="0" u="none" dirty="0">
                <a:solidFill>
                  <a:srgbClr val="38BDF8"/>
                </a:solidFill>
                <a:latin typeface="Noto Sans SC" panose="020B0200000000000000" charset="-122"/>
              </a:rPr>
              <a:t>week02-data-bss</a:t>
            </a:r>
            <a:r>
              <a:rPr sz="1800" b="0" i="0" u="none" dirty="0">
                <a:solidFill>
                  <a:srgbClr val="64748B"/>
                </a:solidFill>
                <a:latin typeface="Noto Sans SC" panose="020B0200000000000000" charset="-122"/>
              </a:rPr>
              <a:t> </a:t>
            </a:r>
            <a:endParaRPr lang="en-US" sz="1800" b="0" i="0" u="none" dirty="0">
              <a:solidFill>
                <a:srgbClr val="64748B"/>
              </a:solidFill>
              <a:latin typeface="Noto Sans SC" panose="020B0200000000000000" charset="-122"/>
            </a:endParaRPr>
          </a:p>
          <a:p>
            <a:pPr algn="ctr">
              <a:lnSpc>
                <a:spcPts val="2700"/>
              </a:lnSpc>
            </a:pPr>
            <a:r>
              <a:rPr sz="1800" b="0" i="0" u="none" dirty="0">
                <a:solidFill>
                  <a:srgbClr val="64748B"/>
                </a:solidFill>
                <a:latin typeface="Noto Sans SC" panose="020B0200000000000000" charset="-122"/>
              </a:rPr>
              <a:t> </a:t>
            </a:r>
            <a:r>
              <a:rPr sz="1800" b="0" i="0" u="none" dirty="0" err="1">
                <a:solidFill>
                  <a:srgbClr val="64748B"/>
                </a:solidFill>
                <a:latin typeface="Noto Sans SC" panose="020B0200000000000000" charset="-122"/>
              </a:rPr>
              <a:t>参考文档</a:t>
            </a:r>
            <a:r>
              <a:rPr sz="1800" b="0" i="0" u="none" dirty="0">
                <a:solidFill>
                  <a:srgbClr val="64748B"/>
                </a:solidFill>
                <a:latin typeface="Noto Sans SC" panose="020B0200000000000000" charset="-122"/>
              </a:rPr>
              <a:t>: docs/week02/data_bss.md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562100"/>
            <a:ext cx="3549550" cy="21145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75" y="1562100"/>
            <a:ext cx="3549699" cy="21145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375" y="1562100"/>
            <a:ext cx="3549550" cy="21145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3905250"/>
            <a:ext cx="3549550" cy="21145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75" y="3905250"/>
            <a:ext cx="3549699" cy="21145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99375" y="3905250"/>
            <a:ext cx="3549550" cy="21145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66800" y="1838325"/>
            <a:ext cx="2886923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板块一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9150" y="2371725"/>
            <a:ext cx="2997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复盘第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1 </a:t>
            </a:r>
            <a:r>
              <a:rPr lang="zh-CN" altLang="en-US"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次课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+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引入新问题：裸机环境下全局变量的初始状态谁来准备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4950" y="1838325"/>
            <a:ext cx="2887079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板块二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300" y="2371725"/>
            <a:ext cx="299724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内存段结构详解：深入剖析 .text / .rodata / .data / .bss 段的作用与区别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23250" y="1838325"/>
            <a:ext cx="2886923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板块三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600" y="2371725"/>
            <a:ext cx="2997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课堂 Demo 源码路径：main.c → start.S → linker.ld → string.S 逐层透析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6800" y="4181475"/>
            <a:ext cx="2886923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板块四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" y="4714875"/>
            <a:ext cx="2997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编译运行与输出分析：四行关键验收日志解析与调试排查思路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4950" y="4181475"/>
            <a:ext cx="2887079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板块五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7300" y="4714875"/>
            <a:ext cx="2997249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实验安排与 AI 共学：规范实验流程、终端实测要求与 AI 助教使用边界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97366" y="4181475"/>
            <a:ext cx="2809101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收尾总结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5600" y="4714875"/>
            <a:ext cx="299710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总结三大核心结论、清晰本</a:t>
            </a:r>
            <a:r>
              <a:rPr lang="zh-CN" altLang="en-US"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次课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知识边界，并布置针对性思考题</a:t>
            </a:r>
            <a:endParaRPr sz="1800" b="0" i="0" u="none" dirty="0">
              <a:solidFill>
                <a:srgbClr val="CBD5E1"/>
              </a:solidFill>
              <a:latin typeface="Noto Sans SC" panose="020B0200000000000000" charset="-122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150" y="1905000"/>
            <a:ext cx="133350" cy="26670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97300" y="1905000"/>
            <a:ext cx="133350" cy="26670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75600" y="1905000"/>
            <a:ext cx="133350" cy="26670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9150" y="4248150"/>
            <a:ext cx="133350" cy="2667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97300" y="4248150"/>
            <a:ext cx="133350" cy="2667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375600" y="4248150"/>
            <a:ext cx="207466" cy="26670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Noto Sans SC" panose="020B0200000000000000" charset="-122"/>
              </a:rPr>
              <a:t>本次课程板块概览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2190750"/>
            <a:ext cx="114300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84207" y="2876550"/>
            <a:ext cx="7274217" cy="7273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42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复盘第</a:t>
            </a:r>
            <a:r>
              <a:rPr sz="4200" b="1" i="0" u="none" dirty="0">
                <a:solidFill>
                  <a:srgbClr val="F8FAFC"/>
                </a:solidFill>
                <a:latin typeface="Noto Sans SC" panose="020B0200000000000000" charset="-122"/>
              </a:rPr>
              <a:t> 1 </a:t>
            </a:r>
            <a:r>
              <a:rPr lang="zh-CN" altLang="en-US" sz="4200" b="1" i="0" u="none" dirty="0">
                <a:solidFill>
                  <a:srgbClr val="F8FAFC"/>
                </a:solidFill>
                <a:latin typeface="Noto Sans SC" panose="020B0200000000000000" charset="-122"/>
              </a:rPr>
              <a:t>次课</a:t>
            </a:r>
            <a:r>
              <a:rPr sz="4200" b="1" i="0" u="none" dirty="0">
                <a:solidFill>
                  <a:srgbClr val="F8FAFC"/>
                </a:solidFill>
                <a:latin typeface="Noto Sans SC" panose="020B0200000000000000" charset="-122"/>
              </a:rPr>
              <a:t>，</a:t>
            </a:r>
            <a:r>
              <a:rPr sz="42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引入新问题</a:t>
            </a:r>
            <a:endParaRPr sz="4200" b="1" i="0" u="none" dirty="0">
              <a:solidFill>
                <a:srgbClr val="F8FAFC"/>
              </a:solidFill>
              <a:latin typeface="Noto Sans SC" panose="020B0200000000000000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09750" y="3867150"/>
            <a:ext cx="857250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 dirty="0" err="1">
                <a:solidFill>
                  <a:srgbClr val="38BDF8"/>
                </a:solidFill>
                <a:latin typeface="Noto Sans SC" panose="020B0200000000000000" charset="-122"/>
              </a:rPr>
              <a:t>探索裸机程序运行的底层基石</a:t>
            </a:r>
            <a:r>
              <a:rPr sz="2100" b="0" i="0" u="none" dirty="0">
                <a:solidFill>
                  <a:srgbClr val="38BDF8"/>
                </a:solidFill>
                <a:latin typeface="Noto Sans SC" panose="020B0200000000000000" charset="-122"/>
              </a:rPr>
              <a:t>：</a:t>
            </a:r>
            <a:endParaRPr lang="en-US" sz="2100" b="0" i="0" u="none" dirty="0">
              <a:solidFill>
                <a:srgbClr val="38BDF8"/>
              </a:solidFill>
              <a:latin typeface="Noto Sans SC" panose="020B0200000000000000" charset="-122"/>
            </a:endParaRPr>
          </a:p>
          <a:p>
            <a:pPr algn="ctr">
              <a:lnSpc>
                <a:spcPts val="3150"/>
              </a:lnSpc>
            </a:pPr>
            <a:r>
              <a:rPr sz="2100" b="0" i="0" u="none" dirty="0" err="1">
                <a:solidFill>
                  <a:srgbClr val="38BDF8"/>
                </a:solidFill>
                <a:latin typeface="Noto Sans SC" panose="020B0200000000000000" charset="-122"/>
              </a:rPr>
              <a:t>未初始化全局变量与已初始化变量的物理真相</a:t>
            </a:r>
            <a:endParaRPr sz="2100" b="0" i="0" u="none" dirty="0">
              <a:solidFill>
                <a:srgbClr val="38BDF8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4681537"/>
            <a:ext cx="11106150" cy="7239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2925" y="2786062"/>
            <a:ext cx="1872406" cy="15525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51398" y="2786062"/>
            <a:ext cx="1872406" cy="15525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871" y="2786062"/>
            <a:ext cx="1872406" cy="15525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68344" y="2786062"/>
            <a:ext cx="1872406" cy="155257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76817" y="2786062"/>
            <a:ext cx="1872406" cy="15525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7603" y="2986087"/>
            <a:ext cx="342900" cy="34290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6076" y="2986087"/>
            <a:ext cx="342900" cy="34290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4550" y="2986087"/>
            <a:ext cx="342900" cy="3429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33023" y="2986087"/>
            <a:ext cx="342900" cy="3429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41496" y="2986087"/>
            <a:ext cx="342900" cy="3429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2925" y="2176462"/>
            <a:ext cx="11106150" cy="31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上</a:t>
            </a:r>
            <a:r>
              <a:rPr lang="zh-CN" altLang="en-US"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次课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核心解决：</a:t>
            </a: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CPU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如何顺利进入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 C </a:t>
            </a: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函数并完成字符输出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1525" y="4872037"/>
            <a:ext cx="10687050" cy="346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结论：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第 1 </a:t>
            </a:r>
            <a:r>
              <a:rPr lang="zh-CN" sz="1800" b="0" i="0" u="none">
                <a:solidFill>
                  <a:srgbClr val="CBD5E1"/>
                </a:solidFill>
                <a:latin typeface="Noto Sans SC" panose="020B0200000000000000" charset="-122"/>
              </a:rPr>
              <a:t>次课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完成了最小栈环境搭建与  串口打印，但尚未处理全局数据区。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67705" y="3405187"/>
            <a:ext cx="622696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rgbClr val="F8FAFC"/>
                </a:solidFill>
                <a:latin typeface="Noto Sans SC" panose="020B0200000000000000" charset="-122"/>
              </a:rPr>
              <a:t>_start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272" y="3824287"/>
            <a:ext cx="1199853" cy="290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94A3B8"/>
                </a:solidFill>
                <a:latin typeface="Noto Sans SC" panose="020B0200000000000000" charset="-122"/>
              </a:rPr>
              <a:t>boot/</a:t>
            </a:r>
            <a:r>
              <a:rPr sz="1650" b="0" i="0" u="none" dirty="0" err="1">
                <a:solidFill>
                  <a:srgbClr val="94A3B8"/>
                </a:solidFill>
                <a:latin typeface="Noto Sans SC" panose="020B0200000000000000" charset="-122"/>
              </a:rPr>
              <a:t>start.S</a:t>
            </a:r>
            <a:endParaRPr sz="1650" b="0" i="0" u="none" dirty="0">
              <a:solidFill>
                <a:srgbClr val="94A3B8"/>
              </a:solidFill>
              <a:latin typeface="Noto Sans SC" panose="020B0200000000000000" charset="-122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529631" y="3429000"/>
            <a:ext cx="207466" cy="266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330178" y="3405187"/>
            <a:ext cx="91469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>
                <a:solidFill>
                  <a:srgbClr val="F8FAFC"/>
                </a:solidFill>
                <a:latin typeface="Noto Sans SC" panose="020B0200000000000000" charset="-122"/>
              </a:rPr>
              <a:t>设置 $sp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76872" y="3824287"/>
            <a:ext cx="1540222" cy="2909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 err="1">
                <a:solidFill>
                  <a:srgbClr val="94A3B8"/>
                </a:solidFill>
                <a:latin typeface="Noto Sans SC" panose="020B0200000000000000" charset="-122"/>
              </a:rPr>
              <a:t>boot_stack_top</a:t>
            </a:r>
            <a:endParaRPr sz="1650" b="0" i="0" u="none" dirty="0">
              <a:solidFill>
                <a:srgbClr val="94A3B8"/>
              </a:solidFill>
              <a:latin typeface="Noto Sans SC" panose="020B0200000000000000" charset="-122"/>
            </a:endParaRP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38104" y="3429000"/>
            <a:ext cx="207466" cy="2667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219550" y="3405187"/>
            <a:ext cx="1543646" cy="314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kernel_main</a:t>
            </a:r>
            <a:endParaRPr sz="1800" b="1" i="0" u="none" dirty="0">
              <a:solidFill>
                <a:srgbClr val="F8FAFC"/>
              </a:solidFill>
              <a:latin typeface="Noto Sans SC" panose="020B0200000000000000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5542954" y="3824287"/>
            <a:ext cx="110609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 err="1">
                <a:solidFill>
                  <a:srgbClr val="94A3B8"/>
                </a:solidFill>
                <a:latin typeface="Noto Sans SC" panose="020B0200000000000000" charset="-122"/>
              </a:rPr>
              <a:t>进入</a:t>
            </a:r>
            <a:r>
              <a:rPr sz="1650" b="0" i="0" u="none" dirty="0">
                <a:solidFill>
                  <a:srgbClr val="94A3B8"/>
                </a:solidFill>
                <a:latin typeface="Noto Sans SC" panose="020B0200000000000000" charset="-122"/>
              </a:rPr>
              <a:t> C </a:t>
            </a:r>
            <a:r>
              <a:rPr sz="1650" b="0" i="0" u="none" dirty="0" err="1">
                <a:solidFill>
                  <a:srgbClr val="94A3B8"/>
                </a:solidFill>
                <a:latin typeface="Noto Sans SC" panose="020B0200000000000000" charset="-122"/>
              </a:rPr>
              <a:t>语言</a:t>
            </a:r>
            <a:endParaRPr sz="1650" b="0" i="0" u="none" dirty="0">
              <a:solidFill>
                <a:srgbClr val="94A3B8"/>
              </a:solidFill>
              <a:latin typeface="Noto Sans SC" panose="020B0200000000000000" charset="-122"/>
            </a:endParaRP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46577" y="3429000"/>
            <a:ext cx="207466" cy="26670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087022" y="3405187"/>
            <a:ext cx="752178" cy="314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printk</a:t>
            </a:r>
            <a:endParaRPr sz="1800" b="1" i="0" u="none" dirty="0">
              <a:solidFill>
                <a:srgbClr val="F8FAFC"/>
              </a:solidFill>
              <a:latin typeface="Noto Sans SC" panose="020B0200000000000000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880598" y="3824287"/>
            <a:ext cx="104775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Noto Sans SC" panose="020B0200000000000000" charset="-122"/>
              </a:rPr>
              <a:t>逐字符输出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55050" y="3429000"/>
            <a:ext cx="207466" cy="26670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9950797" y="3405187"/>
            <a:ext cx="1524297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1" i="0" u="none" dirty="0">
                <a:solidFill>
                  <a:srgbClr val="38BDF8"/>
                </a:solidFill>
                <a:latin typeface="Noto Sans SC" panose="020B0200000000000000" charset="-122"/>
              </a:rPr>
              <a:t>UART0_BASE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50499" y="3824287"/>
            <a:ext cx="1525041" cy="28815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 dirty="0">
                <a:solidFill>
                  <a:srgbClr val="38BDF8"/>
                </a:solidFill>
                <a:latin typeface="Noto Sans SC" panose="020B0200000000000000" charset="-122"/>
              </a:rPr>
              <a:t>写 </a:t>
            </a:r>
            <a:r>
              <a:rPr lang="zh-CN" altLang="en-US" sz="1650" b="0" i="0" u="none" dirty="0">
                <a:solidFill>
                  <a:srgbClr val="38BDF8"/>
                </a:solidFill>
                <a:latin typeface="Noto Sans SC" panose="020B0200000000000000" charset="-122"/>
              </a:rPr>
              <a:t>串口</a:t>
            </a:r>
            <a:r>
              <a:rPr sz="1650" b="0" i="0" u="none" dirty="0">
                <a:solidFill>
                  <a:srgbClr val="38BDF8"/>
                </a:solidFill>
                <a:latin typeface="Noto Sans SC" panose="020B0200000000000000" charset="-122"/>
              </a:rPr>
              <a:t> </a:t>
            </a:r>
            <a:r>
              <a:rPr sz="1650" b="0" i="0" u="none" dirty="0" err="1">
                <a:solidFill>
                  <a:srgbClr val="38BDF8"/>
                </a:solidFill>
                <a:latin typeface="Noto Sans SC" panose="020B0200000000000000" charset="-122"/>
              </a:rPr>
              <a:t>寄存器</a:t>
            </a:r>
            <a:endParaRPr sz="1650" b="0" i="0" u="none" dirty="0">
              <a:solidFill>
                <a:srgbClr val="38BDF8"/>
              </a:solidFill>
              <a:latin typeface="Noto Sans SC" panose="020B0200000000000000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板块一：第</a:t>
            </a:r>
            <a:r>
              <a:rPr sz="3000" b="1" i="0" u="none" dirty="0">
                <a:solidFill>
                  <a:srgbClr val="F8FAFC"/>
                </a:solidFill>
                <a:latin typeface="Noto Sans SC" panose="020B0200000000000000" charset="-122"/>
              </a:rPr>
              <a:t> 1 </a:t>
            </a:r>
            <a:r>
              <a:rPr lang="zh-CN" altLang="en-US" sz="3000" b="1" i="0" u="none" dirty="0">
                <a:solidFill>
                  <a:srgbClr val="F8FAFC"/>
                </a:solidFill>
                <a:latin typeface="Noto Sans SC" panose="020B0200000000000000" charset="-122"/>
              </a:rPr>
              <a:t>次课</a:t>
            </a:r>
            <a:r>
              <a:rPr sz="30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启动链路快速回顾</a:t>
            </a:r>
            <a:endParaRPr sz="3000" b="1" i="0" u="none" dirty="0">
              <a:solidFill>
                <a:srgbClr val="F8FAFC"/>
              </a:solidFill>
              <a:latin typeface="Noto Sans SC" panose="020B0200000000000000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924050"/>
            <a:ext cx="5381625" cy="177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3886200"/>
            <a:ext cx="5381625" cy="1771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2925" y="1069848"/>
            <a:ext cx="10648950" cy="314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在普通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Linux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程序里，这件事由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OS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加载器与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C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运行库完成。但在</a:t>
            </a: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裸机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miniOS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中，谁来负责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94016" y="2200275"/>
            <a:ext cx="4702775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F43F5E"/>
                </a:solidFill>
                <a:latin typeface="Noto Sans SC SemiBold"/>
              </a:rPr>
              <a:t>裸机环境的真实残酷性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2250" y="2733675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RAM 硬件上电后的物理状态是</a:t>
            </a: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随机垃圾值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，毫无规律可言。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94016" y="4175636"/>
            <a:ext cx="4702775" cy="3736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 dirty="0">
                <a:solidFill>
                  <a:srgbClr val="38BDF8"/>
                </a:solidFill>
                <a:latin typeface="Noto Sans SC SemiBold"/>
              </a:rPr>
              <a:t>本</a:t>
            </a:r>
            <a:r>
              <a:rPr lang="zh-CN" altLang="en-US" sz="2100" b="0" i="0" u="none" dirty="0">
                <a:solidFill>
                  <a:srgbClr val="38BDF8"/>
                </a:solidFill>
                <a:latin typeface="Noto Sans SC SemiBold"/>
              </a:rPr>
              <a:t>次课</a:t>
            </a:r>
            <a:r>
              <a:rPr sz="2100" b="0" i="0" u="none" dirty="0" err="1">
                <a:solidFill>
                  <a:srgbClr val="38BDF8"/>
                </a:solidFill>
                <a:latin typeface="Noto Sans SC SemiBold"/>
              </a:rPr>
              <a:t>的核心使命</a:t>
            </a:r>
            <a:endParaRPr sz="2100" b="0" i="0" u="none" dirty="0">
              <a:solidFill>
                <a:srgbClr val="38BDF8"/>
              </a:solidFill>
              <a:latin typeface="Noto Sans SC SemiBold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72250" y="4695825"/>
            <a:ext cx="48006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启动汇编代码必须在跳转到 C 语言之前，</a:t>
            </a: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亲自手动将 .bss 内存区域全部清零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！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0" y="2266950"/>
            <a:ext cx="207466" cy="2667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72250" y="4229100"/>
            <a:ext cx="207466" cy="26670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Noto Sans SC" panose="020B0200000000000000" charset="-122"/>
              </a:rPr>
              <a:t>板块一：全局变量的初始状态由谁准备？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5">
            <a:extLst>
              <a:ext uri="{FF2B5EF4-FFF2-40B4-BE49-F238E27FC236}">
                <a16:creationId xmlns:a16="http://schemas.microsoft.com/office/drawing/2014/main" id="{47B7CEB8-CF21-8DD5-E03D-D6B75A84C85C}"/>
              </a:ext>
            </a:extLst>
          </p:cNvPr>
          <p:cNvSpPr/>
          <p:nvPr/>
        </p:nvSpPr>
        <p:spPr>
          <a:xfrm>
            <a:off x="159258" y="1568638"/>
            <a:ext cx="5993892" cy="4555938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ctr"/>
          <a:lstStyle/>
          <a:p>
            <a:r>
              <a:rPr lang="en-US" altLang="zh-CN" sz="2200" dirty="0">
                <a:solidFill>
                  <a:srgbClr val="EEF1F6"/>
                </a:solidFill>
                <a:latin typeface="Consolas"/>
              </a:rPr>
              <a:t>// </a:t>
            </a:r>
            <a:r>
              <a:rPr lang="zh-CN" altLang="en-US" sz="2200" dirty="0">
                <a:solidFill>
                  <a:srgbClr val="EEF1F6"/>
                </a:solidFill>
                <a:latin typeface="Consolas"/>
              </a:rPr>
              <a:t>无显式初始值</a:t>
            </a:r>
            <a:endParaRPr lang="en-US" altLang="zh-CN" sz="2200" dirty="0">
              <a:solidFill>
                <a:srgbClr val="EEF1F6"/>
              </a:solidFill>
              <a:latin typeface="Consolas"/>
            </a:endParaRPr>
          </a:p>
          <a:p>
            <a:r>
              <a:rPr sz="2200" b="0" dirty="0">
                <a:solidFill>
                  <a:srgbClr val="EEF1F6"/>
                </a:solidFill>
                <a:latin typeface="Consolas"/>
              </a:rPr>
              <a:t>static char </a:t>
            </a:r>
            <a:r>
              <a:rPr sz="2200" b="0" dirty="0" err="1">
                <a:solidFill>
                  <a:srgbClr val="EEF1F6"/>
                </a:solidFill>
                <a:latin typeface="Consolas"/>
              </a:rPr>
              <a:t>bss_buffer</a:t>
            </a:r>
            <a:r>
              <a:rPr sz="2200" b="0" dirty="0">
                <a:solidFill>
                  <a:srgbClr val="EEF1F6"/>
                </a:solidFill>
                <a:latin typeface="Consolas"/>
              </a:rPr>
              <a:t>[16</a:t>
            </a:r>
            <a:r>
              <a:rPr lang="en-US" altLang="zh-CN" sz="2200" dirty="0">
                <a:solidFill>
                  <a:srgbClr val="EEF1F6"/>
                </a:solidFill>
                <a:latin typeface="Consolas"/>
              </a:rPr>
              <a:t> ]; </a:t>
            </a:r>
          </a:p>
          <a:p>
            <a:r>
              <a:rPr lang="en-US" altLang="zh-CN" sz="2200" dirty="0">
                <a:solidFill>
                  <a:srgbClr val="EEF1F6"/>
                </a:solidFill>
                <a:latin typeface="Consolas"/>
              </a:rPr>
              <a:t>// </a:t>
            </a:r>
            <a:r>
              <a:rPr lang="zh-CN" altLang="en-US" sz="2200" dirty="0">
                <a:solidFill>
                  <a:srgbClr val="EEF1F6"/>
                </a:solidFill>
                <a:latin typeface="Consolas"/>
              </a:rPr>
              <a:t>有显式初始值</a:t>
            </a:r>
            <a:r>
              <a:rPr sz="2200" b="0" dirty="0">
                <a:solidFill>
                  <a:srgbClr val="EEF1F6"/>
                </a:solidFill>
                <a:latin typeface="Consolas"/>
              </a:rPr>
              <a:t>
static char </a:t>
            </a:r>
            <a:r>
              <a:rPr sz="2200" b="0" dirty="0" err="1">
                <a:solidFill>
                  <a:srgbClr val="EEF1F6"/>
                </a:solidFill>
                <a:latin typeface="Consolas"/>
              </a:rPr>
              <a:t>data_message</a:t>
            </a:r>
            <a:r>
              <a:rPr sz="2200" b="0" dirty="0">
                <a:solidFill>
                  <a:srgbClr val="EEF1F6"/>
                </a:solidFill>
                <a:latin typeface="Consolas"/>
              </a:rPr>
              <a:t>[] = "data section ok";  </a:t>
            </a:r>
            <a:endParaRPr lang="en-US" sz="2200" b="0" dirty="0">
              <a:solidFill>
                <a:srgbClr val="EEF1F6"/>
              </a:solidFill>
              <a:latin typeface="Consolas"/>
            </a:endParaRPr>
          </a:p>
          <a:p>
            <a:r>
              <a:rPr sz="2200" b="0" dirty="0">
                <a:solidFill>
                  <a:srgbClr val="EEF1F6"/>
                </a:solidFill>
                <a:latin typeface="Consolas"/>
              </a:rPr>
              <a:t>
void </a:t>
            </a:r>
            <a:r>
              <a:rPr sz="2200" b="0" dirty="0" err="1">
                <a:solidFill>
                  <a:srgbClr val="EEF1F6"/>
                </a:solidFill>
                <a:latin typeface="Consolas"/>
              </a:rPr>
              <a:t>kernel_main</a:t>
            </a:r>
            <a:r>
              <a:rPr sz="2200" b="0" dirty="0">
                <a:solidFill>
                  <a:srgbClr val="EEF1F6"/>
                </a:solidFill>
                <a:latin typeface="Consolas"/>
              </a:rPr>
              <a:t>(void)
{
 // </a:t>
            </a:r>
            <a:r>
              <a:rPr sz="2200" b="0" dirty="0" err="1">
                <a:solidFill>
                  <a:srgbClr val="EEF1F6"/>
                </a:solidFill>
                <a:latin typeface="Consolas"/>
              </a:rPr>
              <a:t>data_message的初始值从哪来</a:t>
            </a:r>
            <a:r>
              <a:rPr sz="2200" b="0" dirty="0">
                <a:solidFill>
                  <a:srgbClr val="EEF1F6"/>
                </a:solidFill>
                <a:latin typeface="Consolas"/>
              </a:rPr>
              <a:t>？
// </a:t>
            </a:r>
            <a:r>
              <a:rPr sz="2200" b="0" dirty="0" err="1">
                <a:solidFill>
                  <a:srgbClr val="EEF1F6"/>
                </a:solidFill>
                <a:latin typeface="Consolas"/>
              </a:rPr>
              <a:t>bss_buffer</a:t>
            </a:r>
            <a:r>
              <a:rPr sz="2200" b="0" dirty="0">
                <a:solidFill>
                  <a:srgbClr val="EEF1F6"/>
                </a:solidFill>
                <a:latin typeface="Consolas"/>
              </a:rPr>
              <a:t>[0]</a:t>
            </a:r>
            <a:r>
              <a:rPr sz="2200" b="0" dirty="0" err="1">
                <a:solidFill>
                  <a:srgbClr val="EEF1F6"/>
                </a:solidFill>
                <a:latin typeface="Consolas"/>
              </a:rPr>
              <a:t>是谁保证它等于</a:t>
            </a:r>
            <a:r>
              <a:rPr sz="2200" b="0" dirty="0">
                <a:solidFill>
                  <a:srgbClr val="EEF1F6"/>
                </a:solidFill>
                <a:latin typeface="Consolas"/>
              </a:rPr>
              <a:t> 0？
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204144"/>
            <a:ext cx="5381625" cy="31736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4110930"/>
            <a:ext cx="4829175" cy="9906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2925" y="2204144"/>
            <a:ext cx="5650706" cy="401091"/>
          </a:xfrm>
          <a:prstGeom prst="rect">
            <a:avLst/>
          </a:prstGeom>
          <a:noFill/>
        </p:spPr>
        <p:txBody>
          <a:bodyPr wrap="square" lIns="208061" tIns="0" rIns="0" bIns="0" anchor="t">
            <a:spAutoFit/>
          </a:bodyPr>
          <a:lstStyle/>
          <a:p>
            <a:pPr algn="l">
              <a:lnSpc>
                <a:spcPts val="3160"/>
              </a:lnSpc>
            </a:pPr>
            <a:r>
              <a:rPr sz="2105" b="1" i="0" u="none">
                <a:solidFill>
                  <a:srgbClr val="F43F5E"/>
                </a:solidFill>
                <a:latin typeface="Noto Sans SC" panose="020B0200000000000000" charset="-122"/>
              </a:rPr>
              <a:t>常见直觉误区（思维陷阱）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95058" y="2498206"/>
            <a:ext cx="4701681" cy="42152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2400" b="0" i="0" u="none" dirty="0">
                <a:solidFill>
                  <a:srgbClr val="38BDF8"/>
                </a:solidFill>
                <a:latin typeface="Noto Sans SC SemiBold"/>
              </a:rPr>
              <a:t>本</a:t>
            </a:r>
            <a:r>
              <a:rPr lang="zh-CN" altLang="en-US" sz="2400" b="0" i="0" u="none" dirty="0">
                <a:solidFill>
                  <a:srgbClr val="38BDF8"/>
                </a:solidFill>
                <a:latin typeface="Noto Sans SC SemiBold"/>
              </a:rPr>
              <a:t>次课</a:t>
            </a:r>
            <a:r>
              <a:rPr sz="2400" b="0" i="0" u="none" dirty="0" err="1">
                <a:solidFill>
                  <a:srgbClr val="38BDF8"/>
                </a:solidFill>
                <a:latin typeface="Noto Sans SC SemiBold"/>
              </a:rPr>
              <a:t>核心结论</a:t>
            </a:r>
            <a:endParaRPr sz="2400" b="0" i="0" u="none" dirty="0">
              <a:solidFill>
                <a:srgbClr val="38BDF8"/>
              </a:solidFill>
              <a:latin typeface="Noto Sans SC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43675" y="3070919"/>
            <a:ext cx="4829175" cy="7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120"/>
              </a:lnSpc>
            </a:pPr>
            <a:r>
              <a:rPr sz="1950" b="0" i="0" u="none">
                <a:solidFill>
                  <a:srgbClr val="F8FAFC"/>
                </a:solidFill>
                <a:latin typeface="Noto Sans SC" panose="020B0200000000000000" charset="-122"/>
              </a:rPr>
              <a:t>学生把操作系统与 C 运行库的功劳误当成了"自然法则"。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2925" y="2270819"/>
            <a:ext cx="208061" cy="26744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85825" y="2795736"/>
            <a:ext cx="50387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误区 1：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"硬件上电后会自动把内存清零"</a:t>
            </a:r>
            <a:r>
              <a:t>
</a:t>
            </a:r>
            <a:r>
              <a:rPr sz="1800" b="0" i="0" u="none">
                <a:solidFill>
                  <a:srgbClr val="94A3B8"/>
                </a:solidFill>
                <a:latin typeface="Noto Sans SC" panose="020B0200000000000000" charset="-122"/>
              </a:rPr>
              <a:t>真相：上电后 SRAM/DRAM 是随机电平信号。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5825" y="3633936"/>
            <a:ext cx="50387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误区 2：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"编译器会自动生成清零代码"</a:t>
            </a:r>
            <a:r>
              <a:t>
</a:t>
            </a:r>
            <a:r>
              <a:rPr sz="1800" b="0" i="0" u="none">
                <a:solidFill>
                  <a:srgbClr val="94A3B8"/>
                </a:solidFill>
                <a:latin typeface="Noto Sans SC" panose="020B0200000000000000" charset="-122"/>
              </a:rPr>
              <a:t>真相：编译器只编译你的 C 代码，不提供运行环境。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8915" y="4615011"/>
            <a:ext cx="50387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误区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 3：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"全局变量天生就是 0"</a:t>
            </a:r>
            <a:r>
              <a:rPr dirty="0"/>
              <a:t>
</a:t>
            </a:r>
            <a:r>
              <a:rPr sz="1800" b="0" i="0" u="none" dirty="0" err="1">
                <a:solidFill>
                  <a:srgbClr val="94A3B8"/>
                </a:solidFill>
                <a:latin typeface="Noto Sans SC" panose="020B0200000000000000" charset="-122"/>
              </a:rPr>
              <a:t>真相：C</a:t>
            </a:r>
            <a:r>
              <a:rPr sz="1800" b="0" i="0" u="none" dirty="0">
                <a:solidFill>
                  <a:srgbClr val="94A3B8"/>
                </a:solidFill>
                <a:latin typeface="Noto Sans SC" panose="020B0200000000000000" charset="-122"/>
              </a:rPr>
              <a:t> </a:t>
            </a:r>
            <a:r>
              <a:rPr sz="1800" b="0" i="0" u="none" dirty="0" err="1">
                <a:solidFill>
                  <a:srgbClr val="94A3B8"/>
                </a:solidFill>
                <a:latin typeface="Noto Sans SC" panose="020B0200000000000000" charset="-122"/>
              </a:rPr>
              <a:t>语义是标准规定，并非硬件天生行为</a:t>
            </a:r>
            <a:r>
              <a:rPr sz="1800" b="0" i="0" u="none" dirty="0">
                <a:solidFill>
                  <a:srgbClr val="94A3B8"/>
                </a:solidFill>
                <a:latin typeface="Noto Sans SC" panose="020B0200000000000000" charset="-122"/>
              </a:rPr>
              <a:t>。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2556569"/>
            <a:ext cx="237083" cy="3048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板块一：典型错误猜测</a:t>
            </a:r>
            <a:r>
              <a:rPr sz="3000" b="1" i="0" u="none" dirty="0">
                <a:solidFill>
                  <a:srgbClr val="F8FAFC"/>
                </a:solidFill>
                <a:latin typeface="Noto Sans SC" panose="020B0200000000000000" charset="-122"/>
              </a:rPr>
              <a:t> vs 本</a:t>
            </a:r>
            <a:r>
              <a:rPr lang="zh-CN" altLang="en-US" sz="3000" b="1" i="0" u="none" dirty="0">
                <a:solidFill>
                  <a:srgbClr val="F8FAFC"/>
                </a:solidFill>
                <a:latin typeface="Noto Sans SC" panose="020B0200000000000000" charset="-122"/>
              </a:rPr>
              <a:t>次课</a:t>
            </a:r>
            <a:r>
              <a:rPr sz="30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核心真相</a:t>
            </a:r>
            <a:endParaRPr sz="3000" b="1" i="0" u="none" dirty="0">
              <a:solidFill>
                <a:srgbClr val="F8FAFC"/>
              </a:solidFill>
              <a:latin typeface="Noto Sans SC" panose="020B0200000000000000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2814786"/>
            <a:ext cx="16311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3652986"/>
            <a:ext cx="16311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42925" y="4491186"/>
            <a:ext cx="16311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2390775"/>
            <a:ext cx="114300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24226" y="3076575"/>
            <a:ext cx="594339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4200" b="1" i="0" u="none">
                <a:solidFill>
                  <a:srgbClr val="F8FAFC"/>
                </a:solidFill>
                <a:latin typeface="Noto Sans SC" panose="020B0200000000000000" charset="-122"/>
              </a:rPr>
              <a:t>段（Section）结构讲解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27832" y="4067175"/>
            <a:ext cx="7916317" cy="372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 dirty="0" err="1">
                <a:solidFill>
                  <a:srgbClr val="38BDF8"/>
                </a:solidFill>
                <a:latin typeface="Noto Sans SC" panose="020B0200000000000000" charset="-122"/>
              </a:rPr>
              <a:t>深入理解</a:t>
            </a:r>
            <a:r>
              <a:rPr sz="2100" b="0" i="0" u="none" dirty="0">
                <a:solidFill>
                  <a:srgbClr val="38BDF8"/>
                </a:solidFill>
                <a:latin typeface="Noto Sans SC" panose="020B0200000000000000" charset="-122"/>
              </a:rPr>
              <a:t> ELF </a:t>
            </a:r>
            <a:r>
              <a:rPr sz="2100" b="0" i="0" u="none" dirty="0" err="1">
                <a:solidFill>
                  <a:srgbClr val="38BDF8"/>
                </a:solidFill>
                <a:latin typeface="Noto Sans SC" panose="020B0200000000000000" charset="-122"/>
              </a:rPr>
              <a:t>镜像中的</a:t>
            </a:r>
            <a:r>
              <a:rPr sz="2100" b="0" i="0" u="none" dirty="0">
                <a:solidFill>
                  <a:srgbClr val="38BDF8"/>
                </a:solidFill>
                <a:latin typeface="Noto Sans SC" panose="020B0200000000000000" charset="-122"/>
              </a:rPr>
              <a:t> .text / .</a:t>
            </a:r>
            <a:r>
              <a:rPr sz="2100" b="0" i="0" u="none" dirty="0" err="1">
                <a:solidFill>
                  <a:srgbClr val="38BDF8"/>
                </a:solidFill>
                <a:latin typeface="Noto Sans SC" panose="020B0200000000000000" charset="-122"/>
              </a:rPr>
              <a:t>rodata</a:t>
            </a:r>
            <a:r>
              <a:rPr sz="2100" b="0" i="0" u="none" dirty="0">
                <a:solidFill>
                  <a:srgbClr val="38BDF8"/>
                </a:solidFill>
                <a:latin typeface="Noto Sans SC" panose="020B0200000000000000" charset="-122"/>
              </a:rPr>
              <a:t> / .data / .</a:t>
            </a:r>
            <a:r>
              <a:rPr sz="2100" b="0" i="0" u="none" dirty="0" err="1">
                <a:solidFill>
                  <a:srgbClr val="38BDF8"/>
                </a:solidFill>
                <a:latin typeface="Noto Sans SC" panose="020B0200000000000000" charset="-122"/>
              </a:rPr>
              <a:t>bss</a:t>
            </a:r>
            <a:r>
              <a:rPr sz="2100" b="0" i="0" u="none" dirty="0">
                <a:solidFill>
                  <a:srgbClr val="38BDF8"/>
                </a:solidFill>
                <a:latin typeface="Noto Sans SC" panose="020B0200000000000000" charset="-122"/>
              </a:rPr>
              <a:t> </a:t>
            </a:r>
            <a:r>
              <a:rPr sz="2100" b="0" i="0" u="none" dirty="0" err="1">
                <a:solidFill>
                  <a:srgbClr val="38BDF8"/>
                </a:solidFill>
                <a:latin typeface="Noto Sans SC" panose="020B0200000000000000" charset="-122"/>
              </a:rPr>
              <a:t>四大核心段</a:t>
            </a:r>
            <a:endParaRPr sz="2100" b="0" i="0" u="none" dirty="0">
              <a:solidFill>
                <a:srgbClr val="38BDF8"/>
              </a:solidFill>
              <a:latin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2925" y="1371600"/>
            <a:ext cx="11106150" cy="4838700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0640696"/>
              </p:ext>
            </p:extLst>
          </p:nvPr>
        </p:nvGraphicFramePr>
        <p:xfrm>
          <a:off x="542925" y="1371600"/>
          <a:ext cx="11106147" cy="4838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3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53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11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28982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67740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FFFFFF"/>
                          </a:solidFill>
                          <a:latin typeface="Noto Sans SC" panose="020B0200000000000000" charset="-122"/>
                        </a:rPr>
                        <a:t>段名称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FFFFFF"/>
                          </a:solidFill>
                          <a:latin typeface="Noto Sans SC" panose="020B0200000000000000" charset="-122"/>
                        </a:rPr>
                        <a:t>段内包含的内容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FFFFFF"/>
                          </a:solidFill>
                          <a:latin typeface="Noto Sans SC" panose="020B0200000000000000" charset="-122"/>
                        </a:rPr>
                        <a:t>C 语言典型对应示例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FFFFFF"/>
                          </a:solidFill>
                          <a:latin typeface="Noto Sans SC" panose="020B0200000000000000" charset="-122"/>
                        </a:rPr>
                        <a:t>运行期物理要求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7740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38BDF8"/>
                          </a:solidFill>
                          <a:latin typeface="Noto Sans SC" panose="020B0200000000000000" charset="-122"/>
                        </a:rPr>
                        <a:t>.text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机器指令（代码）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函数体代码语句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CPU 真正执行的指令区（只读/可执行）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7740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38BDF8"/>
                          </a:solidFill>
                          <a:latin typeface="Noto Sans SC" panose="020B0200000000000000" charset="-122"/>
                        </a:rPr>
                        <a:t>.rodata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只读常量数据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 err="1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字符串字面量</a:t>
                      </a:r>
                      <a:r>
                        <a:rPr sz="1800" b="0" i="0" u="none" dirty="0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、</a:t>
                      </a:r>
                      <a:endParaRPr lang="en-US" sz="1800" b="0" i="0" u="none" dirty="0">
                        <a:solidFill>
                          <a:srgbClr val="CBD5E1"/>
                        </a:solidFill>
                        <a:latin typeface="Noto Sans SC" panose="020B0200000000000000" charset="-122"/>
                      </a:endParaRPr>
                    </a:p>
                    <a:p>
                      <a:pPr algn="l"/>
                      <a:r>
                        <a:rPr sz="1800" b="0" i="0" u="none" dirty="0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const </a:t>
                      </a:r>
                      <a:r>
                        <a:rPr sz="1800" b="0" i="0" u="none" dirty="0" err="1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常量</a:t>
                      </a:r>
                      <a:endParaRPr sz="1800" b="0" i="0" u="none" dirty="0">
                        <a:solidFill>
                          <a:srgbClr val="CBD5E1"/>
                        </a:solidFill>
                        <a:latin typeface="Noto Sans SC" panose="020B0200000000000000" charset="-122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常量存储区，运行时不可修改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7740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34D399"/>
                          </a:solidFill>
                          <a:latin typeface="Noto Sans SC" panose="020B0200000000000000" charset="-122"/>
                        </a:rPr>
                        <a:t>.data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有显式初始值</a:t>
                      </a:r>
                      <a:r>
                        <a:rPr sz="1800" b="0" i="0" u="none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的全局/静态变量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static char s[] = "hi";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运行时应能正确读到初始值（需加载）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7740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FBBF24"/>
                          </a:solidFill>
                          <a:latin typeface="Noto Sans SC" panose="020B0200000000000000" charset="-122"/>
                        </a:rPr>
                        <a:t>.bss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无显式初始值</a:t>
                      </a:r>
                      <a:r>
                        <a:rPr sz="1800" b="0" i="0" u="none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的全局/静态变量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static char buf[16];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 err="1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进入</a:t>
                      </a:r>
                      <a:r>
                        <a:rPr sz="1800" b="0" i="0" u="none" dirty="0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 C </a:t>
                      </a:r>
                      <a:r>
                        <a:rPr sz="1800" b="0" i="0" u="none" dirty="0" err="1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函数前必须被严格清零（不占镜像空间</a:t>
                      </a:r>
                      <a:r>
                        <a:rPr sz="1800" b="0" i="0" u="none" dirty="0">
                          <a:solidFill>
                            <a:srgbClr val="CBD5E1"/>
                          </a:solidFill>
                          <a:latin typeface="Noto Sans SC" panose="020B0200000000000000" charset="-122"/>
                        </a:rPr>
                        <a:t>）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2925" y="2052637"/>
            <a:ext cx="12193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762273" y="2052637"/>
            <a:ext cx="28853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47604" y="2052637"/>
            <a:ext cx="27116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359253" y="2052637"/>
            <a:ext cx="42898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3090862"/>
            <a:ext cx="12193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762273" y="3090862"/>
            <a:ext cx="28853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47604" y="3090862"/>
            <a:ext cx="27116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59253" y="3090862"/>
            <a:ext cx="42898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2925" y="4129087"/>
            <a:ext cx="12193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62273" y="4129087"/>
            <a:ext cx="28853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647604" y="4129087"/>
            <a:ext cx="27116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59253" y="4129087"/>
            <a:ext cx="42898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42925" y="5167312"/>
            <a:ext cx="12193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762273" y="5167312"/>
            <a:ext cx="2885330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647604" y="5167312"/>
            <a:ext cx="2711648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359253" y="5167312"/>
            <a:ext cx="4289821" cy="9525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Noto Sans SC" panose="020B0200000000000000" charset="-122"/>
              </a:rPr>
              <a:t>板块二：程序按用途划分的四大内存段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066925"/>
            <a:ext cx="5381625" cy="3448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66925"/>
            <a:ext cx="5381625" cy="3448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3790950"/>
            <a:ext cx="4829175" cy="9525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0916" y="2343150"/>
            <a:ext cx="4732779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生活比喻：入住宿舍擦抽屉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876550"/>
            <a:ext cx="4829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搬进空宿舍前，统一把所有空抽屉擦一遍，而不是给每一个空抽屉里都塞一张写着"空的"纸条。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65441" y="2343150"/>
            <a:ext cx="4732779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裸机 OS 处理机制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409825"/>
            <a:ext cx="207466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981075" y="3952875"/>
            <a:ext cx="45053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94A3B8"/>
                </a:solidFill>
                <a:latin typeface="Noto Sans SC" panose="020B0200000000000000" charset="-122"/>
              </a:rPr>
              <a:t>如果把成千上万个 0 强行写进磁盘镜像，文件体积会极度膨胀，极度浪费空间。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43675" y="2409825"/>
            <a:ext cx="207466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86575" y="28765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链接阶段：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链接脚本仅记录 .bss 段所需的起点与终点地址范围。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37147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二进制镜像：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镜像文件中不保存 .bss 的零数据，大幅缩小体积。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6575" y="45529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启动阶段：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汇编代码在进入 C 前，根据地址范围将内存填 0。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Noto Sans SC" panose="020B0200000000000000" charset="-122"/>
              </a:rPr>
              <a:t>板块二：为什么需要设计 .bss 段？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2895600"/>
            <a:ext cx="16311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3733800"/>
            <a:ext cx="16311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43675" y="4572000"/>
            <a:ext cx="16311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209800"/>
            <a:ext cx="5381625" cy="31623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209800"/>
            <a:ext cx="5381625" cy="31623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66800" y="2524125"/>
            <a:ext cx="4810601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F43F5E"/>
                </a:solidFill>
                <a:latin typeface="Noto Sans SC SemiBold"/>
              </a:rPr>
              <a:t>C 语义 0 ≠ 硬件自动为 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9150" y="3152775"/>
            <a:ext cx="4829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C 语言标准规定全局变量初始值为 0，这是对</a:t>
            </a: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程序员的语言承诺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4067175"/>
            <a:ext cx="48291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但在裸机世界中，CPU 和内存硬件不会替你做这件事，必须有人显式执行"写入 0"的指令动作。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1325" y="2524125"/>
            <a:ext cx="4810601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FBBF24"/>
                </a:solidFill>
                <a:latin typeface="Noto Sans SC SemiBold"/>
              </a:rPr>
              <a:t>链接符号 ≠ C 语言变量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43675" y="3152775"/>
            <a:ext cx="4829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FBBF24"/>
                </a:solidFill>
                <a:latin typeface="Noto Sans SC" panose="020B0200000000000000" charset="-122"/>
              </a:rPr>
              <a:t>__bss_start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 与 </a:t>
            </a:r>
            <a:r>
              <a:rPr sz="1800" b="0" i="0" u="none">
                <a:solidFill>
                  <a:srgbClr val="FBBF24"/>
                </a:solidFill>
                <a:latin typeface="Noto Sans SC" panose="020B0200000000000000" charset="-122"/>
              </a:rPr>
              <a:t>__bss_end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 不是 C 语言里的全局数组，也不是存储地址值的 int 变量。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43675" y="4067175"/>
            <a:ext cx="48291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它们是链接脚本提供的</a:t>
            </a: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物理地址标记线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（类似于装修蓝图上的尺寸刻度），本身不占用额外的内存空间。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590800"/>
            <a:ext cx="133350" cy="26670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2590800"/>
            <a:ext cx="133350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Noto Sans SC" panose="020B0200000000000000" charset="-122"/>
              </a:rPr>
              <a:t>板块二：两个必须强调的易混淆点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2390775"/>
            <a:ext cx="114300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82083" y="3076575"/>
            <a:ext cx="5227684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4200" b="1" i="0" u="none">
                <a:solidFill>
                  <a:srgbClr val="F8FAFC"/>
                </a:solidFill>
                <a:latin typeface="Noto Sans SC" panose="020B0200000000000000" charset="-122"/>
              </a:rPr>
              <a:t>课堂 Demo 源码路径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87389" y="4067175"/>
            <a:ext cx="6817072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" panose="020B0200000000000000" charset="-122"/>
              </a:rPr>
              <a:t>main.c → start.S → linker.ld → string.S 完整代码链路追踪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905000"/>
            <a:ext cx="5438775" cy="1771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905000"/>
            <a:ext cx="5438775" cy="1771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2925" y="3905250"/>
            <a:ext cx="5438775" cy="1771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0300" y="3905250"/>
            <a:ext cx="5438775" cy="17716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140916" y="2181225"/>
            <a:ext cx="4792786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① kernel/main.c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2714625"/>
            <a:ext cx="4886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先看「验证了什么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」：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检查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0" i="0" u="none" dirty="0" err="1">
                <a:solidFill>
                  <a:srgbClr val="38BDF8"/>
                </a:solidFill>
                <a:latin typeface="Noto Sans SC" panose="020B0200000000000000" charset="-122"/>
              </a:rPr>
              <a:t>data_message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数据读写与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0" i="0" u="none" dirty="0" err="1">
                <a:solidFill>
                  <a:srgbClr val="38BDF8"/>
                </a:solidFill>
                <a:latin typeface="Noto Sans SC" panose="020B0200000000000000" charset="-122"/>
              </a:rPr>
              <a:t>bss_buffer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0" i="0" u="none" dirty="0" err="1">
                <a:solidFill>
                  <a:srgbClr val="FF0000"/>
                </a:solidFill>
                <a:latin typeface="Noto Sans SC" panose="020B0200000000000000" charset="-122"/>
              </a:rPr>
              <a:t>清零效果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08291" y="2181225"/>
            <a:ext cx="4792786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② boot/start.S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6525" y="2714625"/>
            <a:ext cx="4886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再看「进入 C 前做了什么」：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启动汇编中新增关键步骤 </a:t>
            </a:r>
            <a:r>
              <a:rPr sz="1800" b="0" i="0" u="none">
                <a:solidFill>
                  <a:srgbClr val="38BDF8"/>
                </a:solidFill>
                <a:latin typeface="Noto Sans SC" panose="020B0200000000000000" charset="-122"/>
              </a:rPr>
              <a:t>bl clear_bss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 的实现。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0916" y="4181475"/>
            <a:ext cx="4792786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③ kernel/linker.ld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150" y="4714875"/>
            <a:ext cx="4886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再看「边界从哪里来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」：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链接脚本提供的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0" i="0" u="none" dirty="0">
                <a:solidFill>
                  <a:srgbClr val="38BDF8"/>
                </a:solidFill>
                <a:latin typeface="Noto Sans SC" panose="020B0200000000000000" charset="-122"/>
              </a:rPr>
              <a:t>__</a:t>
            </a:r>
            <a:r>
              <a:rPr sz="1800" b="0" i="0" u="none" dirty="0" err="1">
                <a:solidFill>
                  <a:srgbClr val="38BDF8"/>
                </a:solidFill>
                <a:latin typeface="Noto Sans SC" panose="020B0200000000000000" charset="-122"/>
              </a:rPr>
              <a:t>bss_start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与 </a:t>
            </a:r>
            <a:r>
              <a:rPr sz="1800" b="0" i="0" u="none" dirty="0">
                <a:solidFill>
                  <a:srgbClr val="38BDF8"/>
                </a:solidFill>
                <a:latin typeface="Noto Sans SC" panose="020B0200000000000000" charset="-122"/>
              </a:rPr>
              <a:t>__</a:t>
            </a:r>
            <a:r>
              <a:rPr sz="1800" b="0" i="0" u="none" dirty="0" err="1">
                <a:solidFill>
                  <a:srgbClr val="38BDF8"/>
                </a:solidFill>
                <a:latin typeface="Noto Sans SC" panose="020B0200000000000000" charset="-122"/>
              </a:rPr>
              <a:t>bss_end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符号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08291" y="4181475"/>
            <a:ext cx="4792786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④ lib/string.S + include/string.h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4714875"/>
            <a:ext cx="48863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最后看「C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如何调用汇编库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」：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C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与汇编混合调用的函数声明与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ABI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约束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2247900"/>
            <a:ext cx="207466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2247900"/>
            <a:ext cx="207466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9150" y="4248150"/>
            <a:ext cx="207466" cy="2667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86525" y="4248150"/>
            <a:ext cx="207466" cy="2667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板块三：本</a:t>
            </a:r>
            <a:r>
              <a:rPr lang="zh-CN" altLang="en-US" sz="3000" b="1" i="0" u="none" dirty="0">
                <a:solidFill>
                  <a:srgbClr val="F8FAFC"/>
                </a:solidFill>
                <a:latin typeface="Noto Sans SC" panose="020B0200000000000000" charset="-122"/>
              </a:rPr>
              <a:t>次课</a:t>
            </a:r>
            <a:r>
              <a:rPr sz="30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重点源码文件与阅读顺序</a:t>
            </a:r>
            <a:endParaRPr sz="3000" b="1" i="0" u="none" dirty="0">
              <a:solidFill>
                <a:srgbClr val="F8FAFC"/>
              </a:solidFill>
              <a:latin typeface="Noto Sans SC" panose="020B0200000000000000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647825"/>
            <a:ext cx="5381625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65441" y="1924050"/>
            <a:ext cx="4732779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关键执行流程解析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1990725"/>
            <a:ext cx="207466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86575" y="24574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① </a:t>
            </a: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设置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 $</a:t>
            </a: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sp：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CPU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上电后栈指针为垃圾值，必须显式指向预留栈顶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32956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② bl </a:t>
            </a: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clear_bss：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本</a:t>
            </a:r>
            <a:r>
              <a:rPr lang="zh-CN" altLang="en-US"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次课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核心！在内核运行前手动将整个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.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bss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段擦除为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0。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86575" y="41338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③ 进入 C 语言：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顺序极严苛，</a:t>
            </a: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清零必须在 kernel_main 前完成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86575" y="49720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halt 循环：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防止 kernel_main 意外返回后 CPU 乱乱取指崩溃。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Noto Sans SC" panose="020B0200000000000000" charset="-122"/>
              </a:rPr>
              <a:t>板块三：boot/start.S —— _start 完整职责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2476500"/>
            <a:ext cx="16311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3314700"/>
            <a:ext cx="16311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4152900"/>
            <a:ext cx="163115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4991100"/>
            <a:ext cx="163115" cy="24765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AB4D0322-50D3-9AAC-93FE-1587163777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6713" y="1247775"/>
            <a:ext cx="5534025" cy="46863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757362"/>
            <a:ext cx="5381625" cy="40671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43675" y="2571750"/>
            <a:ext cx="4829175" cy="12287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65441" y="2033587"/>
            <a:ext cx="4732779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逻辑等价与要点说明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2100262"/>
            <a:ext cx="207466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886575" y="4024312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地址范围：</a:t>
            </a:r>
            <a:r>
              <a:rPr sz="1800" b="0" i="0" u="none">
                <a:solidFill>
                  <a:srgbClr val="38BDF8"/>
                </a:solidFill>
                <a:latin typeface="Noto Sans SC" panose="020B0200000000000000" charset="-122"/>
              </a:rPr>
              <a:t>[__bss_start, __bss_end)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，左闭右开区间。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86575" y="4862512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$zero 寄存器：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LoongArch 硬件恒为 0，用于高效写零。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Noto Sans SC" panose="020B0200000000000000" charset="-122"/>
              </a:rPr>
              <a:t>板块三：clear_bss 汇编代码逐行讲解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4043362"/>
            <a:ext cx="16311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4881562"/>
            <a:ext cx="163115" cy="247650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075BB83E-8957-035F-3B90-BBFC88D27D3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1475" y="1197643"/>
            <a:ext cx="5619750" cy="520566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738168" y="1768375"/>
            <a:ext cx="50387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 panose="020B0200000000000000" charset="-122"/>
              </a:rPr>
              <a:t>① 步骤 1：</a:t>
            </a:r>
            <a:r>
              <a:rPr sz="1800" b="0" i="0" u="none">
                <a:solidFill>
                  <a:srgbClr val="CBD5E1"/>
                </a:solidFill>
                <a:latin typeface="Noto Sans SC" panose="020B0200000000000000" charset="-122"/>
              </a:rPr>
              <a:t>保留第 1 Week 串口输出，验证基础链路正常。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38168" y="2606575"/>
            <a:ext cx="50387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②③④ </a:t>
            </a: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步骤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 2-4：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通过汇编实现的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memcpy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/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strlen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将 .data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段内容拷到栈上输出，验证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.data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可读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38168" y="3963425"/>
            <a:ext cx="50387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⑤ </a:t>
            </a: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步骤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 5：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严苛检验 .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bss：只有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clear_bss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在进入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main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前成功运行，此条件才成立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38168" y="5362067"/>
            <a:ext cx="503872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⑥⑦ </a:t>
            </a:r>
            <a:r>
              <a:rPr sz="1800" b="1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步骤</a:t>
            </a:r>
            <a:r>
              <a:rPr sz="1800" b="1" i="0" u="none" dirty="0">
                <a:solidFill>
                  <a:srgbClr val="CBD5E1"/>
                </a:solidFill>
                <a:latin typeface="Noto Sans SC" panose="020B0200000000000000" charset="-122"/>
              </a:rPr>
              <a:t> 6-7：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阶段完成标记 +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死循环停机，防止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 CPU </a:t>
            </a:r>
            <a:r>
              <a:rPr sz="1800" b="0" i="0" u="none" dirty="0" err="1">
                <a:solidFill>
                  <a:srgbClr val="CBD5E1"/>
                </a:solidFill>
                <a:latin typeface="Noto Sans SC" panose="020B0200000000000000" charset="-122"/>
              </a:rPr>
              <a:t>跑飞</a:t>
            </a:r>
            <a:r>
              <a:rPr sz="1800" b="0" i="0" u="none" dirty="0">
                <a:solidFill>
                  <a:srgbClr val="CBD5E1"/>
                </a:solidFill>
                <a:latin typeface="Noto Sans SC" panose="020B0200000000000000" charset="-122"/>
              </a:rPr>
              <a:t>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38900" y="233660"/>
            <a:ext cx="11015126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板块三</a:t>
            </a:r>
            <a:r>
              <a:rPr sz="3000" b="1" i="0" u="none" dirty="0">
                <a:solidFill>
                  <a:srgbClr val="F8FAFC"/>
                </a:solidFill>
                <a:latin typeface="Noto Sans SC" panose="020B0200000000000000" charset="-122"/>
              </a:rPr>
              <a:t>：</a:t>
            </a:r>
            <a:endParaRPr lang="en-US" sz="3000" b="1" i="0" u="none" dirty="0">
              <a:solidFill>
                <a:srgbClr val="F8FAFC"/>
              </a:solidFill>
              <a:latin typeface="Noto Sans SC" panose="020B0200000000000000" charset="-122"/>
            </a:endParaRPr>
          </a:p>
          <a:p>
            <a:pPr algn="l">
              <a:lnSpc>
                <a:spcPts val="3600"/>
              </a:lnSpc>
            </a:pPr>
            <a:r>
              <a:rPr sz="3000" b="1" i="0" u="none" dirty="0">
                <a:solidFill>
                  <a:srgbClr val="F8FAFC"/>
                </a:solidFill>
                <a:latin typeface="Noto Sans SC" panose="020B0200000000000000" charset="-122"/>
              </a:rPr>
              <a:t>kernel/</a:t>
            </a:r>
            <a:r>
              <a:rPr sz="30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main.c</a:t>
            </a:r>
            <a:r>
              <a:rPr sz="3000" b="1" i="0" u="none" dirty="0">
                <a:solidFill>
                  <a:srgbClr val="F8FAFC"/>
                </a:solidFill>
                <a:latin typeface="Noto Sans SC" panose="020B0200000000000000" charset="-122"/>
              </a:rPr>
              <a:t> </a:t>
            </a:r>
            <a:r>
              <a:rPr sz="30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验证逻辑剖析</a:t>
            </a:r>
            <a:endParaRPr sz="3000" b="1" i="0" u="none" dirty="0">
              <a:solidFill>
                <a:srgbClr val="F8FAFC"/>
              </a:solidFill>
              <a:latin typeface="Noto Sans SC" panose="020B0200000000000000" charset="-122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268" y="1787425"/>
            <a:ext cx="163115" cy="247650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268" y="2625625"/>
            <a:ext cx="163115" cy="247650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268" y="3982475"/>
            <a:ext cx="163115" cy="247650"/>
          </a:xfrm>
          <a:prstGeom prst="rect">
            <a:avLst/>
          </a:prstGeom>
        </p:spPr>
      </p:pic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268" y="5381117"/>
            <a:ext cx="163115" cy="247650"/>
          </a:xfrm>
          <a:prstGeom prst="rect">
            <a:avLst/>
          </a:prstGeom>
        </p:spPr>
      </p:pic>
      <p:pic>
        <p:nvPicPr>
          <p:cNvPr id="46" name="图片 45">
            <a:extLst>
              <a:ext uri="{FF2B5EF4-FFF2-40B4-BE49-F238E27FC236}">
                <a16:creationId xmlns:a16="http://schemas.microsoft.com/office/drawing/2014/main" id="{13A150BA-C673-70BE-05AA-1C20474E98A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1279"/>
          <a:stretch>
            <a:fillRect/>
          </a:stretch>
        </p:blipFill>
        <p:spPr>
          <a:xfrm>
            <a:off x="0" y="266700"/>
            <a:ext cx="6215483" cy="6324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7C2BB0-E8BC-571F-4673-F390BC4C1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28D7D608-FC26-CB46-161F-465DE3650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C3AE63DF-6E34-BD5D-1A4D-645D16C3C7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593AB3B-8591-DF9F-3D47-98643F669F8C}"/>
              </a:ext>
            </a:extLst>
          </p:cNvPr>
          <p:cNvSpPr txBox="1"/>
          <p:nvPr/>
        </p:nvSpPr>
        <p:spPr>
          <a:xfrm>
            <a:off x="1158478" y="464492"/>
            <a:ext cx="11015126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lnSpc>
                <a:spcPts val="3600"/>
              </a:lnSpc>
            </a:pPr>
            <a:r>
              <a:rPr sz="3000" b="1" i="0" u="none" dirty="0" err="1">
                <a:solidFill>
                  <a:srgbClr val="F8FAFC"/>
                </a:solidFill>
                <a:latin typeface="Noto Sans SC" panose="020B0200000000000000" charset="-122"/>
              </a:rPr>
              <a:t>板块三：</a:t>
            </a:r>
            <a:r>
              <a:rPr lang="en-US" altLang="zh-CN" sz="3000" b="1" dirty="0" err="1">
                <a:solidFill>
                  <a:schemeClr val="bg1"/>
                </a:solidFill>
                <a:latin typeface="Microsoft YaHei"/>
              </a:rPr>
              <a:t>kernel</a:t>
            </a:r>
            <a:r>
              <a:rPr lang="en-US" altLang="zh-CN" sz="3000" b="1" dirty="0">
                <a:solidFill>
                  <a:schemeClr val="bg1"/>
                </a:solidFill>
                <a:latin typeface="Microsoft YaHei"/>
              </a:rPr>
              <a:t>/</a:t>
            </a:r>
            <a:r>
              <a:rPr lang="en-US" altLang="zh-CN" sz="3000" b="1" dirty="0" err="1">
                <a:solidFill>
                  <a:schemeClr val="bg1"/>
                </a:solidFill>
                <a:latin typeface="Microsoft YaHei"/>
              </a:rPr>
              <a:t>linker.ld</a:t>
            </a:r>
            <a:r>
              <a:rPr lang="en-US" altLang="zh-CN" sz="3000" b="1" dirty="0">
                <a:solidFill>
                  <a:schemeClr val="bg1"/>
                </a:solidFill>
                <a:latin typeface="Microsoft YaHei"/>
              </a:rPr>
              <a:t> —— </a:t>
            </a:r>
            <a:r>
              <a:rPr lang="zh-CN" altLang="en-US" sz="3000" b="1" dirty="0">
                <a:solidFill>
                  <a:schemeClr val="bg1"/>
                </a:solidFill>
                <a:latin typeface="Microsoft YaHei"/>
              </a:rPr>
              <a:t>清零边界从哪来</a:t>
            </a:r>
            <a:endParaRPr sz="3000" b="1" i="0" u="none" dirty="0">
              <a:solidFill>
                <a:srgbClr val="F8FAFC"/>
              </a:solidFill>
              <a:latin typeface="Noto Sans SC" panose="020B0200000000000000" charset="-122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096905C-5C7F-E9AD-B669-F95A643D8CD2}"/>
              </a:ext>
            </a:extLst>
          </p:cNvPr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5"/>
          <p:cNvSpPr/>
          <p:nvPr/>
        </p:nvSpPr>
        <p:spPr>
          <a:xfrm>
            <a:off x="1" y="959806"/>
            <a:ext cx="7048499" cy="5922854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28016" rIns="164592" rtlCol="0" anchor="ctr"/>
          <a:lstStyle/>
          <a:p>
            <a:r>
              <a:rPr sz="2000" b="0" dirty="0">
                <a:solidFill>
                  <a:srgbClr val="EEF1F6"/>
                </a:solidFill>
                <a:latin typeface="Consolas"/>
              </a:rPr>
              <a:t>ENTRY(_start)
SECTIONS {
    . = 0x9000000000200000;
    .text : ALIGN(4K) { </a:t>
            </a:r>
            <a:endParaRPr lang="en-US" sz="2000" b="0" dirty="0">
              <a:solidFill>
                <a:srgbClr val="EEF1F6"/>
              </a:solidFill>
              <a:latin typeface="Consolas"/>
            </a:endParaRPr>
          </a:p>
          <a:p>
            <a:r>
              <a:rPr lang="en-US" sz="2000" dirty="0">
                <a:solidFill>
                  <a:srgbClr val="EEF1F6"/>
                </a:solidFill>
                <a:latin typeface="Consolas"/>
              </a:rPr>
              <a:t>     	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KEEP(*(.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text.boot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)) </a:t>
            </a:r>
            <a:endParaRPr lang="en-US" sz="2000" b="0" dirty="0">
              <a:solidFill>
                <a:srgbClr val="EEF1F6"/>
              </a:solidFill>
              <a:latin typeface="Consolas"/>
            </a:endParaRPr>
          </a:p>
          <a:p>
            <a:r>
              <a:rPr lang="en-US" sz="2000" dirty="0">
                <a:solidFill>
                  <a:srgbClr val="EEF1F6"/>
                </a:solidFill>
                <a:latin typeface="Consolas"/>
              </a:rPr>
              <a:t>		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*(.text .text.*) }
    .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rodata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: ALIGN(4K) { </a:t>
            </a:r>
            <a:endParaRPr lang="en-US" sz="2000" b="0" dirty="0">
              <a:solidFill>
                <a:srgbClr val="EEF1F6"/>
              </a:solidFill>
              <a:latin typeface="Consolas"/>
            </a:endParaRPr>
          </a:p>
          <a:p>
            <a:r>
              <a:rPr lang="en-US" sz="2000" dirty="0">
                <a:solidFill>
                  <a:srgbClr val="EEF1F6"/>
                </a:solidFill>
                <a:latin typeface="Consolas"/>
              </a:rPr>
              <a:t>		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*(.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rodata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.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rodata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.*) }
    .data : ALIGN(4K) { </a:t>
            </a:r>
            <a:endParaRPr lang="en-US" sz="2000" b="0" dirty="0">
              <a:solidFill>
                <a:srgbClr val="EEF1F6"/>
              </a:solidFill>
              <a:latin typeface="Consolas"/>
            </a:endParaRPr>
          </a:p>
          <a:p>
            <a:r>
              <a:rPr lang="en-US" sz="2000" dirty="0">
                <a:solidFill>
                  <a:srgbClr val="EEF1F6"/>
                </a:solidFill>
                <a:latin typeface="Consolas"/>
              </a:rPr>
              <a:t>		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*(.data .data.*) }
    __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bss_start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= .; @ 在 .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bss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前记录当前地址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    .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bss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: ALIGN(4K) {
        *(.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bss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.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bss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.*)
        *(COMMON)
    }
    __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bss_end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= .; @ 在 .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bss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后记录当前地址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562954-D10F-255A-6467-B0065679AE89}"/>
              </a:ext>
            </a:extLst>
          </p:cNvPr>
          <p:cNvSpPr txBox="1"/>
          <p:nvPr/>
        </p:nvSpPr>
        <p:spPr>
          <a:xfrm>
            <a:off x="7144404" y="1422274"/>
            <a:ext cx="5029200" cy="4196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0" dirty="0">
                <a:solidFill>
                  <a:schemeClr val="bg1"/>
                </a:solidFill>
                <a:latin typeface="Microsoft YaHei"/>
              </a:rPr>
              <a:t>'.' </a:t>
            </a:r>
            <a:r>
              <a:rPr sz="2000" b="0" dirty="0" err="1">
                <a:solidFill>
                  <a:schemeClr val="bg1"/>
                </a:solidFill>
                <a:latin typeface="Microsoft YaHei"/>
              </a:rPr>
              <a:t>是链接器的位置计数器，表示当前地址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。</a:t>
            </a: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chemeClr val="bg1"/>
                </a:solidFill>
                <a:latin typeface="Microsoft YaHei"/>
              </a:rPr>
              <a:t>__</a:t>
            </a:r>
            <a:r>
              <a:rPr sz="2000" b="0" dirty="0" err="1">
                <a:solidFill>
                  <a:schemeClr val="bg1"/>
                </a:solidFill>
                <a:latin typeface="Microsoft YaHei"/>
              </a:rPr>
              <a:t>bss_start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 = . 在 .</a:t>
            </a:r>
            <a:r>
              <a:rPr sz="2000" b="0" dirty="0" err="1">
                <a:solidFill>
                  <a:schemeClr val="bg1"/>
                </a:solidFill>
                <a:latin typeface="Microsoft YaHei"/>
              </a:rPr>
              <a:t>bss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 </a:t>
            </a:r>
            <a:r>
              <a:rPr sz="2000" b="0" dirty="0" err="1">
                <a:solidFill>
                  <a:schemeClr val="bg1"/>
                </a:solidFill>
                <a:latin typeface="Microsoft YaHei"/>
              </a:rPr>
              <a:t>段开始前记录当前地址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；</a:t>
            </a:r>
            <a:endParaRPr lang="en-US" sz="2000" b="0" dirty="0">
              <a:solidFill>
                <a:schemeClr val="bg1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chemeClr val="bg1"/>
                </a:solidFill>
                <a:latin typeface="Microsoft YaHei"/>
              </a:rPr>
              <a:t>__</a:t>
            </a:r>
            <a:r>
              <a:rPr sz="2000" b="0" dirty="0" err="1">
                <a:solidFill>
                  <a:schemeClr val="bg1"/>
                </a:solidFill>
                <a:latin typeface="Microsoft YaHei"/>
              </a:rPr>
              <a:t>bss_end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 = . </a:t>
            </a:r>
            <a:r>
              <a:rPr sz="2000" b="0" dirty="0" err="1">
                <a:solidFill>
                  <a:schemeClr val="bg1"/>
                </a:solidFill>
                <a:latin typeface="Microsoft YaHei"/>
              </a:rPr>
              <a:t>在段结束后记录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。</a:t>
            </a:r>
            <a:endParaRPr lang="en-US" sz="2000" b="0" dirty="0">
              <a:solidFill>
                <a:schemeClr val="bg1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endParaRPr sz="2000" b="0" dirty="0">
              <a:solidFill>
                <a:schemeClr val="bg1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2000" b="0" dirty="0" err="1">
                <a:solidFill>
                  <a:schemeClr val="bg1"/>
                </a:solidFill>
                <a:latin typeface="Microsoft YaHei"/>
              </a:rPr>
              <a:t>这两符号是链接时生成的地址标签，不是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 C </a:t>
            </a:r>
            <a:r>
              <a:rPr sz="2000" b="0" dirty="0" err="1">
                <a:solidFill>
                  <a:schemeClr val="bg1"/>
                </a:solidFill>
                <a:latin typeface="Microsoft YaHei"/>
              </a:rPr>
              <a:t>变量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。</a:t>
            </a:r>
            <a:endParaRPr lang="en-US" sz="2000" b="0" dirty="0">
              <a:solidFill>
                <a:schemeClr val="bg1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2000" b="0" dirty="0" err="1">
                <a:solidFill>
                  <a:schemeClr val="bg1"/>
                </a:solidFill>
                <a:latin typeface="Microsoft YaHei"/>
              </a:rPr>
              <a:t>汇编中用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 </a:t>
            </a:r>
            <a:r>
              <a:rPr sz="2000" b="0" dirty="0" err="1">
                <a:solidFill>
                  <a:schemeClr val="bg1"/>
                </a:solidFill>
                <a:latin typeface="Microsoft YaHei"/>
              </a:rPr>
              <a:t>la.global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 </a:t>
            </a:r>
            <a:r>
              <a:rPr sz="2000" b="0" dirty="0" err="1">
                <a:solidFill>
                  <a:schemeClr val="bg1"/>
                </a:solidFill>
                <a:latin typeface="Microsoft YaHei"/>
              </a:rPr>
              <a:t>加载的是地址值本身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。</a:t>
            </a:r>
          </a:p>
          <a:p>
            <a:pPr>
              <a:spcAft>
                <a:spcPts val="800"/>
              </a:spcAft>
            </a:pPr>
            <a:endParaRPr sz="2000" b="0" dirty="0">
              <a:solidFill>
                <a:schemeClr val="bg1"/>
              </a:solidFill>
              <a:latin typeface="Microsoft YaHei"/>
            </a:endParaRPr>
          </a:p>
          <a:p>
            <a:pPr>
              <a:spcAft>
                <a:spcPts val="800"/>
              </a:spcAft>
            </a:pPr>
            <a:r>
              <a:rPr sz="2000" b="0" dirty="0">
                <a:solidFill>
                  <a:schemeClr val="bg1"/>
                </a:solidFill>
                <a:latin typeface="Microsoft YaHei"/>
              </a:rPr>
              <a:t>ENTRY(_start) </a:t>
            </a:r>
            <a:r>
              <a:rPr sz="2000" b="0" dirty="0" err="1">
                <a:solidFill>
                  <a:schemeClr val="bg1"/>
                </a:solidFill>
                <a:latin typeface="Microsoft YaHei"/>
              </a:rPr>
              <a:t>告诉链接器入口符号是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 _</a:t>
            </a:r>
            <a:r>
              <a:rPr sz="2000" b="0" dirty="0" err="1">
                <a:solidFill>
                  <a:schemeClr val="bg1"/>
                </a:solidFill>
                <a:latin typeface="Microsoft YaHei"/>
              </a:rPr>
              <a:t>start，不是</a:t>
            </a:r>
            <a:r>
              <a:rPr sz="2000" b="0" dirty="0">
                <a:solidFill>
                  <a:schemeClr val="bg1"/>
                </a:solidFill>
                <a:latin typeface="Microsoft YaHei"/>
              </a:rPr>
              <a:t> main。</a:t>
            </a:r>
          </a:p>
        </p:txBody>
      </p:sp>
    </p:spTree>
    <p:extLst>
      <p:ext uri="{BB962C8B-B14F-4D97-AF65-F5344CB8AC3E}">
        <p14:creationId xmlns:p14="http://schemas.microsoft.com/office/powerpoint/2010/main" val="26390616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02920" cy="50292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指定程序入口点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141B4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1645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ENTRY(_start)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10332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告诉链接器：程序从符号 _start 开始执行</a:t>
            </a:r>
            <a:endParaRPr lang="en-US" sz="2400" dirty="0"/>
          </a:p>
          <a:p>
            <a:pPr marL="342900" indent="-342900" algn="l">
              <a:spcAft>
                <a:spcPts val="2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该地址会写入 ELF 文件头的 entry point 字段</a:t>
            </a:r>
            <a:endParaRPr lang="en-US" sz="2400" dirty="0"/>
          </a:p>
          <a:p>
            <a:pPr marL="342900" indent="-342900" algn="l">
              <a:spcAft>
                <a:spcPts val="2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裸机 / 内核代码没有 C 运行时环境，无法从 main 启动</a:t>
            </a:r>
            <a:endParaRPr lang="en-US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48640"/>
            <a:ext cx="502920" cy="50292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48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5029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设定起始地址：位置计数器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417320"/>
            <a:ext cx="10515600" cy="1097280"/>
          </a:xfrm>
          <a:prstGeom prst="roundRect">
            <a:avLst>
              <a:gd name="adj" fmla="val 10000"/>
            </a:avLst>
          </a:prstGeom>
          <a:solidFill>
            <a:srgbClr val="141B4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1645920"/>
            <a:ext cx="9875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 = 0x9000000000200000;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10332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"." 是位置计数器，代表当前链接地址</a:t>
            </a:r>
            <a:endParaRPr lang="en-US" sz="2400" dirty="0"/>
          </a:p>
          <a:p>
            <a:pPr marL="342900" indent="-342900" algn="l">
              <a:spcAft>
                <a:spcPts val="2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高位 0x9... 是 LoongArch 直接映射窗口（DMW）地址</a:t>
            </a:r>
            <a:endParaRPr lang="en-US" sz="2400" dirty="0"/>
          </a:p>
          <a:p>
            <a:pPr marL="342900" indent="-342900" algn="l">
              <a:spcAft>
                <a:spcPts val="22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内核态借助该窗口，直接映射访问物理内存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.text 代码段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10515600" cy="2286000"/>
          </a:xfrm>
          <a:prstGeom prst="roundRect">
            <a:avLst>
              <a:gd name="adj" fmla="val 4800"/>
            </a:avLst>
          </a:prstGeom>
          <a:solidFill>
            <a:srgbClr val="141B4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1508760"/>
            <a:ext cx="9875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 : ALIGN(4K) {</a:t>
            </a:r>
            <a:endParaRPr lang="en-US" sz="2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KEEP(*(.text.boot))</a:t>
            </a:r>
            <a:endParaRPr lang="en-US" sz="2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*(.text .text.*)</a:t>
            </a:r>
            <a:endParaRPr lang="en-US" sz="24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794760"/>
            <a:ext cx="103327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ALIGN(4K)：按 4KB 页大小对齐</a:t>
            </a:r>
            <a:endParaRPr lang="en-US" sz="2400" dirty="0"/>
          </a:p>
          <a:p>
            <a:pPr marL="342900" indent="-342900" algn="l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KEEP(*(.text.boot))：保留启动汇编代码，防止被优化裁剪，且固定放在最前</a:t>
            </a:r>
            <a:endParaRPr lang="en-US" sz="2400" dirty="0"/>
          </a:p>
          <a:p>
            <a:pPr marL="342900" indent="-342900" algn="l">
              <a:spcAft>
                <a:spcPts val="18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*(.text .text.*)：其余目标文件中的普通代码依次排入</a:t>
            </a:r>
            <a:endParaRPr lang="en-US" sz="2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02920" cy="50292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.rodata 与 .data 段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28016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141B4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150876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.rodata : ALIGN(4K) {</a:t>
            </a:r>
            <a:endParaRPr lang="en-US" sz="2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*(.rodata .rodata.*)</a:t>
            </a:r>
            <a:endParaRPr lang="en-US" sz="2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6263640" y="1280160"/>
            <a:ext cx="5074920" cy="2103120"/>
          </a:xfrm>
          <a:prstGeom prst="roundRect">
            <a:avLst>
              <a:gd name="adj" fmla="val 5217"/>
            </a:avLst>
          </a:prstGeom>
          <a:solidFill>
            <a:srgbClr val="141B4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583680" y="1508760"/>
            <a:ext cx="4434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.data : ALIGN(4K) {</a:t>
            </a:r>
            <a:endParaRPr lang="en-US" sz="2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*(.data .data.*)</a:t>
            </a:r>
            <a:endParaRPr lang="en-US" sz="2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657600"/>
            <a:ext cx="10332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.rodata：只读数据段，存放字符串常量、const 变量等</a:t>
            </a:r>
            <a:endParaRPr lang="en-US" sz="2400" dirty="0"/>
          </a:p>
          <a:p>
            <a:pPr marL="342900" indent="-342900" algn="l"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.data：已初始化的全局 / 静态变量</a:t>
            </a:r>
            <a:endParaRPr lang="en-US" sz="2400" dirty="0"/>
          </a:p>
          <a:p>
            <a:pPr marL="342900" indent="-342900" algn="l">
              <a:spcAft>
                <a:spcPts val="20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两者均按 4K 对齐，与 .text 保持一致的页粒度</a:t>
            </a:r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502920" cy="502920"/>
          </a:xfrm>
          <a:prstGeom prst="ellipse">
            <a:avLst/>
          </a:prstGeom>
          <a:solidFill>
            <a:srgbClr val="F9A826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457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25880" y="41148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.bss 段与清零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188720"/>
            <a:ext cx="10515600" cy="2926080"/>
          </a:xfrm>
          <a:prstGeom prst="roundRect">
            <a:avLst>
              <a:gd name="adj" fmla="val 3750"/>
            </a:avLst>
          </a:prstGeom>
          <a:solidFill>
            <a:srgbClr val="141B4D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143000" y="1417320"/>
            <a:ext cx="9875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__bss_start = .;</a:t>
            </a:r>
            <a:endParaRPr lang="en-US" sz="2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.bss : ALIGN(4K) {</a:t>
            </a:r>
            <a:endParaRPr lang="en-US" sz="2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*(.bss .bss.*)</a:t>
            </a:r>
            <a:endParaRPr lang="en-US" sz="2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*(COMMON)</a:t>
            </a:r>
            <a:endParaRPr lang="en-US" sz="2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22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2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__bss_end = .;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429768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.bss 存放未初始化的全局/静态变量，不占文件空间</a:t>
            </a:r>
            <a:endParaRPr lang="en-US" sz="2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__bss_start / __bss_end 记录该段的起止地址</a:t>
            </a:r>
            <a:endParaRPr lang="en-US" sz="2400" dirty="0"/>
          </a:p>
          <a:p>
            <a:pPr marL="342900" indent="-342900" algn="l">
              <a:spcAft>
                <a:spcPts val="1600"/>
              </a:spcAft>
              <a:buSzPct val="100000"/>
              <a:buChar char="•"/>
            </a:pPr>
            <a:r>
              <a:rPr lang="en-US" sz="24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启动代码依据这两个符号，循环将该区间清零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45720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整体内存布局总结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051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9A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起始地址 0x9000000000200000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280160" y="1737360"/>
            <a:ext cx="9692640" cy="1051560"/>
          </a:xfrm>
          <a:prstGeom prst="roundRect">
            <a:avLst>
              <a:gd name="adj" fmla="val 8696"/>
            </a:avLst>
          </a:prstGeom>
          <a:solidFill>
            <a:srgbClr val="2C368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645920" y="173736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A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.text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4572000" y="17373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启动代码 + 普通代码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280160" y="2926080"/>
            <a:ext cx="9692640" cy="1051560"/>
          </a:xfrm>
          <a:prstGeom prst="roundRect">
            <a:avLst>
              <a:gd name="adj" fmla="val 8696"/>
            </a:avLst>
          </a:prstGeom>
          <a:solidFill>
            <a:srgbClr val="39429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645920" y="292608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A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.rodata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92608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只读数据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1280160" y="4114800"/>
            <a:ext cx="9692640" cy="1051560"/>
          </a:xfrm>
          <a:prstGeom prst="roundRect">
            <a:avLst>
              <a:gd name="adj" fmla="val 8696"/>
            </a:avLst>
          </a:prstGeom>
          <a:solidFill>
            <a:srgbClr val="2C368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645920" y="411480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A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.data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411480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已初始化数据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1280160" y="5303520"/>
            <a:ext cx="9692640" cy="1051560"/>
          </a:xfrm>
          <a:prstGeom prst="roundRect">
            <a:avLst>
              <a:gd name="adj" fmla="val 8696"/>
            </a:avLst>
          </a:prstGeom>
          <a:solidFill>
            <a:srgbClr val="39429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645920" y="5303520"/>
            <a:ext cx="29260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9A8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.bss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530352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未初始化数据 / COMMON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777240" y="1737360"/>
            <a:ext cx="0" cy="461772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 rot="16200000">
            <a:off x="-400050" y="2137410"/>
            <a:ext cx="157734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地址增长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871" y="0"/>
            <a:ext cx="5381625" cy="37909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666790" y="466725"/>
            <a:ext cx="4732779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为什么手写汇编字符串库？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024" y="533400"/>
            <a:ext cx="207466" cy="266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687924" y="1000125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/>
              </a:rPr>
              <a:t>独立自主：</a:t>
            </a:r>
            <a:r>
              <a:rPr sz="1800" b="0" i="0" u="none">
                <a:solidFill>
                  <a:srgbClr val="CBD5E1"/>
                </a:solidFill>
                <a:latin typeface="Noto Sans SC"/>
              </a:rPr>
              <a:t>裸机环境没有 Linux libc，所有底层基础函数必须自行实现。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Noto Sans SC"/>
              </a:rPr>
              <a:t>板块三：lib/string.S 汇编函数库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5">
            <a:extLst>
              <a:ext uri="{FF2B5EF4-FFF2-40B4-BE49-F238E27FC236}">
                <a16:creationId xmlns:a16="http://schemas.microsoft.com/office/drawing/2014/main" id="{593A2021-B63B-DF5F-A13E-6CF51245144B}"/>
              </a:ext>
            </a:extLst>
          </p:cNvPr>
          <p:cNvSpPr/>
          <p:nvPr/>
        </p:nvSpPr>
        <p:spPr>
          <a:xfrm>
            <a:off x="-17801" y="2212848"/>
            <a:ext cx="9241917" cy="4645152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ctr"/>
          <a:lstStyle/>
          <a:p>
            <a:r>
              <a:rPr sz="2000" b="0" dirty="0">
                <a:solidFill>
                  <a:srgbClr val="EEF1F6"/>
                </a:solidFill>
                <a:latin typeface="Consolas"/>
              </a:rPr>
              <a:t>    .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globl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memset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memset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:
    move        $t0, $a0  @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保存原始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dst（返回值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）
   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beqz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       $a2, 2f     @ n == 0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直接返回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1:
   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st.b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       $a1, $a0, 0       @ *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dst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= value
   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addi.d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     $a0, $a0, 1       @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dst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++
   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addi.d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     $a2, $a2, -1      @ n--
   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bnez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       $a2, 1b           @ n != 0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继续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2:
    move        $a0, $t0           @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返回值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=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原始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dst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   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jr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         $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ra</a:t>
            </a:r>
            <a:endParaRPr sz="2000" b="0" dirty="0">
              <a:solidFill>
                <a:srgbClr val="EEF1F6"/>
              </a:solidFill>
              <a:latin typeface="Consolas"/>
            </a:endParaRP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5024" y="1019175"/>
            <a:ext cx="163115" cy="24765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687924" y="1838325"/>
            <a:ext cx="44862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 err="1">
                <a:solidFill>
                  <a:srgbClr val="CBD5E1"/>
                </a:solidFill>
                <a:latin typeface="Noto Sans SC"/>
              </a:rPr>
              <a:t>极致精简：</a:t>
            </a:r>
            <a:r>
              <a:rPr sz="1800" b="0" i="0" u="none" dirty="0" err="1">
                <a:solidFill>
                  <a:srgbClr val="CBD5E1"/>
                </a:solidFill>
                <a:latin typeface="Noto Sans SC"/>
              </a:rPr>
              <a:t>手写汇编实现</a:t>
            </a:r>
            <a:r>
              <a:rPr sz="1800" b="0" i="0" u="none" dirty="0">
                <a:solidFill>
                  <a:srgbClr val="CBD5E1"/>
                </a:solidFill>
                <a:latin typeface="Noto Sans SC"/>
              </a:rPr>
              <a:t> `</a:t>
            </a:r>
            <a:r>
              <a:rPr sz="1800" b="0" i="0" u="none" dirty="0" err="1">
                <a:solidFill>
                  <a:srgbClr val="CBD5E1"/>
                </a:solidFill>
                <a:latin typeface="Noto Sans SC"/>
              </a:rPr>
              <a:t>memset</a:t>
            </a:r>
            <a:r>
              <a:rPr sz="1800" b="0" i="0" u="none" dirty="0">
                <a:solidFill>
                  <a:srgbClr val="CBD5E1"/>
                </a:solidFill>
                <a:latin typeface="Noto Sans SC"/>
              </a:rPr>
              <a:t>`/`</a:t>
            </a:r>
            <a:r>
              <a:rPr sz="1800" b="0" i="0" u="none" dirty="0" err="1">
                <a:solidFill>
                  <a:srgbClr val="CBD5E1"/>
                </a:solidFill>
                <a:latin typeface="Noto Sans SC"/>
              </a:rPr>
              <a:t>memcpy</a:t>
            </a:r>
            <a:r>
              <a:rPr sz="1800" b="0" i="0" u="none" dirty="0">
                <a:solidFill>
                  <a:srgbClr val="CBD5E1"/>
                </a:solidFill>
                <a:latin typeface="Noto Sans SC"/>
              </a:rPr>
              <a:t>`/`</a:t>
            </a:r>
            <a:r>
              <a:rPr sz="1800" b="0" i="0" u="none" dirty="0" err="1">
                <a:solidFill>
                  <a:srgbClr val="CBD5E1"/>
                </a:solidFill>
                <a:latin typeface="Noto Sans SC"/>
              </a:rPr>
              <a:t>strlen</a:t>
            </a:r>
            <a:r>
              <a:rPr sz="1800" b="0" i="0" u="none" dirty="0">
                <a:solidFill>
                  <a:srgbClr val="CBD5E1"/>
                </a:solidFill>
                <a:latin typeface="Noto Sans SC"/>
              </a:rPr>
              <a:t>` </a:t>
            </a:r>
            <a:r>
              <a:rPr sz="1800" b="0" i="0" u="none" dirty="0" err="1">
                <a:solidFill>
                  <a:srgbClr val="CBD5E1"/>
                </a:solidFill>
                <a:latin typeface="Noto Sans SC"/>
              </a:rPr>
              <a:t>体积更小，运行逻辑清晰可见</a:t>
            </a:r>
            <a:r>
              <a:rPr sz="1800" b="0" i="0" u="none" dirty="0">
                <a:solidFill>
                  <a:srgbClr val="CBD5E1"/>
                </a:solidFill>
                <a:latin typeface="Noto Sans SC"/>
              </a:rPr>
              <a:t>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7924" y="3019425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/>
              </a:rPr>
              <a:t>严苛遵循 ABI：</a:t>
            </a:r>
            <a:r>
              <a:rPr sz="1800" b="0" i="0" u="none">
                <a:solidFill>
                  <a:srgbClr val="CBD5E1"/>
                </a:solidFill>
                <a:latin typeface="Noto Sans SC"/>
              </a:rPr>
              <a:t>直接接收 `$a0`, `$a1`, `$a2`，处理完成后返回 `$ra`。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5024" y="1857375"/>
            <a:ext cx="16311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5024" y="3038475"/>
            <a:ext cx="16311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2390775"/>
            <a:ext cx="114300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75685" y="3076575"/>
            <a:ext cx="504063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4200" b="1" i="0" u="none">
                <a:solidFill>
                  <a:srgbClr val="F8FAFC"/>
                </a:solidFill>
                <a:latin typeface="Noto Sans SC"/>
              </a:rPr>
              <a:t>编译运行与输出分析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62250" y="4067175"/>
            <a:ext cx="6667500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"/>
              </a:rPr>
              <a:t>从四行关键验收日志到裸机环境下的故障排查与调试思路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1647825"/>
            <a:ext cx="5381625" cy="42862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42950" y="1314450"/>
            <a:ext cx="4133850" cy="277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83"/>
              </a:lnSpc>
            </a:pPr>
            <a:r>
              <a:rPr sz="1575" b="0" i="1" u="none" dirty="0">
                <a:solidFill>
                  <a:srgbClr val="64748B"/>
                </a:solidFill>
                <a:latin typeface="Fira Code"/>
              </a:rPr>
              <a:t># QEMU </a:t>
            </a:r>
            <a:r>
              <a:rPr sz="1575" b="0" i="1" u="none" dirty="0" err="1">
                <a:solidFill>
                  <a:srgbClr val="64748B"/>
                </a:solidFill>
                <a:latin typeface="Fira Code"/>
              </a:rPr>
              <a:t>模拟器串口控制台输出日志</a:t>
            </a:r>
            <a:r>
              <a:rPr sz="1575" b="0" i="1" u="none" dirty="0">
                <a:solidFill>
                  <a:srgbClr val="64748B"/>
                </a:solidFill>
                <a:latin typeface="Fira Code"/>
              </a:rPr>
              <a:t>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5441" y="1924050"/>
            <a:ext cx="4732779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逐行打印背后的关键验证节点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3675" y="1990725"/>
            <a:ext cx="207466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86575" y="24574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38BDF8"/>
                </a:solidFill>
                <a:latin typeface="Noto Sans SC"/>
              </a:rPr>
              <a:t>第 1 行：</a:t>
            </a:r>
            <a:r>
              <a:rPr sz="1800" b="0" i="0" u="none">
                <a:solidFill>
                  <a:srgbClr val="CBD5E1"/>
                </a:solidFill>
                <a:latin typeface="Noto Sans SC"/>
              </a:rPr>
              <a:t>内核基础启动成功，UART0 串口输出正常。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86575" y="32956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38BDF8"/>
                </a:solidFill>
                <a:latin typeface="Noto Sans SC"/>
              </a:rPr>
              <a:t>第 2 行：</a:t>
            </a:r>
            <a:r>
              <a:rPr sz="1800" b="0" i="0" u="none">
                <a:solidFill>
                  <a:srgbClr val="CBD5E1"/>
                </a:solidFill>
                <a:latin typeface="Noto Sans SC"/>
              </a:rPr>
              <a:t>.data 段初始字符串被成功读取并复制到栈区。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86575" y="41338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38BDF8"/>
                </a:solidFill>
                <a:latin typeface="Noto Sans SC"/>
              </a:rPr>
              <a:t>第 3 行：</a:t>
            </a:r>
            <a:r>
              <a:rPr sz="1800" b="0" i="0" u="none">
                <a:solidFill>
                  <a:srgbClr val="CBD5E1"/>
                </a:solidFill>
                <a:latin typeface="Noto Sans SC"/>
              </a:rPr>
              <a:t>clear_bss 成功将 bss_buffer[0] 擦除为 0。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575" y="49720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38BDF8"/>
                </a:solidFill>
                <a:latin typeface="Noto Sans SC"/>
              </a:rPr>
              <a:t>第 4 行：</a:t>
            </a:r>
            <a:r>
              <a:rPr sz="1800" b="0" i="0" u="none">
                <a:solidFill>
                  <a:srgbClr val="CBD5E1"/>
                </a:solidFill>
                <a:latin typeface="Noto Sans SC"/>
              </a:rPr>
              <a:t> Week 1 与 Week 2 全部阶段性功能验收通过！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Noto Sans SC"/>
              </a:rPr>
              <a:t>板块四：终端四行关键验收日志解读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2476500"/>
            <a:ext cx="16311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3314700"/>
            <a:ext cx="16311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4152900"/>
            <a:ext cx="163115" cy="2476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43675" y="4991100"/>
            <a:ext cx="163115" cy="247650"/>
          </a:xfrm>
          <a:prstGeom prst="rect">
            <a:avLst/>
          </a:prstGeom>
        </p:spPr>
      </p:pic>
      <p:sp>
        <p:nvSpPr>
          <p:cNvPr id="19" name="Rounded Rectangle 5">
            <a:extLst>
              <a:ext uri="{FF2B5EF4-FFF2-40B4-BE49-F238E27FC236}">
                <a16:creationId xmlns:a16="http://schemas.microsoft.com/office/drawing/2014/main" id="{F50310C2-9981-B11D-6684-85E9394941A2}"/>
              </a:ext>
            </a:extLst>
          </p:cNvPr>
          <p:cNvSpPr/>
          <p:nvPr/>
        </p:nvSpPr>
        <p:spPr>
          <a:xfrm>
            <a:off x="412751" y="1592411"/>
            <a:ext cx="5578474" cy="428625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ctr"/>
          <a:lstStyle/>
          <a:p>
            <a:pPr fontAlgn="t"/>
            <a:r>
              <a:rPr lang="zh-CN" altLang="zh-CN" sz="2400" dirty="0"/>
              <a:t>Hello miniOS on LoongArch64</a:t>
            </a:r>
            <a:endParaRPr lang="en-US" altLang="zh-CN" sz="2400" dirty="0"/>
          </a:p>
          <a:p>
            <a:pPr fontAlgn="t"/>
            <a:endParaRPr lang="zh-CN" altLang="zh-CN" sz="2400" dirty="0"/>
          </a:p>
          <a:p>
            <a:pPr fontAlgn="t"/>
            <a:r>
              <a:rPr lang="zh-CN" altLang="zh-CN" sz="2400" dirty="0"/>
              <a:t>data section ok</a:t>
            </a:r>
            <a:endParaRPr lang="en-US" altLang="zh-CN" sz="2400" dirty="0"/>
          </a:p>
          <a:p>
            <a:pPr fontAlgn="t"/>
            <a:endParaRPr lang="zh-CN" altLang="zh-CN" sz="2400" dirty="0"/>
          </a:p>
          <a:p>
            <a:pPr fontAlgn="t"/>
            <a:r>
              <a:rPr lang="zh-CN" altLang="zh-CN" sz="2400" dirty="0"/>
              <a:t>bss section cleared</a:t>
            </a:r>
            <a:endParaRPr lang="en-US" altLang="zh-CN" sz="2400" dirty="0"/>
          </a:p>
          <a:p>
            <a:pPr fontAlgn="t"/>
            <a:endParaRPr lang="zh-CN" altLang="zh-CN" sz="2400" dirty="0"/>
          </a:p>
          <a:p>
            <a:pPr fontAlgn="t"/>
            <a:r>
              <a:rPr lang="zh-CN" altLang="zh-CN" sz="2400" dirty="0"/>
              <a:t>week1-week2 check done</a:t>
            </a:r>
          </a:p>
          <a:p>
            <a:endParaRPr sz="2400" b="0" dirty="0">
              <a:solidFill>
                <a:srgbClr val="EEF1F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1168400"/>
            <a:ext cx="3549550" cy="44831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75" y="1168400"/>
            <a:ext cx="3549699" cy="44831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375" y="1168400"/>
            <a:ext cx="3549550" cy="44831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11299" y="1331912"/>
            <a:ext cx="2840198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sz="2400" b="0" i="0" u="none" dirty="0" err="1">
                <a:solidFill>
                  <a:srgbClr val="F43F5E"/>
                </a:solidFill>
                <a:latin typeface="Noto Sans SC SemiBold"/>
              </a:rPr>
              <a:t>现象</a:t>
            </a:r>
            <a:r>
              <a:rPr sz="2400" b="0" i="0" u="none" dirty="0">
                <a:solidFill>
                  <a:srgbClr val="F43F5E"/>
                </a:solidFill>
                <a:latin typeface="Noto Sans SC SemiBold"/>
              </a:rPr>
              <a:t> 1：未打印 </a:t>
            </a:r>
            <a:r>
              <a:rPr sz="2400" b="0" i="0" u="none" dirty="0" err="1">
                <a:solidFill>
                  <a:srgbClr val="F43F5E"/>
                </a:solidFill>
                <a:latin typeface="Noto Sans SC SemiBold"/>
              </a:rPr>
              <a:t>bss</a:t>
            </a:r>
            <a:r>
              <a:rPr sz="2400" b="0" i="0" u="none" dirty="0">
                <a:solidFill>
                  <a:srgbClr val="F43F5E"/>
                </a:solidFill>
                <a:latin typeface="Noto Sans SC SemiBold"/>
              </a:rPr>
              <a:t> cleared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2496355"/>
            <a:ext cx="2997100" cy="1474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400" b="1" i="0" u="none" dirty="0" err="1">
                <a:solidFill>
                  <a:srgbClr val="CBD5E1"/>
                </a:solidFill>
                <a:latin typeface="Noto Sans SC"/>
              </a:rPr>
              <a:t>原因：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未调用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 `clear_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bss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`，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导致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 `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bss_buffer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[0]` 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读出上电电平随机垃圾值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4424362"/>
            <a:ext cx="2997100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400" b="1" i="0" u="none" dirty="0" err="1">
                <a:solidFill>
                  <a:srgbClr val="94A3B8"/>
                </a:solidFill>
                <a:latin typeface="Noto Sans SC"/>
              </a:rPr>
              <a:t>排查：</a:t>
            </a:r>
            <a:r>
              <a:rPr sz="2400" b="0" i="0" u="none" dirty="0" err="1">
                <a:solidFill>
                  <a:srgbClr val="94A3B8"/>
                </a:solidFill>
                <a:latin typeface="Noto Sans SC"/>
              </a:rPr>
              <a:t>检查</a:t>
            </a:r>
            <a:r>
              <a:rPr sz="2400" b="0" i="0" u="none" dirty="0">
                <a:solidFill>
                  <a:srgbClr val="94A3B8"/>
                </a:solidFill>
                <a:latin typeface="Noto Sans SC"/>
              </a:rPr>
              <a:t> `</a:t>
            </a:r>
            <a:r>
              <a:rPr sz="2400" b="0" i="0" u="none" dirty="0" err="1">
                <a:solidFill>
                  <a:srgbClr val="94A3B8"/>
                </a:solidFill>
                <a:latin typeface="Noto Sans SC"/>
              </a:rPr>
              <a:t>start.S</a:t>
            </a:r>
            <a:r>
              <a:rPr sz="2400" b="0" i="0" u="none" dirty="0">
                <a:solidFill>
                  <a:srgbClr val="94A3B8"/>
                </a:solidFill>
                <a:latin typeface="Noto Sans SC"/>
              </a:rPr>
              <a:t>` </a:t>
            </a:r>
            <a:r>
              <a:rPr sz="2400" b="0" i="0" u="none" dirty="0" err="1">
                <a:solidFill>
                  <a:srgbClr val="94A3B8"/>
                </a:solidFill>
                <a:latin typeface="Noto Sans SC"/>
              </a:rPr>
              <a:t>是否漏写</a:t>
            </a:r>
            <a:r>
              <a:rPr sz="2400" b="0" i="0" u="none" dirty="0">
                <a:solidFill>
                  <a:srgbClr val="94A3B8"/>
                </a:solidFill>
                <a:latin typeface="Noto Sans SC"/>
              </a:rPr>
              <a:t> `bl </a:t>
            </a:r>
            <a:r>
              <a:rPr sz="2400" b="0" i="0" u="none" dirty="0" err="1">
                <a:solidFill>
                  <a:srgbClr val="94A3B8"/>
                </a:solidFill>
                <a:latin typeface="Noto Sans SC"/>
              </a:rPr>
              <a:t>clear_bss</a:t>
            </a:r>
            <a:r>
              <a:rPr sz="2400" b="0" i="0" u="none" dirty="0">
                <a:solidFill>
                  <a:srgbClr val="94A3B8"/>
                </a:solidFill>
                <a:latin typeface="Noto Sans SC"/>
              </a:rPr>
              <a:t>`。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30419" y="1363662"/>
            <a:ext cx="2840355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sz="2400" b="0" i="0" u="none" dirty="0" err="1">
                <a:solidFill>
                  <a:srgbClr val="FBBF24"/>
                </a:solidFill>
                <a:latin typeface="Noto Sans SC SemiBold"/>
              </a:rPr>
              <a:t>现象</a:t>
            </a:r>
            <a:r>
              <a:rPr sz="2400" b="0" i="0" u="none" dirty="0">
                <a:solidFill>
                  <a:srgbClr val="FBBF24"/>
                </a:solidFill>
                <a:latin typeface="Noto Sans SC SemiBold"/>
              </a:rPr>
              <a:t> 2：QEMU </a:t>
            </a:r>
            <a:r>
              <a:rPr sz="2400" b="0" i="0" u="none" dirty="0" err="1">
                <a:solidFill>
                  <a:srgbClr val="FBBF24"/>
                </a:solidFill>
                <a:latin typeface="Noto Sans SC SemiBold"/>
              </a:rPr>
              <a:t>卡死或死循环</a:t>
            </a:r>
            <a:endParaRPr sz="2400" b="0" i="0" u="none" dirty="0">
              <a:solidFill>
                <a:srgbClr val="FBBF24"/>
              </a:solidFill>
              <a:latin typeface="Noto Sans SC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97300" y="2493665"/>
            <a:ext cx="2997249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400" b="1" i="0" u="none" dirty="0" err="1">
                <a:solidFill>
                  <a:srgbClr val="CBD5E1"/>
                </a:solidFill>
                <a:latin typeface="Noto Sans SC"/>
              </a:rPr>
              <a:t>原因</a:t>
            </a:r>
            <a:r>
              <a:rPr sz="2400" b="1" i="0" u="none" dirty="0">
                <a:solidFill>
                  <a:srgbClr val="CBD5E1"/>
                </a:solidFill>
                <a:latin typeface="Noto Sans SC"/>
              </a:rPr>
              <a:t>：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`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clear_bss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` 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循环终止条件写错（如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 `__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bss_end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` 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边界错误导致越界写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300" y="4424362"/>
            <a:ext cx="2997249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400" b="1" i="0" u="none">
                <a:solidFill>
                  <a:srgbClr val="94A3B8"/>
                </a:solidFill>
                <a:latin typeface="Noto Sans SC"/>
              </a:rPr>
              <a:t>排查：</a:t>
            </a:r>
            <a:r>
              <a:rPr sz="2400" b="0" i="0" u="none">
                <a:solidFill>
                  <a:srgbClr val="94A3B8"/>
                </a:solidFill>
                <a:latin typeface="Noto Sans SC"/>
              </a:rPr>
              <a:t>核对 `linker.ld` 中的符号导出与汇编 `beq`。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08727" y="1437134"/>
            <a:ext cx="2840198" cy="6924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2700"/>
              </a:lnSpc>
            </a:pPr>
            <a:r>
              <a:rPr sz="2400" b="0" i="0" u="none" dirty="0" err="1">
                <a:solidFill>
                  <a:srgbClr val="38BDF8"/>
                </a:solidFill>
                <a:latin typeface="Noto Sans SC SemiBold"/>
              </a:rPr>
              <a:t>现象</a:t>
            </a:r>
            <a:r>
              <a:rPr sz="2400" b="0" i="0" u="none" dirty="0">
                <a:solidFill>
                  <a:srgbClr val="38BDF8"/>
                </a:solidFill>
                <a:latin typeface="Noto Sans SC SemiBold"/>
              </a:rPr>
              <a:t> 3：data </a:t>
            </a:r>
            <a:r>
              <a:rPr sz="2400" b="0" i="0" u="none" dirty="0" err="1">
                <a:solidFill>
                  <a:srgbClr val="38BDF8"/>
                </a:solidFill>
                <a:latin typeface="Noto Sans SC SemiBold"/>
              </a:rPr>
              <a:t>乱码或崩溃</a:t>
            </a:r>
            <a:endParaRPr sz="2400" b="0" i="0" u="none" dirty="0">
              <a:solidFill>
                <a:srgbClr val="38BDF8"/>
              </a:solidFill>
              <a:latin typeface="Noto Sans SC SemiBol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375600" y="2408535"/>
            <a:ext cx="2997100" cy="1179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400" b="1" i="0" u="none" dirty="0" err="1">
                <a:solidFill>
                  <a:srgbClr val="CBD5E1"/>
                </a:solidFill>
                <a:latin typeface="Noto Sans SC"/>
              </a:rPr>
              <a:t>原因：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栈指针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 `$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sp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` 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乱指踩爆了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 `.data` 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内存，或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memcpy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 </a:t>
            </a:r>
            <a:r>
              <a:rPr sz="2400" b="0" i="0" u="none" dirty="0" err="1">
                <a:solidFill>
                  <a:srgbClr val="CBD5E1"/>
                </a:solidFill>
                <a:latin typeface="Noto Sans SC"/>
              </a:rPr>
              <a:t>长度越界</a:t>
            </a:r>
            <a:r>
              <a:rPr sz="2400" b="0" i="0" u="none" dirty="0">
                <a:solidFill>
                  <a:srgbClr val="CBD5E1"/>
                </a:solidFill>
                <a:latin typeface="Noto Sans SC"/>
              </a:rPr>
              <a:t>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600" y="4284662"/>
            <a:ext cx="2997100" cy="88485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2400" b="1" i="0" u="none" dirty="0" err="1">
                <a:solidFill>
                  <a:srgbClr val="94A3B8"/>
                </a:solidFill>
                <a:latin typeface="Noto Sans SC"/>
              </a:rPr>
              <a:t>排查：</a:t>
            </a:r>
            <a:r>
              <a:rPr sz="2400" b="0" i="0" u="none" dirty="0" err="1">
                <a:solidFill>
                  <a:srgbClr val="94A3B8"/>
                </a:solidFill>
                <a:latin typeface="Noto Sans SC"/>
              </a:rPr>
              <a:t>检查</a:t>
            </a:r>
            <a:r>
              <a:rPr sz="2400" b="0" i="0" u="none" dirty="0">
                <a:solidFill>
                  <a:srgbClr val="94A3B8"/>
                </a:solidFill>
                <a:latin typeface="Noto Sans SC"/>
              </a:rPr>
              <a:t> `</a:t>
            </a:r>
            <a:r>
              <a:rPr sz="2400" b="0" i="0" u="none" dirty="0" err="1">
                <a:solidFill>
                  <a:srgbClr val="94A3B8"/>
                </a:solidFill>
                <a:latin typeface="Noto Sans SC"/>
              </a:rPr>
              <a:t>boot_stack_top</a:t>
            </a:r>
            <a:r>
              <a:rPr sz="2400" b="0" i="0" u="none" dirty="0">
                <a:solidFill>
                  <a:srgbClr val="94A3B8"/>
                </a:solidFill>
                <a:latin typeface="Noto Sans SC"/>
              </a:rPr>
              <a:t>` </a:t>
            </a:r>
            <a:r>
              <a:rPr sz="2400" b="0" i="0" u="none" dirty="0" err="1">
                <a:solidFill>
                  <a:srgbClr val="94A3B8"/>
                </a:solidFill>
                <a:latin typeface="Noto Sans SC"/>
              </a:rPr>
              <a:t>的位置与对齐</a:t>
            </a:r>
            <a:r>
              <a:rPr sz="2400" b="0" i="0" u="none" dirty="0">
                <a:solidFill>
                  <a:srgbClr val="94A3B8"/>
                </a:solidFill>
                <a:latin typeface="Noto Sans SC"/>
              </a:rPr>
              <a:t>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1560512"/>
            <a:ext cx="177849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7300" y="1484312"/>
            <a:ext cx="177849" cy="2286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600" y="1592262"/>
            <a:ext cx="177849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Noto Sans SC"/>
              </a:rPr>
              <a:t>板块四：常见故障现象与调试排查思路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40080" y="502920"/>
            <a:ext cx="109728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22252B"/>
                </a:solidFill>
                <a:latin typeface="Microsoft YaHei"/>
              </a:rPr>
              <a:t>第 2 周完整链路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53311"/>
            <a:ext cx="10927080" cy="45719"/>
          </a:xfrm>
          <a:prstGeom prst="rect">
            <a:avLst/>
          </a:prstGeom>
          <a:solidFill>
            <a:srgbClr val="D8DD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55167" y="2148840"/>
            <a:ext cx="1993392" cy="3616960"/>
          </a:xfrm>
          <a:prstGeom prst="roundRect">
            <a:avLst/>
          </a:prstGeom>
          <a:solidFill>
            <a:srgbClr val="FFFFFF"/>
          </a:solidFill>
          <a:ln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01471" y="2313432"/>
            <a:ext cx="1700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C53A0"/>
                </a:solidFill>
                <a:latin typeface="Microsoft YaHei"/>
              </a:rPr>
              <a:t>_start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759" y="3760724"/>
            <a:ext cx="16642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设置 $sp
la.global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31439" y="3797300"/>
            <a:ext cx="22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B6370"/>
                </a:solidFill>
                <a:latin typeface="Microsoft YaHei"/>
              </a:rPr>
              <a:t>→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7159" y="2148840"/>
            <a:ext cx="1993392" cy="3616960"/>
          </a:xfrm>
          <a:prstGeom prst="roundRect">
            <a:avLst/>
          </a:prstGeom>
          <a:solidFill>
            <a:srgbClr val="FFFFFF"/>
          </a:solidFill>
          <a:ln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023463" y="2313432"/>
            <a:ext cx="1700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5F22"/>
                </a:solidFill>
                <a:latin typeface="Microsoft YaHei"/>
              </a:rPr>
              <a:t>clear_bss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1751" y="3760724"/>
            <a:ext cx="166420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清零 .bss
[__bss_start,
__bss_end)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3431" y="3797300"/>
            <a:ext cx="22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B6370"/>
                </a:solidFill>
                <a:latin typeface="Microsoft YaHe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99151" y="2148840"/>
            <a:ext cx="1993392" cy="3616960"/>
          </a:xfrm>
          <a:prstGeom prst="roundRect">
            <a:avLst/>
          </a:prstGeom>
          <a:solidFill>
            <a:srgbClr val="FFFFFF"/>
          </a:solidFill>
          <a:ln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45455" y="2313432"/>
            <a:ext cx="170078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A7E4E"/>
                </a:solidFill>
                <a:latin typeface="Microsoft YaHei"/>
              </a:rPr>
              <a:t>kernel_main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63743" y="3760724"/>
            <a:ext cx="166420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验证 .data
验证 .bss
输出四行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75423" y="3797300"/>
            <a:ext cx="22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B6370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21143" y="2148840"/>
            <a:ext cx="1993392" cy="3616960"/>
          </a:xfrm>
          <a:prstGeom prst="roundRect">
            <a:avLst/>
          </a:prstGeom>
          <a:solidFill>
            <a:srgbClr val="FFFFFF"/>
          </a:solidFill>
          <a:ln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67447" y="2313432"/>
            <a:ext cx="170078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7482"/>
                </a:solidFill>
                <a:latin typeface="Microsoft YaHei"/>
              </a:rPr>
              <a:t>memset/
memcpy/
strlen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85735" y="3760724"/>
            <a:ext cx="166420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dirty="0" err="1">
                <a:solidFill>
                  <a:srgbClr val="22252B"/>
                </a:solidFill>
                <a:latin typeface="Microsoft YaHei"/>
              </a:rPr>
              <a:t>汇编库函数</a:t>
            </a:r>
            <a:r>
              <a:rPr sz="2400" b="0" dirty="0">
                <a:solidFill>
                  <a:srgbClr val="22252B"/>
                </a:solidFill>
                <a:latin typeface="Microsoft YaHei"/>
              </a:rPr>
              <a:t>
C </a:t>
            </a:r>
            <a:r>
              <a:rPr sz="2400" b="0" dirty="0" err="1">
                <a:solidFill>
                  <a:srgbClr val="22252B"/>
                </a:solidFill>
                <a:latin typeface="Microsoft YaHei"/>
              </a:rPr>
              <a:t>侧声明调用</a:t>
            </a:r>
            <a:endParaRPr sz="2400" b="0" dirty="0">
              <a:solidFill>
                <a:srgbClr val="22252B"/>
              </a:solidFill>
              <a:latin typeface="Microsoft YaHe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9497415" y="3797300"/>
            <a:ext cx="228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5B6370"/>
                </a:solidFill>
                <a:latin typeface="Microsoft YaHe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43135" y="2148840"/>
            <a:ext cx="1993392" cy="3616960"/>
          </a:xfrm>
          <a:prstGeom prst="roundRect">
            <a:avLst/>
          </a:prstGeom>
          <a:solidFill>
            <a:srgbClr val="FFFFFF"/>
          </a:solidFill>
          <a:ln>
            <a:solidFill>
              <a:srgbClr val="D8D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89439" y="2313432"/>
            <a:ext cx="17007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A44440"/>
                </a:solidFill>
                <a:latin typeface="Microsoft YaHei"/>
              </a:rPr>
              <a:t>UART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07727" y="3760724"/>
            <a:ext cx="16642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终端显示
四行输出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4500" y="2390775"/>
            <a:ext cx="114300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140005" y="3076575"/>
            <a:ext cx="5911988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4200" b="1" i="0" u="none">
                <a:solidFill>
                  <a:srgbClr val="F8FAFC"/>
                </a:solidFill>
                <a:latin typeface="Noto Sans SC"/>
              </a:rPr>
              <a:t>实验安排与 AI 共学规范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2076" y="4067175"/>
            <a:ext cx="7067698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"/>
              </a:rPr>
              <a:t>上机实操任务部署、终端验收步骤与 AI 助教的合理使用边界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066925"/>
            <a:ext cx="5381625" cy="34480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40916" y="2356136"/>
            <a:ext cx="4732779" cy="3740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000" b="0" i="0" u="none">
                <a:solidFill>
                  <a:srgbClr val="38BDF8"/>
                </a:solidFill>
                <a:latin typeface="Noto Sans SC SemiBold"/>
              </a:rPr>
              <a:t>必做任务清单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2409825"/>
            <a:ext cx="207466" cy="2667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62050" y="28765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000" b="1" i="0" u="none" dirty="0" err="1">
                <a:solidFill>
                  <a:srgbClr val="CBD5E1"/>
                </a:solidFill>
                <a:latin typeface="Noto Sans SC"/>
              </a:rPr>
              <a:t>任务</a:t>
            </a:r>
            <a:r>
              <a:rPr sz="2000" b="1" i="0" u="none" dirty="0">
                <a:solidFill>
                  <a:srgbClr val="CBD5E1"/>
                </a:solidFill>
                <a:latin typeface="Noto Sans SC"/>
              </a:rPr>
              <a:t> 1：</a:t>
            </a:r>
            <a:r>
              <a:rPr sz="2000" b="0" i="0" u="none" dirty="0">
                <a:solidFill>
                  <a:srgbClr val="CBD5E1"/>
                </a:solidFill>
                <a:latin typeface="Noto Sans SC"/>
              </a:rPr>
              <a:t>拉取 </a:t>
            </a:r>
            <a:r>
              <a:rPr sz="2000" b="0" i="0" u="none" dirty="0">
                <a:solidFill>
                  <a:srgbClr val="38BDF8"/>
                </a:solidFill>
                <a:latin typeface="Noto Sans SC"/>
              </a:rPr>
              <a:t>week02-data-bss</a:t>
            </a:r>
            <a:r>
              <a:rPr sz="2000" b="0" i="0" u="none" dirty="0">
                <a:solidFill>
                  <a:srgbClr val="CBD5E1"/>
                </a:solidFill>
                <a:latin typeface="Noto Sans SC"/>
              </a:rPr>
              <a:t> </a:t>
            </a:r>
            <a:r>
              <a:rPr sz="2000" b="0" i="0" u="none" dirty="0" err="1">
                <a:solidFill>
                  <a:srgbClr val="CBD5E1"/>
                </a:solidFill>
                <a:latin typeface="Noto Sans SC"/>
              </a:rPr>
              <a:t>代码，并在本地顺利编译运行</a:t>
            </a:r>
            <a:r>
              <a:rPr sz="2000" b="0" i="0" u="none" dirty="0">
                <a:solidFill>
                  <a:srgbClr val="CBD5E1"/>
                </a:solidFill>
                <a:latin typeface="Noto Sans SC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62050" y="3714750"/>
            <a:ext cx="4486275" cy="10134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000" b="1" i="0" u="none">
                <a:solidFill>
                  <a:srgbClr val="CBD5E1"/>
                </a:solidFill>
                <a:latin typeface="Noto Sans SC"/>
              </a:rPr>
              <a:t>任务 2：</a:t>
            </a:r>
            <a:r>
              <a:rPr sz="2000" b="0" i="0" u="none">
                <a:solidFill>
                  <a:srgbClr val="CBD5E1"/>
                </a:solidFill>
                <a:latin typeface="Noto Sans SC"/>
              </a:rPr>
              <a:t>注释掉 `start.S` 中的 `bl clear_bss`，观察并记录终端输出变化。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552950"/>
            <a:ext cx="44862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2000" b="1" i="0" u="none">
                <a:solidFill>
                  <a:srgbClr val="CBD5E1"/>
                </a:solidFill>
                <a:latin typeface="Noto Sans SC"/>
              </a:rPr>
              <a:t>任务 3：</a:t>
            </a:r>
            <a:r>
              <a:rPr sz="2000" b="0" i="0" u="none">
                <a:solidFill>
                  <a:srgbClr val="CBD5E1"/>
                </a:solidFill>
                <a:latin typeface="Noto Sans SC"/>
              </a:rPr>
              <a:t>在 `main.c` 中增加一个新的未初始化全局数组，验证清零有效性。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895600"/>
            <a:ext cx="16311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3733800"/>
            <a:ext cx="16311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4572000"/>
            <a:ext cx="163115" cy="247650"/>
          </a:xfrm>
          <a:prstGeom prst="rect">
            <a:avLst/>
          </a:prstGeom>
        </p:spPr>
      </p:pic>
      <p:sp>
        <p:nvSpPr>
          <p:cNvPr id="22" name="Rounded Rectangle 5">
            <a:extLst>
              <a:ext uri="{FF2B5EF4-FFF2-40B4-BE49-F238E27FC236}">
                <a16:creationId xmlns:a16="http://schemas.microsoft.com/office/drawing/2014/main" id="{36BAF43C-08BB-D801-4914-7E6C469F8719}"/>
              </a:ext>
            </a:extLst>
          </p:cNvPr>
          <p:cNvSpPr/>
          <p:nvPr/>
        </p:nvSpPr>
        <p:spPr>
          <a:xfrm>
            <a:off x="6543674" y="-3175"/>
            <a:ext cx="5972829" cy="6746875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46304" rIns="182880" rtlCol="0" anchor="ctr"/>
          <a:lstStyle/>
          <a:p>
            <a:r>
              <a:rPr sz="2000" b="0" dirty="0">
                <a:solidFill>
                  <a:srgbClr val="EEF1F6"/>
                </a:solidFill>
                <a:latin typeface="Consolas"/>
              </a:rPr>
              <a:t># 1.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建立实验分支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git fetch --tags
git switch -c my-week02-lab week02-data-bss
git branch --show-current
git describe --tags --always
# 2.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环境检查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sh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scripts/check-env.sh  #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如实记录，不要写"已通过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"
# 3.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编译运行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make clean &amp;&amp; make &amp;&amp; make run   </a:t>
            </a:r>
            <a:r>
              <a:rPr lang="en-US" altLang="zh-CN" sz="2000" b="0" dirty="0">
                <a:solidFill>
                  <a:srgbClr val="EEF1F6"/>
                </a:solidFill>
                <a:latin typeface="Consolas"/>
              </a:rPr>
              <a:t>#</a:t>
            </a:r>
            <a:r>
              <a:rPr lang="zh-CN" altLang="en-US" sz="2000" b="0" dirty="0">
                <a:solidFill>
                  <a:srgbClr val="EEF1F6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记录四行输出是否齐全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# 4.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源码阅读（必做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）
#-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data_message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vs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bss_buffer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区别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#</a:t>
            </a:r>
            <a:r>
              <a:rPr lang="en-US" altLang="zh-CN" sz="2000" b="0" dirty="0">
                <a:solidFill>
                  <a:srgbClr val="EEF1F6"/>
                </a:solidFill>
                <a:latin typeface="Consolas"/>
              </a:rPr>
              <a:t>-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clear_bss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执行流程（文本流程图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）
#- __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bss_start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/ __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bss_end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来自哪里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#- C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为何能调用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lib/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string.S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
# 5.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可选加深：objdump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-d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观察反汇编、nm</a:t>
            </a:r>
            <a:r>
              <a:rPr sz="2000" b="0" dirty="0">
                <a:solidFill>
                  <a:srgbClr val="EEF1F6"/>
                </a:solidFill>
                <a:latin typeface="Consolas"/>
              </a:rPr>
              <a:t> </a:t>
            </a:r>
            <a:r>
              <a:rPr sz="2000" b="0" dirty="0" err="1">
                <a:solidFill>
                  <a:srgbClr val="EEF1F6"/>
                </a:solidFill>
                <a:latin typeface="Consolas"/>
              </a:rPr>
              <a:t>查看符号地址</a:t>
            </a:r>
            <a:endParaRPr sz="2000" b="0" dirty="0">
              <a:solidFill>
                <a:srgbClr val="EEF1F6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 err="1">
                <a:solidFill>
                  <a:srgbClr val="F8FAFC"/>
                </a:solidFill>
                <a:latin typeface="Noto Sans SC"/>
              </a:rPr>
              <a:t>板块五：课堂实验实操任务清单</a:t>
            </a:r>
            <a:endParaRPr sz="3000" b="1" i="0" u="none" dirty="0">
              <a:solidFill>
                <a:srgbClr val="F8FAFC"/>
              </a:solidFill>
              <a:latin typeface="Noto Sans SC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066925"/>
            <a:ext cx="5381625" cy="3448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066925"/>
            <a:ext cx="5381625" cy="3448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79016" y="2343150"/>
            <a:ext cx="4692774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4D399"/>
                </a:solidFill>
                <a:latin typeface="Noto Sans SC SemiBold"/>
              </a:rPr>
              <a:t>推荐提问（启发式共学）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03541" y="2343150"/>
            <a:ext cx="4692774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F43F5E"/>
                </a:solidFill>
                <a:latin typeface="Noto Sans SC SemiBold"/>
              </a:rPr>
              <a:t>禁止行为（学术红线）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250" y="2409825"/>
            <a:ext cx="207466" cy="2667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200150" y="2876550"/>
            <a:ext cx="4448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/>
              </a:rPr>
              <a:t>“请解释 LoongArch64 汇编中 `st.b` 与 `st.d` 指令的差异。”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714750"/>
            <a:ext cx="4448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/>
              </a:rPr>
              <a:t>“在链接脚本中，`PROVIDE` 关键字有什么作用？”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0150" y="4552950"/>
            <a:ext cx="4448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/>
              </a:rPr>
              <a:t>“分析我遇到这段 QEMU 报错日志可能是什么原因导致的？”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2409825"/>
            <a:ext cx="207466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924675" y="2876550"/>
            <a:ext cx="4448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/>
              </a:rPr>
              <a:t>直接让 AI 粘贴完整实验报告文本进行提交。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24675" y="3714750"/>
            <a:ext cx="4448175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/>
              </a:rPr>
              <a:t>不经思考直接复制 AI 代码，不理解每行汇编含义。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4675" y="4552950"/>
            <a:ext cx="444817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0" i="0" u="none">
                <a:solidFill>
                  <a:srgbClr val="CBD5E1"/>
                </a:solidFill>
                <a:latin typeface="Noto Sans SC"/>
              </a:rPr>
              <a:t>让 AI 替自己生成伪造的 QEMU 运行截图。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Noto Sans SC"/>
              </a:rPr>
              <a:t>板块五：AI 助教共学边界与提问规范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2895600"/>
            <a:ext cx="163115" cy="2476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3733800"/>
            <a:ext cx="163115" cy="2476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7250" y="4572000"/>
            <a:ext cx="163115" cy="2476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2895600"/>
            <a:ext cx="163115" cy="2476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3733800"/>
            <a:ext cx="163115" cy="247650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81775" y="4572000"/>
            <a:ext cx="163115" cy="24765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2390775"/>
            <a:ext cx="1371600" cy="4953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575685" y="3076575"/>
            <a:ext cx="5040630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300"/>
              </a:lnSpc>
            </a:pPr>
            <a:r>
              <a:rPr sz="4200" b="1" i="0" u="none">
                <a:solidFill>
                  <a:srgbClr val="F8FAFC"/>
                </a:solidFill>
                <a:latin typeface="Noto Sans SC"/>
              </a:rPr>
              <a:t>课程总结与课后思考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495550" y="4067175"/>
            <a:ext cx="8045450" cy="3684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3150"/>
              </a:lnSpc>
            </a:pPr>
            <a:r>
              <a:rPr sz="2100" b="0" i="0" u="none" dirty="0" err="1">
                <a:solidFill>
                  <a:srgbClr val="38BDF8"/>
                </a:solidFill>
                <a:latin typeface="Noto Sans SC"/>
              </a:rPr>
              <a:t>巩固三大核心结论，理清本</a:t>
            </a:r>
            <a:r>
              <a:rPr lang="zh-CN" altLang="en-US" sz="2100" b="0" i="0" u="none" dirty="0">
                <a:solidFill>
                  <a:srgbClr val="38BDF8"/>
                </a:solidFill>
                <a:latin typeface="Noto Sans SC"/>
              </a:rPr>
              <a:t>次课</a:t>
            </a:r>
            <a:r>
              <a:rPr sz="2100" b="0" i="0" u="none" dirty="0" err="1">
                <a:solidFill>
                  <a:srgbClr val="38BDF8"/>
                </a:solidFill>
                <a:latin typeface="Noto Sans SC"/>
              </a:rPr>
              <a:t>知识边界，预告下</a:t>
            </a:r>
            <a:r>
              <a:rPr lang="zh-CN" altLang="en-US" sz="2100" b="0" i="0" u="none" dirty="0">
                <a:solidFill>
                  <a:srgbClr val="38BDF8"/>
                </a:solidFill>
                <a:latin typeface="Noto Sans SC"/>
              </a:rPr>
              <a:t>次课</a:t>
            </a:r>
            <a:r>
              <a:rPr sz="2100" b="0" i="0" u="none" dirty="0" err="1">
                <a:solidFill>
                  <a:srgbClr val="38BDF8"/>
                </a:solidFill>
                <a:latin typeface="Noto Sans SC"/>
              </a:rPr>
              <a:t>核心技术点</a:t>
            </a:r>
            <a:endParaRPr sz="2100" b="0" i="0" u="none" dirty="0">
              <a:solidFill>
                <a:srgbClr val="38BDF8"/>
              </a:solidFill>
              <a:latin typeface="Noto Sans SC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595562"/>
            <a:ext cx="3549550" cy="2390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1075" y="2595562"/>
            <a:ext cx="3549699" cy="2390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9375" y="2595562"/>
            <a:ext cx="3549550" cy="2390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66800" y="2871787"/>
            <a:ext cx="2886923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结论一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9150" y="3405187"/>
            <a:ext cx="29971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F8FAFC"/>
                </a:solidFill>
                <a:latin typeface="Noto Sans SC"/>
              </a:rPr>
              <a:t>裸机程序</a:t>
            </a:r>
            <a:r>
              <a:rPr sz="1650" b="1" i="0" u="none">
                <a:solidFill>
                  <a:srgbClr val="F8FAFC"/>
                </a:solidFill>
                <a:latin typeface="Noto Sans SC"/>
              </a:rPr>
              <a:t>没有免费午餐</a:t>
            </a:r>
            <a:r>
              <a:rPr sz="1650" b="0" i="0" u="none">
                <a:solidFill>
                  <a:srgbClr val="F8FAFC"/>
                </a:solidFill>
                <a:latin typeface="Noto Sans SC"/>
              </a:rPr>
              <a:t>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9150" y="3852862"/>
            <a:ext cx="29971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Noto Sans SC"/>
              </a:rPr>
              <a:t>全局变量环境不是自然法则，必须由操作系统启动代码手动清零初始化。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4950" y="2871787"/>
            <a:ext cx="2887079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结论二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300" y="3405187"/>
            <a:ext cx="299724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F8FAFC"/>
                </a:solidFill>
                <a:latin typeface="Noto Sans SC"/>
              </a:rPr>
              <a:t>链接脚本是</a:t>
            </a:r>
            <a:r>
              <a:rPr sz="1650" b="1" i="0" u="none">
                <a:solidFill>
                  <a:srgbClr val="F8FAFC"/>
                </a:solidFill>
                <a:latin typeface="Noto Sans SC"/>
              </a:rPr>
              <a:t>物理内存蓝图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7300" y="3852862"/>
            <a:ext cx="29972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Noto Sans SC"/>
              </a:rPr>
              <a:t>`__bss_start` 与 `__bss_end` 导出地址界限，是连接 C 与汇编的桥梁。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23250" y="2871787"/>
            <a:ext cx="2886923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结论三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600" y="3405187"/>
            <a:ext cx="29971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F8FAFC"/>
                </a:solidFill>
                <a:latin typeface="Noto Sans SC"/>
              </a:rPr>
              <a:t>ABI 是</a:t>
            </a:r>
            <a:r>
              <a:rPr sz="1650" b="1" i="0" u="none">
                <a:solidFill>
                  <a:srgbClr val="F8FAFC"/>
                </a:solidFill>
                <a:latin typeface="Noto Sans SC"/>
              </a:rPr>
              <a:t>跨语言交互契约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5600" y="3852862"/>
            <a:ext cx="2997100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Noto Sans SC"/>
              </a:rPr>
              <a:t>遵循寄存器约定（$a0-$a7, $ra），才能实现 C 语言无缝调用手写汇编函数。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9150" y="2938462"/>
            <a:ext cx="133350" cy="2667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97300" y="2938462"/>
            <a:ext cx="133350" cy="2667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75600" y="2938462"/>
            <a:ext cx="133350" cy="2667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>
                <a:solidFill>
                  <a:srgbClr val="F8FAFC"/>
                </a:solidFill>
                <a:latin typeface="Noto Sans SC"/>
              </a:rPr>
              <a:t>收尾总结：必须牢记的三大核心结论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2143125"/>
            <a:ext cx="5381625" cy="32956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450" y="2143125"/>
            <a:ext cx="5381625" cy="3295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525" y="504825"/>
            <a:ext cx="291703" cy="381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40916" y="2419350"/>
            <a:ext cx="4732779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>
                <a:solidFill>
                  <a:srgbClr val="38BDF8"/>
                </a:solidFill>
                <a:latin typeface="Noto Sans SC SemiBold"/>
              </a:rPr>
              <a:t>课后深度思考题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65441" y="2419350"/>
            <a:ext cx="4732779" cy="40005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150"/>
              </a:lnSpc>
            </a:pPr>
            <a:r>
              <a:rPr sz="2100" b="0" i="0" u="none" dirty="0">
                <a:solidFill>
                  <a:srgbClr val="38BDF8"/>
                </a:solidFill>
                <a:latin typeface="Noto Sans SC SemiBold"/>
              </a:rPr>
              <a:t>第 3 Week </a:t>
            </a:r>
            <a:r>
              <a:rPr sz="2100" b="0" i="0" u="none" dirty="0" err="1">
                <a:solidFill>
                  <a:srgbClr val="38BDF8"/>
                </a:solidFill>
                <a:latin typeface="Noto Sans SC SemiBold"/>
              </a:rPr>
              <a:t>课程预告</a:t>
            </a:r>
            <a:endParaRPr sz="2100" b="0" i="0" u="none" dirty="0">
              <a:solidFill>
                <a:srgbClr val="38BDF8"/>
              </a:solidFill>
              <a:latin typeface="Noto Sans SC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543675" y="2952750"/>
            <a:ext cx="4829175" cy="314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 dirty="0" err="1">
                <a:solidFill>
                  <a:srgbClr val="38BDF8"/>
                </a:solidFill>
                <a:latin typeface="Noto Sans SC"/>
              </a:rPr>
              <a:t>主题</a:t>
            </a:r>
            <a:r>
              <a:rPr sz="1800" b="1" i="0" u="none" dirty="0">
                <a:solidFill>
                  <a:srgbClr val="38BDF8"/>
                </a:solidFill>
                <a:latin typeface="Noto Sans SC"/>
              </a:rPr>
              <a:t>：</a:t>
            </a:r>
            <a:r>
              <a:rPr lang="zh-CN" altLang="en-US" sz="1800" b="1" i="0" u="none" dirty="0">
                <a:solidFill>
                  <a:srgbClr val="38BDF8"/>
                </a:solidFill>
                <a:latin typeface="Noto Sans SC"/>
              </a:rPr>
              <a:t>基本指令</a:t>
            </a:r>
            <a:endParaRPr sz="1800" b="1" i="0" u="none" dirty="0">
              <a:solidFill>
                <a:srgbClr val="38BDF8"/>
              </a:solidFill>
              <a:latin typeface="Noto Sans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543675" y="3543300"/>
            <a:ext cx="4829175" cy="27905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zh-CN" altLang="en-US" sz="1575" b="0" i="0" u="none" dirty="0">
                <a:solidFill>
                  <a:srgbClr val="CBD5E1"/>
                </a:solidFill>
                <a:latin typeface="Noto Sans SC"/>
              </a:rPr>
              <a:t>开始进入各类常用指令的介绍</a:t>
            </a:r>
            <a:endParaRPr sz="1575" b="0" i="0" u="none" dirty="0">
              <a:solidFill>
                <a:srgbClr val="CBD5E1"/>
              </a:solidFill>
              <a:latin typeface="Noto Sans SC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50" y="2486025"/>
            <a:ext cx="207466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162050" y="2952750"/>
            <a:ext cx="44862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/>
              </a:rPr>
              <a:t>思考 1：</a:t>
            </a:r>
            <a:r>
              <a:rPr sz="1800" b="0" i="0" u="none">
                <a:solidFill>
                  <a:srgbClr val="CBD5E1"/>
                </a:solidFill>
                <a:latin typeface="Noto Sans SC"/>
              </a:rPr>
              <a:t>如果 `.bss` 段长达几百 MB，逐字节 `st.b` 清零非常缓慢，汇编可以如何按 8 字节（`st.d`）加速清零？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62050" y="4133850"/>
            <a:ext cx="4486275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700"/>
              </a:lnSpc>
            </a:pPr>
            <a:r>
              <a:rPr sz="1800" b="1" i="0" u="none">
                <a:solidFill>
                  <a:srgbClr val="CBD5E1"/>
                </a:solidFill>
                <a:latin typeface="Noto Sans SC"/>
              </a:rPr>
              <a:t>思考 2：</a:t>
            </a:r>
            <a:r>
              <a:rPr sz="1800" b="0" i="0" u="none">
                <a:solidFill>
                  <a:srgbClr val="CBD5E1"/>
                </a:solidFill>
                <a:latin typeface="Noto Sans SC"/>
              </a:rPr>
              <a:t>为何 `.data` 段的初始值不需要在汇编代码里填 0，它的初始值是在何时、如何打包进 ELF 二进制文件的？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43675" y="2486025"/>
            <a:ext cx="207466" cy="2667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8478" y="466725"/>
            <a:ext cx="11015126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 u="none" dirty="0" err="1">
                <a:solidFill>
                  <a:srgbClr val="F8FAFC"/>
                </a:solidFill>
                <a:latin typeface="Noto Sans SC"/>
              </a:rPr>
              <a:t>课后思考题与下</a:t>
            </a:r>
            <a:r>
              <a:rPr lang="zh-CN" altLang="en-US" sz="3000" b="1" i="0" u="none" dirty="0">
                <a:solidFill>
                  <a:srgbClr val="F8FAFC"/>
                </a:solidFill>
                <a:latin typeface="Noto Sans SC"/>
              </a:rPr>
              <a:t>次课</a:t>
            </a:r>
            <a:r>
              <a:rPr sz="3000" b="1" i="0" u="none" dirty="0" err="1">
                <a:solidFill>
                  <a:srgbClr val="F8FAFC"/>
                </a:solidFill>
                <a:latin typeface="Noto Sans SC"/>
              </a:rPr>
              <a:t>预告</a:t>
            </a:r>
            <a:endParaRPr sz="3000" b="1" i="0" u="none" dirty="0">
              <a:solidFill>
                <a:srgbClr val="F8FAFC"/>
              </a:solidFill>
              <a:latin typeface="Noto Sans SC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542925" y="466725"/>
            <a:ext cx="57150" cy="4572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2971800"/>
            <a:ext cx="163115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9150" y="4152900"/>
            <a:ext cx="163115" cy="2476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2070</Words>
  <Application>Microsoft Office PowerPoint</Application>
  <PresentationFormat>宽屏</PresentationFormat>
  <Paragraphs>274</Paragraphs>
  <Slides>33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33</vt:i4>
      </vt:variant>
    </vt:vector>
  </HeadingPairs>
  <TitlesOfParts>
    <vt:vector size="44" baseType="lpstr">
      <vt:lpstr>Noto Sans SC</vt:lpstr>
      <vt:lpstr>Noto Sans SC SemiBold</vt:lpstr>
      <vt:lpstr>等线</vt:lpstr>
      <vt:lpstr>Microsoft YaHei</vt:lpstr>
      <vt:lpstr>Arial</vt:lpstr>
      <vt:lpstr>Calibri</vt:lpstr>
      <vt:lpstr>Cambria</vt:lpstr>
      <vt:lpstr>Consolas</vt:lpstr>
      <vt:lpstr>Courier New</vt:lpstr>
      <vt:lpstr>Fira Code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xin cai</cp:lastModifiedBy>
  <cp:revision>12</cp:revision>
  <dcterms:created xsi:type="dcterms:W3CDTF">2013-01-27T09:14:00Z</dcterms:created>
  <dcterms:modified xsi:type="dcterms:W3CDTF">2026-09-03T01:22:26Z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184352C9EAF2460CB13988F8B95910DE_12</vt:lpwstr>
  </property>
  <property fmtid="{D5CDD505-2E9C-101B-9397-08002B2CF9AE}" pid="3" name="KSOProductBuildVer">
    <vt:lpwstr>2052-12.1.0.26895</vt:lpwstr>
  </property>
</Properties>
</file>