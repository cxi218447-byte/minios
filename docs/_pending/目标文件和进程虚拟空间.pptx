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310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377440" cy="2377440"/>
          </a:xfrm>
          <a:prstGeom prst="ellipse">
            <a:avLst/>
          </a:prstGeom>
          <a:solidFill>
            <a:srgbClr val="E8A33D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第六章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LoongArch 目标文件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与进程虚拟空间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5262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C3D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目标文件格式(ELF) · 节与段 · 符号与重定位 · 虚拟地址空间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本章导览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3505200" cy="4846320"/>
          </a:xfrm>
          <a:prstGeom prst="roundRect">
            <a:avLst>
              <a:gd name="adj" fmla="val 2348"/>
            </a:avLst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95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ELF 文件格式解析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474720"/>
            <a:ext cx="2956560" cy="0"/>
          </a:xfrm>
          <a:prstGeom prst="line">
            <a:avLst/>
          </a:prstGeom>
          <a:noFill/>
          <a:ln w="12700">
            <a:solidFill>
              <a:srgbClr val="3A56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657600"/>
            <a:ext cx="2956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E3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目标文件三类型；文件头、节与段、符号表、重定位表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28160" y="1691640"/>
            <a:ext cx="3505200" cy="4846320"/>
          </a:xfrm>
          <a:prstGeom prst="roundRect">
            <a:avLst>
              <a:gd name="adj" fmla="val 2348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02480" y="2011680"/>
            <a:ext cx="295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02480" y="260604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进程虚拟地址空间与页大小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602480" y="3474720"/>
            <a:ext cx="2956560" cy="0"/>
          </a:xfrm>
          <a:prstGeom prst="line">
            <a:avLst/>
          </a:prstGeom>
          <a:noFill/>
          <a:ln w="12700">
            <a:solidFill>
              <a:srgbClr val="3A56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02480" y="3657600"/>
            <a:ext cx="2956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E3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物理地址位宽 PALEN、虚拟地址布局、系统页大小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107680" y="1691640"/>
            <a:ext cx="3505200" cy="4846320"/>
          </a:xfrm>
          <a:prstGeom prst="roundRect">
            <a:avLst>
              <a:gd name="adj" fmla="val 2348"/>
            </a:avLst>
          </a:prstGeom>
          <a:solidFill>
            <a:srgbClr val="2A4A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82000" y="2011680"/>
            <a:ext cx="295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82000" y="260604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可执行文件到进程空间的映射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382000" y="3474720"/>
            <a:ext cx="2956560" cy="0"/>
          </a:xfrm>
          <a:prstGeom prst="line">
            <a:avLst/>
          </a:prstGeom>
          <a:noFill/>
          <a:ln w="12700">
            <a:solidFill>
              <a:srgbClr val="3A56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82000" y="3657600"/>
            <a:ext cx="2956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E3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LOAD 段被加载；/proc/pid/maps 查看布局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 目标文件（Object File）是什么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编译器对源代码编译后生成的文件，包含机器指令、数据（全局变量、字符串等），以及链接和运行时所需的符号表、调试信息等。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E7EC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41148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.c 源代码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37560" y="4434840"/>
            <a:ext cx="548640" cy="548640"/>
          </a:xfrm>
          <a:prstGeom prst="rightArrow">
            <a:avLst/>
          </a:prstGeom>
          <a:solidFill>
            <a:srgbClr val="C97F1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017520" y="5120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23360" y="41148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.o 目标文件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12280" y="4434840"/>
            <a:ext cx="548640" cy="548640"/>
          </a:xfrm>
          <a:prstGeom prst="rightArrow">
            <a:avLst/>
          </a:prstGeom>
          <a:solidFill>
            <a:srgbClr val="C97F1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51206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498080" y="4114800"/>
            <a:ext cx="2103120" cy="1188720"/>
          </a:xfrm>
          <a:prstGeom prst="roundRect">
            <a:avLst>
              <a:gd name="adj" fmla="val 6154"/>
            </a:avLst>
          </a:prstGeom>
          <a:solidFill>
            <a:srgbClr val="2A4A7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0" y="41148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可执行文件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主流格式：Windows 采用 PE，Linux 采用 ELF（Executable Linkable Format）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目标文件的三种类型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3505200" cy="4846320"/>
          </a:xfrm>
          <a:prstGeom prst="roundRect">
            <a:avLst>
              <a:gd name="adj" fmla="val 2348"/>
            </a:avLst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95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可重定位文件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3474720"/>
            <a:ext cx="2956560" cy="0"/>
          </a:xfrm>
          <a:prstGeom prst="line">
            <a:avLst/>
          </a:prstGeom>
          <a:noFill/>
          <a:ln w="12700">
            <a:solidFill>
              <a:srgbClr val="3A56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657600"/>
            <a:ext cx="2956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E3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未经链接的目标文件，含编译后的代码和数据，用于和其他文件一起链接生成可执行文件或动态库。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28160" y="1691640"/>
            <a:ext cx="3505200" cy="4846320"/>
          </a:xfrm>
          <a:prstGeom prst="roundRect">
            <a:avLst>
              <a:gd name="adj" fmla="val 2348"/>
            </a:avLst>
          </a:prstGeom>
          <a:solidFill>
            <a:srgbClr val="1E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02480" y="2011680"/>
            <a:ext cx="295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无扩展名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02480" y="260604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可执行文件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602480" y="3474720"/>
            <a:ext cx="2956560" cy="0"/>
          </a:xfrm>
          <a:prstGeom prst="line">
            <a:avLst/>
          </a:prstGeom>
          <a:noFill/>
          <a:ln w="12700">
            <a:solidFill>
              <a:srgbClr val="3A56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02480" y="3657600"/>
            <a:ext cx="2956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E3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经链接器链接后，可被 Linux 系统直接执行的目标文件，内容为可运行的机器指令和数据。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107680" y="1691640"/>
            <a:ext cx="3505200" cy="4846320"/>
          </a:xfrm>
          <a:prstGeom prst="roundRect">
            <a:avLst>
              <a:gd name="adj" fmla="val 2348"/>
            </a:avLst>
          </a:prstGeom>
          <a:solidFill>
            <a:srgbClr val="2A4A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82000" y="2011680"/>
            <a:ext cx="295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.so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82000" y="260604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动态库文件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382000" y="3474720"/>
            <a:ext cx="2956560" cy="0"/>
          </a:xfrm>
          <a:prstGeom prst="line">
            <a:avLst/>
          </a:prstGeom>
          <a:noFill/>
          <a:ln w="12700">
            <a:solidFill>
              <a:srgbClr val="3A56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82000" y="3657600"/>
            <a:ext cx="2956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400" dirty="0">
                <a:solidFill>
                  <a:srgbClr val="E3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共享程序代码的一种方式；程序运行时，由动态链接器按需加载到内存。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6.1.1  「节」与「段」的关系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9050">
            <a:solidFill>
              <a:srgbClr val="E7EC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可重定位文件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由多个「节」(Section)组成，段头表描述每节信息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0" y="2606040"/>
            <a:ext cx="822960" cy="502920"/>
          </a:xfrm>
          <a:prstGeom prst="rightArrow">
            <a:avLst/>
          </a:prstGeom>
          <a:solidFill>
            <a:srgbClr val="C97F14"/>
          </a:solidFill>
          <a:ln/>
        </p:spPr>
      </p:sp>
      <p:sp>
        <p:nvSpPr>
          <p:cNvPr id="8" name="Shape 6"/>
          <p:cNvSpPr/>
          <p:nvPr/>
        </p:nvSpPr>
        <p:spPr>
          <a:xfrm>
            <a:off x="6903720" y="1691640"/>
            <a:ext cx="4709160" cy="2331720"/>
          </a:xfrm>
          <a:prstGeom prst="roundRect">
            <a:avLst>
              <a:gd name="adj" fmla="val 3137"/>
            </a:avLst>
          </a:prstGeom>
          <a:solidFill>
            <a:srgbClr val="142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78040" y="1920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可执行文件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256032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同权限的节合并为「段」(Segment)，由程序头表描述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251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链接的核心工作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94360" y="4974336"/>
            <a:ext cx="182880" cy="182880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846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地址分配：合并相同属性的节，确定符号地址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4360" y="5751576"/>
            <a:ext cx="182880" cy="182880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重定位：修正数据加载 / 函数调用指令中的地址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6.1.2  常见段（Section）一览（1/2）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ect">
            <a:avLst/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段名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1691640"/>
            <a:ext cx="6995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功能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36118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.text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50008"/>
            <a:ext cx="69951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存放编译后的机器指令（代码段）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396996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96996"/>
            <a:ext cx="36118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.data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396996"/>
            <a:ext cx="69951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已初始化的全局 / 静态变量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443984"/>
            <a:ext cx="36118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.rodata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443984"/>
            <a:ext cx="69951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只读数据：const 变量、字符串常量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5490972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490972"/>
            <a:ext cx="36118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.bss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5490972"/>
            <a:ext cx="69951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未初始化的全局 / 静态变量（不占文件空间）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6.1.2  常见段（Section）一览（2/2）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ect">
            <a:avLst/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段名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1691640"/>
            <a:ext cx="6995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功能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36118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.symtab / .strtab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350008"/>
            <a:ext cx="69951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符号表 / 字符串表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396996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96996"/>
            <a:ext cx="36118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.shstrtab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396996"/>
            <a:ext cx="69951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段名表，保存 ".text" ".data" 等名称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443984"/>
            <a:ext cx="36118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.plt / .got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443984"/>
            <a:ext cx="69951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动态链接的跳转表与全局入口表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5490972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490972"/>
            <a:ext cx="36118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.rela.text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5490972"/>
            <a:ext cx="69951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重定位表：记录代码段中需地址修正的位置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6.1.2  段属性：标志、地址、偏移、大小、对齐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ect">
            <a:avLst/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属性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691640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含义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83759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288036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标志 Flag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350008"/>
            <a:ext cx="772668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W(可写) A(可分配) X(可执行)；所有段可读，空表示只读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187598"/>
            <a:ext cx="11064240" cy="837590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7598"/>
            <a:ext cx="288036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地址 Address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187598"/>
            <a:ext cx="772668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该段加载到内存后的虚拟起始地址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5189"/>
            <a:ext cx="11064240" cy="83759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025189"/>
            <a:ext cx="288036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偏移 Offset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4025189"/>
            <a:ext cx="772668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该段在 ELF 文件中的偏移位置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862779"/>
            <a:ext cx="11064240" cy="837590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862779"/>
            <a:ext cx="288036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大小 Size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4862779"/>
            <a:ext cx="772668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该段大小；.bss 在文件中无内容（NOBITS）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8640" y="5700370"/>
            <a:ext cx="11064240" cy="83759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700370"/>
            <a:ext cx="288036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对齐 Align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5700370"/>
            <a:ext cx="772668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.text 段对齐值为 4，即 4 字节对齐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6.1.2  变量存放位置：实例分析（1/2）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ect">
            <a:avLst/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变量声明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169164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所在段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763524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global_val1;（未初始化全局变量）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350008"/>
            <a:ext cx="297180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.bss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396996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96996"/>
            <a:ext cx="763524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global_val2 = 0xa;（已初始化全局变量）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3396996"/>
            <a:ext cx="297180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443984"/>
            <a:ext cx="763524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global_static_var3;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4443984"/>
            <a:ext cx="297180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.bss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5490972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490972"/>
            <a:ext cx="763524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global_static_var4 = 0xb;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5490972"/>
            <a:ext cx="297180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6.1.2  变量存放位置：实例分析（2/2）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ect">
            <a:avLst/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变量声明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169164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所在段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13959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7635240" cy="1395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local_static_var1;（函数内，未初始化）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350008"/>
            <a:ext cx="2971800" cy="1395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.bss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745992"/>
            <a:ext cx="11064240" cy="1395984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745992"/>
            <a:ext cx="7635240" cy="1395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local_static_var2 = 0xd;（函数内）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3745992"/>
            <a:ext cx="2971800" cy="1395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5141976"/>
            <a:ext cx="11064240" cy="1395984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141976"/>
            <a:ext cx="7635240" cy="1395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World!"（字符串常量）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5141976"/>
            <a:ext cx="2971800" cy="1395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2C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.rodata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6.1.3  程序头表：readelf -l hello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4846320"/>
          </a:xfrm>
          <a:prstGeom prst="roundRect">
            <a:avLst>
              <a:gd name="adj" fmla="val 1132"/>
            </a:avLst>
          </a:prstGeom>
          <a:solidFill>
            <a:srgbClr val="0F1E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  Offset      VirtAddr
</a:t>
            </a:r>
            <a:r>
              <a:rPr lang="en-US" sz="24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   0x000000   0x120000000
</a:t>
            </a:r>
            <a:r>
              <a:rPr lang="en-US" sz="24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FileSiz 0x864  Flags R E
</a:t>
            </a:r>
            <a:r>
              <a:rPr lang="en-US" sz="24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   0x003d08   0x120007d08
</a:t>
            </a:r>
            <a:r>
              <a:rPr lang="en-US" sz="2400" dirty="0">
                <a:solidFill>
                  <a:srgbClr val="CF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FileSiz 0x368  Flags RW
DYNAMIC 0x003e40   0x120007e40
        Flags RW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6.1.3  程序头表：从「节」到「段」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18541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1060704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链接器把相同权限的节（如多个 .o 中的 .text/.init）合并进同一个 Segment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339699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903220"/>
            <a:ext cx="1060704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只有类型为 LOAD 的段，需要在进程启动时加载到内存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460857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114800"/>
            <a:ext cx="1060704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 段（只读可执行）通常包含 .text/.rodata；RW 段包含 .data/.bss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94360" y="582015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5326380"/>
            <a:ext cx="10607040" cy="1120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合并节到段可以减少内存页浪费，是链接器的重要工作之一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6.1.4  符号（Symbol）的四种类别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ect">
            <a:avLst/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类别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691640"/>
            <a:ext cx="7909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说明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26974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局部符号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50008"/>
            <a:ext cx="79095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编译单元内部可见，如静态局部变量、静态函数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396996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96996"/>
            <a:ext cx="26974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全局符号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396996"/>
            <a:ext cx="79095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定义在当前文件，可被其他文件引用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443984"/>
            <a:ext cx="26974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外部符号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443984"/>
            <a:ext cx="79095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在当前文件中引用的、定义在别处的全局符号（如 printf）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5490972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490972"/>
            <a:ext cx="26974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段符号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5490972"/>
            <a:ext cx="79095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编译器产生的段名符号，如 .text .data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6.1.4  符号表关键字段（readelf -s）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ect">
            <a:avLst/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字段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691640"/>
            <a:ext cx="8275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含义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83759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23317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246120" y="2350008"/>
            <a:ext cx="82753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符号地址（变量）；OBJECT 类型为对齐 / 偏移信息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187598"/>
            <a:ext cx="11064240" cy="837590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187598"/>
            <a:ext cx="23317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187598"/>
            <a:ext cx="82753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变量按类型大小；函数按机器指令字节数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025189"/>
            <a:ext cx="11064240" cy="83759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025189"/>
            <a:ext cx="23317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4025189"/>
            <a:ext cx="82753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NOTYPE / OBJECT / FUNC / SECTION / FILE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4862779"/>
            <a:ext cx="11064240" cy="837590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862779"/>
            <a:ext cx="23317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246120" y="4862779"/>
            <a:ext cx="82753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GLOBAL / WEAK（弱引用）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48640" y="5700370"/>
            <a:ext cx="11064240" cy="83759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5700370"/>
            <a:ext cx="23317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Ndx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3246120" y="5700370"/>
            <a:ext cx="82753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所在段下标；UND=未定义 ABS=绝对值 COM=未初始化全局变量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6.1.5  重定位：链接前后地址修正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96596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0F1E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链接前  a.o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main:
  ...
</a:t>
            </a:r>
            <a:r>
              <a:rPr lang="en-US" sz="24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   0
</a:t>
            </a:r>
            <a:r>
              <a:rPr lang="en-US" sz="24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目标未知，暂填 0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852160" y="3063240"/>
            <a:ext cx="457200" cy="548640"/>
          </a:xfrm>
          <a:prstGeom prst="rightArrow">
            <a:avLst/>
          </a:prstGeom>
          <a:solidFill>
            <a:srgbClr val="C97F14"/>
          </a:solidFill>
          <a:ln/>
        </p:spPr>
      </p:sp>
      <p:sp>
        <p:nvSpPr>
          <p:cNvPr id="8" name="Shape 6"/>
          <p:cNvSpPr/>
          <p:nvPr/>
        </p:nvSpPr>
        <p:spPr>
          <a:xfrm>
            <a:off x="6355080" y="1965960"/>
            <a:ext cx="5257800" cy="2743200"/>
          </a:xfrm>
          <a:prstGeom prst="roundRect">
            <a:avLst>
              <a:gd name="adj" fmla="val 2000"/>
            </a:avLst>
          </a:prstGeom>
          <a:solidFill>
            <a:srgbClr val="1427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21945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F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链接后  a.out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834640"/>
            <a:ext cx="4709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main:
  ...
</a:t>
            </a:r>
            <a:r>
              <a:rPr lang="en-US" sz="24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  28(0x1c)
</a:t>
            </a:r>
            <a:r>
              <a:rPr lang="en-US" sz="2400" dirty="0">
                <a:solidFill>
                  <a:srgbClr val="DC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0x1c = temp地址-PC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同一文件内函数相对位置固定，无需重定位；重定位处理跨文件/跨模块的函数调用与数据引用。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6.1.5  重定位的两种时机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18541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链接时重定位：编译器链接阶段，将多个可重定位文件合并为可执行文件时，对函数调用与数据引用做地址确定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380085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3070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加载时重定位：针对动态库，程序运行中加载动态库时，对函数调用的绝对地址引用进行地址确定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541629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9225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同一文件内函数相对位置固定，不需要重定位；重定位处理跨文件 / 跨模块的引用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  进程虚拟地址空间布局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990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675120" cy="658368"/>
          </a:xfrm>
          <a:prstGeom prst="rect">
            <a:avLst/>
          </a:prstGeom>
          <a:solidFill>
            <a:srgbClr val="6A7A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系统保留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6675120" cy="658368"/>
          </a:xfrm>
          <a:prstGeom prst="rect">
            <a:avLst/>
          </a:prstGeom>
          <a:solidFill>
            <a:srgbClr val="1427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96312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栈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3209544"/>
            <a:ext cx="6675120" cy="658368"/>
          </a:xfrm>
          <a:prstGeom prst="rect">
            <a:avLst/>
          </a:prstGeom>
          <a:solidFill>
            <a:srgbClr val="2A4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09544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.so  共享库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48640" y="3922776"/>
            <a:ext cx="6675120" cy="658368"/>
          </a:xfrm>
          <a:prstGeom prst="rect">
            <a:avLst/>
          </a:prstGeom>
          <a:solidFill>
            <a:srgbClr val="3A5F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922776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 堆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6675120" cy="658368"/>
          </a:xfrm>
          <a:prstGeom prst="rect">
            <a:avLst/>
          </a:prstGeom>
          <a:solidFill>
            <a:srgbClr val="4A73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636008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 / .bss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6675120" cy="658368"/>
          </a:xfrm>
          <a:prstGeom prst="rect">
            <a:avLst/>
          </a:prstGeom>
          <a:solidFill>
            <a:srgbClr val="6A7A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349240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系统保留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08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 (0x120000000 起)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406640" y="1828800"/>
            <a:ext cx="4251960" cy="1600200"/>
          </a:xfrm>
          <a:prstGeom prst="roundRect">
            <a:avLst>
              <a:gd name="adj" fmla="val 4000"/>
            </a:avLst>
          </a:prstGeom>
          <a:solidFill>
            <a:srgbClr val="E7EC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635240" y="19659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getconf PAGE_SIZE</a:t>
            </a:r>
            <a:endParaRPr lang="en-US" sz="2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16384 字节 (16 KB)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3657600"/>
            <a:ext cx="4251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龙芯平台上，一个进程大概可用的地址空间范围约为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0x120000000 ~ 0xffffc48000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  虚拟地址空间关键参数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ect">
            <a:avLst/>
          </a:prstGeom>
          <a:solidFill>
            <a:srgbClr val="14274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2880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参数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691640"/>
            <a:ext cx="7726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说明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28803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PALEN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350008"/>
            <a:ext cx="77266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物理地址空间位宽；LA64 通常取值范围 [40,48]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3396996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396996"/>
            <a:ext cx="28803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龙芯 3A5000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396996"/>
            <a:ext cx="77266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PALEN = 48，支持地址范围 0 ~ 2^48 - 1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4443984"/>
            <a:ext cx="11064240" cy="104698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443984"/>
            <a:ext cx="28803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读取方式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4443984"/>
            <a:ext cx="77266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应用软件可通过 CPUCFG 指令读取 PALEN 域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48640" y="5490972"/>
            <a:ext cx="11064240" cy="1046988"/>
          </a:xfrm>
          <a:prstGeom prst="rect">
            <a:avLst/>
          </a:prstGeom>
          <a:solidFill>
            <a:srgbClr val="E7ECF5"/>
          </a:solidFill>
          <a:ln w="9525">
            <a:solidFill>
              <a:srgbClr val="D5DC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490972"/>
            <a:ext cx="288036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27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异常触发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5490972"/>
            <a:ext cx="7726680" cy="1046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访存地址超出物理地址空间范围时触发异常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4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  可执行文件到进程地址空间的映射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C97F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18541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进程启动时，只有程序头表中类型为 LOAD 的段会被加载到内存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380085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3070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其余段（调试信息、符号表等）不参与运行时加载，仅用于链接或调试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5416296"/>
            <a:ext cx="201168" cy="201168"/>
          </a:xfrm>
          <a:prstGeom prst="ellipse">
            <a:avLst/>
          </a:prstGeom>
          <a:solidFill>
            <a:srgbClr val="C97F1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9225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可通过 /proc/pid/maps 查看运行中进程的实际虚拟地址空间布局</a:t>
            </a:r>
            <a:endParaRPr lang="en-US"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18541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目标文件 = 机器指令 + 数据 + 符号表 / 调试信息；三类：可重定位文件(.o)、可执行文件、动态库(.so)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380085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3070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可重定位文件用「节」组织；可执行文件将同权限的节合并为「段」，由程序头表描述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541629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9225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符号表记录函数 / 变量的名称、类型、大小、绑定信息，是链接阶段完成重定位的基础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本章小结（续）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481328"/>
            <a:ext cx="146304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18541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重定位分链接时（静态合并）和加载时（动态库）两种，本质是修正地址占位指令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" y="380085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33070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进程虚拟地址空间由内核按页（16KB）管理，仅 LOAD 段在启动时被映射进内存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5416296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49225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下节预告：第七章 编写 LoongArch 汇编源程序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838</Words>
  <Application>Microsoft Office PowerPoint</Application>
  <PresentationFormat>宽屏</PresentationFormat>
  <Paragraphs>193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 cai</cp:lastModifiedBy>
  <cp:revision>2</cp:revision>
  <dcterms:created xsi:type="dcterms:W3CDTF">2026-09-04T06:27:47Z</dcterms:created>
  <dcterms:modified xsi:type="dcterms:W3CDTF">2026-09-04T10:05:08Z</dcterms:modified>
</cp:coreProperties>
</file>